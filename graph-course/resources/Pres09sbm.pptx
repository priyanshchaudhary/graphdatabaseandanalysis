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108"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A160E373-6858-4A8F-A10F-4D65287F9A29}" type="datetimeFigureOut">
              <a:rPr lang="es-ES" smtClean="0"/>
              <a:t>06/08/2019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4176666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160E373-6858-4A8F-A10F-4D65287F9A29}" type="datetimeFigureOut">
              <a:rPr lang="es-ES" smtClean="0"/>
              <a:t>06/08/2019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163836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A160E373-6858-4A8F-A10F-4D65287F9A29}" type="datetimeFigureOut">
              <a:rPr lang="es-ES" smtClean="0"/>
              <a:t>06/08/2019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1108116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A160E373-6858-4A8F-A10F-4D65287F9A29}" type="datetimeFigureOut">
              <a:rPr lang="es-ES" smtClean="0"/>
              <a:t>06/08/2019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272704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A160E373-6858-4A8F-A10F-4D65287F9A29}" type="datetimeFigureOut">
              <a:rPr lang="es-ES" smtClean="0"/>
              <a:t>06/08/2019</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3213613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A160E373-6858-4A8F-A10F-4D65287F9A29}" type="datetimeFigureOut">
              <a:rPr lang="es-ES" smtClean="0"/>
              <a:t>06/08/2019</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2680668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160E373-6858-4A8F-A10F-4D65287F9A29}" type="datetimeFigureOut">
              <a:rPr lang="es-ES" smtClean="0"/>
              <a:t>06/08/2019</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1694306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A160E373-6858-4A8F-A10F-4D65287F9A29}" type="datetimeFigureOut">
              <a:rPr lang="es-ES" smtClean="0"/>
              <a:t>06/08/2019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266520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A160E373-6858-4A8F-A10F-4D65287F9A29}" type="datetimeFigureOut">
              <a:rPr lang="es-ES" smtClean="0"/>
              <a:t>06/08/2019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257907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160E373-6858-4A8F-A10F-4D65287F9A29}" type="datetimeFigureOut">
              <a:rPr lang="es-ES" smtClean="0"/>
              <a:t>06/08/2019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59890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160E373-6858-4A8F-A10F-4D65287F9A29}" type="datetimeFigureOut">
              <a:rPr lang="es-ES" smtClean="0"/>
              <a:t>06/08/2019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22CF92C-7E93-4573-BAEA-DBE7052D6AEC}" type="slidenum">
              <a:rPr lang="es-ES" smtClean="0"/>
              <a:t>‹Nº›</a:t>
            </a:fld>
            <a:endParaRPr lang="es-ES"/>
          </a:p>
        </p:txBody>
      </p:sp>
    </p:spTree>
    <p:extLst>
      <p:ext uri="{BB962C8B-B14F-4D97-AF65-F5344CB8AC3E}">
        <p14:creationId xmlns:p14="http://schemas.microsoft.com/office/powerpoint/2010/main" val="2096738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60E373-6858-4A8F-A10F-4D65287F9A29}" type="datetimeFigureOut">
              <a:rPr lang="es-ES" smtClean="0"/>
              <a:t>06/08/2019</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CF92C-7E93-4573-BAEA-DBE7052D6AEC}" type="slidenum">
              <a:rPr lang="es-ES" smtClean="0"/>
              <a:t>‹Nº›</a:t>
            </a:fld>
            <a:endParaRPr lang="es-ES"/>
          </a:p>
        </p:txBody>
      </p:sp>
    </p:spTree>
    <p:extLst>
      <p:ext uri="{BB962C8B-B14F-4D97-AF65-F5344CB8AC3E}">
        <p14:creationId xmlns:p14="http://schemas.microsoft.com/office/powerpoint/2010/main" val="1257201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0" y="0"/>
            <a:ext cx="12192000" cy="6858000"/>
          </a:xfrm>
          <a:prstGeom prst="rect">
            <a:avLst/>
          </a:prstGeom>
        </p:spPr>
      </p:pic>
      <p:sp>
        <p:nvSpPr>
          <p:cNvPr id="3" name="Subtítulo 2"/>
          <p:cNvSpPr>
            <a:spLocks noGrp="1"/>
          </p:cNvSpPr>
          <p:nvPr>
            <p:ph type="subTitle" idx="1"/>
          </p:nvPr>
        </p:nvSpPr>
        <p:spPr>
          <a:xfrm>
            <a:off x="3111063" y="3509963"/>
            <a:ext cx="3810000" cy="1655762"/>
          </a:xfrm>
          <a:solidFill>
            <a:schemeClr val="bg2"/>
          </a:solidFill>
        </p:spPr>
        <p:txBody>
          <a:bodyPr>
            <a:normAutofit fontScale="92500" lnSpcReduction="20000"/>
          </a:bodyPr>
          <a:lstStyle/>
          <a:p>
            <a:r>
              <a:rPr lang="es-ES" sz="2800" dirty="0" smtClean="0">
                <a:solidFill>
                  <a:srgbClr val="002060"/>
                </a:solidFill>
              </a:rPr>
              <a:t>Francisco Moreno</a:t>
            </a:r>
          </a:p>
          <a:p>
            <a:r>
              <a:rPr lang="es-ES" sz="2800" dirty="0" err="1" smtClean="0">
                <a:solidFill>
                  <a:srgbClr val="002060"/>
                </a:solidFill>
              </a:rPr>
              <a:t>Excerts</a:t>
            </a:r>
            <a:r>
              <a:rPr lang="es-ES" sz="2800" dirty="0" smtClean="0">
                <a:solidFill>
                  <a:srgbClr val="002060"/>
                </a:solidFill>
              </a:rPr>
              <a:t> </a:t>
            </a:r>
            <a:r>
              <a:rPr lang="es-ES" sz="2800" dirty="0" err="1" smtClean="0">
                <a:solidFill>
                  <a:srgbClr val="002060"/>
                </a:solidFill>
              </a:rPr>
              <a:t>from</a:t>
            </a:r>
            <a:r>
              <a:rPr lang="es-ES" sz="2800" dirty="0" smtClean="0">
                <a:solidFill>
                  <a:srgbClr val="002060"/>
                </a:solidFill>
              </a:rPr>
              <a:t> </a:t>
            </a:r>
          </a:p>
          <a:p>
            <a:r>
              <a:rPr lang="es-ES" sz="2800" dirty="0" smtClean="0">
                <a:solidFill>
                  <a:srgbClr val="002060"/>
                </a:solidFill>
              </a:rPr>
              <a:t>“</a:t>
            </a:r>
            <a:r>
              <a:rPr lang="es-ES" sz="2800" dirty="0" err="1" smtClean="0">
                <a:solidFill>
                  <a:srgbClr val="002060"/>
                </a:solidFill>
              </a:rPr>
              <a:t>Learning</a:t>
            </a:r>
            <a:r>
              <a:rPr lang="es-ES" sz="2800" dirty="0" smtClean="0">
                <a:solidFill>
                  <a:srgbClr val="002060"/>
                </a:solidFill>
              </a:rPr>
              <a:t> Neo4j”</a:t>
            </a:r>
          </a:p>
          <a:p>
            <a:r>
              <a:rPr lang="es-ES" sz="2800" dirty="0" err="1" smtClean="0">
                <a:solidFill>
                  <a:srgbClr val="002060"/>
                </a:solidFill>
              </a:rPr>
              <a:t>Rik</a:t>
            </a:r>
            <a:r>
              <a:rPr lang="es-ES" sz="2800" dirty="0" smtClean="0">
                <a:solidFill>
                  <a:srgbClr val="002060"/>
                </a:solidFill>
              </a:rPr>
              <a:t> Van </a:t>
            </a:r>
            <a:r>
              <a:rPr lang="es-ES" sz="2800" dirty="0" err="1" smtClean="0">
                <a:solidFill>
                  <a:srgbClr val="002060"/>
                </a:solidFill>
              </a:rPr>
              <a:t>Bruggen</a:t>
            </a:r>
            <a:endParaRPr lang="es-ES" sz="2800" dirty="0">
              <a:solidFill>
                <a:srgbClr val="002060"/>
              </a:solidFill>
            </a:endParaRPr>
          </a:p>
        </p:txBody>
      </p:sp>
      <p:sp>
        <p:nvSpPr>
          <p:cNvPr id="2" name="Título 1"/>
          <p:cNvSpPr>
            <a:spLocks noGrp="1"/>
          </p:cNvSpPr>
          <p:nvPr>
            <p:ph type="ctrTitle"/>
          </p:nvPr>
        </p:nvSpPr>
        <p:spPr>
          <a:xfrm>
            <a:off x="1524001" y="1623847"/>
            <a:ext cx="7367751" cy="1886115"/>
          </a:xfrm>
          <a:solidFill>
            <a:schemeClr val="bg2"/>
          </a:solidFill>
        </p:spPr>
        <p:txBody>
          <a:bodyPr/>
          <a:lstStyle/>
          <a:p>
            <a:r>
              <a:rPr lang="es-ES" dirty="0" err="1" smtClean="0">
                <a:solidFill>
                  <a:srgbClr val="002060"/>
                </a:solidFill>
              </a:rPr>
              <a:t>Graph</a:t>
            </a:r>
            <a:r>
              <a:rPr lang="es-ES" dirty="0" smtClean="0">
                <a:solidFill>
                  <a:srgbClr val="002060"/>
                </a:solidFill>
              </a:rPr>
              <a:t> </a:t>
            </a:r>
            <a:r>
              <a:rPr lang="es-ES" dirty="0" err="1" smtClean="0">
                <a:solidFill>
                  <a:srgbClr val="002060"/>
                </a:solidFill>
              </a:rPr>
              <a:t>databases</a:t>
            </a:r>
            <a:r>
              <a:rPr lang="es-ES" dirty="0" smtClean="0">
                <a:solidFill>
                  <a:srgbClr val="002060"/>
                </a:solidFill>
              </a:rPr>
              <a:t>: </a:t>
            </a:r>
            <a:br>
              <a:rPr lang="es-ES" dirty="0" smtClean="0">
                <a:solidFill>
                  <a:srgbClr val="002060"/>
                </a:solidFill>
              </a:rPr>
            </a:br>
            <a:r>
              <a:rPr lang="es-ES" dirty="0" smtClean="0">
                <a:solidFill>
                  <a:srgbClr val="002060"/>
                </a:solidFill>
              </a:rPr>
              <a:t>a </a:t>
            </a:r>
            <a:r>
              <a:rPr lang="es-ES" dirty="0" err="1" smtClean="0">
                <a:solidFill>
                  <a:srgbClr val="002060"/>
                </a:solidFill>
              </a:rPr>
              <a:t>brief</a:t>
            </a:r>
            <a:r>
              <a:rPr lang="es-ES" dirty="0" smtClean="0">
                <a:solidFill>
                  <a:srgbClr val="002060"/>
                </a:solidFill>
              </a:rPr>
              <a:t> </a:t>
            </a:r>
            <a:r>
              <a:rPr lang="es-ES" dirty="0" err="1" smtClean="0">
                <a:solidFill>
                  <a:srgbClr val="002060"/>
                </a:solidFill>
              </a:rPr>
              <a:t>introduction</a:t>
            </a:r>
            <a:endParaRPr lang="es-ES" dirty="0">
              <a:solidFill>
                <a:srgbClr val="002060"/>
              </a:solidFill>
            </a:endParaRPr>
          </a:p>
        </p:txBody>
      </p:sp>
      <p:cxnSp>
        <p:nvCxnSpPr>
          <p:cNvPr id="7" name="Conector recto 6"/>
          <p:cNvCxnSpPr/>
          <p:nvPr/>
        </p:nvCxnSpPr>
        <p:spPr>
          <a:xfrm>
            <a:off x="1135117" y="945931"/>
            <a:ext cx="47297" cy="329499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1182414" y="4508938"/>
            <a:ext cx="2806262" cy="16711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flipH="1" flipV="1">
            <a:off x="8233729" y="608830"/>
            <a:ext cx="2679576" cy="1665864"/>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a:xfrm>
            <a:off x="10811016" y="2883524"/>
            <a:ext cx="42041" cy="310181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flipH="1">
            <a:off x="4834759" y="4698124"/>
            <a:ext cx="2732127" cy="1481959"/>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a:xfrm flipV="1">
            <a:off x="8233729" y="2690347"/>
            <a:ext cx="2155747" cy="1550029"/>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p:cNvCxnSpPr/>
          <p:nvPr/>
        </p:nvCxnSpPr>
        <p:spPr>
          <a:xfrm>
            <a:off x="7878068" y="4532586"/>
            <a:ext cx="2621766" cy="164749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0263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err="1" smtClean="0"/>
              <a:t>The</a:t>
            </a:r>
            <a:r>
              <a:rPr lang="es-ES" dirty="0" smtClean="0"/>
              <a:t> </a:t>
            </a:r>
            <a:r>
              <a:rPr lang="es-ES" dirty="0" err="1" smtClean="0"/>
              <a:t>property</a:t>
            </a:r>
            <a:r>
              <a:rPr lang="es-ES" dirty="0" smtClean="0"/>
              <a:t> </a:t>
            </a:r>
            <a:r>
              <a:rPr lang="es-ES" dirty="0" err="1" smtClean="0"/>
              <a:t>graph</a:t>
            </a:r>
            <a:r>
              <a:rPr lang="es-ES" dirty="0" smtClean="0"/>
              <a:t> </a:t>
            </a:r>
            <a:r>
              <a:rPr lang="es-ES" dirty="0" err="1" smtClean="0"/>
              <a:t>model</a:t>
            </a:r>
            <a:endParaRPr lang="es-ES" dirty="0"/>
          </a:p>
        </p:txBody>
      </p:sp>
      <p:sp>
        <p:nvSpPr>
          <p:cNvPr id="3" name="Marcador de contenido 2"/>
          <p:cNvSpPr>
            <a:spLocks noGrp="1"/>
          </p:cNvSpPr>
          <p:nvPr>
            <p:ph idx="1"/>
          </p:nvPr>
        </p:nvSpPr>
        <p:spPr/>
        <p:txBody>
          <a:bodyPr/>
          <a:lstStyle/>
          <a:p>
            <a:pPr marL="0" indent="0">
              <a:buNone/>
            </a:pPr>
            <a:r>
              <a:rPr lang="en-US" dirty="0"/>
              <a:t>A graph structure means that we will be using </a:t>
            </a:r>
            <a:r>
              <a:rPr lang="en-US" dirty="0">
                <a:solidFill>
                  <a:srgbClr val="00B050"/>
                </a:solidFill>
              </a:rPr>
              <a:t>vertices</a:t>
            </a:r>
            <a:r>
              <a:rPr lang="en-US" dirty="0"/>
              <a:t> and </a:t>
            </a:r>
            <a:r>
              <a:rPr lang="en-US" dirty="0">
                <a:solidFill>
                  <a:srgbClr val="00B050"/>
                </a:solidFill>
              </a:rPr>
              <a:t>edges</a:t>
            </a:r>
            <a:r>
              <a:rPr lang="en-US" dirty="0"/>
              <a:t> (or </a:t>
            </a:r>
            <a:r>
              <a:rPr lang="en-US" dirty="0">
                <a:solidFill>
                  <a:srgbClr val="00B050"/>
                </a:solidFill>
              </a:rPr>
              <a:t>nodes</a:t>
            </a:r>
            <a:r>
              <a:rPr lang="en-US" dirty="0"/>
              <a:t> and </a:t>
            </a:r>
            <a:r>
              <a:rPr lang="en-US" dirty="0">
                <a:solidFill>
                  <a:srgbClr val="00B050"/>
                </a:solidFill>
              </a:rPr>
              <a:t>relationships</a:t>
            </a:r>
            <a:r>
              <a:rPr lang="en-US" dirty="0"/>
              <a:t>, as we prefer to call these elements) to store data in a persistent manner. </a:t>
            </a:r>
            <a:endParaRPr lang="en-US" dirty="0" smtClean="0"/>
          </a:p>
          <a:p>
            <a:pPr marL="0" indent="0">
              <a:buNone/>
            </a:pPr>
            <a:r>
              <a:rPr lang="en-US" dirty="0" smtClean="0"/>
              <a:t>As </a:t>
            </a:r>
            <a:r>
              <a:rPr lang="en-US" dirty="0"/>
              <a:t>a consequence, the graph structure enables us to: </a:t>
            </a:r>
          </a:p>
          <a:p>
            <a:r>
              <a:rPr lang="en-US" dirty="0" smtClean="0"/>
              <a:t>represent data (</a:t>
            </a:r>
            <a:r>
              <a:rPr lang="en-US" dirty="0"/>
              <a:t>f</a:t>
            </a:r>
            <a:r>
              <a:rPr lang="en-US" dirty="0" smtClean="0"/>
              <a:t>or some domains) </a:t>
            </a:r>
            <a:r>
              <a:rPr lang="en-US" dirty="0">
                <a:solidFill>
                  <a:srgbClr val="00B050"/>
                </a:solidFill>
              </a:rPr>
              <a:t>in a much more natural way</a:t>
            </a:r>
            <a:r>
              <a:rPr lang="en-US" dirty="0"/>
              <a:t>, without some of the distortions of the </a:t>
            </a:r>
            <a:r>
              <a:rPr lang="en-US" dirty="0">
                <a:solidFill>
                  <a:srgbClr val="00B050"/>
                </a:solidFill>
              </a:rPr>
              <a:t>relational data model </a:t>
            </a:r>
          </a:p>
          <a:p>
            <a:r>
              <a:rPr lang="en-US" dirty="0"/>
              <a:t>Apply various types of graph algorithms on these structures </a:t>
            </a:r>
          </a:p>
          <a:p>
            <a:endParaRPr lang="es-ES" dirty="0"/>
          </a:p>
        </p:txBody>
      </p:sp>
    </p:spTree>
    <p:extLst>
      <p:ext uri="{BB962C8B-B14F-4D97-AF65-F5344CB8AC3E}">
        <p14:creationId xmlns:p14="http://schemas.microsoft.com/office/powerpoint/2010/main" val="1700529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a:t>One of the key capabilities </a:t>
            </a:r>
            <a:r>
              <a:rPr lang="en-US" dirty="0" smtClean="0"/>
              <a:t>is to </a:t>
            </a:r>
            <a:r>
              <a:rPr lang="en-US" dirty="0">
                <a:solidFill>
                  <a:srgbClr val="00B050"/>
                </a:solidFill>
              </a:rPr>
              <a:t>traverse the graph</a:t>
            </a:r>
            <a:r>
              <a:rPr lang="en-US" dirty="0"/>
              <a:t>—to walk on its nodes and relationships and hop from one node to the next by following the </a:t>
            </a:r>
            <a:r>
              <a:rPr lang="en-US" dirty="0">
                <a:solidFill>
                  <a:srgbClr val="00B050"/>
                </a:solidFill>
              </a:rPr>
              <a:t>explicit pointers </a:t>
            </a:r>
            <a:r>
              <a:rPr lang="en-US" dirty="0"/>
              <a:t>that connect the nodes. </a:t>
            </a:r>
            <a:endParaRPr lang="en-US" dirty="0" smtClean="0"/>
          </a:p>
          <a:p>
            <a:r>
              <a:rPr lang="en-US" dirty="0"/>
              <a:t>This capability—sometimes also referred to as </a:t>
            </a:r>
            <a:r>
              <a:rPr lang="en-US" i="1" dirty="0">
                <a:solidFill>
                  <a:srgbClr val="00B050"/>
                </a:solidFill>
              </a:rPr>
              <a:t>index free adjacency</a:t>
            </a:r>
            <a:r>
              <a:rPr lang="en-US" dirty="0"/>
              <a:t>, which essentially means that you can find adjacent/neighboring nodes without having to do an index lookup</a:t>
            </a:r>
            <a:endParaRPr lang="es-ES" dirty="0"/>
          </a:p>
        </p:txBody>
      </p:sp>
    </p:spTree>
    <p:extLst>
      <p:ext uri="{BB962C8B-B14F-4D97-AF65-F5344CB8AC3E}">
        <p14:creationId xmlns:p14="http://schemas.microsoft.com/office/powerpoint/2010/main" val="3267734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dirty="0" err="1" smtClean="0"/>
              <a:t>The</a:t>
            </a:r>
            <a:r>
              <a:rPr lang="es-ES" dirty="0" smtClean="0"/>
              <a:t> </a:t>
            </a:r>
            <a:r>
              <a:rPr lang="es-ES" dirty="0" err="1" smtClean="0"/>
              <a:t>property</a:t>
            </a:r>
            <a:r>
              <a:rPr lang="es-ES" dirty="0" smtClean="0"/>
              <a:t> </a:t>
            </a:r>
            <a:r>
              <a:rPr lang="es-ES" dirty="0" err="1" smtClean="0"/>
              <a:t>graph</a:t>
            </a:r>
            <a:r>
              <a:rPr lang="es-ES" dirty="0" smtClean="0"/>
              <a:t> </a:t>
            </a:r>
            <a:r>
              <a:rPr lang="es-ES" dirty="0" err="1" smtClean="0"/>
              <a:t>model</a:t>
            </a:r>
            <a:r>
              <a:rPr lang="es-ES" dirty="0" smtClean="0"/>
              <a:t> </a:t>
            </a:r>
            <a:r>
              <a:rPr lang="es-ES" dirty="0" err="1"/>
              <a:t>is</a:t>
            </a:r>
            <a:r>
              <a:rPr lang="es-ES" dirty="0"/>
              <a:t> </a:t>
            </a:r>
            <a:r>
              <a:rPr lang="es-ES" dirty="0" err="1" smtClean="0"/>
              <a:t>suited</a:t>
            </a:r>
            <a:r>
              <a:rPr lang="es-ES" dirty="0" smtClean="0"/>
              <a:t> </a:t>
            </a:r>
            <a:r>
              <a:rPr lang="es-ES" dirty="0" err="1" smtClean="0"/>
              <a:t>for</a:t>
            </a:r>
            <a:r>
              <a:rPr lang="es-ES" dirty="0" smtClean="0"/>
              <a:t>:</a:t>
            </a:r>
          </a:p>
          <a:p>
            <a:pPr marL="0" indent="0">
              <a:buNone/>
            </a:pPr>
            <a:endParaRPr lang="es-ES" dirty="0"/>
          </a:p>
          <a:p>
            <a:r>
              <a:rPr lang="en-US" b="1" dirty="0"/>
              <a:t>Directed graphs</a:t>
            </a:r>
            <a:r>
              <a:rPr lang="en-US" dirty="0"/>
              <a:t>: The links between nodes (also known as the relationships) have a direction. </a:t>
            </a:r>
          </a:p>
          <a:p>
            <a:pPr marL="0" indent="0">
              <a:buNone/>
            </a:pPr>
            <a:r>
              <a:rPr lang="en-US" dirty="0"/>
              <a:t>• </a:t>
            </a:r>
            <a:r>
              <a:rPr lang="en-US" b="1" dirty="0" err="1"/>
              <a:t>Multirelational</a:t>
            </a:r>
            <a:r>
              <a:rPr lang="en-US" b="1" dirty="0"/>
              <a:t> graphs</a:t>
            </a:r>
            <a:r>
              <a:rPr lang="en-US" dirty="0"/>
              <a:t>: There can be multiple relationships between two nodes that are the </a:t>
            </a:r>
            <a:r>
              <a:rPr lang="en-US" dirty="0" smtClean="0"/>
              <a:t>same. </a:t>
            </a:r>
            <a:endParaRPr lang="en-US" dirty="0"/>
          </a:p>
          <a:p>
            <a:pPr marL="0" indent="0">
              <a:buNone/>
            </a:pPr>
            <a:r>
              <a:rPr lang="en-US" dirty="0"/>
              <a:t>• </a:t>
            </a:r>
            <a:r>
              <a:rPr lang="en-US" b="1" dirty="0" smtClean="0"/>
              <a:t>Properties</a:t>
            </a:r>
            <a:r>
              <a:rPr lang="en-US" dirty="0" smtClean="0"/>
              <a:t>: Storing </a:t>
            </a:r>
            <a:r>
              <a:rPr lang="en-US" dirty="0"/>
              <a:t>key-value pairs as the properties of the nodes and relationships.</a:t>
            </a:r>
          </a:p>
          <a:p>
            <a:pPr marL="0" indent="0">
              <a:buNone/>
            </a:pPr>
            <a:endParaRPr lang="es-ES" dirty="0"/>
          </a:p>
        </p:txBody>
      </p:sp>
    </p:spTree>
    <p:extLst>
      <p:ext uri="{BB962C8B-B14F-4D97-AF65-F5344CB8AC3E}">
        <p14:creationId xmlns:p14="http://schemas.microsoft.com/office/powerpoint/2010/main" val="13821057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41435" y="804041"/>
            <a:ext cx="11414234" cy="5833242"/>
          </a:xfrm>
          <a:prstGeom prst="rect">
            <a:avLst/>
          </a:prstGeom>
        </p:spPr>
      </p:pic>
    </p:spTree>
    <p:extLst>
      <p:ext uri="{BB962C8B-B14F-4D97-AF65-F5344CB8AC3E}">
        <p14:creationId xmlns:p14="http://schemas.microsoft.com/office/powerpoint/2010/main" val="27847940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dirty="0" err="1" smtClean="0"/>
              <a:t>Some</a:t>
            </a:r>
            <a:r>
              <a:rPr lang="es-ES" dirty="0" smtClean="0"/>
              <a:t> </a:t>
            </a:r>
            <a:r>
              <a:rPr lang="es-ES" dirty="0" err="1"/>
              <a:t>aspects</a:t>
            </a:r>
            <a:r>
              <a:rPr lang="es-ES" dirty="0"/>
              <a:t> of </a:t>
            </a:r>
            <a:r>
              <a:rPr lang="es-ES" dirty="0" err="1"/>
              <a:t>this</a:t>
            </a:r>
            <a:r>
              <a:rPr lang="es-ES" dirty="0"/>
              <a:t> </a:t>
            </a:r>
            <a:r>
              <a:rPr lang="es-ES" dirty="0" err="1" smtClean="0"/>
              <a:t>model</a:t>
            </a:r>
            <a:r>
              <a:rPr lang="es-ES" dirty="0" smtClean="0"/>
              <a:t>:</a:t>
            </a:r>
          </a:p>
          <a:p>
            <a:endParaRPr lang="es-ES" dirty="0"/>
          </a:p>
          <a:p>
            <a:r>
              <a:rPr lang="en-US" b="1" dirty="0"/>
              <a:t>There is no fixed </a:t>
            </a:r>
            <a:r>
              <a:rPr lang="en-US" b="1" dirty="0" smtClean="0"/>
              <a:t>schema</a:t>
            </a:r>
            <a:r>
              <a:rPr lang="en-US" b="1" dirty="0"/>
              <a:t> </a:t>
            </a:r>
            <a:r>
              <a:rPr lang="en-US" dirty="0" smtClean="0"/>
              <a:t>(</a:t>
            </a:r>
            <a:r>
              <a:rPr lang="en-US" dirty="0" smtClean="0">
                <a:solidFill>
                  <a:srgbClr val="00B050"/>
                </a:solidFill>
              </a:rPr>
              <a:t>schema-less</a:t>
            </a:r>
            <a:r>
              <a:rPr lang="en-US" dirty="0" smtClean="0"/>
              <a:t>): If </a:t>
            </a:r>
            <a:r>
              <a:rPr lang="en-US" dirty="0"/>
              <a:t>one node or relationship has more or fewer properties, we do not have to alter the design for </a:t>
            </a:r>
            <a:r>
              <a:rPr lang="en-US" dirty="0" smtClean="0"/>
              <a:t>this…</a:t>
            </a:r>
            <a:r>
              <a:rPr lang="en-US" dirty="0"/>
              <a:t>A</a:t>
            </a:r>
            <a:r>
              <a:rPr lang="en-US" dirty="0" smtClean="0"/>
              <a:t>lthough having some kind of schema as you move closer to production is probably not a bad idea</a:t>
            </a:r>
          </a:p>
          <a:p>
            <a:r>
              <a:rPr lang="en-US" dirty="0" smtClean="0"/>
              <a:t>Nodes </a:t>
            </a:r>
            <a:r>
              <a:rPr lang="en-US" dirty="0"/>
              <a:t>and node properties seem to be quite easy to </a:t>
            </a:r>
            <a:r>
              <a:rPr lang="en-US" dirty="0" smtClean="0"/>
              <a:t>understand:</a:t>
            </a:r>
            <a:r>
              <a:rPr lang="es-ES" dirty="0" smtClean="0"/>
              <a:t> </a:t>
            </a:r>
            <a:r>
              <a:rPr lang="en-US" dirty="0" smtClean="0"/>
              <a:t>nodes </a:t>
            </a:r>
            <a:r>
              <a:rPr lang="en-US" dirty="0"/>
              <a:t>will have properties just like records/rows in a table will have fields/columns. </a:t>
            </a:r>
          </a:p>
          <a:p>
            <a:endParaRPr lang="en-US" dirty="0"/>
          </a:p>
          <a:p>
            <a:endParaRPr lang="en-US" dirty="0"/>
          </a:p>
          <a:p>
            <a:endParaRPr lang="en-US" dirty="0"/>
          </a:p>
          <a:p>
            <a:endParaRPr lang="en-US" dirty="0" smtClean="0"/>
          </a:p>
          <a:p>
            <a:endParaRPr lang="en-US" dirty="0"/>
          </a:p>
          <a:p>
            <a:pPr marL="0" indent="0">
              <a:buNone/>
            </a:pPr>
            <a:endParaRPr lang="es-ES" dirty="0"/>
          </a:p>
        </p:txBody>
      </p:sp>
    </p:spTree>
    <p:extLst>
      <p:ext uri="{BB962C8B-B14F-4D97-AF65-F5344CB8AC3E}">
        <p14:creationId xmlns:p14="http://schemas.microsoft.com/office/powerpoint/2010/main" val="11452309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smtClean="0"/>
              <a:t>Relationships </a:t>
            </a:r>
            <a:r>
              <a:rPr lang="en-US" dirty="0"/>
              <a:t>are a bit different. They always have a </a:t>
            </a:r>
            <a:r>
              <a:rPr lang="en-US" dirty="0" smtClean="0"/>
              <a:t>start </a:t>
            </a:r>
            <a:r>
              <a:rPr lang="en-US" dirty="0"/>
              <a:t>and an </a:t>
            </a:r>
            <a:r>
              <a:rPr lang="en-US" dirty="0" smtClean="0"/>
              <a:t>end point; therefore, they have </a:t>
            </a:r>
            <a:r>
              <a:rPr lang="en-US" dirty="0"/>
              <a:t>a </a:t>
            </a:r>
            <a:r>
              <a:rPr lang="en-US" dirty="0">
                <a:solidFill>
                  <a:srgbClr val="00B050"/>
                </a:solidFill>
              </a:rPr>
              <a:t>direction</a:t>
            </a:r>
            <a:r>
              <a:rPr lang="en-US" dirty="0"/>
              <a:t>. </a:t>
            </a:r>
            <a:r>
              <a:rPr lang="en-US" dirty="0" smtClean="0"/>
              <a:t>Their power </a:t>
            </a:r>
            <a:r>
              <a:rPr lang="en-US" dirty="0"/>
              <a:t>lies </a:t>
            </a:r>
            <a:r>
              <a:rPr lang="en-US" dirty="0" smtClean="0"/>
              <a:t>in:</a:t>
            </a:r>
          </a:p>
          <a:p>
            <a:pPr lvl="1"/>
            <a:r>
              <a:rPr lang="en-US" b="1" dirty="0" smtClean="0"/>
              <a:t>Relationships </a:t>
            </a:r>
            <a:r>
              <a:rPr lang="en-US" b="1" dirty="0"/>
              <a:t>are explicit</a:t>
            </a:r>
            <a:r>
              <a:rPr lang="en-US" dirty="0"/>
              <a:t>: They are not </a:t>
            </a:r>
            <a:r>
              <a:rPr lang="en-US" dirty="0" smtClean="0"/>
              <a:t>established </a:t>
            </a:r>
            <a:r>
              <a:rPr lang="en-US" dirty="0"/>
              <a:t>at query time through a join operation. </a:t>
            </a:r>
            <a:endParaRPr lang="en-US" dirty="0" smtClean="0"/>
          </a:p>
          <a:p>
            <a:pPr lvl="1"/>
            <a:r>
              <a:rPr lang="en-US" b="1" dirty="0" smtClean="0"/>
              <a:t>Relationships </a:t>
            </a:r>
            <a:r>
              <a:rPr lang="en-US" b="1" dirty="0"/>
              <a:t>can have properties too</a:t>
            </a:r>
            <a:r>
              <a:rPr lang="en-US" dirty="0"/>
              <a:t>: They can have values associated with them that can specify the length, capacity, or any other characteristic of that relationship. </a:t>
            </a:r>
            <a:endParaRPr lang="es-ES" dirty="0"/>
          </a:p>
          <a:p>
            <a:pPr lvl="1"/>
            <a:endParaRPr lang="en-US" dirty="0"/>
          </a:p>
          <a:p>
            <a:endParaRPr lang="es-ES" dirty="0"/>
          </a:p>
          <a:p>
            <a:pPr lvl="1"/>
            <a:endParaRPr lang="en-US" dirty="0"/>
          </a:p>
          <a:p>
            <a:endParaRPr lang="en-US" dirty="0"/>
          </a:p>
          <a:p>
            <a:endParaRPr lang="es-ES" dirty="0"/>
          </a:p>
        </p:txBody>
      </p:sp>
    </p:spTree>
    <p:extLst>
      <p:ext uri="{BB962C8B-B14F-4D97-AF65-F5344CB8AC3E}">
        <p14:creationId xmlns:p14="http://schemas.microsoft.com/office/powerpoint/2010/main" val="29300048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a:t>In </a:t>
            </a:r>
            <a:r>
              <a:rPr lang="en-US" dirty="0" smtClean="0"/>
              <a:t>Neo4j, </a:t>
            </a:r>
            <a:r>
              <a:rPr lang="en-US" dirty="0"/>
              <a:t>this data model has been enriched with a couple of key concepts that extend the core property graph </a:t>
            </a:r>
            <a:r>
              <a:rPr lang="en-US" dirty="0" smtClean="0"/>
              <a:t>model:</a:t>
            </a:r>
          </a:p>
          <a:p>
            <a:pPr lvl="1"/>
            <a:r>
              <a:rPr lang="en-US" dirty="0"/>
              <a:t>Node labels are a way of semantically </a:t>
            </a:r>
            <a:r>
              <a:rPr lang="en-US" dirty="0">
                <a:solidFill>
                  <a:srgbClr val="00B050"/>
                </a:solidFill>
              </a:rPr>
              <a:t>categorizing</a:t>
            </a:r>
            <a:r>
              <a:rPr lang="en-US" dirty="0"/>
              <a:t> the nodes in your graph. A node can have zero, one, or more labels assigned to </a:t>
            </a:r>
            <a:r>
              <a:rPr lang="en-US" dirty="0" smtClean="0"/>
              <a:t>it</a:t>
            </a:r>
          </a:p>
          <a:p>
            <a:pPr lvl="1"/>
            <a:r>
              <a:rPr lang="en-US" dirty="0"/>
              <a:t>Relationship types achieve something similar to what you do with node labels, but to relationships. </a:t>
            </a:r>
            <a:r>
              <a:rPr lang="en-US" dirty="0" smtClean="0"/>
              <a:t>Relationship </a:t>
            </a:r>
            <a:r>
              <a:rPr lang="en-US" dirty="0"/>
              <a:t>types are mandatory properties for relationships (every relationship must have one and only one type) </a:t>
            </a:r>
            <a:endParaRPr lang="es-ES" dirty="0"/>
          </a:p>
        </p:txBody>
      </p:sp>
    </p:spTree>
    <p:extLst>
      <p:ext uri="{BB962C8B-B14F-4D97-AF65-F5344CB8AC3E}">
        <p14:creationId xmlns:p14="http://schemas.microsoft.com/office/powerpoint/2010/main" val="11200244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n-US" b="1" dirty="0"/>
              <a:t>Why (or why not) graph databases </a:t>
            </a:r>
            <a:endParaRPr lang="es-ES" dirty="0"/>
          </a:p>
        </p:txBody>
      </p:sp>
      <p:sp>
        <p:nvSpPr>
          <p:cNvPr id="3" name="Marcador de contenido 2"/>
          <p:cNvSpPr>
            <a:spLocks noGrp="1"/>
          </p:cNvSpPr>
          <p:nvPr>
            <p:ph idx="1"/>
          </p:nvPr>
        </p:nvSpPr>
        <p:spPr/>
        <p:txBody>
          <a:bodyPr/>
          <a:lstStyle/>
          <a:p>
            <a:r>
              <a:rPr lang="en-US" dirty="0"/>
              <a:t>T</a:t>
            </a:r>
            <a:r>
              <a:rPr lang="en-US" dirty="0" smtClean="0"/>
              <a:t>here </a:t>
            </a:r>
            <a:r>
              <a:rPr lang="en-US" dirty="0"/>
              <a:t>are a number of typical data </a:t>
            </a:r>
            <a:r>
              <a:rPr lang="en-US" dirty="0" smtClean="0"/>
              <a:t>problems (and </a:t>
            </a:r>
            <a:r>
              <a:rPr lang="en-US" dirty="0"/>
              <a:t>database system </a:t>
            </a:r>
            <a:r>
              <a:rPr lang="en-US" dirty="0" smtClean="0"/>
              <a:t>queries) </a:t>
            </a:r>
            <a:r>
              <a:rPr lang="en-US" dirty="0" smtClean="0">
                <a:solidFill>
                  <a:srgbClr val="00B050"/>
                </a:solidFill>
              </a:rPr>
              <a:t>that are </a:t>
            </a:r>
            <a:r>
              <a:rPr lang="en-US" dirty="0">
                <a:solidFill>
                  <a:srgbClr val="00B050"/>
                </a:solidFill>
              </a:rPr>
              <a:t>an excellent </a:t>
            </a:r>
            <a:r>
              <a:rPr lang="en-US" dirty="0"/>
              <a:t>match for a graph database, and </a:t>
            </a:r>
            <a:r>
              <a:rPr lang="en-US" dirty="0" smtClean="0"/>
              <a:t>there </a:t>
            </a:r>
            <a:r>
              <a:rPr lang="en-US" dirty="0"/>
              <a:t>are a number of other types of data questions </a:t>
            </a:r>
            <a:r>
              <a:rPr lang="en-US" dirty="0">
                <a:solidFill>
                  <a:srgbClr val="00B050"/>
                </a:solidFill>
              </a:rPr>
              <a:t>that are </a:t>
            </a:r>
            <a:r>
              <a:rPr lang="en-US" b="1" dirty="0">
                <a:solidFill>
                  <a:srgbClr val="00B050"/>
                </a:solidFill>
              </a:rPr>
              <a:t>not</a:t>
            </a:r>
            <a:r>
              <a:rPr lang="en-US" dirty="0">
                <a:solidFill>
                  <a:srgbClr val="00B050"/>
                </a:solidFill>
              </a:rPr>
              <a:t> specifically designed </a:t>
            </a:r>
            <a:r>
              <a:rPr lang="en-US" dirty="0"/>
              <a:t>to be answered by such systems. </a:t>
            </a:r>
            <a:endParaRPr lang="es-ES" dirty="0"/>
          </a:p>
        </p:txBody>
      </p:sp>
    </p:spTree>
    <p:extLst>
      <p:ext uri="{BB962C8B-B14F-4D97-AF65-F5344CB8AC3E}">
        <p14:creationId xmlns:p14="http://schemas.microsoft.com/office/powerpoint/2010/main" val="424014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Why use a graph database? </a:t>
            </a:r>
            <a:endParaRPr lang="es-ES" dirty="0"/>
          </a:p>
        </p:txBody>
      </p:sp>
      <p:sp>
        <p:nvSpPr>
          <p:cNvPr id="3" name="Marcador de contenido 2"/>
          <p:cNvSpPr>
            <a:spLocks noGrp="1"/>
          </p:cNvSpPr>
          <p:nvPr>
            <p:ph idx="1"/>
          </p:nvPr>
        </p:nvSpPr>
        <p:spPr/>
        <p:txBody>
          <a:bodyPr/>
          <a:lstStyle/>
          <a:p>
            <a:r>
              <a:rPr lang="en-US" dirty="0"/>
              <a:t>Complex queries are the types of questions that you want to ask of your data that are inherently composed of a number of complex </a:t>
            </a:r>
            <a:r>
              <a:rPr lang="en-US" dirty="0" smtClean="0"/>
              <a:t>join operations</a:t>
            </a:r>
            <a:r>
              <a:rPr lang="en-US" dirty="0"/>
              <a:t>. </a:t>
            </a:r>
            <a:endParaRPr lang="en-US" dirty="0" smtClean="0"/>
          </a:p>
          <a:p>
            <a:r>
              <a:rPr lang="en-US" dirty="0"/>
              <a:t>An example of such a complex query would be: </a:t>
            </a:r>
            <a:endParaRPr lang="en-US" dirty="0" smtClean="0"/>
          </a:p>
          <a:p>
            <a:pPr marL="0" indent="0">
              <a:buNone/>
            </a:pPr>
            <a:r>
              <a:rPr lang="en-US" dirty="0" smtClean="0">
                <a:solidFill>
                  <a:srgbClr val="0070C0"/>
                </a:solidFill>
              </a:rPr>
              <a:t>“Find </a:t>
            </a:r>
            <a:r>
              <a:rPr lang="en-US" dirty="0">
                <a:solidFill>
                  <a:srgbClr val="0070C0"/>
                </a:solidFill>
              </a:rPr>
              <a:t>all the restaurants in a certain London neighborhood that serve Indian food, are open on Sundays, and cater for kids</a:t>
            </a:r>
            <a:r>
              <a:rPr lang="en-US" dirty="0" smtClean="0">
                <a:solidFill>
                  <a:srgbClr val="0070C0"/>
                </a:solidFill>
              </a:rPr>
              <a:t>.”</a:t>
            </a:r>
          </a:p>
          <a:p>
            <a:endParaRPr lang="es-ES" dirty="0"/>
          </a:p>
        </p:txBody>
      </p:sp>
    </p:spTree>
    <p:extLst>
      <p:ext uri="{BB962C8B-B14F-4D97-AF65-F5344CB8AC3E}">
        <p14:creationId xmlns:p14="http://schemas.microsoft.com/office/powerpoint/2010/main" val="10782097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a:t>In relational terms, this would mean joining up data from the </a:t>
            </a:r>
            <a:r>
              <a:rPr lang="en-US" b="1" dirty="0">
                <a:solidFill>
                  <a:srgbClr val="0070C0"/>
                </a:solidFill>
              </a:rPr>
              <a:t>restaurant</a:t>
            </a:r>
            <a:r>
              <a:rPr lang="en-US" b="1" dirty="0"/>
              <a:t> </a:t>
            </a:r>
            <a:r>
              <a:rPr lang="en-US" dirty="0"/>
              <a:t>table, the </a:t>
            </a:r>
            <a:r>
              <a:rPr lang="en-US" b="1" dirty="0">
                <a:solidFill>
                  <a:srgbClr val="0070C0"/>
                </a:solidFill>
              </a:rPr>
              <a:t>food type </a:t>
            </a:r>
            <a:r>
              <a:rPr lang="en-US" dirty="0"/>
              <a:t>table, the </a:t>
            </a:r>
            <a:r>
              <a:rPr lang="en-US" b="1" dirty="0">
                <a:solidFill>
                  <a:srgbClr val="0070C0"/>
                </a:solidFill>
              </a:rPr>
              <a:t>Opening hours </a:t>
            </a:r>
            <a:r>
              <a:rPr lang="en-US" dirty="0"/>
              <a:t>table, the </a:t>
            </a:r>
            <a:r>
              <a:rPr lang="en-US" b="1" dirty="0">
                <a:solidFill>
                  <a:srgbClr val="0070C0"/>
                </a:solidFill>
              </a:rPr>
              <a:t>Caters for </a:t>
            </a:r>
            <a:r>
              <a:rPr lang="en-US" dirty="0"/>
              <a:t>table, and the </a:t>
            </a:r>
            <a:r>
              <a:rPr lang="en-US" b="1" dirty="0">
                <a:solidFill>
                  <a:srgbClr val="0070C0"/>
                </a:solidFill>
              </a:rPr>
              <a:t>zip-code </a:t>
            </a:r>
            <a:r>
              <a:rPr lang="en-US" dirty="0"/>
              <a:t>table holding the London neighborhoods and then providing an answer. </a:t>
            </a:r>
            <a:endParaRPr lang="es-ES" dirty="0"/>
          </a:p>
        </p:txBody>
      </p:sp>
    </p:spTree>
    <p:extLst>
      <p:ext uri="{BB962C8B-B14F-4D97-AF65-F5344CB8AC3E}">
        <p14:creationId xmlns:p14="http://schemas.microsoft.com/office/powerpoint/2010/main" val="9626728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a:t>In a graph database, a join operation will never need to be performed: all we need to do is </a:t>
            </a:r>
            <a:r>
              <a:rPr lang="en-US" dirty="0">
                <a:solidFill>
                  <a:srgbClr val="0070C0"/>
                </a:solidFill>
              </a:rPr>
              <a:t>to find a starting node in the database </a:t>
            </a:r>
            <a:r>
              <a:rPr lang="en-US" dirty="0"/>
              <a:t>(for example, London), usually with an index lookup, and then just use the index free adjacency characteristic and </a:t>
            </a:r>
            <a:r>
              <a:rPr lang="en-US" dirty="0">
                <a:solidFill>
                  <a:srgbClr val="C00000"/>
                </a:solidFill>
              </a:rPr>
              <a:t>hop</a:t>
            </a:r>
            <a:r>
              <a:rPr lang="en-US" dirty="0"/>
              <a:t> from one node (</a:t>
            </a:r>
            <a:r>
              <a:rPr lang="en-US" dirty="0">
                <a:solidFill>
                  <a:srgbClr val="0070C0"/>
                </a:solidFill>
              </a:rPr>
              <a:t>London</a:t>
            </a:r>
            <a:r>
              <a:rPr lang="en-US" dirty="0"/>
              <a:t>) to the next (</a:t>
            </a:r>
            <a:r>
              <a:rPr lang="en-US" dirty="0">
                <a:solidFill>
                  <a:srgbClr val="0070C0"/>
                </a:solidFill>
              </a:rPr>
              <a:t>Restaurant</a:t>
            </a:r>
            <a:r>
              <a:rPr lang="en-US" dirty="0"/>
              <a:t>) over its connecting relationships (</a:t>
            </a:r>
            <a:r>
              <a:rPr lang="en-US" dirty="0">
                <a:solidFill>
                  <a:srgbClr val="00B050"/>
                </a:solidFill>
              </a:rPr>
              <a:t>Restaurant-[LOCATED_IN]-&gt;London</a:t>
            </a:r>
            <a:r>
              <a:rPr lang="en-US" dirty="0"/>
              <a:t>). Every hop along this path is, in effect, the equivalent of a join operation. </a:t>
            </a:r>
            <a:endParaRPr lang="es-ES" dirty="0"/>
          </a:p>
        </p:txBody>
      </p:sp>
      <p:cxnSp>
        <p:nvCxnSpPr>
          <p:cNvPr id="5" name="Conector recto de flecha 4"/>
          <p:cNvCxnSpPr/>
          <p:nvPr/>
        </p:nvCxnSpPr>
        <p:spPr>
          <a:xfrm>
            <a:off x="3783725" y="4127422"/>
            <a:ext cx="1545021" cy="1056289"/>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5470634" y="5013434"/>
            <a:ext cx="2774732" cy="523220"/>
          </a:xfrm>
          <a:prstGeom prst="rect">
            <a:avLst/>
          </a:prstGeom>
          <a:noFill/>
        </p:spPr>
        <p:txBody>
          <a:bodyPr wrap="square" rtlCol="0">
            <a:spAutoFit/>
          </a:bodyPr>
          <a:lstStyle/>
          <a:p>
            <a:r>
              <a:rPr lang="es-ES" sz="2800" dirty="0" err="1" smtClean="0">
                <a:solidFill>
                  <a:srgbClr val="00B050"/>
                </a:solidFill>
              </a:rPr>
              <a:t>Pattern</a:t>
            </a:r>
            <a:endParaRPr lang="es-ES" sz="2800" dirty="0">
              <a:solidFill>
                <a:srgbClr val="00B050"/>
              </a:solidFill>
            </a:endParaRPr>
          </a:p>
        </p:txBody>
      </p:sp>
    </p:spTree>
    <p:extLst>
      <p:ext uri="{BB962C8B-B14F-4D97-AF65-F5344CB8AC3E}">
        <p14:creationId xmlns:p14="http://schemas.microsoft.com/office/powerpoint/2010/main" val="18490173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a:t>We often refer to these types of queries as </a:t>
            </a:r>
            <a:r>
              <a:rPr lang="en-US" dirty="0">
                <a:solidFill>
                  <a:srgbClr val="00B050"/>
                </a:solidFill>
              </a:rPr>
              <a:t>pattern matching queries</a:t>
            </a:r>
            <a:r>
              <a:rPr lang="en-US" dirty="0"/>
              <a:t>. We specify a </a:t>
            </a:r>
            <a:r>
              <a:rPr lang="en-US" dirty="0" smtClean="0"/>
              <a:t>pattern, </a:t>
            </a:r>
            <a:r>
              <a:rPr lang="en-US" dirty="0"/>
              <a:t>we anchor that pattern to one or more starting points, and start looking for matching occurrences of that pattern. </a:t>
            </a:r>
            <a:endParaRPr lang="en-US" dirty="0" smtClean="0"/>
          </a:p>
          <a:p>
            <a:r>
              <a:rPr lang="en-US" dirty="0" smtClean="0"/>
              <a:t>As </a:t>
            </a:r>
            <a:r>
              <a:rPr lang="en-US" dirty="0"/>
              <a:t>you can see, the graph database will be an excellent tool to spin around the anchor node and figure out whether there are matching patterns connected to it. </a:t>
            </a:r>
            <a:endParaRPr lang="en-US" dirty="0" smtClean="0"/>
          </a:p>
          <a:p>
            <a:r>
              <a:rPr lang="en-US" dirty="0" smtClean="0">
                <a:solidFill>
                  <a:srgbClr val="00B050"/>
                </a:solidFill>
              </a:rPr>
              <a:t>Non-matching </a:t>
            </a:r>
            <a:r>
              <a:rPr lang="en-US" dirty="0">
                <a:solidFill>
                  <a:srgbClr val="00B050"/>
                </a:solidFill>
              </a:rPr>
              <a:t>patterns will be ignored, and matching patterns that are not connected to the starting node will not even be considered</a:t>
            </a:r>
            <a:r>
              <a:rPr lang="en-US" dirty="0"/>
              <a:t>. </a:t>
            </a:r>
            <a:endParaRPr lang="es-ES" dirty="0"/>
          </a:p>
        </p:txBody>
      </p:sp>
    </p:spTree>
    <p:extLst>
      <p:ext uri="{BB962C8B-B14F-4D97-AF65-F5344CB8AC3E}">
        <p14:creationId xmlns:p14="http://schemas.microsoft.com/office/powerpoint/2010/main" val="337005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lgn="ctr">
              <a:buNone/>
            </a:pPr>
            <a:r>
              <a:rPr lang="en-US" b="1" dirty="0">
                <a:solidFill>
                  <a:srgbClr val="0070C0"/>
                </a:solidFill>
              </a:rPr>
              <a:t>This, actually, is one of the key performance characteristics of a graph database: as soon as you "grab" a starting node, the database will only explore the </a:t>
            </a:r>
            <a:r>
              <a:rPr lang="en-US" b="1" dirty="0">
                <a:solidFill>
                  <a:srgbClr val="FF0000"/>
                </a:solidFill>
              </a:rPr>
              <a:t>vicinity</a:t>
            </a:r>
            <a:r>
              <a:rPr lang="en-US" b="1" dirty="0">
                <a:solidFill>
                  <a:srgbClr val="00B050"/>
                </a:solidFill>
              </a:rPr>
              <a:t> </a:t>
            </a:r>
            <a:r>
              <a:rPr lang="en-US" b="1" dirty="0">
                <a:solidFill>
                  <a:srgbClr val="0070C0"/>
                </a:solidFill>
              </a:rPr>
              <a:t>of that starting node and will be completely oblivious to anything that is not connected to the starting node. </a:t>
            </a:r>
            <a:endParaRPr lang="es-ES" b="1" dirty="0">
              <a:solidFill>
                <a:srgbClr val="0070C0"/>
              </a:solidFill>
            </a:endParaRPr>
          </a:p>
        </p:txBody>
      </p:sp>
      <p:cxnSp>
        <p:nvCxnSpPr>
          <p:cNvPr id="5" name="Conector recto de flecha 4"/>
          <p:cNvCxnSpPr/>
          <p:nvPr/>
        </p:nvCxnSpPr>
        <p:spPr>
          <a:xfrm>
            <a:off x="3967655" y="3058510"/>
            <a:ext cx="2128345" cy="13558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4974020" y="4414345"/>
            <a:ext cx="3452648" cy="523220"/>
          </a:xfrm>
          <a:prstGeom prst="rect">
            <a:avLst/>
          </a:prstGeom>
          <a:noFill/>
        </p:spPr>
        <p:txBody>
          <a:bodyPr wrap="square" rtlCol="0">
            <a:spAutoFit/>
          </a:bodyPr>
          <a:lstStyle/>
          <a:p>
            <a:r>
              <a:rPr lang="es-ES" sz="2800" b="1" dirty="0">
                <a:solidFill>
                  <a:srgbClr val="FF0000"/>
                </a:solidFill>
              </a:rPr>
              <a:t>Local </a:t>
            </a:r>
            <a:r>
              <a:rPr lang="es-ES" sz="2800" b="1" dirty="0" err="1">
                <a:solidFill>
                  <a:srgbClr val="FF0000"/>
                </a:solidFill>
              </a:rPr>
              <a:t>search</a:t>
            </a:r>
            <a:r>
              <a:rPr lang="es-ES" sz="2800" b="1" dirty="0">
                <a:solidFill>
                  <a:srgbClr val="FF0000"/>
                </a:solidFill>
              </a:rPr>
              <a:t>!</a:t>
            </a:r>
          </a:p>
        </p:txBody>
      </p:sp>
    </p:spTree>
    <p:extLst>
      <p:ext uri="{BB962C8B-B14F-4D97-AF65-F5344CB8AC3E}">
        <p14:creationId xmlns:p14="http://schemas.microsoft.com/office/powerpoint/2010/main" val="34667692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smtClean="0"/>
              <a:t>Another type of query that is extremely well suited for graph databases are queries where you would be looking to find out how different data elements are related to each other. </a:t>
            </a:r>
            <a:r>
              <a:rPr lang="en-US" dirty="0">
                <a:solidFill>
                  <a:srgbClr val="0070C0"/>
                </a:solidFill>
              </a:rPr>
              <a:t>In other words, finding the paths between different nodes on your </a:t>
            </a:r>
            <a:r>
              <a:rPr lang="en-US" dirty="0" smtClean="0">
                <a:solidFill>
                  <a:srgbClr val="0070C0"/>
                </a:solidFill>
              </a:rPr>
              <a:t>graph</a:t>
            </a:r>
            <a:r>
              <a:rPr lang="en-US" dirty="0" smtClean="0"/>
              <a:t>. </a:t>
            </a:r>
          </a:p>
          <a:p>
            <a:r>
              <a:rPr lang="en-US" dirty="0" smtClean="0"/>
              <a:t>Consider the following example: </a:t>
            </a:r>
          </a:p>
        </p:txBody>
      </p:sp>
    </p:spTree>
    <p:extLst>
      <p:ext uri="{BB962C8B-B14F-4D97-AF65-F5344CB8AC3E}">
        <p14:creationId xmlns:p14="http://schemas.microsoft.com/office/powerpoint/2010/main" val="11611276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p:cNvSpPr/>
          <p:nvPr/>
        </p:nvSpPr>
        <p:spPr>
          <a:xfrm>
            <a:off x="2128353" y="2719551"/>
            <a:ext cx="1521368" cy="1024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Jennifer</a:t>
            </a:r>
            <a:endParaRPr lang="es-ES" dirty="0"/>
          </a:p>
        </p:txBody>
      </p:sp>
      <p:sp>
        <p:nvSpPr>
          <p:cNvPr id="6" name="Elipse 5"/>
          <p:cNvSpPr/>
          <p:nvPr/>
        </p:nvSpPr>
        <p:spPr>
          <a:xfrm>
            <a:off x="4298734" y="1592318"/>
            <a:ext cx="1030013" cy="1024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Keira</a:t>
            </a:r>
            <a:endParaRPr lang="es-ES" dirty="0"/>
          </a:p>
        </p:txBody>
      </p:sp>
      <p:sp>
        <p:nvSpPr>
          <p:cNvPr id="7" name="Elipse 6"/>
          <p:cNvSpPr/>
          <p:nvPr/>
        </p:nvSpPr>
        <p:spPr>
          <a:xfrm>
            <a:off x="4298734" y="3641834"/>
            <a:ext cx="1187665" cy="1024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N’Dea</a:t>
            </a:r>
            <a:endParaRPr lang="es-ES" dirty="0"/>
          </a:p>
        </p:txBody>
      </p:sp>
      <p:sp>
        <p:nvSpPr>
          <p:cNvPr id="8" name="Elipse 7"/>
          <p:cNvSpPr/>
          <p:nvPr/>
        </p:nvSpPr>
        <p:spPr>
          <a:xfrm>
            <a:off x="6195854" y="1592318"/>
            <a:ext cx="1056290" cy="1024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Brad</a:t>
            </a:r>
            <a:endParaRPr lang="es-ES" dirty="0"/>
          </a:p>
        </p:txBody>
      </p:sp>
      <p:cxnSp>
        <p:nvCxnSpPr>
          <p:cNvPr id="11" name="Conector recto 10"/>
          <p:cNvCxnSpPr/>
          <p:nvPr/>
        </p:nvCxnSpPr>
        <p:spPr>
          <a:xfrm flipV="1">
            <a:off x="3310762" y="2270234"/>
            <a:ext cx="1182414" cy="6306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p:cNvCxnSpPr>
            <a:endCxn id="8" idx="2"/>
          </p:cNvCxnSpPr>
          <p:nvPr/>
        </p:nvCxnSpPr>
        <p:spPr>
          <a:xfrm>
            <a:off x="5184233" y="2104697"/>
            <a:ext cx="10116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a:xfrm>
            <a:off x="6921065" y="2270234"/>
            <a:ext cx="1056290" cy="1213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ector recto 16"/>
          <p:cNvCxnSpPr>
            <a:stCxn id="7" idx="6"/>
          </p:cNvCxnSpPr>
          <p:nvPr/>
        </p:nvCxnSpPr>
        <p:spPr>
          <a:xfrm flipV="1">
            <a:off x="5486399" y="3846787"/>
            <a:ext cx="2364832" cy="3074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3121576" y="3231930"/>
            <a:ext cx="1371600" cy="922283"/>
          </a:xfrm>
          <a:prstGeom prst="line">
            <a:avLst/>
          </a:prstGeom>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882868" y="5328745"/>
            <a:ext cx="9758855" cy="1569660"/>
          </a:xfrm>
          <a:prstGeom prst="rect">
            <a:avLst/>
          </a:prstGeom>
          <a:noFill/>
        </p:spPr>
        <p:txBody>
          <a:bodyPr wrap="square" rtlCol="0">
            <a:spAutoFit/>
          </a:bodyPr>
          <a:lstStyle/>
          <a:p>
            <a:pPr algn="ctr"/>
            <a:r>
              <a:rPr lang="es-ES" sz="3200" dirty="0" smtClean="0"/>
              <a:t>To </a:t>
            </a:r>
            <a:r>
              <a:rPr lang="es-ES" sz="3200" dirty="0" err="1" smtClean="0"/>
              <a:t>solve</a:t>
            </a:r>
            <a:r>
              <a:rPr lang="es-ES" sz="3200" dirty="0" smtClean="0"/>
              <a:t> </a:t>
            </a:r>
            <a:r>
              <a:rPr lang="es-ES" sz="3200" dirty="0" err="1" smtClean="0"/>
              <a:t>this</a:t>
            </a:r>
            <a:r>
              <a:rPr lang="es-ES" sz="3200" dirty="0" smtClean="0"/>
              <a:t> </a:t>
            </a:r>
            <a:r>
              <a:rPr lang="es-ES" sz="3200" dirty="0" err="1" smtClean="0"/>
              <a:t>query</a:t>
            </a:r>
            <a:r>
              <a:rPr lang="es-ES" sz="3200" dirty="0" smtClean="0"/>
              <a:t> in a </a:t>
            </a:r>
            <a:r>
              <a:rPr lang="es-ES" sz="3200" dirty="0" err="1" smtClean="0"/>
              <a:t>graph</a:t>
            </a:r>
            <a:r>
              <a:rPr lang="es-ES" sz="3200" dirty="0" smtClean="0"/>
              <a:t> </a:t>
            </a:r>
            <a:r>
              <a:rPr lang="es-ES" sz="3200" dirty="0" err="1" smtClean="0"/>
              <a:t>database</a:t>
            </a:r>
            <a:r>
              <a:rPr lang="es-ES" sz="3200" dirty="0" smtClean="0"/>
              <a:t> </a:t>
            </a:r>
            <a:r>
              <a:rPr lang="es-ES" sz="3200" dirty="0" err="1" smtClean="0"/>
              <a:t>is</a:t>
            </a:r>
            <a:r>
              <a:rPr lang="es-ES" sz="3200" dirty="0" smtClean="0"/>
              <a:t> “</a:t>
            </a:r>
            <a:r>
              <a:rPr lang="es-ES" sz="3200" dirty="0" err="1" smtClean="0"/>
              <a:t>easy</a:t>
            </a:r>
            <a:r>
              <a:rPr lang="es-ES" sz="3200" dirty="0" smtClean="0"/>
              <a:t>”, in a </a:t>
            </a:r>
            <a:r>
              <a:rPr lang="es-ES" sz="3200" dirty="0" err="1" smtClean="0"/>
              <a:t>relational</a:t>
            </a:r>
            <a:r>
              <a:rPr lang="es-ES" sz="3200" dirty="0" smtClean="0"/>
              <a:t> </a:t>
            </a:r>
            <a:r>
              <a:rPr lang="es-ES" sz="3200" dirty="0" err="1" smtClean="0"/>
              <a:t>database</a:t>
            </a:r>
            <a:r>
              <a:rPr lang="es-ES" sz="3200" dirty="0" smtClean="0"/>
              <a:t> </a:t>
            </a:r>
            <a:r>
              <a:rPr lang="es-ES" sz="3200" dirty="0" err="1" smtClean="0"/>
              <a:t>may</a:t>
            </a:r>
            <a:r>
              <a:rPr lang="es-ES" sz="3200" dirty="0" smtClean="0"/>
              <a:t> be more </a:t>
            </a:r>
            <a:r>
              <a:rPr lang="es-ES" sz="3200" dirty="0" err="1" smtClean="0"/>
              <a:t>difficult</a:t>
            </a:r>
            <a:r>
              <a:rPr lang="es-ES" sz="3200" dirty="0"/>
              <a:t> </a:t>
            </a:r>
            <a:r>
              <a:rPr lang="es-ES" sz="3200" dirty="0" smtClean="0"/>
              <a:t>(</a:t>
            </a:r>
            <a:r>
              <a:rPr lang="es-ES" sz="3200" dirty="0" err="1" smtClean="0"/>
              <a:t>considering</a:t>
            </a:r>
            <a:r>
              <a:rPr lang="es-ES" sz="3200" dirty="0" smtClean="0"/>
              <a:t> </a:t>
            </a:r>
            <a:r>
              <a:rPr lang="es-ES" sz="3200" dirty="0" err="1" smtClean="0"/>
              <a:t>conventional</a:t>
            </a:r>
            <a:r>
              <a:rPr lang="es-ES" sz="3200" dirty="0" smtClean="0"/>
              <a:t> </a:t>
            </a:r>
            <a:r>
              <a:rPr lang="es-ES" sz="3200" dirty="0" err="1" smtClean="0"/>
              <a:t>relational</a:t>
            </a:r>
            <a:r>
              <a:rPr lang="es-ES" sz="3200" dirty="0" smtClean="0"/>
              <a:t> </a:t>
            </a:r>
            <a:r>
              <a:rPr lang="es-ES" sz="3200" dirty="0" err="1" smtClean="0"/>
              <a:t>operations</a:t>
            </a:r>
            <a:r>
              <a:rPr lang="es-ES" sz="3200" dirty="0" smtClean="0"/>
              <a:t>)</a:t>
            </a:r>
            <a:endParaRPr lang="es-ES" sz="3200" dirty="0"/>
          </a:p>
        </p:txBody>
      </p:sp>
      <p:sp>
        <p:nvSpPr>
          <p:cNvPr id="21" name="CuadroTexto 20"/>
          <p:cNvSpPr txBox="1"/>
          <p:nvPr/>
        </p:nvSpPr>
        <p:spPr>
          <a:xfrm>
            <a:off x="1035269" y="325811"/>
            <a:ext cx="9333186" cy="1077218"/>
          </a:xfrm>
          <a:prstGeom prst="rect">
            <a:avLst/>
          </a:prstGeom>
          <a:noFill/>
        </p:spPr>
        <p:txBody>
          <a:bodyPr wrap="square" rtlCol="0">
            <a:spAutoFit/>
          </a:bodyPr>
          <a:lstStyle/>
          <a:p>
            <a:r>
              <a:rPr lang="en-US" sz="3200" dirty="0"/>
              <a:t>H</a:t>
            </a:r>
            <a:r>
              <a:rPr lang="en-US" sz="3200" dirty="0" smtClean="0"/>
              <a:t>ow far </a:t>
            </a:r>
            <a:r>
              <a:rPr lang="en-US" sz="3200" dirty="0" smtClean="0"/>
              <a:t>(in the network) are </a:t>
            </a:r>
            <a:r>
              <a:rPr lang="en-US" sz="3200" dirty="0" smtClean="0"/>
              <a:t>Jennifer and Angelina from each other?</a:t>
            </a:r>
            <a:endParaRPr lang="es-ES" sz="3200" dirty="0"/>
          </a:p>
        </p:txBody>
      </p:sp>
      <p:sp>
        <p:nvSpPr>
          <p:cNvPr id="23" name="Elipse 22"/>
          <p:cNvSpPr/>
          <p:nvPr/>
        </p:nvSpPr>
        <p:spPr>
          <a:xfrm>
            <a:off x="7717227" y="3231930"/>
            <a:ext cx="1030013" cy="1024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Ange-lina</a:t>
            </a:r>
            <a:endParaRPr lang="es-ES" dirty="0"/>
          </a:p>
        </p:txBody>
      </p:sp>
    </p:spTree>
    <p:extLst>
      <p:ext uri="{BB962C8B-B14F-4D97-AF65-F5344CB8AC3E}">
        <p14:creationId xmlns:p14="http://schemas.microsoft.com/office/powerpoint/2010/main" val="39997531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Why not use a graph </a:t>
            </a:r>
            <a:r>
              <a:rPr lang="en-US" b="1" dirty="0" smtClean="0"/>
              <a:t>database</a:t>
            </a:r>
            <a:endParaRPr lang="es-ES" dirty="0"/>
          </a:p>
        </p:txBody>
      </p:sp>
      <p:sp>
        <p:nvSpPr>
          <p:cNvPr id="3" name="Marcador de contenido 2"/>
          <p:cNvSpPr>
            <a:spLocks noGrp="1"/>
          </p:cNvSpPr>
          <p:nvPr>
            <p:ph idx="1"/>
          </p:nvPr>
        </p:nvSpPr>
        <p:spPr/>
        <p:txBody>
          <a:bodyPr/>
          <a:lstStyle/>
          <a:p>
            <a:r>
              <a:rPr lang="en-US" dirty="0"/>
              <a:t>T</a:t>
            </a:r>
            <a:r>
              <a:rPr lang="en-US" dirty="0" smtClean="0"/>
              <a:t>he </a:t>
            </a:r>
            <a:r>
              <a:rPr lang="en-US" dirty="0"/>
              <a:t>whole concept of the category of Not Only SQL databases is all about </a:t>
            </a:r>
            <a:r>
              <a:rPr lang="en-US" u="sng" dirty="0">
                <a:solidFill>
                  <a:srgbClr val="00B050"/>
                </a:solidFill>
              </a:rPr>
              <a:t>task-orientation</a:t>
            </a:r>
            <a:r>
              <a:rPr lang="en-US" dirty="0"/>
              <a:t>. </a:t>
            </a:r>
            <a:r>
              <a:rPr lang="en-US" dirty="0">
                <a:solidFill>
                  <a:srgbClr val="00B050"/>
                </a:solidFill>
              </a:rPr>
              <a:t>Use the right tool for the job</a:t>
            </a:r>
            <a:r>
              <a:rPr lang="en-US" dirty="0"/>
              <a:t>. So that also must mean that there are certain use cases that graph databases are not as perfectly suited for</a:t>
            </a:r>
            <a:r>
              <a:rPr lang="en-US" dirty="0" smtClean="0"/>
              <a:t>.</a:t>
            </a:r>
          </a:p>
          <a:p>
            <a:r>
              <a:rPr lang="en-US" dirty="0"/>
              <a:t>So, </a:t>
            </a:r>
            <a:r>
              <a:rPr lang="en-US" dirty="0" smtClean="0"/>
              <a:t>let us </a:t>
            </a:r>
            <a:r>
              <a:rPr lang="en-US" dirty="0"/>
              <a:t>briefly touch on a couple of categories of operations that you would probably want to separate from the graph database category that </a:t>
            </a:r>
            <a:r>
              <a:rPr lang="en-US" dirty="0">
                <a:solidFill>
                  <a:srgbClr val="0070C0"/>
                </a:solidFill>
              </a:rPr>
              <a:t>Neo4j</a:t>
            </a:r>
            <a:r>
              <a:rPr lang="en-US" dirty="0"/>
              <a:t> belongs </a:t>
            </a:r>
            <a:r>
              <a:rPr lang="en-US" dirty="0" smtClean="0"/>
              <a:t>to.  </a:t>
            </a:r>
            <a:endParaRPr lang="es-ES" dirty="0"/>
          </a:p>
        </p:txBody>
      </p:sp>
    </p:spTree>
    <p:extLst>
      <p:ext uri="{BB962C8B-B14F-4D97-AF65-F5344CB8AC3E}">
        <p14:creationId xmlns:p14="http://schemas.microsoft.com/office/powerpoint/2010/main" val="5703591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s-ES" b="1" dirty="0" err="1"/>
              <a:t>Large</a:t>
            </a:r>
            <a:r>
              <a:rPr lang="es-ES" b="1" dirty="0"/>
              <a:t>, </a:t>
            </a:r>
            <a:r>
              <a:rPr lang="es-ES" b="1" dirty="0" smtClean="0"/>
              <a:t>set-</a:t>
            </a:r>
            <a:r>
              <a:rPr lang="es-ES" b="1" dirty="0" err="1" smtClean="0"/>
              <a:t>oriented</a:t>
            </a:r>
            <a:r>
              <a:rPr lang="es-ES" b="1" dirty="0" smtClean="0"/>
              <a:t> </a:t>
            </a:r>
            <a:r>
              <a:rPr lang="es-ES" b="1" dirty="0" err="1"/>
              <a:t>queries</a:t>
            </a:r>
            <a:r>
              <a:rPr lang="es-ES" b="1" dirty="0"/>
              <a:t> </a:t>
            </a:r>
            <a:endParaRPr lang="es-ES" b="1" dirty="0" smtClean="0"/>
          </a:p>
          <a:p>
            <a:pPr marL="0" indent="0">
              <a:buNone/>
            </a:pPr>
            <a:r>
              <a:rPr lang="en-US" dirty="0"/>
              <a:t>If you are trying to put together large </a:t>
            </a:r>
            <a:r>
              <a:rPr lang="en-US" dirty="0" smtClean="0"/>
              <a:t>sets of </a:t>
            </a:r>
            <a:r>
              <a:rPr lang="en-US" dirty="0"/>
              <a:t>things </a:t>
            </a:r>
            <a:r>
              <a:rPr lang="en-US" dirty="0" smtClean="0"/>
              <a:t>(</a:t>
            </a:r>
            <a:r>
              <a:rPr lang="en-US" dirty="0" smtClean="0">
                <a:solidFill>
                  <a:srgbClr val="00B050"/>
                </a:solidFill>
              </a:rPr>
              <a:t>nodes</a:t>
            </a:r>
            <a:r>
              <a:rPr lang="en-US" dirty="0" smtClean="0"/>
              <a:t>), </a:t>
            </a:r>
            <a:r>
              <a:rPr lang="en-US" dirty="0"/>
              <a:t>that do not require a lot of joining or require a lot of aggregation (summing, counting, averaging, and so on) on these sets then the performance of the graph database compared to other database management systems will be not as favorable. </a:t>
            </a:r>
            <a:endParaRPr lang="es-ES" dirty="0"/>
          </a:p>
        </p:txBody>
      </p:sp>
      <p:cxnSp>
        <p:nvCxnSpPr>
          <p:cNvPr id="5" name="Conector recto de flecha 4"/>
          <p:cNvCxnSpPr/>
          <p:nvPr/>
        </p:nvCxnSpPr>
        <p:spPr>
          <a:xfrm flipH="1">
            <a:off x="6038193" y="2743200"/>
            <a:ext cx="2522483" cy="1749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3421117" y="4761186"/>
            <a:ext cx="5785945" cy="1384995"/>
          </a:xfrm>
          <a:prstGeom prst="rect">
            <a:avLst/>
          </a:prstGeom>
          <a:noFill/>
        </p:spPr>
        <p:txBody>
          <a:bodyPr wrap="square" rtlCol="0">
            <a:spAutoFit/>
          </a:bodyPr>
          <a:lstStyle/>
          <a:p>
            <a:pPr algn="ctr"/>
            <a:r>
              <a:rPr lang="es-ES" sz="2800" dirty="0" err="1">
                <a:solidFill>
                  <a:srgbClr val="00B050"/>
                </a:solidFill>
              </a:rPr>
              <a:t>The</a:t>
            </a:r>
            <a:r>
              <a:rPr lang="es-ES" sz="2800" dirty="0">
                <a:solidFill>
                  <a:srgbClr val="00B050"/>
                </a:solidFill>
              </a:rPr>
              <a:t> </a:t>
            </a:r>
            <a:r>
              <a:rPr lang="es-ES" sz="2800" dirty="0" err="1">
                <a:solidFill>
                  <a:srgbClr val="00B050"/>
                </a:solidFill>
              </a:rPr>
              <a:t>problem</a:t>
            </a:r>
            <a:r>
              <a:rPr lang="es-ES" sz="2800" dirty="0">
                <a:solidFill>
                  <a:srgbClr val="00B050"/>
                </a:solidFill>
              </a:rPr>
              <a:t> </a:t>
            </a:r>
            <a:r>
              <a:rPr lang="es-ES" sz="2800" dirty="0" err="1">
                <a:solidFill>
                  <a:srgbClr val="00B050"/>
                </a:solidFill>
              </a:rPr>
              <a:t>is</a:t>
            </a:r>
            <a:r>
              <a:rPr lang="es-ES" sz="2800" dirty="0">
                <a:solidFill>
                  <a:srgbClr val="00B050"/>
                </a:solidFill>
              </a:rPr>
              <a:t> </a:t>
            </a:r>
            <a:r>
              <a:rPr lang="es-ES" sz="2800" dirty="0" err="1">
                <a:solidFill>
                  <a:srgbClr val="00B050"/>
                </a:solidFill>
              </a:rPr>
              <a:t>that</a:t>
            </a:r>
            <a:r>
              <a:rPr lang="es-ES" sz="2800" dirty="0">
                <a:solidFill>
                  <a:srgbClr val="00B050"/>
                </a:solidFill>
              </a:rPr>
              <a:t> </a:t>
            </a:r>
            <a:r>
              <a:rPr lang="es-ES" sz="2800" dirty="0" err="1">
                <a:solidFill>
                  <a:srgbClr val="00B050"/>
                </a:solidFill>
              </a:rPr>
              <a:t>the</a:t>
            </a:r>
            <a:r>
              <a:rPr lang="es-ES" sz="2800" dirty="0">
                <a:solidFill>
                  <a:srgbClr val="00B050"/>
                </a:solidFill>
              </a:rPr>
              <a:t> </a:t>
            </a:r>
            <a:r>
              <a:rPr lang="es-ES" sz="2800" dirty="0" err="1">
                <a:solidFill>
                  <a:srgbClr val="00B050"/>
                </a:solidFill>
              </a:rPr>
              <a:t>nodes</a:t>
            </a:r>
            <a:r>
              <a:rPr lang="es-ES" sz="2800" dirty="0">
                <a:solidFill>
                  <a:srgbClr val="00B050"/>
                </a:solidFill>
              </a:rPr>
              <a:t> are </a:t>
            </a:r>
            <a:r>
              <a:rPr lang="es-ES" sz="2800" dirty="0" err="1" smtClean="0">
                <a:solidFill>
                  <a:srgbClr val="00B050"/>
                </a:solidFill>
              </a:rPr>
              <a:t>scattered</a:t>
            </a:r>
            <a:r>
              <a:rPr lang="es-ES" sz="2800" dirty="0" smtClean="0">
                <a:solidFill>
                  <a:srgbClr val="00B050"/>
                </a:solidFill>
              </a:rPr>
              <a:t>, </a:t>
            </a:r>
            <a:r>
              <a:rPr lang="es-ES" sz="2800" dirty="0" err="1">
                <a:solidFill>
                  <a:srgbClr val="00B050"/>
                </a:solidFill>
              </a:rPr>
              <a:t>they</a:t>
            </a:r>
            <a:r>
              <a:rPr lang="es-ES" sz="2800" dirty="0">
                <a:solidFill>
                  <a:srgbClr val="00B050"/>
                </a:solidFill>
              </a:rPr>
              <a:t> are </a:t>
            </a:r>
            <a:r>
              <a:rPr lang="es-ES" sz="2800" dirty="0" err="1">
                <a:solidFill>
                  <a:srgbClr val="00B050"/>
                </a:solidFill>
              </a:rPr>
              <a:t>like</a:t>
            </a:r>
            <a:r>
              <a:rPr lang="es-ES" sz="2800" dirty="0">
                <a:solidFill>
                  <a:srgbClr val="00B050"/>
                </a:solidFill>
              </a:rPr>
              <a:t> </a:t>
            </a:r>
            <a:endParaRPr lang="es-ES" sz="2800" dirty="0" smtClean="0">
              <a:solidFill>
                <a:srgbClr val="00B050"/>
              </a:solidFill>
            </a:endParaRPr>
          </a:p>
          <a:p>
            <a:pPr algn="ctr"/>
            <a:r>
              <a:rPr lang="es-ES" sz="2800" dirty="0" smtClean="0">
                <a:solidFill>
                  <a:srgbClr val="00B050"/>
                </a:solidFill>
              </a:rPr>
              <a:t>single-</a:t>
            </a:r>
            <a:r>
              <a:rPr lang="es-ES" sz="2800" dirty="0" err="1" smtClean="0">
                <a:solidFill>
                  <a:srgbClr val="00B050"/>
                </a:solidFill>
              </a:rPr>
              <a:t>table</a:t>
            </a:r>
            <a:r>
              <a:rPr lang="es-ES" sz="2800" dirty="0" smtClean="0">
                <a:solidFill>
                  <a:srgbClr val="00B050"/>
                </a:solidFill>
              </a:rPr>
              <a:t> </a:t>
            </a:r>
            <a:r>
              <a:rPr lang="es-ES" sz="2800" dirty="0" err="1">
                <a:solidFill>
                  <a:srgbClr val="00B050"/>
                </a:solidFill>
              </a:rPr>
              <a:t>rows</a:t>
            </a:r>
            <a:r>
              <a:rPr lang="es-ES" sz="2800" dirty="0">
                <a:solidFill>
                  <a:srgbClr val="00B050"/>
                </a:solidFill>
              </a:rPr>
              <a:t>!</a:t>
            </a:r>
          </a:p>
        </p:txBody>
      </p:sp>
    </p:spTree>
    <p:extLst>
      <p:ext uri="{BB962C8B-B14F-4D97-AF65-F5344CB8AC3E}">
        <p14:creationId xmlns:p14="http://schemas.microsoft.com/office/powerpoint/2010/main" val="17343284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s-ES" b="1" dirty="0" err="1"/>
              <a:t>Graph</a:t>
            </a:r>
            <a:r>
              <a:rPr lang="es-ES" b="1" dirty="0"/>
              <a:t> global </a:t>
            </a:r>
            <a:r>
              <a:rPr lang="es-ES" b="1" dirty="0" err="1" smtClean="0"/>
              <a:t>operations</a:t>
            </a:r>
            <a:endParaRPr lang="es-ES" b="1" dirty="0" smtClean="0"/>
          </a:p>
          <a:p>
            <a:pPr marL="0" indent="0">
              <a:buNone/>
            </a:pPr>
            <a:r>
              <a:rPr lang="en-US" dirty="0"/>
              <a:t>While graph databases are </a:t>
            </a:r>
            <a:r>
              <a:rPr lang="en-US" dirty="0" smtClean="0"/>
              <a:t>powerful </a:t>
            </a:r>
            <a:r>
              <a:rPr lang="en-US" dirty="0"/>
              <a:t>at answering "</a:t>
            </a:r>
            <a:r>
              <a:rPr lang="en-US" dirty="0">
                <a:solidFill>
                  <a:srgbClr val="00B050"/>
                </a:solidFill>
              </a:rPr>
              <a:t>graph local</a:t>
            </a:r>
            <a:r>
              <a:rPr lang="en-US" dirty="0"/>
              <a:t>" questions, </a:t>
            </a:r>
            <a:r>
              <a:rPr lang="en-US" dirty="0" smtClean="0"/>
              <a:t>they are not suited for answering graph global operations, i.e., operations that apply over the whole graph (e.g., centrality, in-</a:t>
            </a:r>
            <a:r>
              <a:rPr lang="en-US" dirty="0" err="1" smtClean="0"/>
              <a:t>betweeness</a:t>
            </a:r>
            <a:r>
              <a:rPr lang="en-US" dirty="0" smtClean="0"/>
              <a:t> measures).</a:t>
            </a:r>
            <a:endParaRPr lang="es-ES" dirty="0"/>
          </a:p>
        </p:txBody>
      </p:sp>
    </p:spTree>
    <p:extLst>
      <p:ext uri="{BB962C8B-B14F-4D97-AF65-F5344CB8AC3E}">
        <p14:creationId xmlns:p14="http://schemas.microsoft.com/office/powerpoint/2010/main" val="11970541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smtClean="0"/>
              <a:t>An</a:t>
            </a:r>
            <a:r>
              <a:rPr lang="es-ES" dirty="0" smtClean="0"/>
              <a:t> </a:t>
            </a:r>
            <a:r>
              <a:rPr lang="es-ES" dirty="0" err="1" smtClean="0"/>
              <a:t>example</a:t>
            </a:r>
            <a:r>
              <a:rPr lang="es-ES" sz="3200" dirty="0" smtClean="0">
                <a:solidFill>
                  <a:srgbClr val="FF0000"/>
                </a:solidFill>
              </a:rPr>
              <a:t>*</a:t>
            </a:r>
            <a:endParaRPr lang="es-ES" sz="3200" dirty="0">
              <a:solidFill>
                <a:srgbClr val="FF0000"/>
              </a:solidFill>
            </a:endParaRPr>
          </a:p>
        </p:txBody>
      </p:sp>
      <p:sp>
        <p:nvSpPr>
          <p:cNvPr id="3" name="Marcador de contenido 2"/>
          <p:cNvSpPr>
            <a:spLocks noGrp="1"/>
          </p:cNvSpPr>
          <p:nvPr>
            <p:ph idx="1"/>
          </p:nvPr>
        </p:nvSpPr>
        <p:spPr/>
        <p:txBody>
          <a:bodyPr>
            <a:normAutofit fontScale="92500" lnSpcReduction="10000"/>
          </a:bodyPr>
          <a:lstStyle/>
          <a:p>
            <a:r>
              <a:rPr lang="en-US" b="1" dirty="0"/>
              <a:t>Designing a Social Network Graph </a:t>
            </a:r>
            <a:r>
              <a:rPr lang="en-US" b="1" dirty="0" smtClean="0"/>
              <a:t>Database</a:t>
            </a:r>
          </a:p>
          <a:p>
            <a:pPr marL="0" indent="0">
              <a:buNone/>
            </a:pPr>
            <a:r>
              <a:rPr lang="en-US" dirty="0"/>
              <a:t>Imagine you are starting a new social networking site designed for NoSQL </a:t>
            </a:r>
            <a:r>
              <a:rPr lang="en-US" dirty="0" smtClean="0"/>
              <a:t>database </a:t>
            </a:r>
            <a:r>
              <a:rPr lang="es-ES" dirty="0" err="1" smtClean="0"/>
              <a:t>developers</a:t>
            </a:r>
            <a:r>
              <a:rPr lang="es-ES" dirty="0" smtClean="0"/>
              <a:t>.</a:t>
            </a:r>
          </a:p>
          <a:p>
            <a:pPr marL="0" indent="0">
              <a:buNone/>
            </a:pPr>
            <a:r>
              <a:rPr lang="en-US" dirty="0" smtClean="0"/>
              <a:t>Let us assume this site will allow for developers to</a:t>
            </a:r>
          </a:p>
          <a:p>
            <a:pPr marL="0" indent="0">
              <a:buNone/>
            </a:pPr>
            <a:r>
              <a:rPr lang="en-US" dirty="0" smtClean="0"/>
              <a:t>• Join and leave the site</a:t>
            </a:r>
          </a:p>
          <a:p>
            <a:pPr marL="0" indent="0">
              <a:buNone/>
            </a:pPr>
            <a:r>
              <a:rPr lang="en-US" dirty="0" smtClean="0"/>
              <a:t>• Follow the postings of other developers</a:t>
            </a:r>
          </a:p>
          <a:p>
            <a:pPr marL="0" indent="0">
              <a:buNone/>
            </a:pPr>
            <a:r>
              <a:rPr lang="en-US" dirty="0" smtClean="0"/>
              <a:t>• Post questions for others with expertise in a particular area</a:t>
            </a:r>
          </a:p>
          <a:p>
            <a:pPr marL="0" indent="0">
              <a:buNone/>
            </a:pPr>
            <a:r>
              <a:rPr lang="en-US" dirty="0" smtClean="0"/>
              <a:t>• Suggest new connections with other developers based on shared interests</a:t>
            </a:r>
          </a:p>
          <a:p>
            <a:pPr marL="0" indent="0">
              <a:buNone/>
            </a:pPr>
            <a:r>
              <a:rPr lang="en-US" dirty="0" smtClean="0"/>
              <a:t>• Rank members according to their number of connections, posts, and answers</a:t>
            </a:r>
            <a:endParaRPr lang="es-ES" dirty="0"/>
          </a:p>
        </p:txBody>
      </p:sp>
      <p:sp>
        <p:nvSpPr>
          <p:cNvPr id="4" name="CuadroTexto 3"/>
          <p:cNvSpPr txBox="1"/>
          <p:nvPr/>
        </p:nvSpPr>
        <p:spPr>
          <a:xfrm>
            <a:off x="0" y="6488668"/>
            <a:ext cx="5060731" cy="369332"/>
          </a:xfrm>
          <a:prstGeom prst="rect">
            <a:avLst/>
          </a:prstGeom>
          <a:noFill/>
        </p:spPr>
        <p:txBody>
          <a:bodyPr wrap="square" rtlCol="0">
            <a:spAutoFit/>
          </a:bodyPr>
          <a:lstStyle/>
          <a:p>
            <a:r>
              <a:rPr lang="es-ES" dirty="0">
                <a:solidFill>
                  <a:srgbClr val="FF0000"/>
                </a:solidFill>
              </a:rPr>
              <a:t>* </a:t>
            </a:r>
            <a:r>
              <a:rPr lang="es-ES" dirty="0" err="1">
                <a:solidFill>
                  <a:srgbClr val="FF0000"/>
                </a:solidFill>
              </a:rPr>
              <a:t>From</a:t>
            </a:r>
            <a:r>
              <a:rPr lang="es-ES" dirty="0">
                <a:solidFill>
                  <a:srgbClr val="FF0000"/>
                </a:solidFill>
              </a:rPr>
              <a:t> </a:t>
            </a:r>
            <a:r>
              <a:rPr lang="es-ES" dirty="0" smtClean="0">
                <a:solidFill>
                  <a:srgbClr val="FF0000"/>
                </a:solidFill>
              </a:rPr>
              <a:t>“</a:t>
            </a:r>
            <a:r>
              <a:rPr lang="es-ES" i="1" dirty="0" err="1" smtClean="0">
                <a:solidFill>
                  <a:srgbClr val="FF0000"/>
                </a:solidFill>
              </a:rPr>
              <a:t>NoSQL</a:t>
            </a:r>
            <a:r>
              <a:rPr lang="es-ES" i="1" dirty="0" smtClean="0">
                <a:solidFill>
                  <a:srgbClr val="FF0000"/>
                </a:solidFill>
              </a:rPr>
              <a:t> </a:t>
            </a:r>
            <a:r>
              <a:rPr lang="es-ES" i="1" dirty="0" err="1" smtClean="0">
                <a:solidFill>
                  <a:srgbClr val="FF0000"/>
                </a:solidFill>
              </a:rPr>
              <a:t>for</a:t>
            </a:r>
            <a:r>
              <a:rPr lang="es-ES" i="1" dirty="0" smtClean="0">
                <a:solidFill>
                  <a:srgbClr val="FF0000"/>
                </a:solidFill>
              </a:rPr>
              <a:t> </a:t>
            </a:r>
            <a:r>
              <a:rPr lang="es-ES" i="1" dirty="0" err="1" smtClean="0">
                <a:solidFill>
                  <a:srgbClr val="FF0000"/>
                </a:solidFill>
              </a:rPr>
              <a:t>Mere</a:t>
            </a:r>
            <a:r>
              <a:rPr lang="es-ES" i="1" dirty="0" smtClean="0">
                <a:solidFill>
                  <a:srgbClr val="FF0000"/>
                </a:solidFill>
              </a:rPr>
              <a:t> </a:t>
            </a:r>
            <a:r>
              <a:rPr lang="es-ES" i="1" dirty="0" err="1" smtClean="0">
                <a:solidFill>
                  <a:srgbClr val="FF0000"/>
                </a:solidFill>
              </a:rPr>
              <a:t>Mortals</a:t>
            </a:r>
            <a:r>
              <a:rPr lang="es-ES" dirty="0" smtClean="0">
                <a:solidFill>
                  <a:srgbClr val="FF0000"/>
                </a:solidFill>
              </a:rPr>
              <a:t>”, Dan Sullivan.</a:t>
            </a:r>
            <a:endParaRPr lang="es-ES" dirty="0">
              <a:solidFill>
                <a:srgbClr val="FF0000"/>
              </a:solidFill>
            </a:endParaRPr>
          </a:p>
        </p:txBody>
      </p:sp>
    </p:spTree>
    <p:extLst>
      <p:ext uri="{BB962C8B-B14F-4D97-AF65-F5344CB8AC3E}">
        <p14:creationId xmlns:p14="http://schemas.microsoft.com/office/powerpoint/2010/main" val="13387862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n-US" dirty="0" smtClean="0"/>
              <a:t>The model will start simple with just two entities: developers and posts. </a:t>
            </a:r>
          </a:p>
          <a:p>
            <a:pPr marL="0" indent="0">
              <a:buNone/>
            </a:pPr>
            <a:r>
              <a:rPr lang="en-US" dirty="0" smtClean="0"/>
              <a:t>Properties of developers include</a:t>
            </a:r>
          </a:p>
          <a:p>
            <a:pPr marL="0" indent="0">
              <a:buNone/>
            </a:pPr>
            <a:r>
              <a:rPr lang="en-US" dirty="0" smtClean="0"/>
              <a:t>• Name</a:t>
            </a:r>
          </a:p>
          <a:p>
            <a:pPr marL="0" indent="0">
              <a:buNone/>
            </a:pPr>
            <a:r>
              <a:rPr lang="en-US" dirty="0" smtClean="0"/>
              <a:t>• Location</a:t>
            </a:r>
          </a:p>
          <a:p>
            <a:pPr marL="0" indent="0">
              <a:buNone/>
            </a:pPr>
            <a:r>
              <a:rPr lang="en-US" dirty="0" smtClean="0"/>
              <a:t>• NoSQL databases used</a:t>
            </a:r>
          </a:p>
          <a:p>
            <a:pPr marL="0" indent="0">
              <a:buNone/>
            </a:pPr>
            <a:r>
              <a:rPr lang="en-US" dirty="0" smtClean="0"/>
              <a:t>• Years of experience with NoSQL databases</a:t>
            </a:r>
            <a:endParaRPr lang="es-ES" dirty="0"/>
          </a:p>
        </p:txBody>
      </p:sp>
    </p:spTree>
    <p:extLst>
      <p:ext uri="{BB962C8B-B14F-4D97-AF65-F5344CB8AC3E}">
        <p14:creationId xmlns:p14="http://schemas.microsoft.com/office/powerpoint/2010/main" val="21253579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n-US" dirty="0" smtClean="0"/>
              <a:t>Posts have several properties as well, such as</a:t>
            </a:r>
          </a:p>
          <a:p>
            <a:pPr marL="0" indent="0">
              <a:buNone/>
            </a:pPr>
            <a:r>
              <a:rPr lang="en-US" dirty="0" smtClean="0"/>
              <a:t>• Date created</a:t>
            </a:r>
          </a:p>
          <a:p>
            <a:pPr marL="0" indent="0">
              <a:buNone/>
            </a:pPr>
            <a:r>
              <a:rPr lang="en-US" dirty="0" smtClean="0"/>
              <a:t>• Topic keywords</a:t>
            </a:r>
          </a:p>
          <a:p>
            <a:pPr marL="0" indent="0">
              <a:buNone/>
            </a:pPr>
            <a:r>
              <a:rPr lang="en-US" dirty="0" smtClean="0"/>
              <a:t>• Post type (for example, question, tip, news)</a:t>
            </a:r>
          </a:p>
          <a:p>
            <a:pPr marL="0" indent="0">
              <a:buNone/>
            </a:pPr>
            <a:r>
              <a:rPr lang="en-US" dirty="0" smtClean="0"/>
              <a:t>• Title</a:t>
            </a:r>
          </a:p>
          <a:p>
            <a:pPr marL="0" indent="0">
              <a:buNone/>
            </a:pPr>
            <a:r>
              <a:rPr lang="en-US" dirty="0" smtClean="0"/>
              <a:t>• Body of post</a:t>
            </a:r>
            <a:endParaRPr lang="es-ES" dirty="0"/>
          </a:p>
        </p:txBody>
      </p:sp>
    </p:spTree>
    <p:extLst>
      <p:ext uri="{BB962C8B-B14F-4D97-AF65-F5344CB8AC3E}">
        <p14:creationId xmlns:p14="http://schemas.microsoft.com/office/powerpoint/2010/main" val="35533598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n-US" dirty="0" smtClean="0"/>
              <a:t>Next</a:t>
            </a:r>
            <a:r>
              <a:rPr lang="en-US" dirty="0"/>
              <a:t>, </a:t>
            </a:r>
            <a:r>
              <a:rPr lang="en-US" dirty="0" smtClean="0"/>
              <a:t>we consider relations </a:t>
            </a:r>
            <a:r>
              <a:rPr lang="en-US" dirty="0"/>
              <a:t>between entities</a:t>
            </a:r>
            <a:r>
              <a:rPr lang="en-US" dirty="0" smtClean="0"/>
              <a:t>.</a:t>
            </a:r>
          </a:p>
          <a:p>
            <a:r>
              <a:rPr lang="en-US" dirty="0"/>
              <a:t>The “follows” relation is </a:t>
            </a:r>
            <a:r>
              <a:rPr lang="en-US" dirty="0" smtClean="0"/>
              <a:t>a </a:t>
            </a:r>
            <a:r>
              <a:rPr lang="en-US" dirty="0"/>
              <a:t>relation between developers in </a:t>
            </a:r>
            <a:r>
              <a:rPr lang="en-US" dirty="0" smtClean="0"/>
              <a:t>our simple model. </a:t>
            </a:r>
          </a:p>
          <a:p>
            <a:r>
              <a:rPr lang="en-US" dirty="0" smtClean="0"/>
              <a:t>For example, if </a:t>
            </a:r>
            <a:r>
              <a:rPr lang="en-US" dirty="0"/>
              <a:t>Robert </a:t>
            </a:r>
            <a:r>
              <a:rPr lang="en-US" dirty="0" smtClean="0"/>
              <a:t>follows Andrea, </a:t>
            </a:r>
            <a:r>
              <a:rPr lang="en-US" dirty="0"/>
              <a:t>then Robert will see all of </a:t>
            </a:r>
            <a:r>
              <a:rPr lang="en-US" dirty="0" smtClean="0"/>
              <a:t>Andrea’s posts </a:t>
            </a:r>
            <a:r>
              <a:rPr lang="en-US" dirty="0"/>
              <a:t>when he logs on to the NoSQL social network.</a:t>
            </a:r>
            <a:endParaRPr lang="es-ES" dirty="0"/>
          </a:p>
        </p:txBody>
      </p:sp>
    </p:spTree>
    <p:extLst>
      <p:ext uri="{BB962C8B-B14F-4D97-AF65-F5344CB8AC3E}">
        <p14:creationId xmlns:p14="http://schemas.microsoft.com/office/powerpoint/2010/main" val="38470557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072055" y="625365"/>
            <a:ext cx="9333186" cy="5638800"/>
          </a:xfrm>
          <a:prstGeom prst="rect">
            <a:avLst/>
          </a:prstGeom>
        </p:spPr>
      </p:pic>
    </p:spTree>
    <p:extLst>
      <p:ext uri="{BB962C8B-B14F-4D97-AF65-F5344CB8AC3E}">
        <p14:creationId xmlns:p14="http://schemas.microsoft.com/office/powerpoint/2010/main" val="40075066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dirty="0"/>
          </a:p>
        </p:txBody>
      </p:sp>
      <p:sp>
        <p:nvSpPr>
          <p:cNvPr id="3" name="Marcador de contenido 2"/>
          <p:cNvSpPr>
            <a:spLocks noGrp="1"/>
          </p:cNvSpPr>
          <p:nvPr>
            <p:ph idx="1"/>
          </p:nvPr>
        </p:nvSpPr>
        <p:spPr/>
        <p:txBody>
          <a:bodyPr>
            <a:normAutofit/>
          </a:bodyPr>
          <a:lstStyle/>
          <a:p>
            <a:r>
              <a:rPr lang="en-US" dirty="0"/>
              <a:t>The relation between developers and posts is “created”; that is, developers create posts</a:t>
            </a:r>
            <a:r>
              <a:rPr lang="en-US" dirty="0" smtClean="0"/>
              <a:t>.</a:t>
            </a:r>
          </a:p>
          <a:p>
            <a:r>
              <a:rPr lang="en-US" dirty="0" smtClean="0"/>
              <a:t>On the other hand, at </a:t>
            </a:r>
            <a:r>
              <a:rPr lang="en-US" dirty="0"/>
              <a:t>first glance, the </a:t>
            </a:r>
            <a:r>
              <a:rPr lang="en-US" dirty="0">
                <a:solidFill>
                  <a:srgbClr val="00B050"/>
                </a:solidFill>
              </a:rPr>
              <a:t>post-relation-post </a:t>
            </a:r>
            <a:r>
              <a:rPr lang="en-US" dirty="0"/>
              <a:t>may not appear useful. After all, posts do not </a:t>
            </a:r>
            <a:r>
              <a:rPr lang="en-US" dirty="0" smtClean="0"/>
              <a:t>create other </a:t>
            </a:r>
            <a:r>
              <a:rPr lang="en-US" dirty="0"/>
              <a:t>posts. </a:t>
            </a:r>
            <a:r>
              <a:rPr lang="en-US" dirty="0" smtClean="0"/>
              <a:t>However, a </a:t>
            </a:r>
            <a:r>
              <a:rPr lang="en-US" dirty="0"/>
              <a:t>post may be created in response </a:t>
            </a:r>
            <a:r>
              <a:rPr lang="en-US" dirty="0" smtClean="0"/>
              <a:t>to another </a:t>
            </a:r>
            <a:r>
              <a:rPr lang="en-US" dirty="0"/>
              <a:t>post. This is particularly useful for </a:t>
            </a:r>
            <a:r>
              <a:rPr lang="en-US" dirty="0" smtClean="0"/>
              <a:t>some queries.</a:t>
            </a:r>
            <a:endParaRPr lang="es-ES" dirty="0"/>
          </a:p>
        </p:txBody>
      </p:sp>
    </p:spTree>
    <p:extLst>
      <p:ext uri="{BB962C8B-B14F-4D97-AF65-F5344CB8AC3E}">
        <p14:creationId xmlns:p14="http://schemas.microsoft.com/office/powerpoint/2010/main" val="13303091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normAutofit/>
          </a:bodyPr>
          <a:lstStyle/>
          <a:p>
            <a:r>
              <a:rPr lang="en-US" dirty="0"/>
              <a:t>Imagine that Robert posted </a:t>
            </a:r>
            <a:r>
              <a:rPr lang="en-US" dirty="0" smtClean="0"/>
              <a:t>a question.</a:t>
            </a:r>
          </a:p>
          <a:p>
            <a:pPr marL="0" indent="0">
              <a:buNone/>
            </a:pPr>
            <a:r>
              <a:rPr lang="en-US" dirty="0" smtClean="0"/>
              <a:t>Andrea </a:t>
            </a:r>
            <a:r>
              <a:rPr lang="en-US" dirty="0"/>
              <a:t>and Charles might each reply with </a:t>
            </a:r>
            <a:r>
              <a:rPr lang="en-US" dirty="0" smtClean="0"/>
              <a:t>their own </a:t>
            </a:r>
            <a:r>
              <a:rPr lang="en-US" dirty="0"/>
              <a:t>answers. </a:t>
            </a:r>
            <a:endParaRPr lang="en-US" dirty="0" smtClean="0"/>
          </a:p>
          <a:p>
            <a:pPr marL="0" indent="0">
              <a:buNone/>
            </a:pPr>
            <a:r>
              <a:rPr lang="en-US" dirty="0" smtClean="0"/>
              <a:t>Robert </a:t>
            </a:r>
            <a:r>
              <a:rPr lang="en-US" dirty="0"/>
              <a:t>then posts another question to clarify his understanding of </a:t>
            </a:r>
            <a:r>
              <a:rPr lang="en-US" dirty="0" smtClean="0"/>
              <a:t>Andrea’s response</a:t>
            </a:r>
            <a:r>
              <a:rPr lang="en-US" dirty="0"/>
              <a:t>. </a:t>
            </a:r>
            <a:endParaRPr lang="en-US" dirty="0" smtClean="0"/>
          </a:p>
          <a:p>
            <a:pPr marL="0" indent="0">
              <a:buNone/>
            </a:pPr>
            <a:r>
              <a:rPr lang="en-US" dirty="0" smtClean="0"/>
              <a:t>Andrea </a:t>
            </a:r>
            <a:r>
              <a:rPr lang="en-US" dirty="0"/>
              <a:t>responds with additional details. </a:t>
            </a:r>
            <a:endParaRPr lang="en-US" dirty="0" smtClean="0"/>
          </a:p>
          <a:p>
            <a:pPr marL="0" indent="0">
              <a:buNone/>
            </a:pPr>
            <a:r>
              <a:rPr lang="en-US" dirty="0" smtClean="0"/>
              <a:t>Meanwhile</a:t>
            </a:r>
            <a:r>
              <a:rPr lang="en-US" dirty="0"/>
              <a:t>, </a:t>
            </a:r>
            <a:r>
              <a:rPr lang="en-US" dirty="0" smtClean="0"/>
              <a:t>Edith adds additional </a:t>
            </a:r>
            <a:r>
              <a:rPr lang="en-US" dirty="0"/>
              <a:t>details to Charles’s post. </a:t>
            </a:r>
            <a:endParaRPr lang="en-US" dirty="0" smtClean="0"/>
          </a:p>
          <a:p>
            <a:pPr marL="0" indent="0">
              <a:buNone/>
            </a:pPr>
            <a:r>
              <a:rPr lang="en-US" dirty="0" smtClean="0"/>
              <a:t>The </a:t>
            </a:r>
            <a:r>
              <a:rPr lang="en-US" dirty="0"/>
              <a:t>resulting graph of posts is a tree with </a:t>
            </a:r>
            <a:r>
              <a:rPr lang="en-US" dirty="0" smtClean="0"/>
              <a:t>Robert’s initial </a:t>
            </a:r>
            <a:r>
              <a:rPr lang="en-US" dirty="0"/>
              <a:t>post as the root and branches that follow the two parts of the conversation thread.</a:t>
            </a:r>
            <a:endParaRPr lang="es-ES" dirty="0"/>
          </a:p>
        </p:txBody>
      </p:sp>
    </p:spTree>
    <p:extLst>
      <p:ext uri="{BB962C8B-B14F-4D97-AF65-F5344CB8AC3E}">
        <p14:creationId xmlns:p14="http://schemas.microsoft.com/office/powerpoint/2010/main" val="39399307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584966" y="551793"/>
            <a:ext cx="10419365" cy="5943600"/>
          </a:xfrm>
          <a:prstGeom prst="rect">
            <a:avLst/>
          </a:prstGeom>
        </p:spPr>
      </p:pic>
      <p:sp>
        <p:nvSpPr>
          <p:cNvPr id="6" name="CuadroTexto 5"/>
          <p:cNvSpPr txBox="1"/>
          <p:nvPr/>
        </p:nvSpPr>
        <p:spPr>
          <a:xfrm>
            <a:off x="5565227" y="1166649"/>
            <a:ext cx="1513490" cy="400110"/>
          </a:xfrm>
          <a:prstGeom prst="rect">
            <a:avLst/>
          </a:prstGeom>
          <a:noFill/>
        </p:spPr>
        <p:txBody>
          <a:bodyPr wrap="square" rtlCol="0">
            <a:spAutoFit/>
          </a:bodyPr>
          <a:lstStyle/>
          <a:p>
            <a:r>
              <a:rPr lang="es-ES" sz="2000" dirty="0">
                <a:latin typeface="Corbel" panose="020B0503020204020204" pitchFamily="34" charset="0"/>
              </a:rPr>
              <a:t>Response</a:t>
            </a:r>
          </a:p>
        </p:txBody>
      </p:sp>
      <p:sp>
        <p:nvSpPr>
          <p:cNvPr id="7" name="CuadroTexto 6"/>
          <p:cNvSpPr txBox="1"/>
          <p:nvPr/>
        </p:nvSpPr>
        <p:spPr>
          <a:xfrm>
            <a:off x="1918138" y="1166648"/>
            <a:ext cx="1513490" cy="400110"/>
          </a:xfrm>
          <a:prstGeom prst="rect">
            <a:avLst/>
          </a:prstGeom>
          <a:noFill/>
        </p:spPr>
        <p:txBody>
          <a:bodyPr wrap="square" rtlCol="0">
            <a:spAutoFit/>
          </a:bodyPr>
          <a:lstStyle/>
          <a:p>
            <a:r>
              <a:rPr lang="es-ES" sz="2000" dirty="0" err="1" smtClean="0">
                <a:latin typeface="Corbel" panose="020B0503020204020204" pitchFamily="34" charset="0"/>
              </a:rPr>
              <a:t>Created</a:t>
            </a:r>
            <a:endParaRPr lang="es-ES" sz="2000" dirty="0">
              <a:latin typeface="Corbel" panose="020B0503020204020204" pitchFamily="34" charset="0"/>
            </a:endParaRPr>
          </a:p>
        </p:txBody>
      </p:sp>
      <p:sp>
        <p:nvSpPr>
          <p:cNvPr id="8" name="Elipse 7"/>
          <p:cNvSpPr/>
          <p:nvPr/>
        </p:nvSpPr>
        <p:spPr>
          <a:xfrm>
            <a:off x="4004441" y="536027"/>
            <a:ext cx="1277007" cy="1014965"/>
          </a:xfrm>
          <a:prstGeom prst="ellipse">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p:cNvSpPr txBox="1"/>
          <p:nvPr/>
        </p:nvSpPr>
        <p:spPr>
          <a:xfrm>
            <a:off x="3972908" y="151683"/>
            <a:ext cx="1513490" cy="400110"/>
          </a:xfrm>
          <a:prstGeom prst="rect">
            <a:avLst/>
          </a:prstGeom>
          <a:noFill/>
        </p:spPr>
        <p:txBody>
          <a:bodyPr wrap="square" rtlCol="0">
            <a:spAutoFit/>
          </a:bodyPr>
          <a:lstStyle/>
          <a:p>
            <a:r>
              <a:rPr lang="es-ES" sz="2000" dirty="0" err="1" smtClean="0">
                <a:solidFill>
                  <a:srgbClr val="0070C0"/>
                </a:solidFill>
                <a:latin typeface="Corbel" panose="020B0503020204020204" pitchFamily="34" charset="0"/>
              </a:rPr>
              <a:t>Root</a:t>
            </a:r>
            <a:r>
              <a:rPr lang="es-ES" sz="2000" dirty="0" smtClean="0">
                <a:solidFill>
                  <a:srgbClr val="0070C0"/>
                </a:solidFill>
                <a:latin typeface="Corbel" panose="020B0503020204020204" pitchFamily="34" charset="0"/>
              </a:rPr>
              <a:t> post</a:t>
            </a:r>
            <a:endParaRPr lang="es-ES" sz="2000" dirty="0">
              <a:solidFill>
                <a:srgbClr val="0070C0"/>
              </a:solidFill>
              <a:latin typeface="Corbel" panose="020B0503020204020204" pitchFamily="34" charset="0"/>
            </a:endParaRPr>
          </a:p>
        </p:txBody>
      </p:sp>
    </p:spTree>
    <p:extLst>
      <p:ext uri="{BB962C8B-B14F-4D97-AF65-F5344CB8AC3E}">
        <p14:creationId xmlns:p14="http://schemas.microsoft.com/office/powerpoint/2010/main" val="20067596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err="1" smtClean="0"/>
              <a:t>Querying</a:t>
            </a:r>
            <a:r>
              <a:rPr lang="es-ES" b="1" dirty="0" smtClean="0"/>
              <a:t> a </a:t>
            </a:r>
            <a:r>
              <a:rPr lang="es-ES" b="1" dirty="0" err="1" smtClean="0"/>
              <a:t>Graph</a:t>
            </a:r>
            <a:endParaRPr lang="es-ES" dirty="0"/>
          </a:p>
        </p:txBody>
      </p:sp>
      <p:sp>
        <p:nvSpPr>
          <p:cNvPr id="3" name="Marcador de contenido 2"/>
          <p:cNvSpPr>
            <a:spLocks noGrp="1"/>
          </p:cNvSpPr>
          <p:nvPr>
            <p:ph idx="1"/>
          </p:nvPr>
        </p:nvSpPr>
        <p:spPr/>
        <p:txBody>
          <a:bodyPr>
            <a:normAutofit/>
          </a:bodyPr>
          <a:lstStyle/>
          <a:p>
            <a:r>
              <a:rPr lang="en-US" dirty="0" smtClean="0"/>
              <a:t>Next, we show some queries </a:t>
            </a:r>
            <a:r>
              <a:rPr lang="en-US" dirty="0"/>
              <a:t>that reference vertices and edges and rewrite them in terms of </a:t>
            </a:r>
            <a:r>
              <a:rPr lang="en-US" dirty="0" smtClean="0"/>
              <a:t>the </a:t>
            </a:r>
            <a:r>
              <a:rPr lang="es-ES" dirty="0" err="1" smtClean="0"/>
              <a:t>NoSQL</a:t>
            </a:r>
            <a:r>
              <a:rPr lang="es-ES" dirty="0" smtClean="0"/>
              <a:t> </a:t>
            </a:r>
            <a:r>
              <a:rPr lang="es-ES" dirty="0"/>
              <a:t>social </a:t>
            </a:r>
            <a:r>
              <a:rPr lang="es-ES" dirty="0" err="1"/>
              <a:t>network</a:t>
            </a:r>
            <a:r>
              <a:rPr lang="es-ES" dirty="0"/>
              <a:t> </a:t>
            </a:r>
            <a:r>
              <a:rPr lang="es-ES" dirty="0" err="1"/>
              <a:t>example</a:t>
            </a:r>
            <a:r>
              <a:rPr lang="es-ES" dirty="0" smtClean="0"/>
              <a:t>.</a:t>
            </a:r>
          </a:p>
          <a:p>
            <a:r>
              <a:rPr lang="en-US" dirty="0"/>
              <a:t>As </a:t>
            </a:r>
            <a:r>
              <a:rPr lang="en-US" dirty="0" smtClean="0"/>
              <a:t>next table shows</a:t>
            </a:r>
            <a:r>
              <a:rPr lang="en-US" dirty="0"/>
              <a:t>, abstract queries map to useful queries about graph databases. </a:t>
            </a:r>
            <a:r>
              <a:rPr lang="en-US" dirty="0" smtClean="0"/>
              <a:t>Some queries </a:t>
            </a:r>
            <a:r>
              <a:rPr lang="en-US" dirty="0"/>
              <a:t>are based on paths, such as the distance between two nodes; for example, “</a:t>
            </a:r>
            <a:r>
              <a:rPr lang="en-US" dirty="0" smtClean="0">
                <a:solidFill>
                  <a:srgbClr val="0070C0"/>
                </a:solidFill>
              </a:rPr>
              <a:t>How many </a:t>
            </a:r>
            <a:r>
              <a:rPr lang="en-US" dirty="0">
                <a:solidFill>
                  <a:srgbClr val="0070C0"/>
                </a:solidFill>
              </a:rPr>
              <a:t>follows relations are between Developer A and Developer B?</a:t>
            </a:r>
            <a:r>
              <a:rPr lang="en-US" dirty="0"/>
              <a:t>” Other queries </a:t>
            </a:r>
            <a:r>
              <a:rPr lang="en-US" dirty="0" smtClean="0"/>
              <a:t>consider the </a:t>
            </a:r>
            <a:r>
              <a:rPr lang="en-US" dirty="0"/>
              <a:t>global structure of the graph, such as “</a:t>
            </a:r>
            <a:r>
              <a:rPr lang="en-US" dirty="0">
                <a:solidFill>
                  <a:srgbClr val="0070C0"/>
                </a:solidFill>
              </a:rPr>
              <a:t>If a developer left the </a:t>
            </a:r>
            <a:r>
              <a:rPr lang="en-US" dirty="0" smtClean="0">
                <a:solidFill>
                  <a:srgbClr val="0070C0"/>
                </a:solidFill>
              </a:rPr>
              <a:t>social network</a:t>
            </a:r>
            <a:r>
              <a:rPr lang="en-US" dirty="0">
                <a:solidFill>
                  <a:srgbClr val="0070C0"/>
                </a:solidFill>
              </a:rPr>
              <a:t>, would there be disconnected groups of developers?</a:t>
            </a:r>
            <a:r>
              <a:rPr lang="en-US" dirty="0"/>
              <a:t>”</a:t>
            </a:r>
            <a:endParaRPr lang="es-ES" dirty="0"/>
          </a:p>
        </p:txBody>
      </p:sp>
    </p:spTree>
    <p:extLst>
      <p:ext uri="{BB962C8B-B14F-4D97-AF65-F5344CB8AC3E}">
        <p14:creationId xmlns:p14="http://schemas.microsoft.com/office/powerpoint/2010/main" val="35024572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25669" y="315310"/>
            <a:ext cx="11161986" cy="6337738"/>
          </a:xfrm>
          <a:prstGeom prst="rect">
            <a:avLst/>
          </a:prstGeom>
        </p:spPr>
      </p:pic>
    </p:spTree>
    <p:extLst>
      <p:ext uri="{BB962C8B-B14F-4D97-AF65-F5344CB8AC3E}">
        <p14:creationId xmlns:p14="http://schemas.microsoft.com/office/powerpoint/2010/main" val="36305000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dirty="0"/>
          </a:p>
        </p:txBody>
      </p:sp>
      <p:sp>
        <p:nvSpPr>
          <p:cNvPr id="3" name="Marcador de contenido 2"/>
          <p:cNvSpPr>
            <a:spLocks noGrp="1"/>
          </p:cNvSpPr>
          <p:nvPr>
            <p:ph idx="1"/>
          </p:nvPr>
        </p:nvSpPr>
        <p:spPr/>
        <p:txBody>
          <a:bodyPr/>
          <a:lstStyle/>
          <a:p>
            <a:r>
              <a:rPr lang="en-US" dirty="0"/>
              <a:t>The </a:t>
            </a:r>
            <a:r>
              <a:rPr lang="en-US" dirty="0">
                <a:solidFill>
                  <a:srgbClr val="00B050"/>
                </a:solidFill>
              </a:rPr>
              <a:t>Cypher</a:t>
            </a:r>
            <a:r>
              <a:rPr lang="en-US" dirty="0"/>
              <a:t> query language provides a declarative, SQL-like language for </a:t>
            </a:r>
            <a:r>
              <a:rPr lang="en-US" dirty="0" smtClean="0"/>
              <a:t>building queries</a:t>
            </a:r>
            <a:r>
              <a:rPr lang="en-US" dirty="0"/>
              <a:t>. </a:t>
            </a:r>
            <a:endParaRPr lang="en-US" dirty="0" smtClean="0"/>
          </a:p>
          <a:p>
            <a:r>
              <a:rPr lang="en-US" dirty="0" smtClean="0">
                <a:solidFill>
                  <a:srgbClr val="00B050"/>
                </a:solidFill>
              </a:rPr>
              <a:t>Cypher</a:t>
            </a:r>
            <a:r>
              <a:rPr lang="en-US" dirty="0" smtClean="0"/>
              <a:t> </a:t>
            </a:r>
            <a:r>
              <a:rPr lang="en-US" dirty="0"/>
              <a:t>is used with the Neo4j graph database </a:t>
            </a:r>
            <a:r>
              <a:rPr lang="en-US" dirty="0" smtClean="0"/>
              <a:t>(https://neo4j.com/product).</a:t>
            </a:r>
          </a:p>
          <a:p>
            <a:r>
              <a:rPr lang="en-US" dirty="0" smtClean="0"/>
              <a:t>Alternatively, developers </a:t>
            </a:r>
            <a:r>
              <a:rPr lang="en-US" dirty="0"/>
              <a:t>can use </a:t>
            </a:r>
            <a:r>
              <a:rPr lang="en-US" dirty="0">
                <a:solidFill>
                  <a:srgbClr val="00B050"/>
                </a:solidFill>
              </a:rPr>
              <a:t>Gremlin</a:t>
            </a:r>
            <a:r>
              <a:rPr lang="en-US" dirty="0"/>
              <a:t>, a graph traversal language that works with a number </a:t>
            </a:r>
            <a:r>
              <a:rPr lang="en-US" dirty="0" smtClean="0"/>
              <a:t>of </a:t>
            </a:r>
            <a:r>
              <a:rPr lang="es-ES" dirty="0" err="1" smtClean="0"/>
              <a:t>different</a:t>
            </a:r>
            <a:r>
              <a:rPr lang="es-ES" dirty="0" smtClean="0"/>
              <a:t> </a:t>
            </a:r>
            <a:r>
              <a:rPr lang="es-ES" dirty="0" err="1"/>
              <a:t>graph</a:t>
            </a:r>
            <a:r>
              <a:rPr lang="es-ES" dirty="0"/>
              <a:t> </a:t>
            </a:r>
            <a:r>
              <a:rPr lang="es-ES" dirty="0" err="1"/>
              <a:t>databases</a:t>
            </a:r>
            <a:r>
              <a:rPr lang="es-ES" dirty="0"/>
              <a:t>.</a:t>
            </a:r>
          </a:p>
        </p:txBody>
      </p:sp>
    </p:spTree>
    <p:extLst>
      <p:ext uri="{BB962C8B-B14F-4D97-AF65-F5344CB8AC3E}">
        <p14:creationId xmlns:p14="http://schemas.microsoft.com/office/powerpoint/2010/main" val="105119925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1663</Words>
  <Application>Microsoft Office PowerPoint</Application>
  <PresentationFormat>Panorámica</PresentationFormat>
  <Paragraphs>108</Paragraphs>
  <Slides>30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Calibri</vt:lpstr>
      <vt:lpstr>Calibri Light</vt:lpstr>
      <vt:lpstr>Corbel</vt:lpstr>
      <vt:lpstr>Tema de Office</vt:lpstr>
      <vt:lpstr>Graph databases:  a brief introduction</vt:lpstr>
      <vt:lpstr>The property graph model</vt:lpstr>
      <vt:lpstr>Presentación de PowerPoint</vt:lpstr>
      <vt:lpstr>Presentación de PowerPoint</vt:lpstr>
      <vt:lpstr>Presentación de PowerPoint</vt:lpstr>
      <vt:lpstr>Presentación de PowerPoint</vt:lpstr>
      <vt:lpstr>Presentación de PowerPoint</vt:lpstr>
      <vt:lpstr>Presentación de PowerPoint</vt:lpstr>
      <vt:lpstr>Why (or why not) graph databases </vt:lpstr>
      <vt:lpstr>Why use a graph database? </vt:lpstr>
      <vt:lpstr>Presentación de PowerPoint</vt:lpstr>
      <vt:lpstr>Presentación de PowerPoint</vt:lpstr>
      <vt:lpstr>Presentación de PowerPoint</vt:lpstr>
      <vt:lpstr>Presentación de PowerPoint</vt:lpstr>
      <vt:lpstr>Presentación de PowerPoint</vt:lpstr>
      <vt:lpstr>Presentación de PowerPoint</vt:lpstr>
      <vt:lpstr>Why not use a graph database</vt:lpstr>
      <vt:lpstr>Presentación de PowerPoint</vt:lpstr>
      <vt:lpstr>Presentación de PowerPoint</vt:lpstr>
      <vt:lpstr>An example*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Querying a Graph</vt:lpstr>
      <vt:lpstr>Presentación de PowerPoint</vt:lpstr>
      <vt:lpstr>Presentación de PowerPoint</vt:lpstr>
    </vt:vector>
  </TitlesOfParts>
  <Company>Universidad Nacional de Colombia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databases:  a brief introduction</dc:title>
  <dc:creator>pete96</dc:creator>
  <cp:lastModifiedBy>pete96</cp:lastModifiedBy>
  <cp:revision>28</cp:revision>
  <dcterms:created xsi:type="dcterms:W3CDTF">2017-04-27T15:41:18Z</dcterms:created>
  <dcterms:modified xsi:type="dcterms:W3CDTF">2019-08-06T15:53:59Z</dcterms:modified>
</cp:coreProperties>
</file>