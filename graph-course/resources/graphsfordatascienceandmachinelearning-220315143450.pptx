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Default Extension="jpg" ContentType="image/jpg"/>
  <Override PartName="/ppt/slides/slide4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2277" y="1262600"/>
            <a:ext cx="5614034" cy="5441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062540" y="2154465"/>
            <a:ext cx="3318510" cy="406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806439" y="2154465"/>
            <a:ext cx="3609975" cy="3814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2277" y="1175809"/>
            <a:ext cx="8688844" cy="74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28749" y="2260996"/>
            <a:ext cx="5335270" cy="368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02277" y="6400207"/>
            <a:ext cx="1601470" cy="1390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234889" y="6397845"/>
            <a:ext cx="21907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https://unsplash.com/%40wildlittlethingsphoto?utm_source=unsplash&amp;utm_medium=referral&amp;utm_content=creditCopyText" TargetMode="External"/><Relationship Id="rId6" Type="http://schemas.openxmlformats.org/officeDocument/2006/relationships/hyperlink" Target="https://unsplash.com/t/business-work?utm_source=unsplash&amp;utm_medium=referral&amp;utm_content=creditCopyText" TargetMode="External"/><Relationship Id="rId7" Type="http://schemas.openxmlformats.org/officeDocument/2006/relationships/image" Target="../media/image8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hyperlink" Target="https://app.dimensions.ai/discover/publication?search_text=%22graph%20neural%20network%22%20OR%20%22graph%20convolutional%22%20OR%20%22graph%20embedding%22%20OR%20%22convolutional%20network%22%20OR%20%22graph%20attention%22%20OR%20%22graph%20kernel%22%20OR%20%22graph%20completion%22%20OR%20%22graph%20learning%22%20OR%20%22graph%20algorithm%22&amp;search_type=kws&amp;search_field=text_search&amp;search_mode=content" TargetMode="External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Relationship Id="rId15" Type="http://schemas.openxmlformats.org/officeDocument/2006/relationships/image" Target="../media/image45.png"/><Relationship Id="rId16" Type="http://schemas.openxmlformats.org/officeDocument/2006/relationships/image" Target="../media/image46.png"/><Relationship Id="rId17" Type="http://schemas.openxmlformats.org/officeDocument/2006/relationships/image" Target="../media/image47.png"/><Relationship Id="rId18" Type="http://schemas.openxmlformats.org/officeDocument/2006/relationships/image" Target="../media/image48.png"/><Relationship Id="rId19" Type="http://schemas.openxmlformats.org/officeDocument/2006/relationships/image" Target="../media/image49.png"/><Relationship Id="rId20" Type="http://schemas.openxmlformats.org/officeDocument/2006/relationships/image" Target="../media/image50.png"/><Relationship Id="rId21" Type="http://schemas.openxmlformats.org/officeDocument/2006/relationships/image" Target="../media/image2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Relationship Id="rId24" Type="http://schemas.openxmlformats.org/officeDocument/2006/relationships/image" Target="../media/image5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63.png"/><Relationship Id="rId8" Type="http://schemas.openxmlformats.org/officeDocument/2006/relationships/image" Target="../media/image64.png"/><Relationship Id="rId9" Type="http://schemas.openxmlformats.org/officeDocument/2006/relationships/image" Target="../media/image65.png"/><Relationship Id="rId10" Type="http://schemas.openxmlformats.org/officeDocument/2006/relationships/image" Target="../media/image66.png"/><Relationship Id="rId11" Type="http://schemas.openxmlformats.org/officeDocument/2006/relationships/image" Target="../media/image67.png"/><Relationship Id="rId12" Type="http://schemas.openxmlformats.org/officeDocument/2006/relationships/image" Target="../media/image68.png"/><Relationship Id="rId13" Type="http://schemas.openxmlformats.org/officeDocument/2006/relationships/image" Target="../media/image69.png"/><Relationship Id="rId14" Type="http://schemas.openxmlformats.org/officeDocument/2006/relationships/image" Target="../media/image70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Relationship Id="rId5" Type="http://schemas.openxmlformats.org/officeDocument/2006/relationships/image" Target="../media/image82.png"/><Relationship Id="rId6" Type="http://schemas.openxmlformats.org/officeDocument/2006/relationships/image" Target="../media/image83.png"/><Relationship Id="rId7" Type="http://schemas.openxmlformats.org/officeDocument/2006/relationships/image" Target="../media/image84.png"/><Relationship Id="rId8" Type="http://schemas.openxmlformats.org/officeDocument/2006/relationships/image" Target="../media/image85.png"/><Relationship Id="rId9" Type="http://schemas.openxmlformats.org/officeDocument/2006/relationships/image" Target="../media/image86.png"/><Relationship Id="rId10" Type="http://schemas.openxmlformats.org/officeDocument/2006/relationships/image" Target="../media/image87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4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5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118.png"/><Relationship Id="rId11" Type="http://schemas.openxmlformats.org/officeDocument/2006/relationships/image" Target="../media/image119.png"/><Relationship Id="rId12" Type="http://schemas.openxmlformats.org/officeDocument/2006/relationships/image" Target="../media/image120.png"/><Relationship Id="rId13" Type="http://schemas.openxmlformats.org/officeDocument/2006/relationships/image" Target="../media/image121.png"/><Relationship Id="rId14" Type="http://schemas.openxmlformats.org/officeDocument/2006/relationships/image" Target="../media/image122.png"/><Relationship Id="rId15" Type="http://schemas.openxmlformats.org/officeDocument/2006/relationships/image" Target="../media/image123.png"/><Relationship Id="rId16" Type="http://schemas.openxmlformats.org/officeDocument/2006/relationships/image" Target="../media/image124.png"/><Relationship Id="rId17" Type="http://schemas.openxmlformats.org/officeDocument/2006/relationships/image" Target="../media/image125.png"/><Relationship Id="rId18" Type="http://schemas.openxmlformats.org/officeDocument/2006/relationships/image" Target="../media/image126.png"/><Relationship Id="rId19" Type="http://schemas.openxmlformats.org/officeDocument/2006/relationships/image" Target="../media/image127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8.png"/><Relationship Id="rId3" Type="http://schemas.openxmlformats.org/officeDocument/2006/relationships/image" Target="../media/image129.png"/><Relationship Id="rId4" Type="http://schemas.openxmlformats.org/officeDocument/2006/relationships/image" Target="../media/image130.png"/><Relationship Id="rId5" Type="http://schemas.openxmlformats.org/officeDocument/2006/relationships/image" Target="../media/image131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4.png"/><Relationship Id="rId9" Type="http://schemas.openxmlformats.org/officeDocument/2006/relationships/image" Target="../media/image135.pn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6.png"/><Relationship Id="rId3" Type="http://schemas.openxmlformats.org/officeDocument/2006/relationships/image" Target="../media/image130.png"/><Relationship Id="rId4" Type="http://schemas.openxmlformats.org/officeDocument/2006/relationships/image" Target="../media/image137.png"/><Relationship Id="rId5" Type="http://schemas.openxmlformats.org/officeDocument/2006/relationships/image" Target="../media/image138.png"/><Relationship Id="rId6" Type="http://schemas.openxmlformats.org/officeDocument/2006/relationships/image" Target="../media/image129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3.png"/><Relationship Id="rId7" Type="http://schemas.openxmlformats.org/officeDocument/2006/relationships/image" Target="../media/image144.png"/><Relationship Id="rId8" Type="http://schemas.openxmlformats.org/officeDocument/2006/relationships/image" Target="../media/image145.png"/><Relationship Id="rId9" Type="http://schemas.openxmlformats.org/officeDocument/2006/relationships/image" Target="../media/image146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3" Type="http://schemas.openxmlformats.org/officeDocument/2006/relationships/image" Target="../media/image150.png"/><Relationship Id="rId4" Type="http://schemas.openxmlformats.org/officeDocument/2006/relationships/image" Target="../media/image151.png"/><Relationship Id="rId5" Type="http://schemas.openxmlformats.org/officeDocument/2006/relationships/image" Target="../media/image152.png"/><Relationship Id="rId6" Type="http://schemas.openxmlformats.org/officeDocument/2006/relationships/image" Target="../media/image153.png"/><Relationship Id="rId7" Type="http://schemas.openxmlformats.org/officeDocument/2006/relationships/image" Target="../media/image154.png"/><Relationship Id="rId8" Type="http://schemas.openxmlformats.org/officeDocument/2006/relationships/image" Target="../media/image155.png"/><Relationship Id="rId9" Type="http://schemas.openxmlformats.org/officeDocument/2006/relationships/image" Target="../media/image156.png"/><Relationship Id="rId10" Type="http://schemas.openxmlformats.org/officeDocument/2006/relationships/image" Target="../media/image157.png"/><Relationship Id="rId11" Type="http://schemas.openxmlformats.org/officeDocument/2006/relationships/image" Target="../media/image158.png"/><Relationship Id="rId12" Type="http://schemas.openxmlformats.org/officeDocument/2006/relationships/image" Target="../media/image159.png"/><Relationship Id="rId13" Type="http://schemas.openxmlformats.org/officeDocument/2006/relationships/image" Target="../media/image160.png"/><Relationship Id="rId14" Type="http://schemas.openxmlformats.org/officeDocument/2006/relationships/image" Target="../media/image161.png"/><Relationship Id="rId15" Type="http://schemas.openxmlformats.org/officeDocument/2006/relationships/image" Target="../media/image162.png"/><Relationship Id="rId16" Type="http://schemas.openxmlformats.org/officeDocument/2006/relationships/image" Target="../media/image163.png"/><Relationship Id="rId17" Type="http://schemas.openxmlformats.org/officeDocument/2006/relationships/image" Target="../media/image164.png"/><Relationship Id="rId18" Type="http://schemas.openxmlformats.org/officeDocument/2006/relationships/image" Target="../media/image165.png"/><Relationship Id="rId19" Type="http://schemas.openxmlformats.org/officeDocument/2006/relationships/image" Target="../media/image166.png"/><Relationship Id="rId20" Type="http://schemas.openxmlformats.org/officeDocument/2006/relationships/image" Target="../media/image167.png"/><Relationship Id="rId21" Type="http://schemas.openxmlformats.org/officeDocument/2006/relationships/image" Target="../media/image168.png"/><Relationship Id="rId22" Type="http://schemas.openxmlformats.org/officeDocument/2006/relationships/image" Target="../media/image169.png"/><Relationship Id="rId23" Type="http://schemas.openxmlformats.org/officeDocument/2006/relationships/image" Target="../media/image170.png"/><Relationship Id="rId24" Type="http://schemas.openxmlformats.org/officeDocument/2006/relationships/image" Target="../media/image171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172.png"/><Relationship Id="rId5" Type="http://schemas.openxmlformats.org/officeDocument/2006/relationships/image" Target="../media/image173.png"/><Relationship Id="rId6" Type="http://schemas.openxmlformats.org/officeDocument/2006/relationships/image" Target="../media/image174.png"/><Relationship Id="rId7" Type="http://schemas.openxmlformats.org/officeDocument/2006/relationships/image" Target="../media/image175.png"/><Relationship Id="rId8" Type="http://schemas.openxmlformats.org/officeDocument/2006/relationships/image" Target="../media/image176.png"/><Relationship Id="rId9" Type="http://schemas.openxmlformats.org/officeDocument/2006/relationships/image" Target="../media/image177.png"/><Relationship Id="rId10" Type="http://schemas.openxmlformats.org/officeDocument/2006/relationships/image" Target="../media/image178.png"/><Relationship Id="rId11" Type="http://schemas.openxmlformats.org/officeDocument/2006/relationships/image" Target="../media/image179.png"/><Relationship Id="rId12" Type="http://schemas.openxmlformats.org/officeDocument/2006/relationships/image" Target="../media/image180.png"/><Relationship Id="rId13" Type="http://schemas.openxmlformats.org/officeDocument/2006/relationships/image" Target="../media/image181.png"/><Relationship Id="rId14" Type="http://schemas.openxmlformats.org/officeDocument/2006/relationships/image" Target="../media/image182.png"/><Relationship Id="rId15" Type="http://schemas.openxmlformats.org/officeDocument/2006/relationships/image" Target="../media/image183.png"/><Relationship Id="rId16" Type="http://schemas.openxmlformats.org/officeDocument/2006/relationships/image" Target="../media/image184.png"/><Relationship Id="rId17" Type="http://schemas.openxmlformats.org/officeDocument/2006/relationships/image" Target="../media/image185.png"/><Relationship Id="rId18" Type="http://schemas.openxmlformats.org/officeDocument/2006/relationships/image" Target="../media/image186.png"/><Relationship Id="rId19" Type="http://schemas.openxmlformats.org/officeDocument/2006/relationships/image" Target="../media/image187.png"/><Relationship Id="rId20" Type="http://schemas.openxmlformats.org/officeDocument/2006/relationships/image" Target="../media/image188.png"/><Relationship Id="rId21" Type="http://schemas.openxmlformats.org/officeDocument/2006/relationships/image" Target="../media/image189.png"/><Relationship Id="rId22" Type="http://schemas.openxmlformats.org/officeDocument/2006/relationships/image" Target="../media/image190.png"/><Relationship Id="rId23" Type="http://schemas.openxmlformats.org/officeDocument/2006/relationships/image" Target="../media/image191.png"/><Relationship Id="rId24" Type="http://schemas.openxmlformats.org/officeDocument/2006/relationships/image" Target="../media/image192.png"/><Relationship Id="rId25" Type="http://schemas.openxmlformats.org/officeDocument/2006/relationships/image" Target="../media/image193.png"/><Relationship Id="rId26" Type="http://schemas.openxmlformats.org/officeDocument/2006/relationships/image" Target="../media/image194.png"/><Relationship Id="rId27" Type="http://schemas.openxmlformats.org/officeDocument/2006/relationships/image" Target="../media/image195.png"/><Relationship Id="rId28" Type="http://schemas.openxmlformats.org/officeDocument/2006/relationships/image" Target="../media/image196.png"/><Relationship Id="rId29" Type="http://schemas.openxmlformats.org/officeDocument/2006/relationships/image" Target="../media/image197.png"/><Relationship Id="rId30" Type="http://schemas.openxmlformats.org/officeDocument/2006/relationships/image" Target="../media/image198.png"/><Relationship Id="rId31" Type="http://schemas.openxmlformats.org/officeDocument/2006/relationships/image" Target="../media/image199.png"/><Relationship Id="rId32" Type="http://schemas.openxmlformats.org/officeDocument/2006/relationships/image" Target="../media/image200.png"/><Relationship Id="rId33" Type="http://schemas.openxmlformats.org/officeDocument/2006/relationships/image" Target="../media/image201.png"/><Relationship Id="rId34" Type="http://schemas.openxmlformats.org/officeDocument/2006/relationships/image" Target="../media/image202.png"/><Relationship Id="rId35" Type="http://schemas.openxmlformats.org/officeDocument/2006/relationships/image" Target="../media/image203.png"/><Relationship Id="rId36" Type="http://schemas.openxmlformats.org/officeDocument/2006/relationships/image" Target="../media/image204.png"/><Relationship Id="rId37" Type="http://schemas.openxmlformats.org/officeDocument/2006/relationships/image" Target="../media/image205.png"/><Relationship Id="rId38" Type="http://schemas.openxmlformats.org/officeDocument/2006/relationships/image" Target="../media/image206.png"/><Relationship Id="rId39" Type="http://schemas.openxmlformats.org/officeDocument/2006/relationships/image" Target="../media/image207.png"/><Relationship Id="rId40" Type="http://schemas.openxmlformats.org/officeDocument/2006/relationships/image" Target="../media/image208.png"/><Relationship Id="rId41" Type="http://schemas.openxmlformats.org/officeDocument/2006/relationships/image" Target="../media/image209.png"/><Relationship Id="rId42" Type="http://schemas.openxmlformats.org/officeDocument/2006/relationships/image" Target="../media/image210.png"/><Relationship Id="rId43" Type="http://schemas.openxmlformats.org/officeDocument/2006/relationships/image" Target="../media/image211.png"/><Relationship Id="rId44" Type="http://schemas.openxmlformats.org/officeDocument/2006/relationships/image" Target="../media/image212.png"/><Relationship Id="rId45" Type="http://schemas.openxmlformats.org/officeDocument/2006/relationships/image" Target="../media/image213.png"/><Relationship Id="rId46" Type="http://schemas.openxmlformats.org/officeDocument/2006/relationships/image" Target="../media/image214.png"/><Relationship Id="rId47" Type="http://schemas.openxmlformats.org/officeDocument/2006/relationships/image" Target="../media/image215.png"/><Relationship Id="rId48" Type="http://schemas.openxmlformats.org/officeDocument/2006/relationships/image" Target="../media/image216.png"/><Relationship Id="rId49" Type="http://schemas.openxmlformats.org/officeDocument/2006/relationships/image" Target="../media/image217.png"/><Relationship Id="rId50" Type="http://schemas.openxmlformats.org/officeDocument/2006/relationships/image" Target="../media/image218.png"/><Relationship Id="rId51" Type="http://schemas.openxmlformats.org/officeDocument/2006/relationships/image" Target="../media/image219.png"/><Relationship Id="rId52" Type="http://schemas.openxmlformats.org/officeDocument/2006/relationships/image" Target="../media/image220.png"/><Relationship Id="rId53" Type="http://schemas.openxmlformats.org/officeDocument/2006/relationships/image" Target="../media/image221.png"/><Relationship Id="rId54" Type="http://schemas.openxmlformats.org/officeDocument/2006/relationships/image" Target="../media/image222.png"/><Relationship Id="rId55" Type="http://schemas.openxmlformats.org/officeDocument/2006/relationships/image" Target="../media/image223.png"/><Relationship Id="rId56" Type="http://schemas.openxmlformats.org/officeDocument/2006/relationships/image" Target="../media/image224.png"/><Relationship Id="rId57" Type="http://schemas.openxmlformats.org/officeDocument/2006/relationships/image" Target="../media/image225.png"/><Relationship Id="rId58" Type="http://schemas.openxmlformats.org/officeDocument/2006/relationships/image" Target="../media/image226.png"/><Relationship Id="rId59" Type="http://schemas.openxmlformats.org/officeDocument/2006/relationships/image" Target="../media/image227.png"/><Relationship Id="rId60" Type="http://schemas.openxmlformats.org/officeDocument/2006/relationships/image" Target="../media/image228.png"/><Relationship Id="rId61" Type="http://schemas.openxmlformats.org/officeDocument/2006/relationships/image" Target="../media/image229.png"/><Relationship Id="rId62" Type="http://schemas.openxmlformats.org/officeDocument/2006/relationships/image" Target="../media/image230.png"/><Relationship Id="rId63" Type="http://schemas.openxmlformats.org/officeDocument/2006/relationships/image" Target="../media/image231.png"/><Relationship Id="rId64" Type="http://schemas.openxmlformats.org/officeDocument/2006/relationships/image" Target="../media/image232.png"/><Relationship Id="rId65" Type="http://schemas.openxmlformats.org/officeDocument/2006/relationships/image" Target="../media/image233.png"/><Relationship Id="rId66" Type="http://schemas.openxmlformats.org/officeDocument/2006/relationships/image" Target="../media/image234.png"/><Relationship Id="rId67" Type="http://schemas.openxmlformats.org/officeDocument/2006/relationships/image" Target="../media/image235.png"/><Relationship Id="rId68" Type="http://schemas.openxmlformats.org/officeDocument/2006/relationships/image" Target="../media/image236.png"/><Relationship Id="rId69" Type="http://schemas.openxmlformats.org/officeDocument/2006/relationships/image" Target="../media/image237.png"/><Relationship Id="rId70" Type="http://schemas.openxmlformats.org/officeDocument/2006/relationships/image" Target="../media/image238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9.png"/><Relationship Id="rId3" Type="http://schemas.openxmlformats.org/officeDocument/2006/relationships/image" Target="../media/image240.png"/><Relationship Id="rId4" Type="http://schemas.openxmlformats.org/officeDocument/2006/relationships/image" Target="../media/image241.png"/><Relationship Id="rId5" Type="http://schemas.openxmlformats.org/officeDocument/2006/relationships/image" Target="../media/image242.png"/><Relationship Id="rId6" Type="http://schemas.openxmlformats.org/officeDocument/2006/relationships/image" Target="../media/image243.png"/><Relationship Id="rId7" Type="http://schemas.openxmlformats.org/officeDocument/2006/relationships/image" Target="../media/image244.png"/><Relationship Id="rId8" Type="http://schemas.openxmlformats.org/officeDocument/2006/relationships/image" Target="../media/image245.png"/><Relationship Id="rId9" Type="http://schemas.openxmlformats.org/officeDocument/2006/relationships/image" Target="../media/image246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7.png"/><Relationship Id="rId3" Type="http://schemas.openxmlformats.org/officeDocument/2006/relationships/image" Target="../media/image248.png"/><Relationship Id="rId4" Type="http://schemas.openxmlformats.org/officeDocument/2006/relationships/image" Target="../media/image249.png"/><Relationship Id="rId5" Type="http://schemas.openxmlformats.org/officeDocument/2006/relationships/image" Target="../media/image250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Relationship Id="rId5" Type="http://schemas.openxmlformats.org/officeDocument/2006/relationships/image" Target="../media/image250.png"/><Relationship Id="rId6" Type="http://schemas.openxmlformats.org/officeDocument/2006/relationships/image" Target="../media/image247.png"/><Relationship Id="rId7" Type="http://schemas.openxmlformats.org/officeDocument/2006/relationships/image" Target="../media/image248.png"/><Relationship Id="rId8" Type="http://schemas.openxmlformats.org/officeDocument/2006/relationships/image" Target="../media/image249.png"/><Relationship Id="rId9" Type="http://schemas.openxmlformats.org/officeDocument/2006/relationships/image" Target="../media/image254.png"/><Relationship Id="rId10" Type="http://schemas.openxmlformats.org/officeDocument/2006/relationships/image" Target="../media/image255.png"/><Relationship Id="rId11" Type="http://schemas.openxmlformats.org/officeDocument/2006/relationships/image" Target="../media/image256.png"/><Relationship Id="rId12" Type="http://schemas.openxmlformats.org/officeDocument/2006/relationships/image" Target="../media/image257.png"/><Relationship Id="rId13" Type="http://schemas.openxmlformats.org/officeDocument/2006/relationships/image" Target="../media/image258.png"/><Relationship Id="rId14" Type="http://schemas.openxmlformats.org/officeDocument/2006/relationships/image" Target="../media/image259.png"/><Relationship Id="rId15" Type="http://schemas.openxmlformats.org/officeDocument/2006/relationships/image" Target="../media/image260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1.png"/><Relationship Id="rId5" Type="http://schemas.openxmlformats.org/officeDocument/2006/relationships/image" Target="../media/image262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3.png"/><Relationship Id="rId5" Type="http://schemas.openxmlformats.org/officeDocument/2006/relationships/image" Target="../media/image264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65.png"/><Relationship Id="rId5" Type="http://schemas.openxmlformats.org/officeDocument/2006/relationships/image" Target="../media/image266.png"/><Relationship Id="rId6" Type="http://schemas.openxmlformats.org/officeDocument/2006/relationships/image" Target="../media/image267.png"/><Relationship Id="rId7" Type="http://schemas.openxmlformats.org/officeDocument/2006/relationships/image" Target="../media/image268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69.png"/><Relationship Id="rId3" Type="http://schemas.openxmlformats.org/officeDocument/2006/relationships/image" Target="../media/image270.png"/><Relationship Id="rId4" Type="http://schemas.openxmlformats.org/officeDocument/2006/relationships/image" Target="../media/image271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72.png"/><Relationship Id="rId3" Type="http://schemas.openxmlformats.org/officeDocument/2006/relationships/image" Target="../media/image273.png"/><Relationship Id="rId4" Type="http://schemas.openxmlformats.org/officeDocument/2006/relationships/image" Target="../media/image274.png"/><Relationship Id="rId5" Type="http://schemas.openxmlformats.org/officeDocument/2006/relationships/image" Target="../media/image275.png"/><Relationship Id="rId6" Type="http://schemas.openxmlformats.org/officeDocument/2006/relationships/image" Target="../media/image276.png"/><Relationship Id="rId7" Type="http://schemas.openxmlformats.org/officeDocument/2006/relationships/image" Target="../media/image277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neo4j.com/videos/why-graph/" TargetMode="External"/><Relationship Id="rId5" Type="http://schemas.openxmlformats.org/officeDocument/2006/relationships/hyperlink" Target="https://neo4j.com/whitepapers/artificial-intelligence-graph-technology/" TargetMode="External"/><Relationship Id="rId6" Type="http://schemas.openxmlformats.org/officeDocument/2006/relationships/hyperlink" Target="https://www.google.com/url?q=https%3A//neo4j.com/whitepapers/financial-fraud-detection-graph-data-science/&amp;sa=D&amp;source=editors&amp;ust=1618605771533000&amp;usg=AOvVaw17B88zRfTXfR0MfJKpHVM4" TargetMode="External"/><Relationship Id="rId7" Type="http://schemas.openxmlformats.org/officeDocument/2006/relationships/hyperlink" Target="https://neo4j.com/users/meredith-corporation/" TargetMode="External"/><Relationship Id="rId8" Type="http://schemas.openxmlformats.org/officeDocument/2006/relationships/hyperlink" Target="https://neo4j.com/graph-databases-for-dummies/" TargetMode="External"/><Relationship Id="rId9" Type="http://schemas.openxmlformats.org/officeDocument/2006/relationships/hyperlink" Target="http://neo4j.com/graph-data-science-for-dummies" TargetMode="External"/><Relationship Id="rId10" Type="http://schemas.openxmlformats.org/officeDocument/2006/relationships/hyperlink" Target="http://neo4j.com/graph-algorithms-book/" TargetMode="External"/><Relationship Id="rId11" Type="http://schemas.openxmlformats.org/officeDocument/2006/relationships/hyperlink" Target="https://neo4j.com/knowledge-graphs-data-in-context-for-responsive-businesses/" TargetMode="External"/><Relationship Id="rId12" Type="http://schemas.openxmlformats.org/officeDocument/2006/relationships/image" Target="../media/image278.jpg"/><Relationship Id="rId13" Type="http://schemas.openxmlformats.org/officeDocument/2006/relationships/image" Target="../media/image279.png"/><Relationship Id="rId14" Type="http://schemas.openxmlformats.org/officeDocument/2006/relationships/image" Target="../media/image280.png"/><Relationship Id="rId15" Type="http://schemas.openxmlformats.org/officeDocument/2006/relationships/image" Target="../media/image281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mailto:jim.webber@neo4j.com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00" y="850905"/>
            <a:ext cx="10401300" cy="5854700"/>
          </a:xfrm>
          <a:custGeom>
            <a:avLst/>
            <a:gdLst/>
            <a:ahLst/>
            <a:cxnLst/>
            <a:rect l="l" t="t" r="r" b="b"/>
            <a:pathLst>
              <a:path w="10401300" h="5854700">
                <a:moveTo>
                  <a:pt x="10401300" y="0"/>
                </a:moveTo>
                <a:lnTo>
                  <a:pt x="0" y="0"/>
                </a:lnTo>
                <a:lnTo>
                  <a:pt x="0" y="5854700"/>
                </a:lnTo>
                <a:lnTo>
                  <a:pt x="10401300" y="5854700"/>
                </a:lnTo>
                <a:lnTo>
                  <a:pt x="10401300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166108" y="850905"/>
            <a:ext cx="6373495" cy="5854700"/>
            <a:chOff x="4166108" y="850905"/>
            <a:chExt cx="6373495" cy="5854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6108" y="850905"/>
              <a:ext cx="6373368" cy="58547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6996" y="6346449"/>
              <a:ext cx="627888" cy="2377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83096" y="2572258"/>
            <a:ext cx="846963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FFFFFF"/>
                </a:solidFill>
              </a:rPr>
              <a:t>Graphs</a:t>
            </a:r>
            <a:r>
              <a:rPr dirty="0" sz="3000" spc="-155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for</a:t>
            </a:r>
            <a:r>
              <a:rPr dirty="0" sz="3000" spc="-150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Data</a:t>
            </a:r>
            <a:r>
              <a:rPr dirty="0" sz="3000" spc="-150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Science</a:t>
            </a:r>
            <a:r>
              <a:rPr dirty="0" sz="3000" spc="-150">
                <a:solidFill>
                  <a:srgbClr val="FFFFFF"/>
                </a:solidFill>
              </a:rPr>
              <a:t> </a:t>
            </a:r>
            <a:r>
              <a:rPr dirty="0" sz="3000">
                <a:solidFill>
                  <a:srgbClr val="FFFFFF"/>
                </a:solidFill>
              </a:rPr>
              <a:t>and</a:t>
            </a:r>
            <a:r>
              <a:rPr dirty="0" sz="3000" spc="-160">
                <a:solidFill>
                  <a:srgbClr val="FFFFFF"/>
                </a:solidFill>
              </a:rPr>
              <a:t> </a:t>
            </a:r>
            <a:r>
              <a:rPr dirty="0" sz="3000" spc="-10">
                <a:solidFill>
                  <a:srgbClr val="FFFFFF"/>
                </a:solidFill>
              </a:rPr>
              <a:t>Machine</a:t>
            </a:r>
            <a:r>
              <a:rPr dirty="0" sz="3000" spc="-150">
                <a:solidFill>
                  <a:srgbClr val="FFFFFF"/>
                </a:solidFill>
              </a:rPr>
              <a:t> </a:t>
            </a:r>
            <a:r>
              <a:rPr dirty="0" sz="3000" spc="-10">
                <a:solidFill>
                  <a:srgbClr val="FFFFFF"/>
                </a:solidFill>
              </a:rPr>
              <a:t>Learning</a:t>
            </a:r>
            <a:endParaRPr sz="3000"/>
          </a:p>
        </p:txBody>
      </p:sp>
      <p:sp>
        <p:nvSpPr>
          <p:cNvPr id="10" name="object 10" descr=""/>
          <p:cNvSpPr txBox="1"/>
          <p:nvPr/>
        </p:nvSpPr>
        <p:spPr>
          <a:xfrm>
            <a:off x="292793" y="6397845"/>
            <a:ext cx="8953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5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987092" y="4254857"/>
            <a:ext cx="2233930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dirty="0" sz="180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Jim</a:t>
            </a:r>
            <a:r>
              <a:rPr dirty="0" sz="18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Webber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Chief</a:t>
            </a:r>
            <a:r>
              <a:rPr dirty="0" sz="18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Scientist,</a:t>
            </a:r>
            <a:r>
              <a:rPr dirty="0" sz="18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Neo4j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419284" y="5830157"/>
            <a:ext cx="76835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#neo4j</a:t>
            </a:r>
            <a:endParaRPr sz="19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03113" y="5830157"/>
            <a:ext cx="1393190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@jimwebber</a:t>
            </a:r>
            <a:endParaRPr sz="1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It’s</a:t>
            </a:r>
            <a:r>
              <a:rPr dirty="0" sz="2700" spc="15"/>
              <a:t> </a:t>
            </a:r>
            <a:r>
              <a:rPr dirty="0" sz="2700"/>
              <a:t>Not</a:t>
            </a:r>
            <a:r>
              <a:rPr dirty="0" sz="2700" spc="10"/>
              <a:t> </a:t>
            </a:r>
            <a:r>
              <a:rPr dirty="0" sz="2700"/>
              <a:t>What</a:t>
            </a:r>
            <a:r>
              <a:rPr dirty="0" sz="2700" spc="10"/>
              <a:t> </a:t>
            </a:r>
            <a:r>
              <a:rPr dirty="0" sz="2700"/>
              <a:t>You</a:t>
            </a:r>
            <a:r>
              <a:rPr dirty="0" sz="2700" spc="10"/>
              <a:t> </a:t>
            </a:r>
            <a:r>
              <a:rPr dirty="0" sz="2700" spc="-20"/>
              <a:t>Know</a:t>
            </a:r>
            <a:endParaRPr sz="2700"/>
          </a:p>
        </p:txBody>
      </p:sp>
      <p:sp>
        <p:nvSpPr>
          <p:cNvPr id="4" name="object 4" descr=""/>
          <p:cNvSpPr/>
          <p:nvPr/>
        </p:nvSpPr>
        <p:spPr>
          <a:xfrm>
            <a:off x="5597749" y="2550946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4">
                <a:moveTo>
                  <a:pt x="246382" y="0"/>
                </a:moveTo>
                <a:lnTo>
                  <a:pt x="196727" y="5008"/>
                </a:lnTo>
                <a:lnTo>
                  <a:pt x="150478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1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1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3"/>
                </a:lnTo>
                <a:lnTo>
                  <a:pt x="384136" y="450992"/>
                </a:lnTo>
                <a:lnTo>
                  <a:pt x="420600" y="420886"/>
                </a:lnTo>
                <a:lnTo>
                  <a:pt x="450685" y="384397"/>
                </a:lnTo>
                <a:lnTo>
                  <a:pt x="473401" y="342517"/>
                </a:lnTo>
                <a:lnTo>
                  <a:pt x="487758" y="296237"/>
                </a:lnTo>
                <a:lnTo>
                  <a:pt x="492763" y="246548"/>
                </a:lnTo>
                <a:lnTo>
                  <a:pt x="487758" y="196860"/>
                </a:lnTo>
                <a:lnTo>
                  <a:pt x="473401" y="150580"/>
                </a:lnTo>
                <a:lnTo>
                  <a:pt x="450685" y="108700"/>
                </a:lnTo>
                <a:lnTo>
                  <a:pt x="420600" y="72212"/>
                </a:lnTo>
                <a:lnTo>
                  <a:pt x="384136" y="42106"/>
                </a:lnTo>
                <a:lnTo>
                  <a:pt x="342285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736820" y="2550946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4">
                <a:moveTo>
                  <a:pt x="246382" y="0"/>
                </a:moveTo>
                <a:lnTo>
                  <a:pt x="196727" y="5008"/>
                </a:lnTo>
                <a:lnTo>
                  <a:pt x="150479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2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2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7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875895" y="2550946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4">
                <a:moveTo>
                  <a:pt x="246382" y="0"/>
                </a:moveTo>
                <a:lnTo>
                  <a:pt x="196727" y="5008"/>
                </a:lnTo>
                <a:lnTo>
                  <a:pt x="150478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1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1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6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6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5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875895" y="3286723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9"/>
                </a:lnTo>
                <a:lnTo>
                  <a:pt x="150478" y="19375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1"/>
                </a:lnTo>
                <a:lnTo>
                  <a:pt x="19361" y="150581"/>
                </a:lnTo>
                <a:lnTo>
                  <a:pt x="5005" y="196861"/>
                </a:lnTo>
                <a:lnTo>
                  <a:pt x="0" y="246550"/>
                </a:lnTo>
                <a:lnTo>
                  <a:pt x="5005" y="296238"/>
                </a:lnTo>
                <a:lnTo>
                  <a:pt x="19361" y="342518"/>
                </a:lnTo>
                <a:lnTo>
                  <a:pt x="42078" y="384398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4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4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6" y="384398"/>
                </a:lnTo>
                <a:lnTo>
                  <a:pt x="473403" y="342518"/>
                </a:lnTo>
                <a:lnTo>
                  <a:pt x="487759" y="296238"/>
                </a:lnTo>
                <a:lnTo>
                  <a:pt x="492765" y="246550"/>
                </a:lnTo>
                <a:lnTo>
                  <a:pt x="487759" y="196861"/>
                </a:lnTo>
                <a:lnTo>
                  <a:pt x="473403" y="150581"/>
                </a:lnTo>
                <a:lnTo>
                  <a:pt x="450686" y="108701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5" y="19375"/>
                </a:lnTo>
                <a:lnTo>
                  <a:pt x="296037" y="5009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4736820" y="3286723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9"/>
                </a:lnTo>
                <a:lnTo>
                  <a:pt x="150479" y="19375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1"/>
                </a:lnTo>
                <a:lnTo>
                  <a:pt x="19362" y="150581"/>
                </a:lnTo>
                <a:lnTo>
                  <a:pt x="5005" y="196861"/>
                </a:lnTo>
                <a:lnTo>
                  <a:pt x="0" y="246550"/>
                </a:lnTo>
                <a:lnTo>
                  <a:pt x="5005" y="296238"/>
                </a:lnTo>
                <a:lnTo>
                  <a:pt x="19362" y="342518"/>
                </a:lnTo>
                <a:lnTo>
                  <a:pt x="42078" y="384398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4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4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8"/>
                </a:lnTo>
                <a:lnTo>
                  <a:pt x="473403" y="342518"/>
                </a:lnTo>
                <a:lnTo>
                  <a:pt x="487759" y="296238"/>
                </a:lnTo>
                <a:lnTo>
                  <a:pt x="492765" y="246550"/>
                </a:lnTo>
                <a:lnTo>
                  <a:pt x="487759" y="196861"/>
                </a:lnTo>
                <a:lnTo>
                  <a:pt x="473403" y="150581"/>
                </a:lnTo>
                <a:lnTo>
                  <a:pt x="450687" y="108701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5"/>
                </a:lnTo>
                <a:lnTo>
                  <a:pt x="296037" y="5009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597749" y="3286723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9"/>
                </a:lnTo>
                <a:lnTo>
                  <a:pt x="150478" y="19375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1"/>
                </a:lnTo>
                <a:lnTo>
                  <a:pt x="19361" y="150581"/>
                </a:lnTo>
                <a:lnTo>
                  <a:pt x="5005" y="196861"/>
                </a:lnTo>
                <a:lnTo>
                  <a:pt x="0" y="246550"/>
                </a:lnTo>
                <a:lnTo>
                  <a:pt x="5005" y="296238"/>
                </a:lnTo>
                <a:lnTo>
                  <a:pt x="19361" y="342518"/>
                </a:lnTo>
                <a:lnTo>
                  <a:pt x="42078" y="384398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4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4"/>
                </a:lnTo>
                <a:lnTo>
                  <a:pt x="384136" y="450992"/>
                </a:lnTo>
                <a:lnTo>
                  <a:pt x="420600" y="420886"/>
                </a:lnTo>
                <a:lnTo>
                  <a:pt x="450685" y="384398"/>
                </a:lnTo>
                <a:lnTo>
                  <a:pt x="473401" y="342518"/>
                </a:lnTo>
                <a:lnTo>
                  <a:pt x="487758" y="296238"/>
                </a:lnTo>
                <a:lnTo>
                  <a:pt x="492763" y="246550"/>
                </a:lnTo>
                <a:lnTo>
                  <a:pt x="487758" y="196861"/>
                </a:lnTo>
                <a:lnTo>
                  <a:pt x="473401" y="150581"/>
                </a:lnTo>
                <a:lnTo>
                  <a:pt x="450685" y="108701"/>
                </a:lnTo>
                <a:lnTo>
                  <a:pt x="420600" y="72212"/>
                </a:lnTo>
                <a:lnTo>
                  <a:pt x="384136" y="42106"/>
                </a:lnTo>
                <a:lnTo>
                  <a:pt x="342285" y="19375"/>
                </a:lnTo>
                <a:lnTo>
                  <a:pt x="296037" y="5009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597749" y="4022502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8"/>
                </a:lnTo>
                <a:lnTo>
                  <a:pt x="150478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1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1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3"/>
                </a:lnTo>
                <a:lnTo>
                  <a:pt x="384136" y="450992"/>
                </a:lnTo>
                <a:lnTo>
                  <a:pt x="420600" y="420886"/>
                </a:lnTo>
                <a:lnTo>
                  <a:pt x="450685" y="384397"/>
                </a:lnTo>
                <a:lnTo>
                  <a:pt x="473401" y="342517"/>
                </a:lnTo>
                <a:lnTo>
                  <a:pt x="487758" y="296237"/>
                </a:lnTo>
                <a:lnTo>
                  <a:pt x="492763" y="246548"/>
                </a:lnTo>
                <a:lnTo>
                  <a:pt x="487758" y="196860"/>
                </a:lnTo>
                <a:lnTo>
                  <a:pt x="473401" y="150580"/>
                </a:lnTo>
                <a:lnTo>
                  <a:pt x="450685" y="108700"/>
                </a:lnTo>
                <a:lnTo>
                  <a:pt x="420600" y="72212"/>
                </a:lnTo>
                <a:lnTo>
                  <a:pt x="384136" y="42106"/>
                </a:lnTo>
                <a:lnTo>
                  <a:pt x="342285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4736820" y="4022502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8"/>
                </a:lnTo>
                <a:lnTo>
                  <a:pt x="150479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2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2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7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875895" y="4022502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8"/>
                </a:lnTo>
                <a:lnTo>
                  <a:pt x="150478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1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1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6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6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5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3875895" y="4758281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8"/>
                </a:lnTo>
                <a:lnTo>
                  <a:pt x="150478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1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1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6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6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5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4736820" y="4758281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8"/>
                </a:lnTo>
                <a:lnTo>
                  <a:pt x="150479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2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2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7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/>
          <p:nvPr/>
        </p:nvSpPr>
        <p:spPr>
          <a:xfrm>
            <a:off x="5597749" y="4758281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60" h="493395">
                <a:moveTo>
                  <a:pt x="246382" y="0"/>
                </a:moveTo>
                <a:lnTo>
                  <a:pt x="196727" y="5008"/>
                </a:lnTo>
                <a:lnTo>
                  <a:pt x="150478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1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1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8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5" y="473723"/>
                </a:lnTo>
                <a:lnTo>
                  <a:pt x="384136" y="450992"/>
                </a:lnTo>
                <a:lnTo>
                  <a:pt x="420600" y="420886"/>
                </a:lnTo>
                <a:lnTo>
                  <a:pt x="450685" y="384397"/>
                </a:lnTo>
                <a:lnTo>
                  <a:pt x="473401" y="342517"/>
                </a:lnTo>
                <a:lnTo>
                  <a:pt x="487758" y="296237"/>
                </a:lnTo>
                <a:lnTo>
                  <a:pt x="492763" y="246548"/>
                </a:lnTo>
                <a:lnTo>
                  <a:pt x="487758" y="196860"/>
                </a:lnTo>
                <a:lnTo>
                  <a:pt x="473401" y="150580"/>
                </a:lnTo>
                <a:lnTo>
                  <a:pt x="450685" y="108700"/>
                </a:lnTo>
                <a:lnTo>
                  <a:pt x="420600" y="72212"/>
                </a:lnTo>
                <a:lnTo>
                  <a:pt x="384136" y="42106"/>
                </a:lnTo>
                <a:lnTo>
                  <a:pt x="342285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6458671" y="2550946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59" h="493394">
                <a:moveTo>
                  <a:pt x="246382" y="0"/>
                </a:moveTo>
                <a:lnTo>
                  <a:pt x="196727" y="5008"/>
                </a:lnTo>
                <a:lnTo>
                  <a:pt x="150479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2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2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7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6458671" y="3286723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59" h="493395">
                <a:moveTo>
                  <a:pt x="246382" y="0"/>
                </a:moveTo>
                <a:lnTo>
                  <a:pt x="196727" y="5009"/>
                </a:lnTo>
                <a:lnTo>
                  <a:pt x="150479" y="19375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1"/>
                </a:lnTo>
                <a:lnTo>
                  <a:pt x="19362" y="150581"/>
                </a:lnTo>
                <a:lnTo>
                  <a:pt x="5005" y="196861"/>
                </a:lnTo>
                <a:lnTo>
                  <a:pt x="0" y="246550"/>
                </a:lnTo>
                <a:lnTo>
                  <a:pt x="5005" y="296238"/>
                </a:lnTo>
                <a:lnTo>
                  <a:pt x="19362" y="342518"/>
                </a:lnTo>
                <a:lnTo>
                  <a:pt x="42078" y="384398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4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4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8"/>
                </a:lnTo>
                <a:lnTo>
                  <a:pt x="473403" y="342518"/>
                </a:lnTo>
                <a:lnTo>
                  <a:pt x="487759" y="296238"/>
                </a:lnTo>
                <a:lnTo>
                  <a:pt x="492765" y="246550"/>
                </a:lnTo>
                <a:lnTo>
                  <a:pt x="487759" y="196861"/>
                </a:lnTo>
                <a:lnTo>
                  <a:pt x="473403" y="150581"/>
                </a:lnTo>
                <a:lnTo>
                  <a:pt x="450687" y="108701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5"/>
                </a:lnTo>
                <a:lnTo>
                  <a:pt x="296037" y="5009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6458671" y="4022502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59" h="493395">
                <a:moveTo>
                  <a:pt x="246382" y="0"/>
                </a:moveTo>
                <a:lnTo>
                  <a:pt x="196727" y="5008"/>
                </a:lnTo>
                <a:lnTo>
                  <a:pt x="150479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2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2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7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6458671" y="4758281"/>
            <a:ext cx="492759" cy="493395"/>
          </a:xfrm>
          <a:custGeom>
            <a:avLst/>
            <a:gdLst/>
            <a:ahLst/>
            <a:cxnLst/>
            <a:rect l="l" t="t" r="r" b="b"/>
            <a:pathLst>
              <a:path w="492759" h="493395">
                <a:moveTo>
                  <a:pt x="246382" y="0"/>
                </a:moveTo>
                <a:lnTo>
                  <a:pt x="196727" y="5008"/>
                </a:lnTo>
                <a:lnTo>
                  <a:pt x="150479" y="19374"/>
                </a:lnTo>
                <a:lnTo>
                  <a:pt x="108627" y="42106"/>
                </a:lnTo>
                <a:lnTo>
                  <a:pt x="72163" y="72212"/>
                </a:lnTo>
                <a:lnTo>
                  <a:pt x="42078" y="108700"/>
                </a:lnTo>
                <a:lnTo>
                  <a:pt x="19362" y="150580"/>
                </a:lnTo>
                <a:lnTo>
                  <a:pt x="5005" y="196860"/>
                </a:lnTo>
                <a:lnTo>
                  <a:pt x="0" y="246548"/>
                </a:lnTo>
                <a:lnTo>
                  <a:pt x="5005" y="296237"/>
                </a:lnTo>
                <a:lnTo>
                  <a:pt x="19362" y="342517"/>
                </a:lnTo>
                <a:lnTo>
                  <a:pt x="42078" y="384397"/>
                </a:lnTo>
                <a:lnTo>
                  <a:pt x="72163" y="420886"/>
                </a:lnTo>
                <a:lnTo>
                  <a:pt x="108627" y="450992"/>
                </a:lnTo>
                <a:lnTo>
                  <a:pt x="150479" y="473723"/>
                </a:lnTo>
                <a:lnTo>
                  <a:pt x="196727" y="488090"/>
                </a:lnTo>
                <a:lnTo>
                  <a:pt x="246382" y="493099"/>
                </a:lnTo>
                <a:lnTo>
                  <a:pt x="296037" y="488090"/>
                </a:lnTo>
                <a:lnTo>
                  <a:pt x="342286" y="473723"/>
                </a:lnTo>
                <a:lnTo>
                  <a:pt x="384137" y="450992"/>
                </a:lnTo>
                <a:lnTo>
                  <a:pt x="420601" y="420886"/>
                </a:lnTo>
                <a:lnTo>
                  <a:pt x="450687" y="384397"/>
                </a:lnTo>
                <a:lnTo>
                  <a:pt x="473403" y="342517"/>
                </a:lnTo>
                <a:lnTo>
                  <a:pt x="487759" y="296237"/>
                </a:lnTo>
                <a:lnTo>
                  <a:pt x="492765" y="246548"/>
                </a:lnTo>
                <a:lnTo>
                  <a:pt x="487759" y="196860"/>
                </a:lnTo>
                <a:lnTo>
                  <a:pt x="473403" y="150580"/>
                </a:lnTo>
                <a:lnTo>
                  <a:pt x="450687" y="108700"/>
                </a:lnTo>
                <a:lnTo>
                  <a:pt x="420601" y="72212"/>
                </a:lnTo>
                <a:lnTo>
                  <a:pt x="384137" y="42106"/>
                </a:lnTo>
                <a:lnTo>
                  <a:pt x="342286" y="19374"/>
                </a:lnTo>
                <a:lnTo>
                  <a:pt x="296037" y="5008"/>
                </a:lnTo>
                <a:lnTo>
                  <a:pt x="246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089" y="2283256"/>
            <a:ext cx="7077528" cy="321253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It’s</a:t>
            </a:r>
            <a:r>
              <a:rPr dirty="0" sz="2700" spc="5"/>
              <a:t> </a:t>
            </a:r>
            <a:r>
              <a:rPr dirty="0" sz="2700"/>
              <a:t>Who You</a:t>
            </a:r>
            <a:r>
              <a:rPr dirty="0" sz="2700" spc="5"/>
              <a:t> </a:t>
            </a:r>
            <a:r>
              <a:rPr dirty="0" sz="2700" spc="-20"/>
              <a:t>Know</a:t>
            </a:r>
            <a:endParaRPr sz="2700"/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9089" y="2283256"/>
            <a:ext cx="7077528" cy="3212533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It’s</a:t>
            </a:r>
            <a:r>
              <a:rPr dirty="0" sz="2700" spc="20"/>
              <a:t> </a:t>
            </a:r>
            <a:r>
              <a:rPr dirty="0" sz="2700"/>
              <a:t>Who</a:t>
            </a:r>
            <a:r>
              <a:rPr dirty="0" sz="2700" spc="15"/>
              <a:t> </a:t>
            </a:r>
            <a:r>
              <a:rPr dirty="0" sz="2700"/>
              <a:t>You</a:t>
            </a:r>
            <a:r>
              <a:rPr dirty="0" sz="2700" spc="20"/>
              <a:t> </a:t>
            </a:r>
            <a:r>
              <a:rPr dirty="0" sz="2700"/>
              <a:t>Know</a:t>
            </a:r>
            <a:r>
              <a:rPr dirty="0" sz="2700" spc="20"/>
              <a:t> </a:t>
            </a:r>
            <a:r>
              <a:rPr dirty="0" sz="2700" i="1">
                <a:solidFill>
                  <a:srgbClr val="018BFF"/>
                </a:solidFill>
                <a:latin typeface="Arial"/>
                <a:cs typeface="Arial"/>
              </a:rPr>
              <a:t>And</a:t>
            </a:r>
            <a:r>
              <a:rPr dirty="0" sz="2700" spc="20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700" i="1">
                <a:solidFill>
                  <a:srgbClr val="018BFF"/>
                </a:solidFill>
                <a:latin typeface="Arial"/>
                <a:cs typeface="Arial"/>
              </a:rPr>
              <a:t>Where</a:t>
            </a:r>
            <a:r>
              <a:rPr dirty="0" sz="2700" spc="20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700"/>
              <a:t>They</a:t>
            </a:r>
            <a:r>
              <a:rPr dirty="0" sz="2700" spc="20"/>
              <a:t> </a:t>
            </a:r>
            <a:r>
              <a:rPr dirty="0" sz="2700" spc="-25"/>
              <a:t>Are</a:t>
            </a:r>
            <a:endParaRPr sz="27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4977" y="6412907"/>
            <a:ext cx="1576070" cy="113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</a:pP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940" y="850905"/>
            <a:ext cx="4779264" cy="58547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139728" y="850876"/>
            <a:ext cx="396875" cy="5854700"/>
          </a:xfrm>
          <a:prstGeom prst="rect">
            <a:avLst/>
          </a:prstGeom>
          <a:solidFill>
            <a:srgbClr val="018B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900" spc="-5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2525" y="4559141"/>
            <a:ext cx="366077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>
                <a:latin typeface="Arial"/>
                <a:cs typeface="Arial"/>
              </a:rPr>
              <a:t>Higher</a:t>
            </a:r>
            <a:r>
              <a:rPr dirty="0" sz="1900" spc="3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Pay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and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More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Promotions</a:t>
            </a:r>
            <a:endParaRPr sz="19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102155" y="4838575"/>
            <a:ext cx="2824480" cy="471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2745" indent="-360045">
              <a:lnSpc>
                <a:spcPts val="1750"/>
              </a:lnSpc>
              <a:spcBef>
                <a:spcPts val="100"/>
              </a:spcBef>
              <a:buChar char="•"/>
              <a:tabLst>
                <a:tab pos="372745" algn="l"/>
              </a:tabLst>
            </a:pPr>
            <a:r>
              <a:rPr dirty="0" sz="1500" spc="-10">
                <a:latin typeface="Arial"/>
                <a:cs typeface="Arial"/>
              </a:rPr>
              <a:t>People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Near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Structural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Holes</a:t>
            </a:r>
            <a:endParaRPr sz="1500">
              <a:latin typeface="Arial"/>
              <a:cs typeface="Arial"/>
            </a:endParaRPr>
          </a:p>
          <a:p>
            <a:pPr marL="372745" indent="-360045">
              <a:lnSpc>
                <a:spcPts val="1750"/>
              </a:lnSpc>
              <a:buChar char="•"/>
              <a:tabLst>
                <a:tab pos="372745" algn="l"/>
              </a:tabLst>
            </a:pPr>
            <a:r>
              <a:rPr dirty="0" sz="1500" spc="-10">
                <a:latin typeface="Arial"/>
                <a:cs typeface="Arial"/>
              </a:rPr>
              <a:t>Organizational</a:t>
            </a:r>
            <a:r>
              <a:rPr dirty="0" sz="1500" spc="-8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Misfits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942525" y="1363752"/>
            <a:ext cx="3413760" cy="842644"/>
          </a:xfrm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3190"/>
              </a:lnSpc>
              <a:spcBef>
                <a:spcPts val="250"/>
              </a:spcBef>
            </a:pPr>
            <a:r>
              <a:rPr dirty="0" sz="2700"/>
              <a:t>Network</a:t>
            </a:r>
            <a:r>
              <a:rPr dirty="0" sz="2700" spc="75"/>
              <a:t> </a:t>
            </a:r>
            <a:r>
              <a:rPr dirty="0" sz="2700"/>
              <a:t>Structure</a:t>
            </a:r>
            <a:r>
              <a:rPr dirty="0" sz="2700" spc="75"/>
              <a:t> </a:t>
            </a:r>
            <a:r>
              <a:rPr dirty="0" sz="2700" spc="-25"/>
              <a:t>is </a:t>
            </a:r>
            <a:r>
              <a:rPr dirty="0" sz="2700"/>
              <a:t>Highly</a:t>
            </a:r>
            <a:r>
              <a:rPr dirty="0" sz="2700" spc="30"/>
              <a:t> </a:t>
            </a:r>
            <a:r>
              <a:rPr dirty="0" sz="2700" spc="-10"/>
              <a:t>Predictive</a:t>
            </a:r>
            <a:endParaRPr sz="2700"/>
          </a:p>
        </p:txBody>
      </p:sp>
      <p:sp>
        <p:nvSpPr>
          <p:cNvPr id="10" name="object 10" descr=""/>
          <p:cNvSpPr txBox="1"/>
          <p:nvPr/>
        </p:nvSpPr>
        <p:spPr>
          <a:xfrm>
            <a:off x="1535817" y="6415941"/>
            <a:ext cx="24961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i="1">
                <a:solidFill>
                  <a:srgbClr val="A5A5A5"/>
                </a:solidFill>
                <a:latin typeface="Arial"/>
                <a:cs typeface="Arial"/>
              </a:rPr>
              <a:t>Photo</a:t>
            </a:r>
            <a:r>
              <a:rPr dirty="0" sz="1200" spc="-20" i="1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A5A5A5"/>
                </a:solidFill>
                <a:latin typeface="Arial"/>
                <a:cs typeface="Arial"/>
              </a:rPr>
              <a:t>b</a:t>
            </a:r>
            <a:r>
              <a:rPr dirty="0" sz="1200" i="1">
                <a:solidFill>
                  <a:srgbClr val="A5A5A5"/>
                </a:solidFill>
                <a:latin typeface="Arial"/>
                <a:cs typeface="Arial"/>
                <a:hlinkClick r:id="rId5"/>
              </a:rPr>
              <a:t>y</a:t>
            </a:r>
            <a:r>
              <a:rPr dirty="0" sz="1200" spc="-15" i="1">
                <a:solidFill>
                  <a:srgbClr val="A5A5A5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u="heavy" sz="1200" i="1">
                <a:solidFill>
                  <a:srgbClr val="A5A5A5"/>
                </a:solidFill>
                <a:uFill>
                  <a:solidFill>
                    <a:srgbClr val="A5A5A5"/>
                  </a:solidFill>
                </a:uFill>
                <a:latin typeface="Arial"/>
                <a:cs typeface="Arial"/>
                <a:hlinkClick r:id="rId5"/>
              </a:rPr>
              <a:t>Helena</a:t>
            </a:r>
            <a:r>
              <a:rPr dirty="0" u="heavy" sz="1200" spc="-15" i="1">
                <a:solidFill>
                  <a:srgbClr val="A5A5A5"/>
                </a:solidFill>
                <a:uFill>
                  <a:solidFill>
                    <a:srgbClr val="A5A5A5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200" i="1">
                <a:solidFill>
                  <a:srgbClr val="A5A5A5"/>
                </a:solidFill>
                <a:uFill>
                  <a:solidFill>
                    <a:srgbClr val="A5A5A5"/>
                  </a:solidFill>
                </a:uFill>
                <a:latin typeface="Arial"/>
                <a:cs typeface="Arial"/>
              </a:rPr>
              <a:t>Lopes</a:t>
            </a:r>
            <a:r>
              <a:rPr dirty="0" sz="1200" spc="-15" i="1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sz="1200" i="1">
                <a:solidFill>
                  <a:srgbClr val="A5A5A5"/>
                </a:solidFill>
                <a:latin typeface="Arial"/>
                <a:cs typeface="Arial"/>
              </a:rPr>
              <a:t>on</a:t>
            </a:r>
            <a:r>
              <a:rPr dirty="0" sz="1200" spc="-15" i="1">
                <a:solidFill>
                  <a:srgbClr val="A5A5A5"/>
                </a:solidFill>
                <a:latin typeface="Arial"/>
                <a:cs typeface="Arial"/>
              </a:rPr>
              <a:t> </a:t>
            </a:r>
            <a:r>
              <a:rPr dirty="0" u="heavy" sz="1200" spc="-10" i="1">
                <a:solidFill>
                  <a:srgbClr val="A5A5A5"/>
                </a:solidFill>
                <a:uFill>
                  <a:solidFill>
                    <a:srgbClr val="A5A5A5"/>
                  </a:solidFill>
                </a:uFill>
                <a:latin typeface="Arial"/>
                <a:cs typeface="Arial"/>
                <a:hlinkClick r:id="rId6"/>
              </a:rPr>
              <a:t>Unspl</a:t>
            </a:r>
            <a:r>
              <a:rPr dirty="0" u="heavy" sz="1200" spc="-10" i="1">
                <a:solidFill>
                  <a:srgbClr val="A5A5A5"/>
                </a:solidFill>
                <a:uFill>
                  <a:solidFill>
                    <a:srgbClr val="A5A5A5"/>
                  </a:solidFill>
                </a:uFill>
                <a:latin typeface="Arial"/>
                <a:cs typeface="Arial"/>
              </a:rPr>
              <a:t>ash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731660" y="2771611"/>
            <a:ext cx="4360878" cy="1518470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5808753" y="5969435"/>
            <a:ext cx="4549775" cy="3028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75"/>
              </a:spcBef>
            </a:pP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“Organizational</a:t>
            </a:r>
            <a:r>
              <a:rPr dirty="0" sz="900" spc="1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Misfits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and</a:t>
            </a:r>
            <a:r>
              <a:rPr dirty="0" sz="900" spc="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the</a:t>
            </a:r>
            <a:r>
              <a:rPr dirty="0" sz="900" spc="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Origins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of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Brokerage</a:t>
            </a:r>
            <a:r>
              <a:rPr dirty="0" sz="900" spc="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in</a:t>
            </a:r>
            <a:r>
              <a:rPr dirty="0" sz="900" spc="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Intrafirm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Networks”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A.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5D5D5D"/>
                </a:solidFill>
                <a:latin typeface="Arial"/>
                <a:cs typeface="Arial"/>
              </a:rPr>
              <a:t>Kleinbaum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“Structural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Holes</a:t>
            </a:r>
            <a:r>
              <a:rPr dirty="0" sz="900" spc="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and</a:t>
            </a:r>
            <a:r>
              <a:rPr dirty="0" sz="900" spc="3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Good</a:t>
            </a:r>
            <a:r>
              <a:rPr dirty="0" sz="900" spc="2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Ideas”</a:t>
            </a:r>
            <a:r>
              <a:rPr dirty="0" sz="900" spc="15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5D5D5D"/>
                </a:solidFill>
                <a:latin typeface="Arial"/>
                <a:cs typeface="Arial"/>
              </a:rPr>
              <a:t>R.</a:t>
            </a:r>
            <a:r>
              <a:rPr dirty="0" sz="900" spc="2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5D5D5D"/>
                </a:solidFill>
                <a:latin typeface="Arial"/>
                <a:cs typeface="Arial"/>
              </a:rPr>
              <a:t>Burt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4977" y="6412907"/>
            <a:ext cx="1576070" cy="113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</a:pP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700" y="850905"/>
            <a:ext cx="5200650" cy="5854700"/>
          </a:xfrm>
          <a:custGeom>
            <a:avLst/>
            <a:gdLst/>
            <a:ahLst/>
            <a:cxnLst/>
            <a:rect l="l" t="t" r="r" b="b"/>
            <a:pathLst>
              <a:path w="5200650" h="5854700">
                <a:moveTo>
                  <a:pt x="5200650" y="0"/>
                </a:moveTo>
                <a:lnTo>
                  <a:pt x="0" y="0"/>
                </a:lnTo>
                <a:lnTo>
                  <a:pt x="0" y="5854700"/>
                </a:lnTo>
                <a:lnTo>
                  <a:pt x="5200650" y="5854700"/>
                </a:lnTo>
                <a:lnTo>
                  <a:pt x="5200650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05493" y="6387011"/>
            <a:ext cx="7683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6316" y="1225809"/>
            <a:ext cx="3889248" cy="169163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72064" y="1363752"/>
            <a:ext cx="3352165" cy="12636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ts val="3215"/>
              </a:lnSpc>
              <a:spcBef>
                <a:spcPts val="100"/>
              </a:spcBef>
            </a:pPr>
            <a:r>
              <a:rPr dirty="0" sz="2700" spc="-10">
                <a:solidFill>
                  <a:srgbClr val="FFFFFF"/>
                </a:solidFill>
              </a:rPr>
              <a:t>Relationships</a:t>
            </a:r>
            <a:endParaRPr sz="2700"/>
          </a:p>
          <a:p>
            <a:pPr marR="5080">
              <a:lnSpc>
                <a:spcPts val="3310"/>
              </a:lnSpc>
              <a:spcBef>
                <a:spcPts val="10"/>
              </a:spcBef>
            </a:pPr>
            <a:r>
              <a:rPr dirty="0" sz="2700" b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2700" spc="4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700" spc="40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0">
                <a:solidFill>
                  <a:srgbClr val="FFFFFF"/>
                </a:solidFill>
                <a:latin typeface="Arial"/>
                <a:cs typeface="Arial"/>
              </a:rPr>
              <a:t>strongest </a:t>
            </a:r>
            <a:r>
              <a:rPr dirty="0" sz="2700" b="0">
                <a:solidFill>
                  <a:srgbClr val="FFFFFF"/>
                </a:solidFill>
                <a:latin typeface="Arial"/>
                <a:cs typeface="Arial"/>
              </a:rPr>
              <a:t>predictors</a:t>
            </a:r>
            <a:r>
              <a:rPr dirty="0" sz="2700" spc="7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b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700" spc="65" b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-10" b="0">
                <a:solidFill>
                  <a:srgbClr val="FFFFFF"/>
                </a:solidFill>
                <a:latin typeface="Arial"/>
                <a:cs typeface="Arial"/>
              </a:rPr>
              <a:t>behavior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2525" y="1350010"/>
            <a:ext cx="4058920" cy="928369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3500"/>
              </a:lnSpc>
              <a:spcBef>
                <a:spcPts val="300"/>
              </a:spcBef>
            </a:pPr>
            <a:r>
              <a:rPr dirty="0" sz="3000" b="1">
                <a:latin typeface="Arial"/>
                <a:cs typeface="Arial"/>
              </a:rPr>
              <a:t>But</a:t>
            </a:r>
            <a:r>
              <a:rPr dirty="0" sz="3000" spc="-145" b="1">
                <a:latin typeface="Arial"/>
                <a:cs typeface="Arial"/>
              </a:rPr>
              <a:t> </a:t>
            </a:r>
            <a:r>
              <a:rPr dirty="0" sz="3000" b="1">
                <a:latin typeface="Arial"/>
                <a:cs typeface="Arial"/>
              </a:rPr>
              <a:t>You</a:t>
            </a:r>
            <a:r>
              <a:rPr dirty="0" sz="3000" spc="-155" b="1">
                <a:latin typeface="Arial"/>
                <a:cs typeface="Arial"/>
              </a:rPr>
              <a:t> </a:t>
            </a:r>
            <a:r>
              <a:rPr dirty="0" sz="3000" b="1" i="1">
                <a:latin typeface="Arial"/>
                <a:cs typeface="Arial"/>
              </a:rPr>
              <a:t>Can’t</a:t>
            </a:r>
            <a:r>
              <a:rPr dirty="0" sz="3000" spc="-140" b="1" i="1">
                <a:latin typeface="Arial"/>
                <a:cs typeface="Arial"/>
              </a:rPr>
              <a:t> </a:t>
            </a:r>
            <a:r>
              <a:rPr dirty="0" sz="3000" spc="-10" b="1" i="1">
                <a:latin typeface="Arial"/>
                <a:cs typeface="Arial"/>
              </a:rPr>
              <a:t>Analyse </a:t>
            </a:r>
            <a:r>
              <a:rPr dirty="0" sz="3000" b="1" i="1">
                <a:latin typeface="Arial"/>
                <a:cs typeface="Arial"/>
              </a:rPr>
              <a:t>What</a:t>
            </a:r>
            <a:r>
              <a:rPr dirty="0" sz="3000" spc="-160" b="1" i="1">
                <a:latin typeface="Arial"/>
                <a:cs typeface="Arial"/>
              </a:rPr>
              <a:t> </a:t>
            </a:r>
            <a:r>
              <a:rPr dirty="0" sz="3000" b="1" i="1">
                <a:latin typeface="Arial"/>
                <a:cs typeface="Arial"/>
              </a:rPr>
              <a:t>You</a:t>
            </a:r>
            <a:r>
              <a:rPr dirty="0" sz="3000" spc="-155" b="1" i="1">
                <a:latin typeface="Arial"/>
                <a:cs typeface="Arial"/>
              </a:rPr>
              <a:t> </a:t>
            </a:r>
            <a:r>
              <a:rPr dirty="0" sz="3000" b="1" i="1">
                <a:latin typeface="Arial"/>
                <a:cs typeface="Arial"/>
              </a:rPr>
              <a:t>Can’t</a:t>
            </a:r>
            <a:r>
              <a:rPr dirty="0" sz="3000" spc="-160" b="1" i="1">
                <a:latin typeface="Arial"/>
                <a:cs typeface="Arial"/>
              </a:rPr>
              <a:t> </a:t>
            </a:r>
            <a:r>
              <a:rPr dirty="0" sz="3000" spc="-25" b="1" i="1">
                <a:latin typeface="Arial"/>
                <a:cs typeface="Arial"/>
              </a:rPr>
              <a:t>See</a:t>
            </a:r>
            <a:endParaRPr sz="3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079764" y="2678525"/>
            <a:ext cx="3885565" cy="313817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algn="just" marL="393065" marR="235585" indent="-381000">
              <a:lnSpc>
                <a:spcPts val="2210"/>
              </a:lnSpc>
              <a:spcBef>
                <a:spcPts val="229"/>
              </a:spcBef>
              <a:buChar char="●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Most</a:t>
            </a:r>
            <a:r>
              <a:rPr dirty="0" sz="1900" spc="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data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science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techniques </a:t>
            </a:r>
            <a:r>
              <a:rPr dirty="0" sz="1900" spc="-10">
                <a:latin typeface="Arial"/>
                <a:cs typeface="Arial"/>
              </a:rPr>
              <a:t>	</a:t>
            </a:r>
            <a:r>
              <a:rPr dirty="0" sz="1900">
                <a:latin typeface="Arial"/>
                <a:cs typeface="Arial"/>
              </a:rPr>
              <a:t>ignore</a:t>
            </a:r>
            <a:r>
              <a:rPr dirty="0" sz="1900" spc="4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relationships</a:t>
            </a:r>
            <a:endParaRPr sz="1900">
              <a:latin typeface="Arial"/>
              <a:cs typeface="Arial"/>
            </a:endParaRPr>
          </a:p>
          <a:p>
            <a:pPr algn="just" marL="393065" marR="5080" indent="-381000">
              <a:lnSpc>
                <a:spcPts val="2210"/>
              </a:lnSpc>
              <a:spcBef>
                <a:spcPts val="790"/>
              </a:spcBef>
              <a:buChar char="●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It’s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painful</a:t>
            </a:r>
            <a:r>
              <a:rPr dirty="0" sz="1900" spc="3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manually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engineer </a:t>
            </a:r>
            <a:r>
              <a:rPr dirty="0" sz="1900" spc="-10">
                <a:latin typeface="Arial"/>
                <a:cs typeface="Arial"/>
              </a:rPr>
              <a:t>	</a:t>
            </a:r>
            <a:r>
              <a:rPr dirty="0" sz="1900">
                <a:latin typeface="Arial"/>
                <a:cs typeface="Arial"/>
              </a:rPr>
              <a:t>connected</a:t>
            </a:r>
            <a:r>
              <a:rPr dirty="0" sz="1900" spc="7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features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from</a:t>
            </a:r>
            <a:r>
              <a:rPr dirty="0" sz="1900" spc="8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tabular </a:t>
            </a:r>
            <a:r>
              <a:rPr dirty="0" sz="1900" spc="-10">
                <a:latin typeface="Arial"/>
                <a:cs typeface="Arial"/>
              </a:rPr>
              <a:t>	</a:t>
            </a:r>
            <a:r>
              <a:rPr dirty="0" sz="1900" spc="-20">
                <a:latin typeface="Arial"/>
                <a:cs typeface="Arial"/>
              </a:rPr>
              <a:t>data</a:t>
            </a:r>
            <a:endParaRPr sz="1900">
              <a:latin typeface="Arial"/>
              <a:cs typeface="Arial"/>
            </a:endParaRPr>
          </a:p>
          <a:p>
            <a:pPr marL="394970" marR="1391285" indent="-382905">
              <a:lnSpc>
                <a:spcPts val="2180"/>
              </a:lnSpc>
              <a:spcBef>
                <a:spcPts val="810"/>
              </a:spcBef>
              <a:buChar char="●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Graphs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are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built</a:t>
            </a:r>
            <a:r>
              <a:rPr dirty="0" sz="1900" spc="30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on </a:t>
            </a:r>
            <a:r>
              <a:rPr dirty="0" sz="1900">
                <a:latin typeface="Arial"/>
                <a:cs typeface="Arial"/>
              </a:rPr>
              <a:t>relationships,</a:t>
            </a:r>
            <a:r>
              <a:rPr dirty="0" sz="1900" spc="120"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so…</a:t>
            </a:r>
            <a:endParaRPr sz="1900">
              <a:latin typeface="Arial"/>
              <a:cs typeface="Arial"/>
            </a:endParaRPr>
          </a:p>
          <a:p>
            <a:pPr marL="394970" marR="215265" indent="-382905">
              <a:lnSpc>
                <a:spcPts val="2210"/>
              </a:lnSpc>
              <a:spcBef>
                <a:spcPts val="800"/>
              </a:spcBef>
              <a:buChar char="●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You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don’t</a:t>
            </a:r>
            <a:r>
              <a:rPr dirty="0" sz="1900" spc="2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have</a:t>
            </a:r>
            <a:r>
              <a:rPr dirty="0" sz="1900" spc="4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to</a:t>
            </a:r>
            <a:r>
              <a:rPr dirty="0" sz="1900" spc="4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guess</a:t>
            </a:r>
            <a:r>
              <a:rPr dirty="0" sz="1900" spc="4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spc="-25">
                <a:latin typeface="Arial"/>
                <a:cs typeface="Arial"/>
              </a:rPr>
              <a:t>at </a:t>
            </a:r>
            <a:r>
              <a:rPr dirty="0" sz="1900">
                <a:latin typeface="Arial"/>
                <a:cs typeface="Arial"/>
              </a:rPr>
              <a:t>the</a:t>
            </a:r>
            <a:r>
              <a:rPr dirty="0" sz="1900" spc="7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correlations: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with</a:t>
            </a:r>
            <a:r>
              <a:rPr dirty="0" sz="1900" spc="6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B0B66"/>
                </a:solidFill>
                <a:latin typeface="Arial"/>
                <a:cs typeface="Arial"/>
              </a:rPr>
              <a:t>graphs,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relationships</a:t>
            </a:r>
            <a:r>
              <a:rPr dirty="0" sz="1900" spc="7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are</a:t>
            </a:r>
            <a:r>
              <a:rPr dirty="0" sz="1900" spc="7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built</a:t>
            </a:r>
            <a:r>
              <a:rPr dirty="0" sz="1900" spc="5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spc="-25" b="1">
                <a:solidFill>
                  <a:srgbClr val="0B0B66"/>
                </a:solidFill>
                <a:latin typeface="Arial"/>
                <a:cs typeface="Arial"/>
              </a:rPr>
              <a:t>in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429003" y="2649225"/>
            <a:ext cx="2273935" cy="3286125"/>
            <a:chOff x="1429003" y="2649225"/>
            <a:chExt cx="2273935" cy="3286125"/>
          </a:xfrm>
        </p:grpSpPr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9003" y="2649225"/>
              <a:ext cx="2273808" cy="328574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347" y="2777241"/>
              <a:ext cx="2014727" cy="3029712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014977" y="5931258"/>
            <a:ext cx="2285365" cy="607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295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James</a:t>
            </a:r>
            <a:r>
              <a:rPr dirty="0" sz="18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Fowler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Neo4j,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Inc.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dirty="0" sz="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r>
              <a:rPr dirty="0" sz="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FFFFFF"/>
                </a:solidFill>
                <a:latin typeface="Arial"/>
                <a:cs typeface="Arial"/>
              </a:rPr>
              <a:t>reserved</a:t>
            </a:r>
            <a:r>
              <a:rPr dirty="0" sz="8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FFFFFF"/>
                </a:solidFill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1299" y="6320341"/>
            <a:ext cx="2189480" cy="20637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>
              <a:lnSpc>
                <a:spcPts val="1170"/>
              </a:lnSpc>
              <a:spcBef>
                <a:spcPts val="450"/>
              </a:spcBef>
              <a:tabLst>
                <a:tab pos="613410" algn="l"/>
              </a:tabLst>
            </a:pPr>
            <a:r>
              <a:rPr dirty="0" baseline="22222" sz="1500" spc="-75">
                <a:solidFill>
                  <a:srgbClr val="A5A5A5"/>
                </a:solidFill>
                <a:latin typeface="Lucida Sans Unicode"/>
                <a:cs typeface="Lucida Sans Unicode"/>
              </a:rPr>
              <a:t>7</a:t>
            </a:r>
            <a:r>
              <a:rPr dirty="0" baseline="22222" sz="1500">
                <a:solidFill>
                  <a:srgbClr val="A5A5A5"/>
                </a:solidFill>
                <a:latin typeface="Lucida Sans Unicode"/>
                <a:cs typeface="Lucida Sans Unicode"/>
              </a:rPr>
              <a:t>	</a:t>
            </a: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5357924" y="3839778"/>
            <a:ext cx="5181600" cy="2859405"/>
            <a:chOff x="5357924" y="3839778"/>
            <a:chExt cx="5181600" cy="28594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6995" y="6340353"/>
              <a:ext cx="627888" cy="23774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5357924" y="3839778"/>
              <a:ext cx="5181600" cy="2859405"/>
            </a:xfrm>
            <a:custGeom>
              <a:avLst/>
              <a:gdLst/>
              <a:ahLst/>
              <a:cxnLst/>
              <a:rect l="l" t="t" r="r" b="b"/>
              <a:pathLst>
                <a:path w="5181600" h="2859404">
                  <a:moveTo>
                    <a:pt x="5181198" y="0"/>
                  </a:moveTo>
                  <a:lnTo>
                    <a:pt x="0" y="0"/>
                  </a:lnTo>
                  <a:lnTo>
                    <a:pt x="0" y="2859224"/>
                  </a:lnTo>
                  <a:lnTo>
                    <a:pt x="5181198" y="2859224"/>
                  </a:lnTo>
                  <a:lnTo>
                    <a:pt x="5181198" y="0"/>
                  </a:lnTo>
                  <a:close/>
                </a:path>
              </a:pathLst>
            </a:custGeom>
            <a:solidFill>
              <a:srgbClr val="999999">
                <a:alpha val="1175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39700" y="850905"/>
            <a:ext cx="5214620" cy="5854700"/>
          </a:xfrm>
          <a:custGeom>
            <a:avLst/>
            <a:gdLst/>
            <a:ahLst/>
            <a:cxnLst/>
            <a:rect l="l" t="t" r="r" b="b"/>
            <a:pathLst>
              <a:path w="5214620" h="5854700">
                <a:moveTo>
                  <a:pt x="5214299" y="5854700"/>
                </a:moveTo>
                <a:lnTo>
                  <a:pt x="5214299" y="0"/>
                </a:lnTo>
                <a:lnTo>
                  <a:pt x="0" y="0"/>
                </a:lnTo>
                <a:lnTo>
                  <a:pt x="0" y="5854700"/>
                </a:lnTo>
                <a:lnTo>
                  <a:pt x="5214299" y="5854700"/>
                </a:lnTo>
                <a:close/>
              </a:path>
            </a:pathLst>
          </a:custGeom>
          <a:solidFill>
            <a:srgbClr val="0B0B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431029" y="6352966"/>
            <a:ext cx="330136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5">
                <a:solidFill>
                  <a:srgbClr val="B7B7B7"/>
                </a:solidFill>
                <a:latin typeface="Lucida Sans Unicode"/>
                <a:cs typeface="Lucida Sans Unicode"/>
              </a:rPr>
              <a:t>Top</a:t>
            </a:r>
            <a:r>
              <a:rPr dirty="0" sz="1000" spc="-45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5">
                <a:solidFill>
                  <a:srgbClr val="B7B7B7"/>
                </a:solidFill>
                <a:latin typeface="Lucida Sans Unicode"/>
                <a:cs typeface="Lucida Sans Unicode"/>
              </a:rPr>
              <a:t>10</a:t>
            </a:r>
            <a:r>
              <a:rPr dirty="0" sz="1000" spc="-40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B7B7B7"/>
                </a:solidFill>
                <a:latin typeface="Lucida Sans Unicode"/>
                <a:cs typeface="Lucida Sans Unicode"/>
              </a:rPr>
              <a:t>Tech</a:t>
            </a:r>
            <a:r>
              <a:rPr dirty="0" sz="1000" spc="-45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B7B7B7"/>
                </a:solidFill>
                <a:latin typeface="Lucida Sans Unicode"/>
                <a:cs typeface="Lucida Sans Unicode"/>
              </a:rPr>
              <a:t>Trends</a:t>
            </a:r>
            <a:r>
              <a:rPr dirty="0" sz="1000" spc="-40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10">
                <a:solidFill>
                  <a:srgbClr val="B7B7B7"/>
                </a:solidFill>
                <a:latin typeface="Lucida Sans Unicode"/>
                <a:cs typeface="Lucida Sans Unicode"/>
              </a:rPr>
              <a:t>in</a:t>
            </a:r>
            <a:r>
              <a:rPr dirty="0" sz="1000" spc="-40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B7B7B7"/>
                </a:solidFill>
                <a:latin typeface="Lucida Sans Unicode"/>
                <a:cs typeface="Lucida Sans Unicode"/>
              </a:rPr>
              <a:t>Data</a:t>
            </a:r>
            <a:r>
              <a:rPr dirty="0" sz="1000" spc="-40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B7B7B7"/>
                </a:solidFill>
                <a:latin typeface="Lucida Sans Unicode"/>
                <a:cs typeface="Lucida Sans Unicode"/>
              </a:rPr>
              <a:t>and</a:t>
            </a:r>
            <a:r>
              <a:rPr dirty="0" sz="1000" spc="-40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0">
                <a:solidFill>
                  <a:srgbClr val="B7B7B7"/>
                </a:solidFill>
                <a:latin typeface="Lucida Sans Unicode"/>
                <a:cs typeface="Lucida Sans Unicode"/>
              </a:rPr>
              <a:t>Analytics,</a:t>
            </a:r>
            <a:r>
              <a:rPr dirty="0" sz="1000" spc="-45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75">
                <a:solidFill>
                  <a:srgbClr val="B7B7B7"/>
                </a:solidFill>
                <a:latin typeface="Lucida Sans Unicode"/>
                <a:cs typeface="Lucida Sans Unicode"/>
              </a:rPr>
              <a:t>16</a:t>
            </a:r>
            <a:r>
              <a:rPr dirty="0" sz="1000" spc="-40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solidFill>
                  <a:srgbClr val="B7B7B7"/>
                </a:solidFill>
                <a:latin typeface="Lucida Sans Unicode"/>
                <a:cs typeface="Lucida Sans Unicode"/>
              </a:rPr>
              <a:t>Feb</a:t>
            </a:r>
            <a:r>
              <a:rPr dirty="0" sz="1000" spc="-35">
                <a:solidFill>
                  <a:srgbClr val="B7B7B7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>
                <a:solidFill>
                  <a:srgbClr val="B7B7B7"/>
                </a:solidFill>
                <a:latin typeface="Lucida Sans Unicode"/>
                <a:cs typeface="Lucida Sans Unicode"/>
              </a:rPr>
              <a:t>2021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56036" y="1215175"/>
            <a:ext cx="4224020" cy="172466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just" marL="12700" marR="135255">
              <a:lnSpc>
                <a:spcPct val="117200"/>
              </a:lnSpc>
              <a:spcBef>
                <a:spcPts val="190"/>
              </a:spcBef>
            </a:pPr>
            <a:r>
              <a:rPr dirty="0" sz="1800" spc="-60">
                <a:solidFill>
                  <a:srgbClr val="FFFFFF"/>
                </a:solidFill>
                <a:latin typeface="Lucida Sans Unicode"/>
                <a:cs typeface="Lucida Sans Unicode"/>
              </a:rPr>
              <a:t>According</a:t>
            </a:r>
            <a:r>
              <a:rPr dirty="0" sz="18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800" spc="-13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Garner,</a:t>
            </a:r>
            <a:r>
              <a:rPr dirty="0" sz="18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5">
                <a:solidFill>
                  <a:srgbClr val="55F9E2"/>
                </a:solidFill>
                <a:latin typeface="Arial Black"/>
                <a:cs typeface="Arial Black"/>
              </a:rPr>
              <a:t>“</a:t>
            </a:r>
            <a:r>
              <a:rPr dirty="0" sz="2000" spc="-105">
                <a:solidFill>
                  <a:srgbClr val="55F9E2"/>
                </a:solidFill>
                <a:latin typeface="Arial Black"/>
                <a:cs typeface="Arial Black"/>
              </a:rPr>
              <a:t>Graphs</a:t>
            </a:r>
            <a:r>
              <a:rPr dirty="0" sz="2000" spc="-65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55F9E2"/>
                </a:solidFill>
                <a:latin typeface="Arial Black"/>
                <a:cs typeface="Arial Black"/>
              </a:rPr>
              <a:t>form </a:t>
            </a:r>
            <a:r>
              <a:rPr dirty="0" sz="2000" spc="-50">
                <a:solidFill>
                  <a:srgbClr val="55F9E2"/>
                </a:solidFill>
                <a:latin typeface="Arial Black"/>
                <a:cs typeface="Arial Black"/>
              </a:rPr>
              <a:t>the</a:t>
            </a:r>
            <a:r>
              <a:rPr dirty="0" sz="2000" spc="-100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40">
                <a:solidFill>
                  <a:srgbClr val="55F9E2"/>
                </a:solidFill>
                <a:latin typeface="Arial Black"/>
                <a:cs typeface="Arial Black"/>
              </a:rPr>
              <a:t>foundation</a:t>
            </a:r>
            <a:r>
              <a:rPr dirty="0" sz="2000" spc="-90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35">
                <a:solidFill>
                  <a:srgbClr val="55F9E2"/>
                </a:solidFill>
                <a:latin typeface="Arial Black"/>
                <a:cs typeface="Arial Black"/>
              </a:rPr>
              <a:t>of</a:t>
            </a:r>
            <a:r>
              <a:rPr dirty="0" sz="2000" spc="-100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55F9E2"/>
                </a:solidFill>
                <a:latin typeface="Arial Black"/>
                <a:cs typeface="Arial Black"/>
              </a:rPr>
              <a:t>modern</a:t>
            </a:r>
            <a:r>
              <a:rPr dirty="0" sz="2000" spc="-90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110">
                <a:solidFill>
                  <a:srgbClr val="55F9E2"/>
                </a:solidFill>
                <a:latin typeface="Arial Black"/>
                <a:cs typeface="Arial Black"/>
              </a:rPr>
              <a:t>D&amp;A</a:t>
            </a:r>
            <a:r>
              <a:rPr dirty="0" sz="1900" spc="-110">
                <a:solidFill>
                  <a:srgbClr val="FFFFFF"/>
                </a:solidFill>
                <a:latin typeface="Lucida Sans Unicode"/>
                <a:cs typeface="Lucida Sans Unicode"/>
              </a:rPr>
              <a:t>, </a:t>
            </a:r>
            <a:r>
              <a:rPr dirty="0" sz="1800" spc="-20">
                <a:solidFill>
                  <a:srgbClr val="FFFFFF"/>
                </a:solidFill>
                <a:latin typeface="Lucida Sans Unicode"/>
                <a:cs typeface="Lucida Sans Unicode"/>
              </a:rPr>
              <a:t>with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50">
                <a:solidFill>
                  <a:srgbClr val="FFFFFF"/>
                </a:solidFill>
                <a:latin typeface="Lucida Sans Unicode"/>
                <a:cs typeface="Lucida Sans Unicode"/>
              </a:rPr>
              <a:t>capabilities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enhance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endParaRPr sz="1800">
              <a:latin typeface="Lucida Sans Unicode"/>
              <a:cs typeface="Lucida Sans Unicode"/>
            </a:endParaRPr>
          </a:p>
          <a:p>
            <a:pPr algn="just" marL="12700" marR="5080">
              <a:lnSpc>
                <a:spcPct val="115599"/>
              </a:lnSpc>
              <a:spcBef>
                <a:spcPts val="95"/>
              </a:spcBef>
            </a:pPr>
            <a:r>
              <a:rPr dirty="0" sz="1800" spc="-25">
                <a:solidFill>
                  <a:srgbClr val="FFFFFF"/>
                </a:solidFill>
                <a:latin typeface="Lucida Sans Unicode"/>
                <a:cs typeface="Lucida Sans Unicode"/>
              </a:rPr>
              <a:t>improve</a:t>
            </a:r>
            <a:r>
              <a:rPr dirty="0" sz="18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user</a:t>
            </a:r>
            <a:r>
              <a:rPr dirty="0" sz="18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Lucida Sans Unicode"/>
                <a:cs typeface="Lucida Sans Unicode"/>
              </a:rPr>
              <a:t>collaboration,</a:t>
            </a:r>
            <a:r>
              <a:rPr dirty="0" sz="18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ML</a:t>
            </a:r>
            <a:r>
              <a:rPr dirty="0" sz="1800" spc="-8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models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and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5">
                <a:solidFill>
                  <a:srgbClr val="FFFFFF"/>
                </a:solidFill>
                <a:latin typeface="Lucida Sans Unicode"/>
                <a:cs typeface="Lucida Sans Unicode"/>
              </a:rPr>
              <a:t>explainable</a:t>
            </a:r>
            <a:r>
              <a:rPr dirty="0" sz="18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Lucida Sans Unicode"/>
                <a:cs typeface="Lucida Sans Unicode"/>
              </a:rPr>
              <a:t>AI.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56036" y="3236689"/>
            <a:ext cx="4158615" cy="2390140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35"/>
              </a:spcBef>
            </a:pPr>
            <a:r>
              <a:rPr dirty="0" sz="1800" spc="-45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dirty="0" sz="18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recent</a:t>
            </a:r>
            <a:r>
              <a:rPr dirty="0" sz="18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Gartner</a:t>
            </a:r>
            <a:r>
              <a:rPr dirty="0" sz="1800" spc="-10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Lucida Sans Unicode"/>
                <a:cs typeface="Lucida Sans Unicode"/>
              </a:rPr>
              <a:t>AI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5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40">
                <a:solidFill>
                  <a:srgbClr val="FFFFFF"/>
                </a:solidFill>
                <a:latin typeface="Lucida Sans Unicode"/>
                <a:cs typeface="Lucida Sans Unicode"/>
              </a:rPr>
              <a:t>Organizations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Survey</a:t>
            </a:r>
            <a:r>
              <a:rPr dirty="0" sz="18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Lucida Sans Unicode"/>
                <a:cs typeface="Lucida Sans Unicode"/>
              </a:rPr>
              <a:t>demonstrates</a:t>
            </a:r>
            <a:r>
              <a:rPr dirty="0" sz="1800" spc="-11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dirty="0" sz="1800" spc="-9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900" spc="-10">
                <a:solidFill>
                  <a:srgbClr val="55F9E2"/>
                </a:solidFill>
                <a:latin typeface="Arial Black"/>
                <a:cs typeface="Arial Black"/>
              </a:rPr>
              <a:t>graph </a:t>
            </a:r>
            <a:r>
              <a:rPr dirty="0" sz="1900" spc="-95">
                <a:solidFill>
                  <a:srgbClr val="55F9E2"/>
                </a:solidFill>
                <a:latin typeface="Arial Black"/>
                <a:cs typeface="Arial Black"/>
              </a:rPr>
              <a:t>techniques </a:t>
            </a:r>
            <a:r>
              <a:rPr dirty="0" sz="1900" spc="-80">
                <a:solidFill>
                  <a:srgbClr val="55F9E2"/>
                </a:solidFill>
                <a:latin typeface="Arial Black"/>
                <a:cs typeface="Arial Black"/>
              </a:rPr>
              <a:t>are</a:t>
            </a:r>
            <a:r>
              <a:rPr dirty="0" sz="1900" spc="-95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1900" spc="-10">
                <a:solidFill>
                  <a:srgbClr val="55F9E2"/>
                </a:solidFill>
                <a:latin typeface="Arial Black"/>
                <a:cs typeface="Arial Black"/>
              </a:rPr>
              <a:t>increasingly </a:t>
            </a:r>
            <a:r>
              <a:rPr dirty="0" sz="1900" spc="-65">
                <a:solidFill>
                  <a:srgbClr val="55F9E2"/>
                </a:solidFill>
                <a:latin typeface="Arial Black"/>
                <a:cs typeface="Arial Black"/>
              </a:rPr>
              <a:t>prevalent</a:t>
            </a:r>
            <a:r>
              <a:rPr dirty="0" sz="1900" spc="-105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1900" spc="-175">
                <a:solidFill>
                  <a:srgbClr val="55F9E2"/>
                </a:solidFill>
                <a:latin typeface="Arial Black"/>
                <a:cs typeface="Arial Black"/>
              </a:rPr>
              <a:t>as</a:t>
            </a:r>
            <a:r>
              <a:rPr dirty="0" sz="1900" spc="-90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1900" spc="-140">
                <a:solidFill>
                  <a:srgbClr val="55F9E2"/>
                </a:solidFill>
                <a:latin typeface="Arial Black"/>
                <a:cs typeface="Arial Black"/>
              </a:rPr>
              <a:t>AI</a:t>
            </a:r>
            <a:r>
              <a:rPr dirty="0" sz="1900" spc="-105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1900" spc="-35">
                <a:solidFill>
                  <a:srgbClr val="55F9E2"/>
                </a:solidFill>
                <a:latin typeface="Arial Black"/>
                <a:cs typeface="Arial Black"/>
              </a:rPr>
              <a:t>maturity</a:t>
            </a:r>
            <a:r>
              <a:rPr dirty="0" sz="1900" spc="-100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1900" spc="-10">
                <a:solidFill>
                  <a:srgbClr val="55F9E2"/>
                </a:solidFill>
                <a:latin typeface="Arial Black"/>
                <a:cs typeface="Arial Black"/>
              </a:rPr>
              <a:t>grows</a:t>
            </a:r>
            <a:r>
              <a:rPr dirty="0" sz="1900" spc="-10">
                <a:solidFill>
                  <a:srgbClr val="FFFFFF"/>
                </a:solidFill>
                <a:latin typeface="Lucida Sans Unicode"/>
                <a:cs typeface="Lucida Sans Unicode"/>
              </a:rPr>
              <a:t>, </a:t>
            </a:r>
            <a:r>
              <a:rPr dirty="0" sz="1800" spc="-80">
                <a:solidFill>
                  <a:srgbClr val="FFFFFF"/>
                </a:solidFill>
                <a:latin typeface="Lucida Sans Unicode"/>
                <a:cs typeface="Lucida Sans Unicode"/>
              </a:rPr>
              <a:t>going</a:t>
            </a:r>
            <a:r>
              <a:rPr dirty="0" sz="1800" spc="-7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Lucida Sans Unicode"/>
                <a:cs typeface="Lucida Sans Unicode"/>
              </a:rPr>
              <a:t>from</a:t>
            </a:r>
            <a:r>
              <a:rPr dirty="0" sz="18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13%</a:t>
            </a:r>
            <a:r>
              <a:rPr dirty="0" sz="1800" spc="-7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30">
                <a:solidFill>
                  <a:srgbClr val="FFFFFF"/>
                </a:solidFill>
                <a:latin typeface="Lucida Sans Unicode"/>
                <a:cs typeface="Lucida Sans Unicode"/>
              </a:rPr>
              <a:t>adoption</a:t>
            </a:r>
            <a:r>
              <a:rPr dirty="0" sz="18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>
                <a:solidFill>
                  <a:srgbClr val="FFFFFF"/>
                </a:solidFill>
                <a:latin typeface="Lucida Sans Unicode"/>
                <a:cs typeface="Lucida Sans Unicode"/>
              </a:rPr>
              <a:t>when</a:t>
            </a:r>
            <a:r>
              <a:rPr dirty="0" sz="1800" spc="-6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Lucida Sans Unicode"/>
                <a:cs typeface="Lucida Sans Unicode"/>
              </a:rPr>
              <a:t>AI maturity</a:t>
            </a:r>
            <a:r>
              <a:rPr dirty="0" sz="1800" spc="-8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7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Lucida Sans Unicode"/>
                <a:cs typeface="Lucida Sans Unicode"/>
              </a:rPr>
              <a:t>lowest</a:t>
            </a:r>
            <a:r>
              <a:rPr dirty="0" sz="1800" spc="-10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dirty="0" sz="1800" spc="-9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2000" spc="-195">
                <a:solidFill>
                  <a:srgbClr val="55F9E2"/>
                </a:solidFill>
                <a:latin typeface="Arial Black"/>
                <a:cs typeface="Arial Black"/>
              </a:rPr>
              <a:t>48%</a:t>
            </a:r>
            <a:r>
              <a:rPr dirty="0" sz="2000" spc="-95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20">
                <a:solidFill>
                  <a:srgbClr val="55F9E2"/>
                </a:solidFill>
                <a:latin typeface="Arial Black"/>
                <a:cs typeface="Arial Black"/>
              </a:rPr>
              <a:t>when</a:t>
            </a:r>
            <a:endParaRPr sz="20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2000" spc="-25">
                <a:solidFill>
                  <a:srgbClr val="55F9E2"/>
                </a:solidFill>
                <a:latin typeface="Arial Black"/>
                <a:cs typeface="Arial Black"/>
              </a:rPr>
              <a:t>maturity</a:t>
            </a:r>
            <a:r>
              <a:rPr dirty="0" sz="2000" spc="-114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145">
                <a:solidFill>
                  <a:srgbClr val="55F9E2"/>
                </a:solidFill>
                <a:latin typeface="Arial Black"/>
                <a:cs typeface="Arial Black"/>
              </a:rPr>
              <a:t>is</a:t>
            </a:r>
            <a:r>
              <a:rPr dirty="0" sz="2000" spc="-105">
                <a:solidFill>
                  <a:srgbClr val="55F9E2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55F9E2"/>
                </a:solidFill>
                <a:latin typeface="Arial Black"/>
                <a:cs typeface="Arial Black"/>
              </a:rPr>
              <a:t>highest.”</a:t>
            </a:r>
            <a:endParaRPr sz="2000">
              <a:latin typeface="Arial Black"/>
              <a:cs typeface="Arial Black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94323" y="1173993"/>
            <a:ext cx="4309872" cy="2176272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6380100" y="1496934"/>
            <a:ext cx="2085339" cy="553085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60655" marR="5080" indent="-148590">
              <a:lnSpc>
                <a:spcPct val="103499"/>
              </a:lnSpc>
              <a:spcBef>
                <a:spcPts val="30"/>
              </a:spcBef>
            </a:pPr>
            <a:r>
              <a:rPr dirty="0" sz="1700" spc="-135">
                <a:solidFill>
                  <a:srgbClr val="5D5D5D"/>
                </a:solidFill>
                <a:latin typeface="Arial Black"/>
                <a:cs typeface="Arial Black"/>
              </a:rPr>
              <a:t>AI</a:t>
            </a:r>
            <a:r>
              <a:rPr dirty="0" sz="1700" spc="-105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140">
                <a:solidFill>
                  <a:srgbClr val="5D5D5D"/>
                </a:solidFill>
                <a:latin typeface="Arial Black"/>
                <a:cs typeface="Arial Black"/>
              </a:rPr>
              <a:t>Research</a:t>
            </a:r>
            <a:r>
              <a:rPr dirty="0" sz="1700" spc="-80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105">
                <a:solidFill>
                  <a:srgbClr val="5D5D5D"/>
                </a:solidFill>
                <a:latin typeface="Arial Black"/>
                <a:cs typeface="Arial Black"/>
              </a:rPr>
              <a:t>Papers </a:t>
            </a:r>
            <a:r>
              <a:rPr dirty="0" sz="1700" spc="-85">
                <a:solidFill>
                  <a:srgbClr val="5D5D5D"/>
                </a:solidFill>
                <a:latin typeface="Arial Black"/>
                <a:cs typeface="Arial Black"/>
              </a:rPr>
              <a:t>Featuring</a:t>
            </a:r>
            <a:r>
              <a:rPr dirty="0" sz="1700" spc="-95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10">
                <a:solidFill>
                  <a:srgbClr val="5D5D5D"/>
                </a:solidFill>
                <a:latin typeface="Arial Black"/>
                <a:cs typeface="Arial Black"/>
              </a:rPr>
              <a:t>Graph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45749" y="3460931"/>
            <a:ext cx="205867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heavy" sz="9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  <a:hlinkClick r:id="rId4"/>
              </a:rPr>
              <a:t>Source:</a:t>
            </a:r>
            <a:r>
              <a:rPr dirty="0" u="heavy" sz="900" spc="7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dirty="0" u="heavy" sz="9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  <a:hlinkClick r:id="rId4"/>
              </a:rPr>
              <a:t>Dimensions</a:t>
            </a:r>
            <a:r>
              <a:rPr dirty="0" u="heavy" sz="900" spc="8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dirty="0" u="heavy" sz="90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  <a:hlinkClick r:id="rId4"/>
              </a:rPr>
              <a:t>Knowledge</a:t>
            </a:r>
            <a:r>
              <a:rPr dirty="0" u="heavy" sz="900" spc="75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dirty="0" u="heavy" sz="9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  <a:hlinkClick r:id="rId4"/>
              </a:rPr>
              <a:t>Syst</a:t>
            </a:r>
            <a:r>
              <a:rPr dirty="0" u="heavy" sz="900" spc="-10">
                <a:solidFill>
                  <a:srgbClr val="282828"/>
                </a:solidFill>
                <a:uFill>
                  <a:solidFill>
                    <a:srgbClr val="282828"/>
                  </a:solidFill>
                </a:uFill>
                <a:latin typeface="Tahoma"/>
                <a:cs typeface="Tahoma"/>
              </a:rPr>
              <a:t>em</a:t>
            </a:r>
            <a:endParaRPr sz="900">
              <a:latin typeface="Tahoma"/>
              <a:cs typeface="Tahom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315715" y="4810257"/>
            <a:ext cx="3801110" cy="1249680"/>
            <a:chOff x="3315715" y="4810257"/>
            <a:chExt cx="3801110" cy="1249680"/>
          </a:xfrm>
        </p:grpSpPr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1795" y="4810257"/>
              <a:ext cx="874776" cy="114604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15715" y="5742945"/>
              <a:ext cx="1371600" cy="316992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7704690" y="4663442"/>
            <a:ext cx="868044" cy="156464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45"/>
              </a:spcBef>
            </a:pPr>
            <a:r>
              <a:rPr dirty="0" sz="3400" spc="-340">
                <a:solidFill>
                  <a:srgbClr val="018BFF"/>
                </a:solidFill>
                <a:latin typeface="Arial Black"/>
                <a:cs typeface="Arial Black"/>
              </a:rPr>
              <a:t>4x</a:t>
            </a:r>
            <a:endParaRPr sz="3400">
              <a:latin typeface="Arial Black"/>
              <a:cs typeface="Arial Black"/>
            </a:endParaRPr>
          </a:p>
          <a:p>
            <a:pPr algn="ctr" marL="12700" marR="5080" indent="635">
              <a:lnSpc>
                <a:spcPct val="96200"/>
              </a:lnSpc>
              <a:spcBef>
                <a:spcPts val="190"/>
              </a:spcBef>
            </a:pPr>
            <a:r>
              <a:rPr dirty="0" sz="1300" spc="-45">
                <a:latin typeface="Lucida Sans Unicode"/>
                <a:cs typeface="Lucida Sans Unicode"/>
              </a:rPr>
              <a:t>Increase</a:t>
            </a:r>
            <a:r>
              <a:rPr dirty="0" sz="1300" spc="-75">
                <a:latin typeface="Lucida Sans Unicode"/>
                <a:cs typeface="Lucida Sans Unicode"/>
              </a:rPr>
              <a:t> </a:t>
            </a:r>
            <a:r>
              <a:rPr dirty="0" sz="1300" spc="-25">
                <a:latin typeface="Lucida Sans Unicode"/>
                <a:cs typeface="Lucida Sans Unicode"/>
              </a:rPr>
              <a:t>in </a:t>
            </a:r>
            <a:r>
              <a:rPr dirty="0" sz="1300" spc="-55">
                <a:latin typeface="Lucida Sans Unicode"/>
                <a:cs typeface="Lucida Sans Unicode"/>
              </a:rPr>
              <a:t>traffic </a:t>
            </a:r>
            <a:r>
              <a:rPr dirty="0" sz="1300" spc="-25">
                <a:latin typeface="Lucida Sans Unicode"/>
                <a:cs typeface="Lucida Sans Unicode"/>
              </a:rPr>
              <a:t>to </a:t>
            </a:r>
            <a:r>
              <a:rPr dirty="0" sz="1300" spc="-70">
                <a:latin typeface="Lucida Sans Unicode"/>
                <a:cs typeface="Lucida Sans Unicode"/>
              </a:rPr>
              <a:t>Neo4j</a:t>
            </a:r>
            <a:r>
              <a:rPr dirty="0" sz="1300" spc="-55">
                <a:latin typeface="Lucida Sans Unicode"/>
                <a:cs typeface="Lucida Sans Unicode"/>
              </a:rPr>
              <a:t> </a:t>
            </a:r>
            <a:r>
              <a:rPr dirty="0" sz="1300" spc="-25">
                <a:latin typeface="Lucida Sans Unicode"/>
                <a:cs typeface="Lucida Sans Unicode"/>
              </a:rPr>
              <a:t>GDS </a:t>
            </a:r>
            <a:r>
              <a:rPr dirty="0" sz="1300" spc="-60">
                <a:latin typeface="Lucida Sans Unicode"/>
                <a:cs typeface="Lucida Sans Unicode"/>
              </a:rPr>
              <a:t>page</a:t>
            </a:r>
            <a:r>
              <a:rPr dirty="0" sz="1300" spc="-105">
                <a:latin typeface="Lucida Sans Unicode"/>
                <a:cs typeface="Lucida Sans Unicode"/>
              </a:rPr>
              <a:t> </a:t>
            </a:r>
            <a:r>
              <a:rPr dirty="0" sz="1300" spc="-50">
                <a:latin typeface="Lucida Sans Unicode"/>
                <a:cs typeface="Lucida Sans Unicode"/>
              </a:rPr>
              <a:t>in</a:t>
            </a:r>
            <a:r>
              <a:rPr dirty="0" sz="1300" spc="-95">
                <a:latin typeface="Lucida Sans Unicode"/>
                <a:cs typeface="Lucida Sans Unicode"/>
              </a:rPr>
              <a:t> </a:t>
            </a:r>
            <a:r>
              <a:rPr dirty="0" sz="1300" spc="-165">
                <a:latin typeface="Lucida Sans Unicode"/>
                <a:cs typeface="Lucida Sans Unicode"/>
              </a:rPr>
              <a:t>2H- </a:t>
            </a:r>
            <a:r>
              <a:rPr dirty="0" sz="1300" spc="-20">
                <a:latin typeface="Lucida Sans Unicode"/>
                <a:cs typeface="Lucida Sans Unicode"/>
              </a:rPr>
              <a:t>2020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6151710" y="3950574"/>
            <a:ext cx="3594735" cy="54991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34620" marR="5080" indent="-121920">
              <a:lnSpc>
                <a:spcPct val="102400"/>
              </a:lnSpc>
              <a:spcBef>
                <a:spcPts val="50"/>
              </a:spcBef>
            </a:pPr>
            <a:r>
              <a:rPr dirty="0" sz="1700" spc="-110">
                <a:solidFill>
                  <a:srgbClr val="5D5D5D"/>
                </a:solidFill>
                <a:latin typeface="Arial Black"/>
                <a:cs typeface="Arial Black"/>
              </a:rPr>
              <a:t>Analytics</a:t>
            </a:r>
            <a:r>
              <a:rPr dirty="0" sz="1700" spc="-95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250">
                <a:solidFill>
                  <a:srgbClr val="5D5D5D"/>
                </a:solidFill>
                <a:latin typeface="Arial Black"/>
                <a:cs typeface="Arial Black"/>
              </a:rPr>
              <a:t>&amp;</a:t>
            </a:r>
            <a:r>
              <a:rPr dirty="0" sz="1700" spc="-100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85">
                <a:solidFill>
                  <a:srgbClr val="5D5D5D"/>
                </a:solidFill>
                <a:latin typeface="Arial Black"/>
                <a:cs typeface="Arial Black"/>
              </a:rPr>
              <a:t>Data</a:t>
            </a:r>
            <a:r>
              <a:rPr dirty="0" sz="1700" spc="-110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170">
                <a:solidFill>
                  <a:srgbClr val="5D5D5D"/>
                </a:solidFill>
                <a:latin typeface="Arial Black"/>
                <a:cs typeface="Arial Black"/>
              </a:rPr>
              <a:t>Science</a:t>
            </a:r>
            <a:r>
              <a:rPr dirty="0" sz="1700" spc="-100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60">
                <a:solidFill>
                  <a:srgbClr val="5D5D5D"/>
                </a:solidFill>
                <a:latin typeface="Arial Black"/>
                <a:cs typeface="Arial Black"/>
              </a:rPr>
              <a:t>Interest </a:t>
            </a:r>
            <a:r>
              <a:rPr dirty="0" sz="1700" spc="-114">
                <a:solidFill>
                  <a:srgbClr val="5D5D5D"/>
                </a:solidFill>
                <a:latin typeface="Arial Black"/>
                <a:cs typeface="Arial Black"/>
              </a:rPr>
              <a:t>Exploding</a:t>
            </a:r>
            <a:r>
              <a:rPr dirty="0" sz="1700" spc="-95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40">
                <a:solidFill>
                  <a:srgbClr val="5D5D5D"/>
                </a:solidFill>
                <a:latin typeface="Arial Black"/>
                <a:cs typeface="Arial Black"/>
              </a:rPr>
              <a:t>in</a:t>
            </a:r>
            <a:r>
              <a:rPr dirty="0" sz="1700" spc="-90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100">
                <a:solidFill>
                  <a:srgbClr val="5D5D5D"/>
                </a:solidFill>
                <a:latin typeface="Arial Black"/>
                <a:cs typeface="Arial Black"/>
              </a:rPr>
              <a:t>Neo4j</a:t>
            </a:r>
            <a:r>
              <a:rPr dirty="0" sz="1700" spc="-85">
                <a:solidFill>
                  <a:srgbClr val="5D5D5D"/>
                </a:solidFill>
                <a:latin typeface="Arial Black"/>
                <a:cs typeface="Arial Black"/>
              </a:rPr>
              <a:t> </a:t>
            </a:r>
            <a:r>
              <a:rPr dirty="0" sz="1700" spc="-10">
                <a:solidFill>
                  <a:srgbClr val="5D5D5D"/>
                </a:solidFill>
                <a:latin typeface="Arial Black"/>
                <a:cs typeface="Arial Black"/>
              </a:rPr>
              <a:t>Community</a:t>
            </a:r>
            <a:endParaRPr sz="1700">
              <a:latin typeface="Arial Black"/>
              <a:cs typeface="Arial Black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925924" y="4663442"/>
            <a:ext cx="1315085" cy="137541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3400" spc="-229">
                <a:solidFill>
                  <a:srgbClr val="018BFF"/>
                </a:solidFill>
                <a:latin typeface="Arial Black"/>
                <a:cs typeface="Arial Black"/>
              </a:rPr>
              <a:t>+4.8m</a:t>
            </a:r>
            <a:endParaRPr sz="3400">
              <a:latin typeface="Arial Black"/>
              <a:cs typeface="Arial Black"/>
            </a:endParaRPr>
          </a:p>
          <a:p>
            <a:pPr algn="just" marL="241935" marR="228600" indent="88265">
              <a:lnSpc>
                <a:spcPct val="96400"/>
              </a:lnSpc>
              <a:spcBef>
                <a:spcPts val="185"/>
              </a:spcBef>
            </a:pPr>
            <a:r>
              <a:rPr dirty="0" sz="1300" spc="-80">
                <a:latin typeface="Lucida Sans Unicode"/>
                <a:cs typeface="Lucida Sans Unicode"/>
              </a:rPr>
              <a:t>Views</a:t>
            </a:r>
            <a:r>
              <a:rPr dirty="0" sz="1300" spc="-20">
                <a:latin typeface="Lucida Sans Unicode"/>
                <a:cs typeface="Lucida Sans Unicode"/>
              </a:rPr>
              <a:t> </a:t>
            </a:r>
            <a:r>
              <a:rPr dirty="0" sz="1300" spc="-25">
                <a:latin typeface="Lucida Sans Unicode"/>
                <a:cs typeface="Lucida Sans Unicode"/>
              </a:rPr>
              <a:t>on </a:t>
            </a:r>
            <a:r>
              <a:rPr dirty="0" sz="1300" spc="-60">
                <a:latin typeface="Lucida Sans Unicode"/>
                <a:cs typeface="Lucida Sans Unicode"/>
              </a:rPr>
              <a:t>the</a:t>
            </a:r>
            <a:r>
              <a:rPr dirty="0" sz="1300" spc="-45">
                <a:latin typeface="Lucida Sans Unicode"/>
                <a:cs typeface="Lucida Sans Unicode"/>
              </a:rPr>
              <a:t> </a:t>
            </a:r>
            <a:r>
              <a:rPr dirty="0" sz="1300" spc="-10">
                <a:latin typeface="Lucida Sans Unicode"/>
                <a:cs typeface="Lucida Sans Unicode"/>
              </a:rPr>
              <a:t>graph </a:t>
            </a:r>
            <a:r>
              <a:rPr dirty="0" sz="1300" spc="-30">
                <a:latin typeface="Lucida Sans Unicode"/>
                <a:cs typeface="Lucida Sans Unicode"/>
              </a:rPr>
              <a:t>algorithms </a:t>
            </a:r>
            <a:r>
              <a:rPr dirty="0" sz="1300" spc="-55">
                <a:latin typeface="Lucida Sans Unicode"/>
                <a:cs typeface="Lucida Sans Unicode"/>
              </a:rPr>
              <a:t>short</a:t>
            </a:r>
            <a:r>
              <a:rPr dirty="0" sz="1300" spc="-60">
                <a:latin typeface="Lucida Sans Unicode"/>
                <a:cs typeface="Lucida Sans Unicode"/>
              </a:rPr>
              <a:t> </a:t>
            </a:r>
            <a:r>
              <a:rPr dirty="0" sz="1300" spc="-50">
                <a:latin typeface="Lucida Sans Unicode"/>
                <a:cs typeface="Lucida Sans Unicode"/>
              </a:rPr>
              <a:t>video</a:t>
            </a:r>
            <a:endParaRPr sz="1300">
              <a:latin typeface="Lucida Sans Unicode"/>
              <a:cs typeface="Lucida Sans Unicode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249842" y="5916517"/>
            <a:ext cx="861060" cy="62103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2300" spc="-195">
                <a:solidFill>
                  <a:srgbClr val="018BFF"/>
                </a:solidFill>
                <a:latin typeface="Arial Black"/>
                <a:cs typeface="Arial Black"/>
              </a:rPr>
              <a:t>+193k</a:t>
            </a:r>
            <a:endParaRPr sz="2300">
              <a:latin typeface="Arial Black"/>
              <a:cs typeface="Arial Black"/>
            </a:endParaRPr>
          </a:p>
          <a:p>
            <a:pPr algn="ctr" marL="1270">
              <a:lnSpc>
                <a:spcPct val="100000"/>
              </a:lnSpc>
              <a:spcBef>
                <a:spcPts val="220"/>
              </a:spcBef>
            </a:pPr>
            <a:r>
              <a:rPr dirty="0" sz="1000" spc="-10">
                <a:latin typeface="Lucida Sans Unicode"/>
                <a:cs typeface="Lucida Sans Unicode"/>
              </a:rPr>
              <a:t>downloads</a:t>
            </a:r>
            <a:endParaRPr sz="10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50575" y="2046290"/>
            <a:ext cx="4127500" cy="4069079"/>
          </a:xfrm>
          <a:prstGeom prst="rect">
            <a:avLst/>
          </a:prstGeom>
          <a:solidFill>
            <a:srgbClr val="018BFF"/>
          </a:solidFill>
        </p:spPr>
        <p:txBody>
          <a:bodyPr wrap="square" lIns="0" tIns="869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20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Represents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entity</a:t>
            </a:r>
            <a:r>
              <a:rPr dirty="0" sz="20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Relationship</a:t>
            </a: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Connect</a:t>
            </a:r>
            <a:r>
              <a:rPr dirty="0" sz="20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nodes</a:t>
            </a:r>
            <a:r>
              <a:rPr dirty="0" sz="20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0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dirty="0" sz="20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other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Property</a:t>
            </a: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Describes</a:t>
            </a:r>
            <a:r>
              <a:rPr dirty="0" sz="20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node</a:t>
            </a:r>
            <a:r>
              <a:rPr dirty="0" sz="20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relationship:</a:t>
            </a: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12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e.g.</a:t>
            </a:r>
            <a:r>
              <a:rPr dirty="0" sz="2000" spc="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name,</a:t>
            </a:r>
            <a:r>
              <a:rPr dirty="0" sz="2000" spc="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age,</a:t>
            </a:r>
            <a:r>
              <a:rPr dirty="0" sz="2000" spc="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weight</a:t>
            </a:r>
            <a:r>
              <a:rPr dirty="0" sz="2000" spc="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etc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1202" rIns="0" bIns="0" rtlCol="0" vert="horz">
            <a:spAutoFit/>
          </a:bodyPr>
          <a:lstStyle/>
          <a:p>
            <a:pPr marL="125730">
              <a:lnSpc>
                <a:spcPct val="100000"/>
              </a:lnSpc>
              <a:spcBef>
                <a:spcPts val="100"/>
              </a:spcBef>
            </a:pPr>
            <a:r>
              <a:rPr dirty="0"/>
              <a:t>Wait,</a:t>
            </a:r>
            <a:r>
              <a:rPr dirty="0" spc="5"/>
              <a:t> </a:t>
            </a:r>
            <a:r>
              <a:rPr dirty="0"/>
              <a:t>what’s</a:t>
            </a:r>
            <a:r>
              <a:rPr dirty="0" spc="-5"/>
              <a:t> </a:t>
            </a:r>
            <a:r>
              <a:rPr dirty="0"/>
              <a:t>a</a:t>
            </a:r>
            <a:r>
              <a:rPr dirty="0" spc="-5"/>
              <a:t> </a:t>
            </a:r>
            <a:r>
              <a:rPr dirty="0" spc="-10"/>
              <a:t>graph?</a:t>
            </a:r>
          </a:p>
        </p:txBody>
      </p:sp>
      <p:grpSp>
        <p:nvGrpSpPr>
          <p:cNvPr id="6" name="object 6" descr=""/>
          <p:cNvGrpSpPr/>
          <p:nvPr/>
        </p:nvGrpSpPr>
        <p:grpSpPr>
          <a:xfrm>
            <a:off x="4138676" y="2746761"/>
            <a:ext cx="1207135" cy="1207135"/>
            <a:chOff x="4138676" y="2746761"/>
            <a:chExt cx="1207135" cy="1207135"/>
          </a:xfrm>
        </p:grpSpPr>
        <p:sp>
          <p:nvSpPr>
            <p:cNvPr id="7" name="object 7" descr=""/>
            <p:cNvSpPr/>
            <p:nvPr/>
          </p:nvSpPr>
          <p:spPr>
            <a:xfrm>
              <a:off x="4233686" y="2847110"/>
              <a:ext cx="1019175" cy="1019810"/>
            </a:xfrm>
            <a:custGeom>
              <a:avLst/>
              <a:gdLst/>
              <a:ahLst/>
              <a:cxnLst/>
              <a:rect l="l" t="t" r="r" b="b"/>
              <a:pathLst>
                <a:path w="1019175" h="1019810">
                  <a:moveTo>
                    <a:pt x="509410" y="0"/>
                  </a:moveTo>
                  <a:lnTo>
                    <a:pt x="460351" y="2333"/>
                  </a:lnTo>
                  <a:lnTo>
                    <a:pt x="412611" y="9191"/>
                  </a:lnTo>
                  <a:lnTo>
                    <a:pt x="366403" y="20360"/>
                  </a:lnTo>
                  <a:lnTo>
                    <a:pt x="321942" y="35627"/>
                  </a:lnTo>
                  <a:lnTo>
                    <a:pt x="279441" y="54777"/>
                  </a:lnTo>
                  <a:lnTo>
                    <a:pt x="239113" y="77598"/>
                  </a:lnTo>
                  <a:lnTo>
                    <a:pt x="201172" y="103874"/>
                  </a:lnTo>
                  <a:lnTo>
                    <a:pt x="165831" y="133394"/>
                  </a:lnTo>
                  <a:lnTo>
                    <a:pt x="133304" y="165943"/>
                  </a:lnTo>
                  <a:lnTo>
                    <a:pt x="103804" y="201308"/>
                  </a:lnTo>
                  <a:lnTo>
                    <a:pt x="77545" y="239275"/>
                  </a:lnTo>
                  <a:lnTo>
                    <a:pt x="54740" y="279630"/>
                  </a:lnTo>
                  <a:lnTo>
                    <a:pt x="35603" y="322160"/>
                  </a:lnTo>
                  <a:lnTo>
                    <a:pt x="20347" y="366651"/>
                  </a:lnTo>
                  <a:lnTo>
                    <a:pt x="9185" y="412890"/>
                  </a:lnTo>
                  <a:lnTo>
                    <a:pt x="2331" y="460663"/>
                  </a:lnTo>
                  <a:lnTo>
                    <a:pt x="0" y="509756"/>
                  </a:lnTo>
                  <a:lnTo>
                    <a:pt x="2331" y="558849"/>
                  </a:lnTo>
                  <a:lnTo>
                    <a:pt x="9185" y="606622"/>
                  </a:lnTo>
                  <a:lnTo>
                    <a:pt x="20347" y="652860"/>
                  </a:lnTo>
                  <a:lnTo>
                    <a:pt x="35603" y="697352"/>
                  </a:lnTo>
                  <a:lnTo>
                    <a:pt x="54740" y="739882"/>
                  </a:lnTo>
                  <a:lnTo>
                    <a:pt x="77545" y="780237"/>
                  </a:lnTo>
                  <a:lnTo>
                    <a:pt x="103804" y="818204"/>
                  </a:lnTo>
                  <a:lnTo>
                    <a:pt x="133304" y="853568"/>
                  </a:lnTo>
                  <a:lnTo>
                    <a:pt x="165831" y="886118"/>
                  </a:lnTo>
                  <a:lnTo>
                    <a:pt x="201172" y="915637"/>
                  </a:lnTo>
                  <a:lnTo>
                    <a:pt x="239113" y="941914"/>
                  </a:lnTo>
                  <a:lnTo>
                    <a:pt x="279441" y="964735"/>
                  </a:lnTo>
                  <a:lnTo>
                    <a:pt x="321942" y="983885"/>
                  </a:lnTo>
                  <a:lnTo>
                    <a:pt x="366403" y="999152"/>
                  </a:lnTo>
                  <a:lnTo>
                    <a:pt x="412611" y="1010321"/>
                  </a:lnTo>
                  <a:lnTo>
                    <a:pt x="460351" y="1017179"/>
                  </a:lnTo>
                  <a:lnTo>
                    <a:pt x="509410" y="1019512"/>
                  </a:lnTo>
                  <a:lnTo>
                    <a:pt x="558470" y="1017179"/>
                  </a:lnTo>
                  <a:lnTo>
                    <a:pt x="606210" y="1010321"/>
                  </a:lnTo>
                  <a:lnTo>
                    <a:pt x="652418" y="999152"/>
                  </a:lnTo>
                  <a:lnTo>
                    <a:pt x="696879" y="983885"/>
                  </a:lnTo>
                  <a:lnTo>
                    <a:pt x="739380" y="964735"/>
                  </a:lnTo>
                  <a:lnTo>
                    <a:pt x="779708" y="941914"/>
                  </a:lnTo>
                  <a:lnTo>
                    <a:pt x="817649" y="915637"/>
                  </a:lnTo>
                  <a:lnTo>
                    <a:pt x="852990" y="886118"/>
                  </a:lnTo>
                  <a:lnTo>
                    <a:pt x="885517" y="853568"/>
                  </a:lnTo>
                  <a:lnTo>
                    <a:pt x="915017" y="818204"/>
                  </a:lnTo>
                  <a:lnTo>
                    <a:pt x="941276" y="780237"/>
                  </a:lnTo>
                  <a:lnTo>
                    <a:pt x="964081" y="739882"/>
                  </a:lnTo>
                  <a:lnTo>
                    <a:pt x="983218" y="697352"/>
                  </a:lnTo>
                  <a:lnTo>
                    <a:pt x="998474" y="652860"/>
                  </a:lnTo>
                  <a:lnTo>
                    <a:pt x="1009636" y="606622"/>
                  </a:lnTo>
                  <a:lnTo>
                    <a:pt x="1016489" y="558849"/>
                  </a:lnTo>
                  <a:lnTo>
                    <a:pt x="1018821" y="509756"/>
                  </a:lnTo>
                  <a:lnTo>
                    <a:pt x="1016489" y="460663"/>
                  </a:lnTo>
                  <a:lnTo>
                    <a:pt x="1009636" y="412890"/>
                  </a:lnTo>
                  <a:lnTo>
                    <a:pt x="998474" y="366651"/>
                  </a:lnTo>
                  <a:lnTo>
                    <a:pt x="983218" y="322160"/>
                  </a:lnTo>
                  <a:lnTo>
                    <a:pt x="964081" y="279630"/>
                  </a:lnTo>
                  <a:lnTo>
                    <a:pt x="941276" y="239275"/>
                  </a:lnTo>
                  <a:lnTo>
                    <a:pt x="915017" y="201308"/>
                  </a:lnTo>
                  <a:lnTo>
                    <a:pt x="885517" y="165943"/>
                  </a:lnTo>
                  <a:lnTo>
                    <a:pt x="852990" y="133394"/>
                  </a:lnTo>
                  <a:lnTo>
                    <a:pt x="817649" y="103874"/>
                  </a:lnTo>
                  <a:lnTo>
                    <a:pt x="779708" y="77598"/>
                  </a:lnTo>
                  <a:lnTo>
                    <a:pt x="739380" y="54777"/>
                  </a:lnTo>
                  <a:lnTo>
                    <a:pt x="696879" y="35627"/>
                  </a:lnTo>
                  <a:lnTo>
                    <a:pt x="652418" y="20360"/>
                  </a:lnTo>
                  <a:lnTo>
                    <a:pt x="606210" y="9191"/>
                  </a:lnTo>
                  <a:lnTo>
                    <a:pt x="558470" y="2333"/>
                  </a:lnTo>
                  <a:lnTo>
                    <a:pt x="509410" y="0"/>
                  </a:lnTo>
                  <a:close/>
                </a:path>
              </a:pathLst>
            </a:custGeom>
            <a:solidFill>
              <a:srgbClr val="2092E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8676" y="2746761"/>
              <a:ext cx="1207008" cy="1207008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565269" y="3469042"/>
            <a:ext cx="37401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0">
                <a:solidFill>
                  <a:srgbClr val="2092E7"/>
                </a:solidFill>
                <a:latin typeface="Lucida Sans Unicode"/>
                <a:cs typeface="Lucida Sans Unicode"/>
              </a:rPr>
              <a:t>MICA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21155" y="2746761"/>
            <a:ext cx="1176655" cy="1176655"/>
            <a:chOff x="1121155" y="2746761"/>
            <a:chExt cx="1176655" cy="1176655"/>
          </a:xfrm>
        </p:grpSpPr>
        <p:sp>
          <p:nvSpPr>
            <p:cNvPr id="11" name="object 11" descr=""/>
            <p:cNvSpPr/>
            <p:nvPr/>
          </p:nvSpPr>
          <p:spPr>
            <a:xfrm>
              <a:off x="1193663" y="2829032"/>
              <a:ext cx="1019175" cy="1019810"/>
            </a:xfrm>
            <a:custGeom>
              <a:avLst/>
              <a:gdLst/>
              <a:ahLst/>
              <a:cxnLst/>
              <a:rect l="l" t="t" r="r" b="b"/>
              <a:pathLst>
                <a:path w="1019175" h="1019810">
                  <a:moveTo>
                    <a:pt x="509354" y="0"/>
                  </a:moveTo>
                  <a:lnTo>
                    <a:pt x="460300" y="2333"/>
                  </a:lnTo>
                  <a:lnTo>
                    <a:pt x="412565" y="9190"/>
                  </a:lnTo>
                  <a:lnTo>
                    <a:pt x="366363" y="20358"/>
                  </a:lnTo>
                  <a:lnTo>
                    <a:pt x="321907" y="35623"/>
                  </a:lnTo>
                  <a:lnTo>
                    <a:pt x="279410" y="54771"/>
                  </a:lnTo>
                  <a:lnTo>
                    <a:pt x="239087" y="77589"/>
                  </a:lnTo>
                  <a:lnTo>
                    <a:pt x="201150" y="103863"/>
                  </a:lnTo>
                  <a:lnTo>
                    <a:pt x="165813" y="133380"/>
                  </a:lnTo>
                  <a:lnTo>
                    <a:pt x="133289" y="165926"/>
                  </a:lnTo>
                  <a:lnTo>
                    <a:pt x="103793" y="201287"/>
                  </a:lnTo>
                  <a:lnTo>
                    <a:pt x="77537" y="239249"/>
                  </a:lnTo>
                  <a:lnTo>
                    <a:pt x="54734" y="279600"/>
                  </a:lnTo>
                  <a:lnTo>
                    <a:pt x="35599" y="322125"/>
                  </a:lnTo>
                  <a:lnTo>
                    <a:pt x="20344" y="366612"/>
                  </a:lnTo>
                  <a:lnTo>
                    <a:pt x="9184" y="412845"/>
                  </a:lnTo>
                  <a:lnTo>
                    <a:pt x="2331" y="460613"/>
                  </a:lnTo>
                  <a:lnTo>
                    <a:pt x="0" y="509700"/>
                  </a:lnTo>
                  <a:lnTo>
                    <a:pt x="2331" y="558788"/>
                  </a:lnTo>
                  <a:lnTo>
                    <a:pt x="9184" y="606555"/>
                  </a:lnTo>
                  <a:lnTo>
                    <a:pt x="20344" y="652789"/>
                  </a:lnTo>
                  <a:lnTo>
                    <a:pt x="35599" y="697275"/>
                  </a:lnTo>
                  <a:lnTo>
                    <a:pt x="54734" y="739801"/>
                  </a:lnTo>
                  <a:lnTo>
                    <a:pt x="77537" y="780151"/>
                  </a:lnTo>
                  <a:lnTo>
                    <a:pt x="103793" y="818114"/>
                  </a:lnTo>
                  <a:lnTo>
                    <a:pt x="133289" y="853475"/>
                  </a:lnTo>
                  <a:lnTo>
                    <a:pt x="165813" y="886021"/>
                  </a:lnTo>
                  <a:lnTo>
                    <a:pt x="201150" y="915537"/>
                  </a:lnTo>
                  <a:lnTo>
                    <a:pt x="239087" y="941811"/>
                  </a:lnTo>
                  <a:lnTo>
                    <a:pt x="279410" y="964629"/>
                  </a:lnTo>
                  <a:lnTo>
                    <a:pt x="321907" y="983777"/>
                  </a:lnTo>
                  <a:lnTo>
                    <a:pt x="366363" y="999042"/>
                  </a:lnTo>
                  <a:lnTo>
                    <a:pt x="412565" y="1010210"/>
                  </a:lnTo>
                  <a:lnTo>
                    <a:pt x="460300" y="1017067"/>
                  </a:lnTo>
                  <a:lnTo>
                    <a:pt x="509354" y="1019401"/>
                  </a:lnTo>
                  <a:lnTo>
                    <a:pt x="558409" y="1017067"/>
                  </a:lnTo>
                  <a:lnTo>
                    <a:pt x="606144" y="1010210"/>
                  </a:lnTo>
                  <a:lnTo>
                    <a:pt x="652346" y="999042"/>
                  </a:lnTo>
                  <a:lnTo>
                    <a:pt x="696802" y="983777"/>
                  </a:lnTo>
                  <a:lnTo>
                    <a:pt x="739299" y="964629"/>
                  </a:lnTo>
                  <a:lnTo>
                    <a:pt x="779622" y="941811"/>
                  </a:lnTo>
                  <a:lnTo>
                    <a:pt x="817559" y="915537"/>
                  </a:lnTo>
                  <a:lnTo>
                    <a:pt x="852896" y="886021"/>
                  </a:lnTo>
                  <a:lnTo>
                    <a:pt x="885419" y="853475"/>
                  </a:lnTo>
                  <a:lnTo>
                    <a:pt x="914916" y="818114"/>
                  </a:lnTo>
                  <a:lnTo>
                    <a:pt x="941172" y="780151"/>
                  </a:lnTo>
                  <a:lnTo>
                    <a:pt x="963975" y="739801"/>
                  </a:lnTo>
                  <a:lnTo>
                    <a:pt x="983110" y="697275"/>
                  </a:lnTo>
                  <a:lnTo>
                    <a:pt x="998365" y="652789"/>
                  </a:lnTo>
                  <a:lnTo>
                    <a:pt x="1009525" y="606555"/>
                  </a:lnTo>
                  <a:lnTo>
                    <a:pt x="1016378" y="558788"/>
                  </a:lnTo>
                  <a:lnTo>
                    <a:pt x="1018709" y="509700"/>
                  </a:lnTo>
                  <a:lnTo>
                    <a:pt x="1016378" y="460613"/>
                  </a:lnTo>
                  <a:lnTo>
                    <a:pt x="1009525" y="412845"/>
                  </a:lnTo>
                  <a:lnTo>
                    <a:pt x="998365" y="366612"/>
                  </a:lnTo>
                  <a:lnTo>
                    <a:pt x="983110" y="322125"/>
                  </a:lnTo>
                  <a:lnTo>
                    <a:pt x="963975" y="279600"/>
                  </a:lnTo>
                  <a:lnTo>
                    <a:pt x="941172" y="239249"/>
                  </a:lnTo>
                  <a:lnTo>
                    <a:pt x="914916" y="201287"/>
                  </a:lnTo>
                  <a:lnTo>
                    <a:pt x="885419" y="165926"/>
                  </a:lnTo>
                  <a:lnTo>
                    <a:pt x="852896" y="133380"/>
                  </a:lnTo>
                  <a:lnTo>
                    <a:pt x="817559" y="103863"/>
                  </a:lnTo>
                  <a:lnTo>
                    <a:pt x="779622" y="77589"/>
                  </a:lnTo>
                  <a:lnTo>
                    <a:pt x="739299" y="54771"/>
                  </a:lnTo>
                  <a:lnTo>
                    <a:pt x="696802" y="35623"/>
                  </a:lnTo>
                  <a:lnTo>
                    <a:pt x="652346" y="20358"/>
                  </a:lnTo>
                  <a:lnTo>
                    <a:pt x="606144" y="9190"/>
                  </a:lnTo>
                  <a:lnTo>
                    <a:pt x="558409" y="2333"/>
                  </a:lnTo>
                  <a:lnTo>
                    <a:pt x="509354" y="0"/>
                  </a:lnTo>
                  <a:close/>
                </a:path>
              </a:pathLst>
            </a:custGeom>
            <a:solidFill>
              <a:srgbClr val="50987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1155" y="2746761"/>
              <a:ext cx="1176528" cy="1176527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467928" y="3462946"/>
            <a:ext cx="4972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09873"/>
                </a:solidFill>
                <a:latin typeface="Lucida Sans Unicode"/>
                <a:cs typeface="Lucida Sans Unicode"/>
              </a:rPr>
              <a:t>ANDRE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70627" y="2195091"/>
            <a:ext cx="1282700" cy="5467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135"/>
              </a:spcBef>
            </a:pPr>
            <a:r>
              <a:rPr dirty="0" sz="1100">
                <a:latin typeface="Arial"/>
                <a:cs typeface="Arial"/>
              </a:rPr>
              <a:t>Name:</a:t>
            </a:r>
            <a:r>
              <a:rPr dirty="0" sz="1100" spc="75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“Andre” </a:t>
            </a:r>
            <a:r>
              <a:rPr dirty="0" sz="1100">
                <a:latin typeface="Arial"/>
                <a:cs typeface="Arial"/>
              </a:rPr>
              <a:t>Born:</a:t>
            </a:r>
            <a:r>
              <a:rPr dirty="0" sz="1100" spc="35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May</a:t>
            </a:r>
            <a:r>
              <a:rPr dirty="0" sz="1100" spc="5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29,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1970 </a:t>
            </a:r>
            <a:r>
              <a:rPr dirty="0" sz="1100">
                <a:latin typeface="Arial"/>
                <a:cs typeface="Arial"/>
              </a:rPr>
              <a:t>Twitter:</a:t>
            </a:r>
            <a:r>
              <a:rPr dirty="0" sz="1100" spc="90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“@dan”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197018" y="2195091"/>
            <a:ext cx="1186815" cy="3790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latin typeface="Arial"/>
                <a:cs typeface="Arial"/>
              </a:rPr>
              <a:t>Name:</a:t>
            </a:r>
            <a:r>
              <a:rPr dirty="0" sz="1100" spc="75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“Mica”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100">
                <a:latin typeface="Arial"/>
                <a:cs typeface="Arial"/>
              </a:rPr>
              <a:t>Born:</a:t>
            </a:r>
            <a:r>
              <a:rPr dirty="0" sz="1100" spc="25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Dec</a:t>
            </a:r>
            <a:r>
              <a:rPr dirty="0" sz="1100" spc="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5,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1975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2745668" y="4669627"/>
            <a:ext cx="1019175" cy="1019810"/>
          </a:xfrm>
          <a:custGeom>
            <a:avLst/>
            <a:gdLst/>
            <a:ahLst/>
            <a:cxnLst/>
            <a:rect l="l" t="t" r="r" b="b"/>
            <a:pathLst>
              <a:path w="1019175" h="1019810">
                <a:moveTo>
                  <a:pt x="509315" y="0"/>
                </a:moveTo>
                <a:lnTo>
                  <a:pt x="460265" y="2333"/>
                </a:lnTo>
                <a:lnTo>
                  <a:pt x="412533" y="9189"/>
                </a:lnTo>
                <a:lnTo>
                  <a:pt x="366335" y="20357"/>
                </a:lnTo>
                <a:lnTo>
                  <a:pt x="321882" y="35620"/>
                </a:lnTo>
                <a:lnTo>
                  <a:pt x="279389" y="54767"/>
                </a:lnTo>
                <a:lnTo>
                  <a:pt x="239068" y="77583"/>
                </a:lnTo>
                <a:lnTo>
                  <a:pt x="201134" y="103855"/>
                </a:lnTo>
                <a:lnTo>
                  <a:pt x="165800" y="133370"/>
                </a:lnTo>
                <a:lnTo>
                  <a:pt x="133279" y="165913"/>
                </a:lnTo>
                <a:lnTo>
                  <a:pt x="103785" y="201271"/>
                </a:lnTo>
                <a:lnTo>
                  <a:pt x="77531" y="239231"/>
                </a:lnTo>
                <a:lnTo>
                  <a:pt x="54730" y="279578"/>
                </a:lnTo>
                <a:lnTo>
                  <a:pt x="35596" y="322100"/>
                </a:lnTo>
                <a:lnTo>
                  <a:pt x="20343" y="366583"/>
                </a:lnTo>
                <a:lnTo>
                  <a:pt x="9183" y="412813"/>
                </a:lnTo>
                <a:lnTo>
                  <a:pt x="2331" y="460577"/>
                </a:lnTo>
                <a:lnTo>
                  <a:pt x="0" y="509661"/>
                </a:lnTo>
                <a:lnTo>
                  <a:pt x="2331" y="558744"/>
                </a:lnTo>
                <a:lnTo>
                  <a:pt x="9183" y="606508"/>
                </a:lnTo>
                <a:lnTo>
                  <a:pt x="20343" y="652738"/>
                </a:lnTo>
                <a:lnTo>
                  <a:pt x="35596" y="697221"/>
                </a:lnTo>
                <a:lnTo>
                  <a:pt x="54730" y="739743"/>
                </a:lnTo>
                <a:lnTo>
                  <a:pt x="77531" y="780091"/>
                </a:lnTo>
                <a:lnTo>
                  <a:pt x="103785" y="818050"/>
                </a:lnTo>
                <a:lnTo>
                  <a:pt x="133279" y="853409"/>
                </a:lnTo>
                <a:lnTo>
                  <a:pt x="165800" y="885952"/>
                </a:lnTo>
                <a:lnTo>
                  <a:pt x="201134" y="915466"/>
                </a:lnTo>
                <a:lnTo>
                  <a:pt x="239068" y="941738"/>
                </a:lnTo>
                <a:lnTo>
                  <a:pt x="279389" y="964554"/>
                </a:lnTo>
                <a:lnTo>
                  <a:pt x="321882" y="983701"/>
                </a:lnTo>
                <a:lnTo>
                  <a:pt x="366335" y="998965"/>
                </a:lnTo>
                <a:lnTo>
                  <a:pt x="412533" y="1010132"/>
                </a:lnTo>
                <a:lnTo>
                  <a:pt x="460265" y="1016989"/>
                </a:lnTo>
                <a:lnTo>
                  <a:pt x="509315" y="1019322"/>
                </a:lnTo>
                <a:lnTo>
                  <a:pt x="558366" y="1016989"/>
                </a:lnTo>
                <a:lnTo>
                  <a:pt x="606097" y="1010132"/>
                </a:lnTo>
                <a:lnTo>
                  <a:pt x="652296" y="998965"/>
                </a:lnTo>
                <a:lnTo>
                  <a:pt x="696748" y="983701"/>
                </a:lnTo>
                <a:lnTo>
                  <a:pt x="739242" y="964554"/>
                </a:lnTo>
                <a:lnTo>
                  <a:pt x="779562" y="941738"/>
                </a:lnTo>
                <a:lnTo>
                  <a:pt x="817496" y="915466"/>
                </a:lnTo>
                <a:lnTo>
                  <a:pt x="852830" y="885952"/>
                </a:lnTo>
                <a:lnTo>
                  <a:pt x="885351" y="853409"/>
                </a:lnTo>
                <a:lnTo>
                  <a:pt x="914846" y="818050"/>
                </a:lnTo>
                <a:lnTo>
                  <a:pt x="941100" y="780091"/>
                </a:lnTo>
                <a:lnTo>
                  <a:pt x="963901" y="739743"/>
                </a:lnTo>
                <a:lnTo>
                  <a:pt x="983034" y="697221"/>
                </a:lnTo>
                <a:lnTo>
                  <a:pt x="998288" y="652738"/>
                </a:lnTo>
                <a:lnTo>
                  <a:pt x="1009447" y="606508"/>
                </a:lnTo>
                <a:lnTo>
                  <a:pt x="1016299" y="558744"/>
                </a:lnTo>
                <a:lnTo>
                  <a:pt x="1018631" y="509661"/>
                </a:lnTo>
                <a:lnTo>
                  <a:pt x="1016299" y="460577"/>
                </a:lnTo>
                <a:lnTo>
                  <a:pt x="1009447" y="412813"/>
                </a:lnTo>
                <a:lnTo>
                  <a:pt x="998288" y="366583"/>
                </a:lnTo>
                <a:lnTo>
                  <a:pt x="983034" y="322100"/>
                </a:lnTo>
                <a:lnTo>
                  <a:pt x="963901" y="279578"/>
                </a:lnTo>
                <a:lnTo>
                  <a:pt x="941100" y="239231"/>
                </a:lnTo>
                <a:lnTo>
                  <a:pt x="914846" y="201271"/>
                </a:lnTo>
                <a:lnTo>
                  <a:pt x="885351" y="165913"/>
                </a:lnTo>
                <a:lnTo>
                  <a:pt x="852830" y="133370"/>
                </a:lnTo>
                <a:lnTo>
                  <a:pt x="817496" y="103855"/>
                </a:lnTo>
                <a:lnTo>
                  <a:pt x="779562" y="77583"/>
                </a:lnTo>
                <a:lnTo>
                  <a:pt x="739242" y="54767"/>
                </a:lnTo>
                <a:lnTo>
                  <a:pt x="696748" y="35620"/>
                </a:lnTo>
                <a:lnTo>
                  <a:pt x="652296" y="20357"/>
                </a:lnTo>
                <a:lnTo>
                  <a:pt x="606097" y="9189"/>
                </a:lnTo>
                <a:lnTo>
                  <a:pt x="558366" y="2333"/>
                </a:lnTo>
                <a:lnTo>
                  <a:pt x="509315" y="0"/>
                </a:lnTo>
                <a:close/>
              </a:path>
            </a:pathLst>
          </a:custGeom>
          <a:solidFill>
            <a:srgbClr val="ED12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3106836" y="5374042"/>
            <a:ext cx="2946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Lucida Sans Unicode"/>
                <a:cs typeface="Lucida Sans Unicode"/>
              </a:rPr>
              <a:t>CAR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836937" y="5767347"/>
            <a:ext cx="982344" cy="3790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 sz="1100">
                <a:latin typeface="Arial"/>
                <a:cs typeface="Arial"/>
              </a:rPr>
              <a:t>Brand</a:t>
            </a:r>
            <a:r>
              <a:rPr dirty="0" sz="1100" spc="40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“Volvo”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100">
                <a:latin typeface="Arial"/>
                <a:cs typeface="Arial"/>
              </a:rPr>
              <a:t>Model:</a:t>
            </a:r>
            <a:r>
              <a:rPr dirty="0" sz="1100" spc="65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“V70”</a:t>
            </a:r>
            <a:endParaRPr sz="11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54910" y="4395747"/>
            <a:ext cx="869315" cy="37909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0"/>
              </a:spcBef>
            </a:pPr>
            <a:r>
              <a:rPr dirty="0" sz="1100" spc="-10">
                <a:latin typeface="Arial"/>
                <a:cs typeface="Arial"/>
              </a:rPr>
              <a:t>Since: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dirty="0" sz="1100" b="1">
                <a:latin typeface="Arial"/>
                <a:cs typeface="Arial"/>
              </a:rPr>
              <a:t>Jan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10,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2011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250748" y="2998204"/>
            <a:ext cx="1891030" cy="270510"/>
            <a:chOff x="2250748" y="2998204"/>
            <a:chExt cx="1891030" cy="270510"/>
          </a:xfrm>
        </p:grpSpPr>
        <p:sp>
          <p:nvSpPr>
            <p:cNvPr id="21" name="object 21" descr=""/>
            <p:cNvSpPr/>
            <p:nvPr/>
          </p:nvSpPr>
          <p:spPr>
            <a:xfrm>
              <a:off x="2250748" y="3030475"/>
              <a:ext cx="1891030" cy="205740"/>
            </a:xfrm>
            <a:custGeom>
              <a:avLst/>
              <a:gdLst/>
              <a:ahLst/>
              <a:cxnLst/>
              <a:rect l="l" t="t" r="r" b="b"/>
              <a:pathLst>
                <a:path w="1891029" h="205739">
                  <a:moveTo>
                    <a:pt x="1771031" y="0"/>
                  </a:moveTo>
                  <a:lnTo>
                    <a:pt x="1771031" y="51394"/>
                  </a:lnTo>
                  <a:lnTo>
                    <a:pt x="0" y="51394"/>
                  </a:lnTo>
                  <a:lnTo>
                    <a:pt x="0" y="154180"/>
                  </a:lnTo>
                  <a:lnTo>
                    <a:pt x="1771031" y="154180"/>
                  </a:lnTo>
                  <a:lnTo>
                    <a:pt x="1771031" y="205572"/>
                  </a:lnTo>
                  <a:lnTo>
                    <a:pt x="1890524" y="102786"/>
                  </a:lnTo>
                  <a:lnTo>
                    <a:pt x="1771031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807154" y="3009317"/>
              <a:ext cx="727075" cy="248285"/>
            </a:xfrm>
            <a:custGeom>
              <a:avLst/>
              <a:gdLst/>
              <a:ahLst/>
              <a:cxnLst/>
              <a:rect l="l" t="t" r="r" b="b"/>
              <a:pathLst>
                <a:path w="727075" h="248285">
                  <a:moveTo>
                    <a:pt x="685570" y="0"/>
                  </a:moveTo>
                  <a:lnTo>
                    <a:pt x="41291" y="0"/>
                  </a:lnTo>
                  <a:lnTo>
                    <a:pt x="25219" y="3247"/>
                  </a:lnTo>
                  <a:lnTo>
                    <a:pt x="12094" y="12102"/>
                  </a:lnTo>
                  <a:lnTo>
                    <a:pt x="3244" y="25236"/>
                  </a:lnTo>
                  <a:lnTo>
                    <a:pt x="0" y="41320"/>
                  </a:lnTo>
                  <a:lnTo>
                    <a:pt x="0" y="206595"/>
                  </a:lnTo>
                  <a:lnTo>
                    <a:pt x="3244" y="222679"/>
                  </a:lnTo>
                  <a:lnTo>
                    <a:pt x="12094" y="235814"/>
                  </a:lnTo>
                  <a:lnTo>
                    <a:pt x="25219" y="244669"/>
                  </a:lnTo>
                  <a:lnTo>
                    <a:pt x="41291" y="247916"/>
                  </a:lnTo>
                  <a:lnTo>
                    <a:pt x="685570" y="247916"/>
                  </a:lnTo>
                  <a:lnTo>
                    <a:pt x="701642" y="244669"/>
                  </a:lnTo>
                  <a:lnTo>
                    <a:pt x="714767" y="235814"/>
                  </a:lnTo>
                  <a:lnTo>
                    <a:pt x="723616" y="222679"/>
                  </a:lnTo>
                  <a:lnTo>
                    <a:pt x="726861" y="206595"/>
                  </a:lnTo>
                  <a:lnTo>
                    <a:pt x="726861" y="41320"/>
                  </a:lnTo>
                  <a:lnTo>
                    <a:pt x="723616" y="25236"/>
                  </a:lnTo>
                  <a:lnTo>
                    <a:pt x="714767" y="12102"/>
                  </a:lnTo>
                  <a:lnTo>
                    <a:pt x="701642" y="3247"/>
                  </a:lnTo>
                  <a:lnTo>
                    <a:pt x="6855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807154" y="3009317"/>
              <a:ext cx="727075" cy="248285"/>
            </a:xfrm>
            <a:custGeom>
              <a:avLst/>
              <a:gdLst/>
              <a:ahLst/>
              <a:cxnLst/>
              <a:rect l="l" t="t" r="r" b="b"/>
              <a:pathLst>
                <a:path w="727075" h="248285">
                  <a:moveTo>
                    <a:pt x="0" y="41320"/>
                  </a:moveTo>
                  <a:lnTo>
                    <a:pt x="3244" y="25236"/>
                  </a:lnTo>
                  <a:lnTo>
                    <a:pt x="12094" y="12102"/>
                  </a:lnTo>
                  <a:lnTo>
                    <a:pt x="25219" y="3247"/>
                  </a:lnTo>
                  <a:lnTo>
                    <a:pt x="41292" y="0"/>
                  </a:lnTo>
                  <a:lnTo>
                    <a:pt x="685570" y="0"/>
                  </a:lnTo>
                  <a:lnTo>
                    <a:pt x="701643" y="3247"/>
                  </a:lnTo>
                  <a:lnTo>
                    <a:pt x="714768" y="12102"/>
                  </a:lnTo>
                  <a:lnTo>
                    <a:pt x="723617" y="25236"/>
                  </a:lnTo>
                  <a:lnTo>
                    <a:pt x="726862" y="41320"/>
                  </a:lnTo>
                  <a:lnTo>
                    <a:pt x="726862" y="206596"/>
                  </a:lnTo>
                  <a:lnTo>
                    <a:pt x="723617" y="222679"/>
                  </a:lnTo>
                  <a:lnTo>
                    <a:pt x="714768" y="235813"/>
                  </a:lnTo>
                  <a:lnTo>
                    <a:pt x="701643" y="244669"/>
                  </a:lnTo>
                  <a:lnTo>
                    <a:pt x="685570" y="247916"/>
                  </a:lnTo>
                  <a:lnTo>
                    <a:pt x="41292" y="247916"/>
                  </a:lnTo>
                  <a:lnTo>
                    <a:pt x="25219" y="244669"/>
                  </a:lnTo>
                  <a:lnTo>
                    <a:pt x="12094" y="235813"/>
                  </a:lnTo>
                  <a:lnTo>
                    <a:pt x="3244" y="222679"/>
                  </a:lnTo>
                  <a:lnTo>
                    <a:pt x="0" y="206596"/>
                  </a:lnTo>
                  <a:lnTo>
                    <a:pt x="0" y="41320"/>
                  </a:lnTo>
                  <a:close/>
                </a:path>
              </a:pathLst>
            </a:custGeom>
            <a:ln w="21682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2862811" y="3036226"/>
            <a:ext cx="5937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-500" b="1">
                <a:latin typeface="Arial"/>
                <a:cs typeface="Arial"/>
              </a:rPr>
              <a:t>S</a:t>
            </a:r>
            <a:r>
              <a:rPr dirty="0" baseline="-17676" sz="1650" spc="-292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1100" spc="-125" b="1">
                <a:latin typeface="Arial"/>
                <a:cs typeface="Arial"/>
              </a:rPr>
              <a:t>I</a:t>
            </a:r>
            <a:r>
              <a:rPr dirty="0" baseline="-17676" sz="1650" spc="-1139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100" spc="5" b="1">
                <a:latin typeface="Arial"/>
                <a:cs typeface="Arial"/>
              </a:rPr>
              <a:t>S</a:t>
            </a:r>
            <a:r>
              <a:rPr dirty="0" sz="1100" spc="-685" b="1">
                <a:latin typeface="Arial"/>
                <a:cs typeface="Arial"/>
              </a:rPr>
              <a:t>T</a:t>
            </a:r>
            <a:r>
              <a:rPr dirty="0" baseline="-17676" sz="1650" spc="-112" b="1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100" b="1">
                <a:latin typeface="Arial"/>
                <a:cs typeface="Arial"/>
              </a:rPr>
              <a:t>E</a:t>
            </a:r>
            <a:r>
              <a:rPr dirty="0" sz="1100" spc="-750" b="1">
                <a:latin typeface="Arial"/>
                <a:cs typeface="Arial"/>
              </a:rPr>
              <a:t>R</a:t>
            </a:r>
            <a:r>
              <a:rPr dirty="0" baseline="-17676" sz="1650" spc="-22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endParaRPr baseline="-17676" sz="1650">
              <a:latin typeface="Arial"/>
              <a:cs typeface="Arial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2250521" y="3345320"/>
            <a:ext cx="1891030" cy="270510"/>
            <a:chOff x="2250521" y="3345320"/>
            <a:chExt cx="1891030" cy="270510"/>
          </a:xfrm>
        </p:grpSpPr>
        <p:sp>
          <p:nvSpPr>
            <p:cNvPr id="26" name="object 26" descr=""/>
            <p:cNvSpPr/>
            <p:nvPr/>
          </p:nvSpPr>
          <p:spPr>
            <a:xfrm>
              <a:off x="2250521" y="3377591"/>
              <a:ext cx="1891030" cy="205740"/>
            </a:xfrm>
            <a:custGeom>
              <a:avLst/>
              <a:gdLst/>
              <a:ahLst/>
              <a:cxnLst/>
              <a:rect l="l" t="t" r="r" b="b"/>
              <a:pathLst>
                <a:path w="1891029" h="205739">
                  <a:moveTo>
                    <a:pt x="119493" y="0"/>
                  </a:moveTo>
                  <a:lnTo>
                    <a:pt x="0" y="102786"/>
                  </a:lnTo>
                  <a:lnTo>
                    <a:pt x="119493" y="205572"/>
                  </a:lnTo>
                  <a:lnTo>
                    <a:pt x="119493" y="154180"/>
                  </a:lnTo>
                  <a:lnTo>
                    <a:pt x="1890524" y="154180"/>
                  </a:lnTo>
                  <a:lnTo>
                    <a:pt x="1890524" y="51394"/>
                  </a:lnTo>
                  <a:lnTo>
                    <a:pt x="119493" y="51394"/>
                  </a:lnTo>
                  <a:lnTo>
                    <a:pt x="119493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2684980" y="3356433"/>
              <a:ext cx="947419" cy="248285"/>
            </a:xfrm>
            <a:custGeom>
              <a:avLst/>
              <a:gdLst/>
              <a:ahLst/>
              <a:cxnLst/>
              <a:rect l="l" t="t" r="r" b="b"/>
              <a:pathLst>
                <a:path w="947420" h="248285">
                  <a:moveTo>
                    <a:pt x="905755" y="0"/>
                  </a:moveTo>
                  <a:lnTo>
                    <a:pt x="41291" y="0"/>
                  </a:lnTo>
                  <a:lnTo>
                    <a:pt x="25218" y="3247"/>
                  </a:lnTo>
                  <a:lnTo>
                    <a:pt x="12093" y="12102"/>
                  </a:lnTo>
                  <a:lnTo>
                    <a:pt x="3244" y="25236"/>
                  </a:lnTo>
                  <a:lnTo>
                    <a:pt x="0" y="41319"/>
                  </a:lnTo>
                  <a:lnTo>
                    <a:pt x="0" y="206595"/>
                  </a:lnTo>
                  <a:lnTo>
                    <a:pt x="3244" y="222679"/>
                  </a:lnTo>
                  <a:lnTo>
                    <a:pt x="12093" y="235813"/>
                  </a:lnTo>
                  <a:lnTo>
                    <a:pt x="25218" y="244668"/>
                  </a:lnTo>
                  <a:lnTo>
                    <a:pt x="41291" y="247915"/>
                  </a:lnTo>
                  <a:lnTo>
                    <a:pt x="905755" y="247915"/>
                  </a:lnTo>
                  <a:lnTo>
                    <a:pt x="921827" y="244668"/>
                  </a:lnTo>
                  <a:lnTo>
                    <a:pt x="934952" y="235813"/>
                  </a:lnTo>
                  <a:lnTo>
                    <a:pt x="943801" y="222679"/>
                  </a:lnTo>
                  <a:lnTo>
                    <a:pt x="947046" y="206595"/>
                  </a:lnTo>
                  <a:lnTo>
                    <a:pt x="947046" y="41319"/>
                  </a:lnTo>
                  <a:lnTo>
                    <a:pt x="943801" y="25236"/>
                  </a:lnTo>
                  <a:lnTo>
                    <a:pt x="934952" y="12102"/>
                  </a:lnTo>
                  <a:lnTo>
                    <a:pt x="921827" y="3247"/>
                  </a:lnTo>
                  <a:lnTo>
                    <a:pt x="9057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684980" y="3356433"/>
              <a:ext cx="947419" cy="248285"/>
            </a:xfrm>
            <a:custGeom>
              <a:avLst/>
              <a:gdLst/>
              <a:ahLst/>
              <a:cxnLst/>
              <a:rect l="l" t="t" r="r" b="b"/>
              <a:pathLst>
                <a:path w="947420" h="248285">
                  <a:moveTo>
                    <a:pt x="0" y="41319"/>
                  </a:moveTo>
                  <a:lnTo>
                    <a:pt x="3244" y="25236"/>
                  </a:lnTo>
                  <a:lnTo>
                    <a:pt x="12093" y="12102"/>
                  </a:lnTo>
                  <a:lnTo>
                    <a:pt x="25218" y="3247"/>
                  </a:lnTo>
                  <a:lnTo>
                    <a:pt x="41291" y="0"/>
                  </a:lnTo>
                  <a:lnTo>
                    <a:pt x="905755" y="0"/>
                  </a:lnTo>
                  <a:lnTo>
                    <a:pt x="921828" y="3247"/>
                  </a:lnTo>
                  <a:lnTo>
                    <a:pt x="934953" y="12102"/>
                  </a:lnTo>
                  <a:lnTo>
                    <a:pt x="943802" y="25236"/>
                  </a:lnTo>
                  <a:lnTo>
                    <a:pt x="947047" y="41319"/>
                  </a:lnTo>
                  <a:lnTo>
                    <a:pt x="947047" y="206595"/>
                  </a:lnTo>
                  <a:lnTo>
                    <a:pt x="943802" y="222679"/>
                  </a:lnTo>
                  <a:lnTo>
                    <a:pt x="934953" y="235813"/>
                  </a:lnTo>
                  <a:lnTo>
                    <a:pt x="921828" y="244668"/>
                  </a:lnTo>
                  <a:lnTo>
                    <a:pt x="905755" y="247915"/>
                  </a:lnTo>
                  <a:lnTo>
                    <a:pt x="41291" y="247915"/>
                  </a:lnTo>
                  <a:lnTo>
                    <a:pt x="25218" y="244668"/>
                  </a:lnTo>
                  <a:lnTo>
                    <a:pt x="12093" y="235813"/>
                  </a:lnTo>
                  <a:lnTo>
                    <a:pt x="3244" y="222679"/>
                  </a:lnTo>
                  <a:lnTo>
                    <a:pt x="0" y="206595"/>
                  </a:lnTo>
                  <a:lnTo>
                    <a:pt x="0" y="41319"/>
                  </a:lnTo>
                  <a:close/>
                </a:path>
              </a:pathLst>
            </a:custGeom>
            <a:ln w="21683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 descr=""/>
          <p:cNvSpPr txBox="1"/>
          <p:nvPr/>
        </p:nvSpPr>
        <p:spPr>
          <a:xfrm>
            <a:off x="2816983" y="3377602"/>
            <a:ext cx="7372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latin typeface="Arial"/>
                <a:cs typeface="Arial"/>
              </a:rPr>
              <a:t>BROTHER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3660213" y="3850054"/>
            <a:ext cx="932815" cy="933450"/>
            <a:chOff x="3660213" y="3850054"/>
            <a:chExt cx="932815" cy="933450"/>
          </a:xfrm>
        </p:grpSpPr>
        <p:sp>
          <p:nvSpPr>
            <p:cNvPr id="31" name="object 31" descr=""/>
            <p:cNvSpPr/>
            <p:nvPr/>
          </p:nvSpPr>
          <p:spPr>
            <a:xfrm>
              <a:off x="3660213" y="3850054"/>
              <a:ext cx="932815" cy="933450"/>
            </a:xfrm>
            <a:custGeom>
              <a:avLst/>
              <a:gdLst/>
              <a:ahLst/>
              <a:cxnLst/>
              <a:rect l="l" t="t" r="r" b="b"/>
              <a:pathLst>
                <a:path w="932814" h="933450">
                  <a:moveTo>
                    <a:pt x="859745" y="0"/>
                  </a:moveTo>
                  <a:lnTo>
                    <a:pt x="48186" y="812110"/>
                  </a:lnTo>
                  <a:lnTo>
                    <a:pt x="11865" y="775764"/>
                  </a:lnTo>
                  <a:lnTo>
                    <a:pt x="0" y="933018"/>
                  </a:lnTo>
                  <a:lnTo>
                    <a:pt x="157147" y="921144"/>
                  </a:lnTo>
                  <a:lnTo>
                    <a:pt x="120827" y="884800"/>
                  </a:lnTo>
                  <a:lnTo>
                    <a:pt x="932387" y="72689"/>
                  </a:lnTo>
                  <a:lnTo>
                    <a:pt x="859745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798361" y="3989355"/>
              <a:ext cx="655320" cy="655955"/>
            </a:xfrm>
            <a:custGeom>
              <a:avLst/>
              <a:gdLst/>
              <a:ahLst/>
              <a:cxnLst/>
              <a:rect l="l" t="t" r="r" b="b"/>
              <a:pathLst>
                <a:path w="655320" h="655954">
                  <a:moveTo>
                    <a:pt x="496930" y="0"/>
                  </a:moveTo>
                  <a:lnTo>
                    <a:pt x="12095" y="468046"/>
                  </a:lnTo>
                  <a:lnTo>
                    <a:pt x="0" y="497268"/>
                  </a:lnTo>
                  <a:lnTo>
                    <a:pt x="3023" y="512818"/>
                  </a:lnTo>
                  <a:lnTo>
                    <a:pt x="12095" y="526488"/>
                  </a:lnTo>
                  <a:lnTo>
                    <a:pt x="128898" y="643372"/>
                  </a:lnTo>
                  <a:lnTo>
                    <a:pt x="142560" y="652450"/>
                  </a:lnTo>
                  <a:lnTo>
                    <a:pt x="158101" y="655476"/>
                  </a:lnTo>
                  <a:lnTo>
                    <a:pt x="173642" y="652450"/>
                  </a:lnTo>
                  <a:lnTo>
                    <a:pt x="187303" y="643372"/>
                  </a:lnTo>
                  <a:lnTo>
                    <a:pt x="642936" y="187429"/>
                  </a:lnTo>
                  <a:lnTo>
                    <a:pt x="652008" y="173759"/>
                  </a:lnTo>
                  <a:lnTo>
                    <a:pt x="655032" y="158208"/>
                  </a:lnTo>
                  <a:lnTo>
                    <a:pt x="652008" y="142657"/>
                  </a:lnTo>
                  <a:lnTo>
                    <a:pt x="642936" y="128986"/>
                  </a:lnTo>
                  <a:lnTo>
                    <a:pt x="526133" y="12103"/>
                  </a:lnTo>
                  <a:lnTo>
                    <a:pt x="512471" y="3025"/>
                  </a:lnTo>
                  <a:lnTo>
                    <a:pt x="4969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3798362" y="3989355"/>
              <a:ext cx="655320" cy="655955"/>
            </a:xfrm>
            <a:custGeom>
              <a:avLst/>
              <a:gdLst/>
              <a:ahLst/>
              <a:cxnLst/>
              <a:rect l="l" t="t" r="r" b="b"/>
              <a:pathLst>
                <a:path w="655320" h="655954">
                  <a:moveTo>
                    <a:pt x="12095" y="526489"/>
                  </a:moveTo>
                  <a:lnTo>
                    <a:pt x="3023" y="512818"/>
                  </a:lnTo>
                  <a:lnTo>
                    <a:pt x="0" y="497267"/>
                  </a:lnTo>
                  <a:lnTo>
                    <a:pt x="3023" y="481717"/>
                  </a:lnTo>
                  <a:lnTo>
                    <a:pt x="12095" y="468046"/>
                  </a:lnTo>
                  <a:lnTo>
                    <a:pt x="467729" y="12103"/>
                  </a:lnTo>
                  <a:lnTo>
                    <a:pt x="481390" y="3025"/>
                  </a:lnTo>
                  <a:lnTo>
                    <a:pt x="496930" y="0"/>
                  </a:lnTo>
                  <a:lnTo>
                    <a:pt x="512471" y="3026"/>
                  </a:lnTo>
                  <a:lnTo>
                    <a:pt x="526132" y="12104"/>
                  </a:lnTo>
                  <a:lnTo>
                    <a:pt x="642936" y="128986"/>
                  </a:lnTo>
                  <a:lnTo>
                    <a:pt x="652008" y="142657"/>
                  </a:lnTo>
                  <a:lnTo>
                    <a:pt x="655032" y="158208"/>
                  </a:lnTo>
                  <a:lnTo>
                    <a:pt x="652008" y="173759"/>
                  </a:lnTo>
                  <a:lnTo>
                    <a:pt x="642936" y="187430"/>
                  </a:lnTo>
                  <a:lnTo>
                    <a:pt x="187303" y="643372"/>
                  </a:lnTo>
                  <a:lnTo>
                    <a:pt x="173641" y="652450"/>
                  </a:lnTo>
                  <a:lnTo>
                    <a:pt x="158101" y="655476"/>
                  </a:lnTo>
                  <a:lnTo>
                    <a:pt x="142560" y="652450"/>
                  </a:lnTo>
                  <a:lnTo>
                    <a:pt x="128899" y="643372"/>
                  </a:lnTo>
                  <a:lnTo>
                    <a:pt x="12095" y="526489"/>
                  </a:lnTo>
                  <a:close/>
                </a:path>
              </a:pathLst>
            </a:custGeom>
            <a:ln w="21676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 rot="18900000">
            <a:off x="3897028" y="4258248"/>
            <a:ext cx="468965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20" b="1">
                <a:latin typeface="Arial"/>
                <a:cs typeface="Arial"/>
              </a:rPr>
              <a:t>OWNS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1918555" y="3824961"/>
            <a:ext cx="932180" cy="933450"/>
            <a:chOff x="1918555" y="3824961"/>
            <a:chExt cx="932180" cy="933450"/>
          </a:xfrm>
        </p:grpSpPr>
        <p:sp>
          <p:nvSpPr>
            <p:cNvPr id="36" name="object 36" descr=""/>
            <p:cNvSpPr/>
            <p:nvPr/>
          </p:nvSpPr>
          <p:spPr>
            <a:xfrm>
              <a:off x="1918555" y="3824961"/>
              <a:ext cx="932180" cy="933450"/>
            </a:xfrm>
            <a:custGeom>
              <a:avLst/>
              <a:gdLst/>
              <a:ahLst/>
              <a:cxnLst/>
              <a:rect l="l" t="t" r="r" b="b"/>
              <a:pathLst>
                <a:path w="932180" h="933450">
                  <a:moveTo>
                    <a:pt x="72631" y="0"/>
                  </a:moveTo>
                  <a:lnTo>
                    <a:pt x="0" y="72659"/>
                  </a:lnTo>
                  <a:lnTo>
                    <a:pt x="811216" y="884655"/>
                  </a:lnTo>
                  <a:lnTo>
                    <a:pt x="774900" y="920983"/>
                  </a:lnTo>
                  <a:lnTo>
                    <a:pt x="932002" y="932875"/>
                  </a:lnTo>
                  <a:lnTo>
                    <a:pt x="920163" y="775665"/>
                  </a:lnTo>
                  <a:lnTo>
                    <a:pt x="883846" y="811996"/>
                  </a:lnTo>
                  <a:lnTo>
                    <a:pt x="72631" y="0"/>
                  </a:lnTo>
                  <a:close/>
                </a:path>
              </a:pathLst>
            </a:custGeom>
            <a:solidFill>
              <a:srgbClr val="9E9E9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2061821" y="3968387"/>
              <a:ext cx="655320" cy="655955"/>
            </a:xfrm>
            <a:custGeom>
              <a:avLst/>
              <a:gdLst/>
              <a:ahLst/>
              <a:cxnLst/>
              <a:rect l="l" t="t" r="r" b="b"/>
              <a:pathLst>
                <a:path w="655319" h="655954">
                  <a:moveTo>
                    <a:pt x="158079" y="0"/>
                  </a:moveTo>
                  <a:lnTo>
                    <a:pt x="12096" y="128929"/>
                  </a:lnTo>
                  <a:lnTo>
                    <a:pt x="0" y="158141"/>
                  </a:lnTo>
                  <a:lnTo>
                    <a:pt x="3020" y="173688"/>
                  </a:lnTo>
                  <a:lnTo>
                    <a:pt x="12087" y="187356"/>
                  </a:lnTo>
                  <a:lnTo>
                    <a:pt x="467528" y="643235"/>
                  </a:lnTo>
                  <a:lnTo>
                    <a:pt x="481185" y="652312"/>
                  </a:lnTo>
                  <a:lnTo>
                    <a:pt x="496720" y="655339"/>
                  </a:lnTo>
                  <a:lnTo>
                    <a:pt x="512256" y="652316"/>
                  </a:lnTo>
                  <a:lnTo>
                    <a:pt x="525915" y="643242"/>
                  </a:lnTo>
                  <a:lnTo>
                    <a:pt x="642703" y="526409"/>
                  </a:lnTo>
                  <a:lnTo>
                    <a:pt x="651774" y="512743"/>
                  </a:lnTo>
                  <a:lnTo>
                    <a:pt x="654799" y="497198"/>
                  </a:lnTo>
                  <a:lnTo>
                    <a:pt x="651778" y="481651"/>
                  </a:lnTo>
                  <a:lnTo>
                    <a:pt x="642711" y="467982"/>
                  </a:lnTo>
                  <a:lnTo>
                    <a:pt x="187271" y="12105"/>
                  </a:lnTo>
                  <a:lnTo>
                    <a:pt x="173614" y="3027"/>
                  </a:lnTo>
                  <a:lnTo>
                    <a:pt x="1580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2061821" y="3968387"/>
              <a:ext cx="655320" cy="655955"/>
            </a:xfrm>
            <a:custGeom>
              <a:avLst/>
              <a:gdLst/>
              <a:ahLst/>
              <a:cxnLst/>
              <a:rect l="l" t="t" r="r" b="b"/>
              <a:pathLst>
                <a:path w="655319" h="655954">
                  <a:moveTo>
                    <a:pt x="128883" y="12096"/>
                  </a:moveTo>
                  <a:lnTo>
                    <a:pt x="142542" y="3022"/>
                  </a:lnTo>
                  <a:lnTo>
                    <a:pt x="158079" y="0"/>
                  </a:lnTo>
                  <a:lnTo>
                    <a:pt x="173614" y="3027"/>
                  </a:lnTo>
                  <a:lnTo>
                    <a:pt x="187270" y="12104"/>
                  </a:lnTo>
                  <a:lnTo>
                    <a:pt x="642711" y="467983"/>
                  </a:lnTo>
                  <a:lnTo>
                    <a:pt x="651778" y="481651"/>
                  </a:lnTo>
                  <a:lnTo>
                    <a:pt x="654799" y="497198"/>
                  </a:lnTo>
                  <a:lnTo>
                    <a:pt x="651774" y="512744"/>
                  </a:lnTo>
                  <a:lnTo>
                    <a:pt x="642703" y="526409"/>
                  </a:lnTo>
                  <a:lnTo>
                    <a:pt x="525915" y="643243"/>
                  </a:lnTo>
                  <a:lnTo>
                    <a:pt x="512257" y="652316"/>
                  </a:lnTo>
                  <a:lnTo>
                    <a:pt x="496720" y="655339"/>
                  </a:lnTo>
                  <a:lnTo>
                    <a:pt x="481185" y="652312"/>
                  </a:lnTo>
                  <a:lnTo>
                    <a:pt x="467528" y="643235"/>
                  </a:lnTo>
                  <a:lnTo>
                    <a:pt x="12088" y="187356"/>
                  </a:lnTo>
                  <a:lnTo>
                    <a:pt x="3020" y="173688"/>
                  </a:lnTo>
                  <a:lnTo>
                    <a:pt x="0" y="158141"/>
                  </a:lnTo>
                  <a:lnTo>
                    <a:pt x="3025" y="142595"/>
                  </a:lnTo>
                  <a:lnTo>
                    <a:pt x="12096" y="128929"/>
                  </a:lnTo>
                  <a:lnTo>
                    <a:pt x="128883" y="12096"/>
                  </a:lnTo>
                  <a:close/>
                </a:path>
              </a:pathLst>
            </a:custGeom>
            <a:ln w="21676">
              <a:solidFill>
                <a:srgbClr val="9E9E9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 descr=""/>
          <p:cNvSpPr txBox="1"/>
          <p:nvPr/>
        </p:nvSpPr>
        <p:spPr>
          <a:xfrm rot="2700000">
            <a:off x="2105816" y="4233894"/>
            <a:ext cx="552619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00"/>
              </a:lnSpc>
            </a:pPr>
            <a:r>
              <a:rPr dirty="0" sz="1100" spc="-10" b="1">
                <a:latin typeface="Arial"/>
                <a:cs typeface="Arial"/>
              </a:rPr>
              <a:t>DRIVES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70707" y="4779777"/>
            <a:ext cx="761999" cy="670559"/>
          </a:xfrm>
          <a:prstGeom prst="rect">
            <a:avLst/>
          </a:prstGeom>
        </p:spPr>
      </p:pic>
      <p:sp>
        <p:nvSpPr>
          <p:cNvPr id="41" name="object 4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4079032" y="2360166"/>
            <a:ext cx="2967355" cy="2282190"/>
            <a:chOff x="4079032" y="2360166"/>
            <a:chExt cx="2967355" cy="2282190"/>
          </a:xfrm>
        </p:grpSpPr>
        <p:sp>
          <p:nvSpPr>
            <p:cNvPr id="3" name="object 3" descr=""/>
            <p:cNvSpPr/>
            <p:nvPr/>
          </p:nvSpPr>
          <p:spPr>
            <a:xfrm>
              <a:off x="4079032" y="2360166"/>
              <a:ext cx="2967355" cy="2282190"/>
            </a:xfrm>
            <a:custGeom>
              <a:avLst/>
              <a:gdLst/>
              <a:ahLst/>
              <a:cxnLst/>
              <a:rect l="l" t="t" r="r" b="b"/>
              <a:pathLst>
                <a:path w="2967354" h="2282190">
                  <a:moveTo>
                    <a:pt x="2967168" y="0"/>
                  </a:moveTo>
                  <a:lnTo>
                    <a:pt x="0" y="0"/>
                  </a:lnTo>
                  <a:lnTo>
                    <a:pt x="0" y="2282121"/>
                  </a:lnTo>
                  <a:lnTo>
                    <a:pt x="2967168" y="2282121"/>
                  </a:lnTo>
                  <a:lnTo>
                    <a:pt x="2967168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5549939" y="2545602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293474" y="0"/>
                  </a:moveTo>
                  <a:lnTo>
                    <a:pt x="245871" y="3843"/>
                  </a:lnTo>
                  <a:lnTo>
                    <a:pt x="200713" y="14971"/>
                  </a:lnTo>
                  <a:lnTo>
                    <a:pt x="158605" y="32779"/>
                  </a:lnTo>
                  <a:lnTo>
                    <a:pt x="120152" y="56661"/>
                  </a:lnTo>
                  <a:lnTo>
                    <a:pt x="85956" y="86014"/>
                  </a:lnTo>
                  <a:lnTo>
                    <a:pt x="56623" y="120233"/>
                  </a:lnTo>
                  <a:lnTo>
                    <a:pt x="32757" y="158713"/>
                  </a:lnTo>
                  <a:lnTo>
                    <a:pt x="14961" y="200849"/>
                  </a:lnTo>
                  <a:lnTo>
                    <a:pt x="3841" y="246038"/>
                  </a:lnTo>
                  <a:lnTo>
                    <a:pt x="0" y="293673"/>
                  </a:lnTo>
                  <a:lnTo>
                    <a:pt x="3841" y="341309"/>
                  </a:lnTo>
                  <a:lnTo>
                    <a:pt x="14961" y="386497"/>
                  </a:lnTo>
                  <a:lnTo>
                    <a:pt x="32757" y="428633"/>
                  </a:lnTo>
                  <a:lnTo>
                    <a:pt x="56623" y="467113"/>
                  </a:lnTo>
                  <a:lnTo>
                    <a:pt x="85956" y="501332"/>
                  </a:lnTo>
                  <a:lnTo>
                    <a:pt x="120152" y="530686"/>
                  </a:lnTo>
                  <a:lnTo>
                    <a:pt x="158605" y="554568"/>
                  </a:lnTo>
                  <a:lnTo>
                    <a:pt x="200713" y="572376"/>
                  </a:lnTo>
                  <a:lnTo>
                    <a:pt x="245871" y="583504"/>
                  </a:lnTo>
                  <a:lnTo>
                    <a:pt x="293474" y="587348"/>
                  </a:lnTo>
                  <a:lnTo>
                    <a:pt x="341077" y="583504"/>
                  </a:lnTo>
                  <a:lnTo>
                    <a:pt x="386235" y="572376"/>
                  </a:lnTo>
                  <a:lnTo>
                    <a:pt x="428343" y="554568"/>
                  </a:lnTo>
                  <a:lnTo>
                    <a:pt x="466797" y="530686"/>
                  </a:lnTo>
                  <a:lnTo>
                    <a:pt x="500992" y="501332"/>
                  </a:lnTo>
                  <a:lnTo>
                    <a:pt x="530325" y="467113"/>
                  </a:lnTo>
                  <a:lnTo>
                    <a:pt x="554192" y="428633"/>
                  </a:lnTo>
                  <a:lnTo>
                    <a:pt x="571988" y="386497"/>
                  </a:lnTo>
                  <a:lnTo>
                    <a:pt x="583108" y="341309"/>
                  </a:lnTo>
                  <a:lnTo>
                    <a:pt x="586949" y="293673"/>
                  </a:lnTo>
                  <a:lnTo>
                    <a:pt x="583108" y="246038"/>
                  </a:lnTo>
                  <a:lnTo>
                    <a:pt x="571988" y="200849"/>
                  </a:lnTo>
                  <a:lnTo>
                    <a:pt x="554192" y="158713"/>
                  </a:lnTo>
                  <a:lnTo>
                    <a:pt x="530325" y="120233"/>
                  </a:lnTo>
                  <a:lnTo>
                    <a:pt x="500992" y="86014"/>
                  </a:lnTo>
                  <a:lnTo>
                    <a:pt x="466797" y="56661"/>
                  </a:lnTo>
                  <a:lnTo>
                    <a:pt x="428343" y="32779"/>
                  </a:lnTo>
                  <a:lnTo>
                    <a:pt x="386235" y="14971"/>
                  </a:lnTo>
                  <a:lnTo>
                    <a:pt x="341077" y="3843"/>
                  </a:lnTo>
                  <a:lnTo>
                    <a:pt x="293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549939" y="2545602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0" y="293674"/>
                  </a:moveTo>
                  <a:lnTo>
                    <a:pt x="3841" y="246038"/>
                  </a:lnTo>
                  <a:lnTo>
                    <a:pt x="14961" y="200850"/>
                  </a:lnTo>
                  <a:lnTo>
                    <a:pt x="32757" y="158713"/>
                  </a:lnTo>
                  <a:lnTo>
                    <a:pt x="56623" y="120233"/>
                  </a:lnTo>
                  <a:lnTo>
                    <a:pt x="85956" y="86015"/>
                  </a:lnTo>
                  <a:lnTo>
                    <a:pt x="120152" y="56662"/>
                  </a:lnTo>
                  <a:lnTo>
                    <a:pt x="158606" y="32779"/>
                  </a:lnTo>
                  <a:lnTo>
                    <a:pt x="200714" y="14971"/>
                  </a:lnTo>
                  <a:lnTo>
                    <a:pt x="245871" y="3843"/>
                  </a:lnTo>
                  <a:lnTo>
                    <a:pt x="293474" y="0"/>
                  </a:lnTo>
                  <a:lnTo>
                    <a:pt x="341078" y="3843"/>
                  </a:lnTo>
                  <a:lnTo>
                    <a:pt x="386235" y="14971"/>
                  </a:lnTo>
                  <a:lnTo>
                    <a:pt x="428343" y="32779"/>
                  </a:lnTo>
                  <a:lnTo>
                    <a:pt x="466797" y="56662"/>
                  </a:lnTo>
                  <a:lnTo>
                    <a:pt x="500993" y="86015"/>
                  </a:lnTo>
                  <a:lnTo>
                    <a:pt x="530326" y="120233"/>
                  </a:lnTo>
                  <a:lnTo>
                    <a:pt x="554192" y="158713"/>
                  </a:lnTo>
                  <a:lnTo>
                    <a:pt x="571988" y="200850"/>
                  </a:lnTo>
                  <a:lnTo>
                    <a:pt x="583108" y="246038"/>
                  </a:lnTo>
                  <a:lnTo>
                    <a:pt x="586949" y="293674"/>
                  </a:lnTo>
                  <a:lnTo>
                    <a:pt x="583108" y="341309"/>
                  </a:lnTo>
                  <a:lnTo>
                    <a:pt x="571988" y="386497"/>
                  </a:lnTo>
                  <a:lnTo>
                    <a:pt x="554192" y="428634"/>
                  </a:lnTo>
                  <a:lnTo>
                    <a:pt x="530326" y="467114"/>
                  </a:lnTo>
                  <a:lnTo>
                    <a:pt x="500993" y="501333"/>
                  </a:lnTo>
                  <a:lnTo>
                    <a:pt x="466797" y="530686"/>
                  </a:lnTo>
                  <a:lnTo>
                    <a:pt x="428343" y="554568"/>
                  </a:lnTo>
                  <a:lnTo>
                    <a:pt x="386235" y="572376"/>
                  </a:lnTo>
                  <a:lnTo>
                    <a:pt x="341078" y="583504"/>
                  </a:lnTo>
                  <a:lnTo>
                    <a:pt x="293474" y="587348"/>
                  </a:lnTo>
                  <a:lnTo>
                    <a:pt x="245871" y="583504"/>
                  </a:lnTo>
                  <a:lnTo>
                    <a:pt x="200714" y="572376"/>
                  </a:lnTo>
                  <a:lnTo>
                    <a:pt x="158606" y="554568"/>
                  </a:lnTo>
                  <a:lnTo>
                    <a:pt x="120152" y="530686"/>
                  </a:lnTo>
                  <a:lnTo>
                    <a:pt x="85956" y="501333"/>
                  </a:lnTo>
                  <a:lnTo>
                    <a:pt x="56623" y="467114"/>
                  </a:lnTo>
                  <a:lnTo>
                    <a:pt x="32757" y="428634"/>
                  </a:lnTo>
                  <a:lnTo>
                    <a:pt x="14961" y="386497"/>
                  </a:lnTo>
                  <a:lnTo>
                    <a:pt x="3841" y="341309"/>
                  </a:lnTo>
                  <a:lnTo>
                    <a:pt x="0" y="293674"/>
                  </a:lnTo>
                  <a:close/>
                </a:path>
              </a:pathLst>
            </a:custGeom>
            <a:ln w="28902">
              <a:solidFill>
                <a:srgbClr val="0B0B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38291" y="2633985"/>
              <a:ext cx="387096" cy="3870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676941" y="3708411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293475" y="0"/>
                  </a:moveTo>
                  <a:lnTo>
                    <a:pt x="245872" y="3843"/>
                  </a:lnTo>
                  <a:lnTo>
                    <a:pt x="200714" y="14971"/>
                  </a:lnTo>
                  <a:lnTo>
                    <a:pt x="158606" y="32779"/>
                  </a:lnTo>
                  <a:lnTo>
                    <a:pt x="120152" y="56661"/>
                  </a:lnTo>
                  <a:lnTo>
                    <a:pt x="85957" y="86014"/>
                  </a:lnTo>
                  <a:lnTo>
                    <a:pt x="56623" y="120233"/>
                  </a:lnTo>
                  <a:lnTo>
                    <a:pt x="32757" y="158713"/>
                  </a:lnTo>
                  <a:lnTo>
                    <a:pt x="14961" y="200849"/>
                  </a:lnTo>
                  <a:lnTo>
                    <a:pt x="3841" y="246038"/>
                  </a:lnTo>
                  <a:lnTo>
                    <a:pt x="0" y="293673"/>
                  </a:lnTo>
                  <a:lnTo>
                    <a:pt x="3841" y="341308"/>
                  </a:lnTo>
                  <a:lnTo>
                    <a:pt x="14961" y="386497"/>
                  </a:lnTo>
                  <a:lnTo>
                    <a:pt x="32757" y="428633"/>
                  </a:lnTo>
                  <a:lnTo>
                    <a:pt x="56623" y="467113"/>
                  </a:lnTo>
                  <a:lnTo>
                    <a:pt x="85957" y="501332"/>
                  </a:lnTo>
                  <a:lnTo>
                    <a:pt x="120152" y="530685"/>
                  </a:lnTo>
                  <a:lnTo>
                    <a:pt x="158606" y="554567"/>
                  </a:lnTo>
                  <a:lnTo>
                    <a:pt x="200714" y="572375"/>
                  </a:lnTo>
                  <a:lnTo>
                    <a:pt x="245872" y="583503"/>
                  </a:lnTo>
                  <a:lnTo>
                    <a:pt x="293475" y="587347"/>
                  </a:lnTo>
                  <a:lnTo>
                    <a:pt x="341078" y="583503"/>
                  </a:lnTo>
                  <a:lnTo>
                    <a:pt x="386236" y="572375"/>
                  </a:lnTo>
                  <a:lnTo>
                    <a:pt x="428343" y="554567"/>
                  </a:lnTo>
                  <a:lnTo>
                    <a:pt x="466797" y="530685"/>
                  </a:lnTo>
                  <a:lnTo>
                    <a:pt x="500993" y="501332"/>
                  </a:lnTo>
                  <a:lnTo>
                    <a:pt x="530326" y="467113"/>
                  </a:lnTo>
                  <a:lnTo>
                    <a:pt x="554193" y="428633"/>
                  </a:lnTo>
                  <a:lnTo>
                    <a:pt x="571989" y="386497"/>
                  </a:lnTo>
                  <a:lnTo>
                    <a:pt x="583109" y="341308"/>
                  </a:lnTo>
                  <a:lnTo>
                    <a:pt x="586950" y="293673"/>
                  </a:lnTo>
                  <a:lnTo>
                    <a:pt x="583109" y="246038"/>
                  </a:lnTo>
                  <a:lnTo>
                    <a:pt x="571989" y="200849"/>
                  </a:lnTo>
                  <a:lnTo>
                    <a:pt x="554193" y="158713"/>
                  </a:lnTo>
                  <a:lnTo>
                    <a:pt x="530326" y="120233"/>
                  </a:lnTo>
                  <a:lnTo>
                    <a:pt x="500993" y="86014"/>
                  </a:lnTo>
                  <a:lnTo>
                    <a:pt x="466797" y="56661"/>
                  </a:lnTo>
                  <a:lnTo>
                    <a:pt x="428343" y="32779"/>
                  </a:lnTo>
                  <a:lnTo>
                    <a:pt x="386236" y="14971"/>
                  </a:lnTo>
                  <a:lnTo>
                    <a:pt x="341078" y="3843"/>
                  </a:lnTo>
                  <a:lnTo>
                    <a:pt x="293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676941" y="3708411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0" y="293674"/>
                  </a:moveTo>
                  <a:lnTo>
                    <a:pt x="3841" y="246038"/>
                  </a:lnTo>
                  <a:lnTo>
                    <a:pt x="14961" y="200850"/>
                  </a:lnTo>
                  <a:lnTo>
                    <a:pt x="32757" y="158713"/>
                  </a:lnTo>
                  <a:lnTo>
                    <a:pt x="56623" y="120233"/>
                  </a:lnTo>
                  <a:lnTo>
                    <a:pt x="85956" y="86015"/>
                  </a:lnTo>
                  <a:lnTo>
                    <a:pt x="120152" y="56662"/>
                  </a:lnTo>
                  <a:lnTo>
                    <a:pt x="158606" y="32779"/>
                  </a:lnTo>
                  <a:lnTo>
                    <a:pt x="200714" y="14971"/>
                  </a:lnTo>
                  <a:lnTo>
                    <a:pt x="245871" y="3843"/>
                  </a:lnTo>
                  <a:lnTo>
                    <a:pt x="293474" y="0"/>
                  </a:lnTo>
                  <a:lnTo>
                    <a:pt x="341078" y="3843"/>
                  </a:lnTo>
                  <a:lnTo>
                    <a:pt x="386235" y="14971"/>
                  </a:lnTo>
                  <a:lnTo>
                    <a:pt x="428343" y="32779"/>
                  </a:lnTo>
                  <a:lnTo>
                    <a:pt x="466797" y="56662"/>
                  </a:lnTo>
                  <a:lnTo>
                    <a:pt x="500993" y="86015"/>
                  </a:lnTo>
                  <a:lnTo>
                    <a:pt x="530326" y="120233"/>
                  </a:lnTo>
                  <a:lnTo>
                    <a:pt x="554192" y="158713"/>
                  </a:lnTo>
                  <a:lnTo>
                    <a:pt x="571988" y="200850"/>
                  </a:lnTo>
                  <a:lnTo>
                    <a:pt x="583108" y="246038"/>
                  </a:lnTo>
                  <a:lnTo>
                    <a:pt x="586949" y="293674"/>
                  </a:lnTo>
                  <a:lnTo>
                    <a:pt x="583108" y="341309"/>
                  </a:lnTo>
                  <a:lnTo>
                    <a:pt x="571988" y="386497"/>
                  </a:lnTo>
                  <a:lnTo>
                    <a:pt x="554192" y="428634"/>
                  </a:lnTo>
                  <a:lnTo>
                    <a:pt x="530326" y="467114"/>
                  </a:lnTo>
                  <a:lnTo>
                    <a:pt x="500993" y="501333"/>
                  </a:lnTo>
                  <a:lnTo>
                    <a:pt x="466797" y="530686"/>
                  </a:lnTo>
                  <a:lnTo>
                    <a:pt x="428343" y="554568"/>
                  </a:lnTo>
                  <a:lnTo>
                    <a:pt x="386235" y="572376"/>
                  </a:lnTo>
                  <a:lnTo>
                    <a:pt x="341078" y="583504"/>
                  </a:lnTo>
                  <a:lnTo>
                    <a:pt x="293474" y="587348"/>
                  </a:lnTo>
                  <a:lnTo>
                    <a:pt x="245871" y="583504"/>
                  </a:lnTo>
                  <a:lnTo>
                    <a:pt x="200714" y="572376"/>
                  </a:lnTo>
                  <a:lnTo>
                    <a:pt x="158606" y="554568"/>
                  </a:lnTo>
                  <a:lnTo>
                    <a:pt x="120152" y="530686"/>
                  </a:lnTo>
                  <a:lnTo>
                    <a:pt x="85956" y="501333"/>
                  </a:lnTo>
                  <a:lnTo>
                    <a:pt x="56623" y="467114"/>
                  </a:lnTo>
                  <a:lnTo>
                    <a:pt x="32757" y="428634"/>
                  </a:lnTo>
                  <a:lnTo>
                    <a:pt x="14961" y="386497"/>
                  </a:lnTo>
                  <a:lnTo>
                    <a:pt x="3841" y="341309"/>
                  </a:lnTo>
                  <a:lnTo>
                    <a:pt x="0" y="293674"/>
                  </a:lnTo>
                  <a:close/>
                </a:path>
              </a:pathLst>
            </a:custGeom>
            <a:ln w="28902">
              <a:solidFill>
                <a:srgbClr val="0B0B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3515" y="3795273"/>
              <a:ext cx="414527" cy="41452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403597" y="3023072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293474" y="0"/>
                  </a:moveTo>
                  <a:lnTo>
                    <a:pt x="245871" y="3843"/>
                  </a:lnTo>
                  <a:lnTo>
                    <a:pt x="200713" y="14971"/>
                  </a:lnTo>
                  <a:lnTo>
                    <a:pt x="158605" y="32779"/>
                  </a:lnTo>
                  <a:lnTo>
                    <a:pt x="120152" y="56661"/>
                  </a:lnTo>
                  <a:lnTo>
                    <a:pt x="85956" y="86014"/>
                  </a:lnTo>
                  <a:lnTo>
                    <a:pt x="56623" y="120233"/>
                  </a:lnTo>
                  <a:lnTo>
                    <a:pt x="32757" y="158713"/>
                  </a:lnTo>
                  <a:lnTo>
                    <a:pt x="14961" y="200849"/>
                  </a:lnTo>
                  <a:lnTo>
                    <a:pt x="3841" y="246038"/>
                  </a:lnTo>
                  <a:lnTo>
                    <a:pt x="0" y="293673"/>
                  </a:lnTo>
                  <a:lnTo>
                    <a:pt x="3841" y="341309"/>
                  </a:lnTo>
                  <a:lnTo>
                    <a:pt x="14961" y="386497"/>
                  </a:lnTo>
                  <a:lnTo>
                    <a:pt x="32757" y="428633"/>
                  </a:lnTo>
                  <a:lnTo>
                    <a:pt x="56623" y="467113"/>
                  </a:lnTo>
                  <a:lnTo>
                    <a:pt x="85956" y="501332"/>
                  </a:lnTo>
                  <a:lnTo>
                    <a:pt x="120152" y="530686"/>
                  </a:lnTo>
                  <a:lnTo>
                    <a:pt x="158605" y="554568"/>
                  </a:lnTo>
                  <a:lnTo>
                    <a:pt x="200713" y="572376"/>
                  </a:lnTo>
                  <a:lnTo>
                    <a:pt x="245871" y="583504"/>
                  </a:lnTo>
                  <a:lnTo>
                    <a:pt x="293474" y="587348"/>
                  </a:lnTo>
                  <a:lnTo>
                    <a:pt x="341077" y="583504"/>
                  </a:lnTo>
                  <a:lnTo>
                    <a:pt x="386235" y="572376"/>
                  </a:lnTo>
                  <a:lnTo>
                    <a:pt x="428343" y="554568"/>
                  </a:lnTo>
                  <a:lnTo>
                    <a:pt x="466797" y="530686"/>
                  </a:lnTo>
                  <a:lnTo>
                    <a:pt x="500992" y="501332"/>
                  </a:lnTo>
                  <a:lnTo>
                    <a:pt x="530325" y="467113"/>
                  </a:lnTo>
                  <a:lnTo>
                    <a:pt x="554192" y="428633"/>
                  </a:lnTo>
                  <a:lnTo>
                    <a:pt x="571988" y="386497"/>
                  </a:lnTo>
                  <a:lnTo>
                    <a:pt x="583108" y="341309"/>
                  </a:lnTo>
                  <a:lnTo>
                    <a:pt x="586949" y="293673"/>
                  </a:lnTo>
                  <a:lnTo>
                    <a:pt x="583108" y="246038"/>
                  </a:lnTo>
                  <a:lnTo>
                    <a:pt x="571988" y="200849"/>
                  </a:lnTo>
                  <a:lnTo>
                    <a:pt x="554192" y="158713"/>
                  </a:lnTo>
                  <a:lnTo>
                    <a:pt x="530325" y="120233"/>
                  </a:lnTo>
                  <a:lnTo>
                    <a:pt x="500992" y="86014"/>
                  </a:lnTo>
                  <a:lnTo>
                    <a:pt x="466797" y="56661"/>
                  </a:lnTo>
                  <a:lnTo>
                    <a:pt x="428343" y="32779"/>
                  </a:lnTo>
                  <a:lnTo>
                    <a:pt x="386235" y="14971"/>
                  </a:lnTo>
                  <a:lnTo>
                    <a:pt x="341077" y="3843"/>
                  </a:lnTo>
                  <a:lnTo>
                    <a:pt x="293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403597" y="3023072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0" y="293674"/>
                  </a:moveTo>
                  <a:lnTo>
                    <a:pt x="3841" y="246038"/>
                  </a:lnTo>
                  <a:lnTo>
                    <a:pt x="14961" y="200850"/>
                  </a:lnTo>
                  <a:lnTo>
                    <a:pt x="32757" y="158713"/>
                  </a:lnTo>
                  <a:lnTo>
                    <a:pt x="56623" y="120233"/>
                  </a:lnTo>
                  <a:lnTo>
                    <a:pt x="85956" y="86015"/>
                  </a:lnTo>
                  <a:lnTo>
                    <a:pt x="120152" y="56662"/>
                  </a:lnTo>
                  <a:lnTo>
                    <a:pt x="158606" y="32779"/>
                  </a:lnTo>
                  <a:lnTo>
                    <a:pt x="200714" y="14971"/>
                  </a:lnTo>
                  <a:lnTo>
                    <a:pt x="245871" y="3843"/>
                  </a:lnTo>
                  <a:lnTo>
                    <a:pt x="293474" y="0"/>
                  </a:lnTo>
                  <a:lnTo>
                    <a:pt x="341078" y="3843"/>
                  </a:lnTo>
                  <a:lnTo>
                    <a:pt x="386235" y="14971"/>
                  </a:lnTo>
                  <a:lnTo>
                    <a:pt x="428343" y="32779"/>
                  </a:lnTo>
                  <a:lnTo>
                    <a:pt x="466797" y="56662"/>
                  </a:lnTo>
                  <a:lnTo>
                    <a:pt x="500993" y="86015"/>
                  </a:lnTo>
                  <a:lnTo>
                    <a:pt x="530326" y="120233"/>
                  </a:lnTo>
                  <a:lnTo>
                    <a:pt x="554192" y="158713"/>
                  </a:lnTo>
                  <a:lnTo>
                    <a:pt x="571988" y="200850"/>
                  </a:lnTo>
                  <a:lnTo>
                    <a:pt x="583108" y="246038"/>
                  </a:lnTo>
                  <a:lnTo>
                    <a:pt x="586949" y="293674"/>
                  </a:lnTo>
                  <a:lnTo>
                    <a:pt x="583108" y="341309"/>
                  </a:lnTo>
                  <a:lnTo>
                    <a:pt x="571988" y="386497"/>
                  </a:lnTo>
                  <a:lnTo>
                    <a:pt x="554192" y="428634"/>
                  </a:lnTo>
                  <a:lnTo>
                    <a:pt x="530326" y="467114"/>
                  </a:lnTo>
                  <a:lnTo>
                    <a:pt x="500993" y="501333"/>
                  </a:lnTo>
                  <a:lnTo>
                    <a:pt x="466797" y="530686"/>
                  </a:lnTo>
                  <a:lnTo>
                    <a:pt x="428343" y="554568"/>
                  </a:lnTo>
                  <a:lnTo>
                    <a:pt x="386235" y="572376"/>
                  </a:lnTo>
                  <a:lnTo>
                    <a:pt x="341078" y="583504"/>
                  </a:lnTo>
                  <a:lnTo>
                    <a:pt x="293474" y="587348"/>
                  </a:lnTo>
                  <a:lnTo>
                    <a:pt x="245871" y="583504"/>
                  </a:lnTo>
                  <a:lnTo>
                    <a:pt x="200714" y="572376"/>
                  </a:lnTo>
                  <a:lnTo>
                    <a:pt x="158606" y="554568"/>
                  </a:lnTo>
                  <a:lnTo>
                    <a:pt x="120152" y="530686"/>
                  </a:lnTo>
                  <a:lnTo>
                    <a:pt x="85956" y="501333"/>
                  </a:lnTo>
                  <a:lnTo>
                    <a:pt x="56623" y="467114"/>
                  </a:lnTo>
                  <a:lnTo>
                    <a:pt x="32757" y="428634"/>
                  </a:lnTo>
                  <a:lnTo>
                    <a:pt x="14961" y="386497"/>
                  </a:lnTo>
                  <a:lnTo>
                    <a:pt x="3841" y="341309"/>
                  </a:lnTo>
                  <a:lnTo>
                    <a:pt x="0" y="293674"/>
                  </a:lnTo>
                  <a:close/>
                </a:path>
              </a:pathLst>
            </a:custGeom>
            <a:ln w="28902">
              <a:solidFill>
                <a:srgbClr val="0B0B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7827" y="3109473"/>
              <a:ext cx="420624" cy="37795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4608258" y="2843885"/>
              <a:ext cx="1910714" cy="1334770"/>
            </a:xfrm>
            <a:custGeom>
              <a:avLst/>
              <a:gdLst/>
              <a:ahLst/>
              <a:cxnLst/>
              <a:rect l="l" t="t" r="r" b="b"/>
              <a:pathLst>
                <a:path w="1910715" h="1334770">
                  <a:moveTo>
                    <a:pt x="226212" y="888834"/>
                  </a:moveTo>
                  <a:lnTo>
                    <a:pt x="225755" y="792467"/>
                  </a:lnTo>
                  <a:lnTo>
                    <a:pt x="225679" y="776008"/>
                  </a:lnTo>
                  <a:lnTo>
                    <a:pt x="225450" y="727214"/>
                  </a:lnTo>
                  <a:lnTo>
                    <a:pt x="167449" y="756577"/>
                  </a:lnTo>
                  <a:lnTo>
                    <a:pt x="12890" y="450862"/>
                  </a:lnTo>
                  <a:lnTo>
                    <a:pt x="0" y="457390"/>
                  </a:lnTo>
                  <a:lnTo>
                    <a:pt x="154559" y="763104"/>
                  </a:lnTo>
                  <a:lnTo>
                    <a:pt x="96545" y="792467"/>
                  </a:lnTo>
                  <a:lnTo>
                    <a:pt x="226212" y="888834"/>
                  </a:lnTo>
                  <a:close/>
                </a:path>
                <a:path w="1910715" h="1334770">
                  <a:moveTo>
                    <a:pt x="937920" y="46672"/>
                  </a:moveTo>
                  <a:lnTo>
                    <a:pt x="783285" y="0"/>
                  </a:lnTo>
                  <a:lnTo>
                    <a:pt x="794321" y="64109"/>
                  </a:lnTo>
                  <a:lnTo>
                    <a:pt x="140893" y="176822"/>
                  </a:lnTo>
                  <a:lnTo>
                    <a:pt x="143344" y="191071"/>
                  </a:lnTo>
                  <a:lnTo>
                    <a:pt x="796785" y="78359"/>
                  </a:lnTo>
                  <a:lnTo>
                    <a:pt x="807821" y="142455"/>
                  </a:lnTo>
                  <a:lnTo>
                    <a:pt x="917575" y="61645"/>
                  </a:lnTo>
                  <a:lnTo>
                    <a:pt x="937920" y="46672"/>
                  </a:lnTo>
                  <a:close/>
                </a:path>
                <a:path w="1910715" h="1334770">
                  <a:moveTo>
                    <a:pt x="1178953" y="1320241"/>
                  </a:moveTo>
                  <a:lnTo>
                    <a:pt x="800341" y="1241679"/>
                  </a:lnTo>
                  <a:lnTo>
                    <a:pt x="800950" y="1238745"/>
                  </a:lnTo>
                  <a:lnTo>
                    <a:pt x="813536" y="1177988"/>
                  </a:lnTo>
                  <a:lnTo>
                    <a:pt x="657415" y="1219403"/>
                  </a:lnTo>
                  <a:lnTo>
                    <a:pt x="784199" y="1319530"/>
                  </a:lnTo>
                  <a:lnTo>
                    <a:pt x="797407" y="1255839"/>
                  </a:lnTo>
                  <a:lnTo>
                    <a:pt x="1176020" y="1334389"/>
                  </a:lnTo>
                  <a:lnTo>
                    <a:pt x="1178953" y="1320241"/>
                  </a:lnTo>
                  <a:close/>
                </a:path>
                <a:path w="1910715" h="1334770">
                  <a:moveTo>
                    <a:pt x="1398549" y="1126172"/>
                  </a:moveTo>
                  <a:lnTo>
                    <a:pt x="1303324" y="436499"/>
                  </a:lnTo>
                  <a:lnTo>
                    <a:pt x="1367726" y="427596"/>
                  </a:lnTo>
                  <a:lnTo>
                    <a:pt x="1364005" y="422173"/>
                  </a:lnTo>
                  <a:lnTo>
                    <a:pt x="1276400" y="294284"/>
                  </a:lnTo>
                  <a:lnTo>
                    <a:pt x="1224622" y="447382"/>
                  </a:lnTo>
                  <a:lnTo>
                    <a:pt x="1289011" y="438480"/>
                  </a:lnTo>
                  <a:lnTo>
                    <a:pt x="1384249" y="1128141"/>
                  </a:lnTo>
                  <a:lnTo>
                    <a:pt x="1398549" y="1126172"/>
                  </a:lnTo>
                  <a:close/>
                </a:path>
                <a:path w="1910715" h="1334770">
                  <a:moveTo>
                    <a:pt x="1910575" y="716318"/>
                  </a:moveTo>
                  <a:lnTo>
                    <a:pt x="1767001" y="790333"/>
                  </a:lnTo>
                  <a:lnTo>
                    <a:pt x="1819465" y="828738"/>
                  </a:lnTo>
                  <a:lnTo>
                    <a:pt x="1570329" y="1169631"/>
                  </a:lnTo>
                  <a:lnTo>
                    <a:pt x="1581988" y="1178166"/>
                  </a:lnTo>
                  <a:lnTo>
                    <a:pt x="1831136" y="837272"/>
                  </a:lnTo>
                  <a:lnTo>
                    <a:pt x="1883600" y="875665"/>
                  </a:lnTo>
                  <a:lnTo>
                    <a:pt x="1893519" y="817067"/>
                  </a:lnTo>
                  <a:lnTo>
                    <a:pt x="1910575" y="71631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948444" y="2867122"/>
              <a:ext cx="350520" cy="187960"/>
            </a:xfrm>
            <a:custGeom>
              <a:avLst/>
              <a:gdLst/>
              <a:ahLst/>
              <a:cxnLst/>
              <a:rect l="l" t="t" r="r" b="b"/>
              <a:pathLst>
                <a:path w="350520" h="187960">
                  <a:moveTo>
                    <a:pt x="330329" y="0"/>
                  </a:moveTo>
                  <a:lnTo>
                    <a:pt x="0" y="46782"/>
                  </a:lnTo>
                  <a:lnTo>
                    <a:pt x="19950" y="187840"/>
                  </a:lnTo>
                  <a:lnTo>
                    <a:pt x="350279" y="141057"/>
                  </a:lnTo>
                  <a:lnTo>
                    <a:pt x="3303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7208352" y="2360166"/>
            <a:ext cx="2967355" cy="2282190"/>
            <a:chOff x="7208352" y="2360166"/>
            <a:chExt cx="2967355" cy="2282190"/>
          </a:xfrm>
        </p:grpSpPr>
        <p:sp>
          <p:nvSpPr>
            <p:cNvPr id="16" name="object 16" descr=""/>
            <p:cNvSpPr/>
            <p:nvPr/>
          </p:nvSpPr>
          <p:spPr>
            <a:xfrm>
              <a:off x="7208352" y="2360166"/>
              <a:ext cx="2967355" cy="2282190"/>
            </a:xfrm>
            <a:custGeom>
              <a:avLst/>
              <a:gdLst/>
              <a:ahLst/>
              <a:cxnLst/>
              <a:rect l="l" t="t" r="r" b="b"/>
              <a:pathLst>
                <a:path w="2967354" h="2282190">
                  <a:moveTo>
                    <a:pt x="2967169" y="0"/>
                  </a:moveTo>
                  <a:lnTo>
                    <a:pt x="0" y="0"/>
                  </a:lnTo>
                  <a:lnTo>
                    <a:pt x="0" y="2282121"/>
                  </a:lnTo>
                  <a:lnTo>
                    <a:pt x="2967169" y="2282121"/>
                  </a:lnTo>
                  <a:lnTo>
                    <a:pt x="296716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881619" y="3648235"/>
              <a:ext cx="568325" cy="250825"/>
            </a:xfrm>
            <a:custGeom>
              <a:avLst/>
              <a:gdLst/>
              <a:ahLst/>
              <a:cxnLst/>
              <a:rect l="l" t="t" r="r" b="b"/>
              <a:pathLst>
                <a:path w="568325" h="250825">
                  <a:moveTo>
                    <a:pt x="431748" y="60207"/>
                  </a:moveTo>
                  <a:lnTo>
                    <a:pt x="0" y="236987"/>
                  </a:lnTo>
                  <a:lnTo>
                    <a:pt x="5471" y="250366"/>
                  </a:lnTo>
                  <a:lnTo>
                    <a:pt x="437219" y="73586"/>
                  </a:lnTo>
                  <a:lnTo>
                    <a:pt x="431748" y="60207"/>
                  </a:lnTo>
                  <a:close/>
                </a:path>
                <a:path w="568325" h="250825">
                  <a:moveTo>
                    <a:pt x="530959" y="54733"/>
                  </a:moveTo>
                  <a:lnTo>
                    <a:pt x="445118" y="54733"/>
                  </a:lnTo>
                  <a:lnTo>
                    <a:pt x="450589" y="68112"/>
                  </a:lnTo>
                  <a:lnTo>
                    <a:pt x="437219" y="73586"/>
                  </a:lnTo>
                  <a:lnTo>
                    <a:pt x="461838" y="133793"/>
                  </a:lnTo>
                  <a:lnTo>
                    <a:pt x="530959" y="54733"/>
                  </a:lnTo>
                  <a:close/>
                </a:path>
                <a:path w="568325" h="250825">
                  <a:moveTo>
                    <a:pt x="445118" y="54733"/>
                  </a:moveTo>
                  <a:lnTo>
                    <a:pt x="431748" y="60207"/>
                  </a:lnTo>
                  <a:lnTo>
                    <a:pt x="437219" y="73586"/>
                  </a:lnTo>
                  <a:lnTo>
                    <a:pt x="450589" y="68112"/>
                  </a:lnTo>
                  <a:lnTo>
                    <a:pt x="445118" y="54733"/>
                  </a:lnTo>
                  <a:close/>
                </a:path>
                <a:path w="568325" h="250825">
                  <a:moveTo>
                    <a:pt x="407130" y="0"/>
                  </a:moveTo>
                  <a:lnTo>
                    <a:pt x="431748" y="60207"/>
                  </a:lnTo>
                  <a:lnTo>
                    <a:pt x="445118" y="54733"/>
                  </a:lnTo>
                  <a:lnTo>
                    <a:pt x="530959" y="54733"/>
                  </a:lnTo>
                  <a:lnTo>
                    <a:pt x="568187" y="12152"/>
                  </a:lnTo>
                  <a:lnTo>
                    <a:pt x="407130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9445707" y="3207571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293475" y="0"/>
                  </a:moveTo>
                  <a:lnTo>
                    <a:pt x="245872" y="3843"/>
                  </a:lnTo>
                  <a:lnTo>
                    <a:pt x="200714" y="14971"/>
                  </a:lnTo>
                  <a:lnTo>
                    <a:pt x="158606" y="32779"/>
                  </a:lnTo>
                  <a:lnTo>
                    <a:pt x="120152" y="56661"/>
                  </a:lnTo>
                  <a:lnTo>
                    <a:pt x="85957" y="86014"/>
                  </a:lnTo>
                  <a:lnTo>
                    <a:pt x="56623" y="120233"/>
                  </a:lnTo>
                  <a:lnTo>
                    <a:pt x="32757" y="158713"/>
                  </a:lnTo>
                  <a:lnTo>
                    <a:pt x="14961" y="200849"/>
                  </a:lnTo>
                  <a:lnTo>
                    <a:pt x="3841" y="246038"/>
                  </a:lnTo>
                  <a:lnTo>
                    <a:pt x="0" y="293673"/>
                  </a:lnTo>
                  <a:lnTo>
                    <a:pt x="3841" y="341309"/>
                  </a:lnTo>
                  <a:lnTo>
                    <a:pt x="14961" y="386497"/>
                  </a:lnTo>
                  <a:lnTo>
                    <a:pt x="32757" y="428633"/>
                  </a:lnTo>
                  <a:lnTo>
                    <a:pt x="56623" y="467113"/>
                  </a:lnTo>
                  <a:lnTo>
                    <a:pt x="85957" y="501332"/>
                  </a:lnTo>
                  <a:lnTo>
                    <a:pt x="120152" y="530686"/>
                  </a:lnTo>
                  <a:lnTo>
                    <a:pt x="158606" y="554568"/>
                  </a:lnTo>
                  <a:lnTo>
                    <a:pt x="200714" y="572376"/>
                  </a:lnTo>
                  <a:lnTo>
                    <a:pt x="245872" y="583504"/>
                  </a:lnTo>
                  <a:lnTo>
                    <a:pt x="293475" y="587348"/>
                  </a:lnTo>
                  <a:lnTo>
                    <a:pt x="341078" y="583504"/>
                  </a:lnTo>
                  <a:lnTo>
                    <a:pt x="386236" y="572376"/>
                  </a:lnTo>
                  <a:lnTo>
                    <a:pt x="428344" y="554568"/>
                  </a:lnTo>
                  <a:lnTo>
                    <a:pt x="466798" y="530686"/>
                  </a:lnTo>
                  <a:lnTo>
                    <a:pt x="500994" y="501332"/>
                  </a:lnTo>
                  <a:lnTo>
                    <a:pt x="530327" y="467113"/>
                  </a:lnTo>
                  <a:lnTo>
                    <a:pt x="554193" y="428633"/>
                  </a:lnTo>
                  <a:lnTo>
                    <a:pt x="571989" y="386497"/>
                  </a:lnTo>
                  <a:lnTo>
                    <a:pt x="583109" y="341309"/>
                  </a:lnTo>
                  <a:lnTo>
                    <a:pt x="586950" y="293673"/>
                  </a:lnTo>
                  <a:lnTo>
                    <a:pt x="583109" y="246038"/>
                  </a:lnTo>
                  <a:lnTo>
                    <a:pt x="571989" y="200849"/>
                  </a:lnTo>
                  <a:lnTo>
                    <a:pt x="554193" y="158713"/>
                  </a:lnTo>
                  <a:lnTo>
                    <a:pt x="530327" y="120233"/>
                  </a:lnTo>
                  <a:lnTo>
                    <a:pt x="500994" y="86014"/>
                  </a:lnTo>
                  <a:lnTo>
                    <a:pt x="466798" y="56661"/>
                  </a:lnTo>
                  <a:lnTo>
                    <a:pt x="428344" y="32779"/>
                  </a:lnTo>
                  <a:lnTo>
                    <a:pt x="386236" y="14971"/>
                  </a:lnTo>
                  <a:lnTo>
                    <a:pt x="341078" y="3843"/>
                  </a:lnTo>
                  <a:lnTo>
                    <a:pt x="2934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9445707" y="3207571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0" y="293674"/>
                  </a:moveTo>
                  <a:lnTo>
                    <a:pt x="3841" y="246038"/>
                  </a:lnTo>
                  <a:lnTo>
                    <a:pt x="14961" y="200850"/>
                  </a:lnTo>
                  <a:lnTo>
                    <a:pt x="32757" y="158713"/>
                  </a:lnTo>
                  <a:lnTo>
                    <a:pt x="56623" y="120233"/>
                  </a:lnTo>
                  <a:lnTo>
                    <a:pt x="85956" y="86015"/>
                  </a:lnTo>
                  <a:lnTo>
                    <a:pt x="120152" y="56662"/>
                  </a:lnTo>
                  <a:lnTo>
                    <a:pt x="158606" y="32779"/>
                  </a:lnTo>
                  <a:lnTo>
                    <a:pt x="200714" y="14971"/>
                  </a:lnTo>
                  <a:lnTo>
                    <a:pt x="245871" y="3843"/>
                  </a:lnTo>
                  <a:lnTo>
                    <a:pt x="293474" y="0"/>
                  </a:lnTo>
                  <a:lnTo>
                    <a:pt x="341078" y="3843"/>
                  </a:lnTo>
                  <a:lnTo>
                    <a:pt x="386235" y="14971"/>
                  </a:lnTo>
                  <a:lnTo>
                    <a:pt x="428343" y="32779"/>
                  </a:lnTo>
                  <a:lnTo>
                    <a:pt x="466797" y="56662"/>
                  </a:lnTo>
                  <a:lnTo>
                    <a:pt x="500993" y="86015"/>
                  </a:lnTo>
                  <a:lnTo>
                    <a:pt x="530326" y="120233"/>
                  </a:lnTo>
                  <a:lnTo>
                    <a:pt x="554192" y="158713"/>
                  </a:lnTo>
                  <a:lnTo>
                    <a:pt x="571988" y="200850"/>
                  </a:lnTo>
                  <a:lnTo>
                    <a:pt x="583108" y="246038"/>
                  </a:lnTo>
                  <a:lnTo>
                    <a:pt x="586949" y="293674"/>
                  </a:lnTo>
                  <a:lnTo>
                    <a:pt x="583108" y="341309"/>
                  </a:lnTo>
                  <a:lnTo>
                    <a:pt x="571988" y="386497"/>
                  </a:lnTo>
                  <a:lnTo>
                    <a:pt x="554192" y="428634"/>
                  </a:lnTo>
                  <a:lnTo>
                    <a:pt x="530326" y="467114"/>
                  </a:lnTo>
                  <a:lnTo>
                    <a:pt x="500993" y="501333"/>
                  </a:lnTo>
                  <a:lnTo>
                    <a:pt x="466797" y="530686"/>
                  </a:lnTo>
                  <a:lnTo>
                    <a:pt x="428343" y="554568"/>
                  </a:lnTo>
                  <a:lnTo>
                    <a:pt x="386235" y="572376"/>
                  </a:lnTo>
                  <a:lnTo>
                    <a:pt x="341078" y="583504"/>
                  </a:lnTo>
                  <a:lnTo>
                    <a:pt x="293474" y="587348"/>
                  </a:lnTo>
                  <a:lnTo>
                    <a:pt x="245871" y="583504"/>
                  </a:lnTo>
                  <a:lnTo>
                    <a:pt x="200714" y="572376"/>
                  </a:lnTo>
                  <a:lnTo>
                    <a:pt x="158606" y="554568"/>
                  </a:lnTo>
                  <a:lnTo>
                    <a:pt x="120152" y="530686"/>
                  </a:lnTo>
                  <a:lnTo>
                    <a:pt x="85956" y="501333"/>
                  </a:lnTo>
                  <a:lnTo>
                    <a:pt x="56623" y="467114"/>
                  </a:lnTo>
                  <a:lnTo>
                    <a:pt x="32757" y="428634"/>
                  </a:lnTo>
                  <a:lnTo>
                    <a:pt x="14961" y="386497"/>
                  </a:lnTo>
                  <a:lnTo>
                    <a:pt x="3841" y="341309"/>
                  </a:lnTo>
                  <a:lnTo>
                    <a:pt x="0" y="293674"/>
                  </a:lnTo>
                  <a:close/>
                </a:path>
              </a:pathLst>
            </a:custGeom>
            <a:ln w="28902">
              <a:solidFill>
                <a:srgbClr val="0B0B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626540" y="2915170"/>
              <a:ext cx="973455" cy="820419"/>
            </a:xfrm>
            <a:custGeom>
              <a:avLst/>
              <a:gdLst/>
              <a:ahLst/>
              <a:cxnLst/>
              <a:rect l="l" t="t" r="r" b="b"/>
              <a:pathLst>
                <a:path w="973454" h="820420">
                  <a:moveTo>
                    <a:pt x="143433" y="685025"/>
                  </a:moveTo>
                  <a:lnTo>
                    <a:pt x="78892" y="677265"/>
                  </a:lnTo>
                  <a:lnTo>
                    <a:pt x="133654" y="221145"/>
                  </a:lnTo>
                  <a:lnTo>
                    <a:pt x="119316" y="219417"/>
                  </a:lnTo>
                  <a:lnTo>
                    <a:pt x="64554" y="675538"/>
                  </a:lnTo>
                  <a:lnTo>
                    <a:pt x="0" y="667778"/>
                  </a:lnTo>
                  <a:lnTo>
                    <a:pt x="54483" y="819924"/>
                  </a:lnTo>
                  <a:lnTo>
                    <a:pt x="139090" y="691616"/>
                  </a:lnTo>
                  <a:lnTo>
                    <a:pt x="143433" y="685025"/>
                  </a:lnTo>
                  <a:close/>
                </a:path>
                <a:path w="973454" h="820420">
                  <a:moveTo>
                    <a:pt x="973201" y="107848"/>
                  </a:moveTo>
                  <a:lnTo>
                    <a:pt x="952131" y="92163"/>
                  </a:lnTo>
                  <a:lnTo>
                    <a:pt x="843635" y="11353"/>
                  </a:lnTo>
                  <a:lnTo>
                    <a:pt x="832231" y="75387"/>
                  </a:lnTo>
                  <a:lnTo>
                    <a:pt x="409016" y="0"/>
                  </a:lnTo>
                  <a:lnTo>
                    <a:pt x="406476" y="14224"/>
                  </a:lnTo>
                  <a:lnTo>
                    <a:pt x="829703" y="89623"/>
                  </a:lnTo>
                  <a:lnTo>
                    <a:pt x="818311" y="153670"/>
                  </a:lnTo>
                  <a:lnTo>
                    <a:pt x="973201" y="10784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613398" y="2664495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293474" y="0"/>
                  </a:moveTo>
                  <a:lnTo>
                    <a:pt x="245871" y="3843"/>
                  </a:lnTo>
                  <a:lnTo>
                    <a:pt x="200713" y="14971"/>
                  </a:lnTo>
                  <a:lnTo>
                    <a:pt x="158605" y="32779"/>
                  </a:lnTo>
                  <a:lnTo>
                    <a:pt x="120152" y="56661"/>
                  </a:lnTo>
                  <a:lnTo>
                    <a:pt x="85956" y="86014"/>
                  </a:lnTo>
                  <a:lnTo>
                    <a:pt x="56623" y="120233"/>
                  </a:lnTo>
                  <a:lnTo>
                    <a:pt x="32757" y="158713"/>
                  </a:lnTo>
                  <a:lnTo>
                    <a:pt x="14961" y="200849"/>
                  </a:lnTo>
                  <a:lnTo>
                    <a:pt x="3841" y="246038"/>
                  </a:lnTo>
                  <a:lnTo>
                    <a:pt x="0" y="293673"/>
                  </a:lnTo>
                  <a:lnTo>
                    <a:pt x="3841" y="341309"/>
                  </a:lnTo>
                  <a:lnTo>
                    <a:pt x="14961" y="386497"/>
                  </a:lnTo>
                  <a:lnTo>
                    <a:pt x="32757" y="428633"/>
                  </a:lnTo>
                  <a:lnTo>
                    <a:pt x="56623" y="467113"/>
                  </a:lnTo>
                  <a:lnTo>
                    <a:pt x="85956" y="501332"/>
                  </a:lnTo>
                  <a:lnTo>
                    <a:pt x="120152" y="530686"/>
                  </a:lnTo>
                  <a:lnTo>
                    <a:pt x="158605" y="554568"/>
                  </a:lnTo>
                  <a:lnTo>
                    <a:pt x="200713" y="572376"/>
                  </a:lnTo>
                  <a:lnTo>
                    <a:pt x="245871" y="583504"/>
                  </a:lnTo>
                  <a:lnTo>
                    <a:pt x="293474" y="587348"/>
                  </a:lnTo>
                  <a:lnTo>
                    <a:pt x="341077" y="583504"/>
                  </a:lnTo>
                  <a:lnTo>
                    <a:pt x="386235" y="572376"/>
                  </a:lnTo>
                  <a:lnTo>
                    <a:pt x="428343" y="554568"/>
                  </a:lnTo>
                  <a:lnTo>
                    <a:pt x="466797" y="530686"/>
                  </a:lnTo>
                  <a:lnTo>
                    <a:pt x="500992" y="501332"/>
                  </a:lnTo>
                  <a:lnTo>
                    <a:pt x="530325" y="467113"/>
                  </a:lnTo>
                  <a:lnTo>
                    <a:pt x="554192" y="428633"/>
                  </a:lnTo>
                  <a:lnTo>
                    <a:pt x="571988" y="386497"/>
                  </a:lnTo>
                  <a:lnTo>
                    <a:pt x="583108" y="341309"/>
                  </a:lnTo>
                  <a:lnTo>
                    <a:pt x="586949" y="293673"/>
                  </a:lnTo>
                  <a:lnTo>
                    <a:pt x="583108" y="246038"/>
                  </a:lnTo>
                  <a:lnTo>
                    <a:pt x="571988" y="200849"/>
                  </a:lnTo>
                  <a:lnTo>
                    <a:pt x="554192" y="158713"/>
                  </a:lnTo>
                  <a:lnTo>
                    <a:pt x="530325" y="120233"/>
                  </a:lnTo>
                  <a:lnTo>
                    <a:pt x="500992" y="86014"/>
                  </a:lnTo>
                  <a:lnTo>
                    <a:pt x="466797" y="56661"/>
                  </a:lnTo>
                  <a:lnTo>
                    <a:pt x="428343" y="32779"/>
                  </a:lnTo>
                  <a:lnTo>
                    <a:pt x="386235" y="14971"/>
                  </a:lnTo>
                  <a:lnTo>
                    <a:pt x="341077" y="3843"/>
                  </a:lnTo>
                  <a:lnTo>
                    <a:pt x="293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613398" y="2664495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0" y="293674"/>
                  </a:moveTo>
                  <a:lnTo>
                    <a:pt x="3841" y="246038"/>
                  </a:lnTo>
                  <a:lnTo>
                    <a:pt x="14961" y="200850"/>
                  </a:lnTo>
                  <a:lnTo>
                    <a:pt x="32757" y="158713"/>
                  </a:lnTo>
                  <a:lnTo>
                    <a:pt x="56623" y="120233"/>
                  </a:lnTo>
                  <a:lnTo>
                    <a:pt x="85956" y="86015"/>
                  </a:lnTo>
                  <a:lnTo>
                    <a:pt x="120152" y="56662"/>
                  </a:lnTo>
                  <a:lnTo>
                    <a:pt x="158606" y="32779"/>
                  </a:lnTo>
                  <a:lnTo>
                    <a:pt x="200714" y="14971"/>
                  </a:lnTo>
                  <a:lnTo>
                    <a:pt x="245871" y="3843"/>
                  </a:lnTo>
                  <a:lnTo>
                    <a:pt x="293474" y="0"/>
                  </a:lnTo>
                  <a:lnTo>
                    <a:pt x="341078" y="3843"/>
                  </a:lnTo>
                  <a:lnTo>
                    <a:pt x="386235" y="14971"/>
                  </a:lnTo>
                  <a:lnTo>
                    <a:pt x="428343" y="32779"/>
                  </a:lnTo>
                  <a:lnTo>
                    <a:pt x="466797" y="56662"/>
                  </a:lnTo>
                  <a:lnTo>
                    <a:pt x="500993" y="86015"/>
                  </a:lnTo>
                  <a:lnTo>
                    <a:pt x="530326" y="120233"/>
                  </a:lnTo>
                  <a:lnTo>
                    <a:pt x="554192" y="158713"/>
                  </a:lnTo>
                  <a:lnTo>
                    <a:pt x="571988" y="200850"/>
                  </a:lnTo>
                  <a:lnTo>
                    <a:pt x="583108" y="246038"/>
                  </a:lnTo>
                  <a:lnTo>
                    <a:pt x="586949" y="293674"/>
                  </a:lnTo>
                  <a:lnTo>
                    <a:pt x="583108" y="341309"/>
                  </a:lnTo>
                  <a:lnTo>
                    <a:pt x="571988" y="386497"/>
                  </a:lnTo>
                  <a:lnTo>
                    <a:pt x="554192" y="428634"/>
                  </a:lnTo>
                  <a:lnTo>
                    <a:pt x="530326" y="467114"/>
                  </a:lnTo>
                  <a:lnTo>
                    <a:pt x="500993" y="501333"/>
                  </a:lnTo>
                  <a:lnTo>
                    <a:pt x="466797" y="530686"/>
                  </a:lnTo>
                  <a:lnTo>
                    <a:pt x="428343" y="554568"/>
                  </a:lnTo>
                  <a:lnTo>
                    <a:pt x="386235" y="572376"/>
                  </a:lnTo>
                  <a:lnTo>
                    <a:pt x="341078" y="583504"/>
                  </a:lnTo>
                  <a:lnTo>
                    <a:pt x="293474" y="587348"/>
                  </a:lnTo>
                  <a:lnTo>
                    <a:pt x="245871" y="583504"/>
                  </a:lnTo>
                  <a:lnTo>
                    <a:pt x="200714" y="572376"/>
                  </a:lnTo>
                  <a:lnTo>
                    <a:pt x="158606" y="554568"/>
                  </a:lnTo>
                  <a:lnTo>
                    <a:pt x="120152" y="530686"/>
                  </a:lnTo>
                  <a:lnTo>
                    <a:pt x="85956" y="501333"/>
                  </a:lnTo>
                  <a:lnTo>
                    <a:pt x="56623" y="467114"/>
                  </a:lnTo>
                  <a:lnTo>
                    <a:pt x="32757" y="428634"/>
                  </a:lnTo>
                  <a:lnTo>
                    <a:pt x="14961" y="386497"/>
                  </a:lnTo>
                  <a:lnTo>
                    <a:pt x="3841" y="341309"/>
                  </a:lnTo>
                  <a:lnTo>
                    <a:pt x="0" y="293674"/>
                  </a:lnTo>
                  <a:close/>
                </a:path>
              </a:pathLst>
            </a:custGeom>
            <a:ln w="28902">
              <a:solidFill>
                <a:srgbClr val="0B0B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946402" y="3255225"/>
              <a:ext cx="915035" cy="836294"/>
            </a:xfrm>
            <a:custGeom>
              <a:avLst/>
              <a:gdLst/>
              <a:ahLst/>
              <a:cxnLst/>
              <a:rect l="l" t="t" r="r" b="b"/>
              <a:pathLst>
                <a:path w="915034" h="836295">
                  <a:moveTo>
                    <a:pt x="471855" y="759244"/>
                  </a:moveTo>
                  <a:lnTo>
                    <a:pt x="471347" y="744804"/>
                  </a:lnTo>
                  <a:lnTo>
                    <a:pt x="144106" y="756412"/>
                  </a:lnTo>
                  <a:lnTo>
                    <a:pt x="141808" y="691400"/>
                  </a:lnTo>
                  <a:lnTo>
                    <a:pt x="130187" y="697750"/>
                  </a:lnTo>
                  <a:lnTo>
                    <a:pt x="130187" y="771372"/>
                  </a:lnTo>
                  <a:lnTo>
                    <a:pt x="129755" y="759244"/>
                  </a:lnTo>
                  <a:lnTo>
                    <a:pt x="130098" y="768756"/>
                  </a:lnTo>
                  <a:lnTo>
                    <a:pt x="130187" y="771372"/>
                  </a:lnTo>
                  <a:lnTo>
                    <a:pt x="130187" y="697750"/>
                  </a:lnTo>
                  <a:lnTo>
                    <a:pt x="0" y="768756"/>
                  </a:lnTo>
                  <a:lnTo>
                    <a:pt x="146926" y="835875"/>
                  </a:lnTo>
                  <a:lnTo>
                    <a:pt x="144640" y="771372"/>
                  </a:lnTo>
                  <a:lnTo>
                    <a:pt x="144627" y="770864"/>
                  </a:lnTo>
                  <a:lnTo>
                    <a:pt x="471855" y="759244"/>
                  </a:lnTo>
                  <a:close/>
                </a:path>
                <a:path w="915034" h="836295">
                  <a:moveTo>
                    <a:pt x="914869" y="157695"/>
                  </a:moveTo>
                  <a:lnTo>
                    <a:pt x="907440" y="124548"/>
                  </a:lnTo>
                  <a:lnTo>
                    <a:pt x="879500" y="0"/>
                  </a:lnTo>
                  <a:lnTo>
                    <a:pt x="774649" y="122936"/>
                  </a:lnTo>
                  <a:lnTo>
                    <a:pt x="837742" y="138582"/>
                  </a:lnTo>
                  <a:lnTo>
                    <a:pt x="724039" y="597903"/>
                  </a:lnTo>
                  <a:lnTo>
                    <a:pt x="738060" y="601383"/>
                  </a:lnTo>
                  <a:lnTo>
                    <a:pt x="851763" y="142062"/>
                  </a:lnTo>
                  <a:lnTo>
                    <a:pt x="914869" y="157695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314081" y="3766094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293474" y="0"/>
                  </a:moveTo>
                  <a:lnTo>
                    <a:pt x="245871" y="3843"/>
                  </a:lnTo>
                  <a:lnTo>
                    <a:pt x="200713" y="14971"/>
                  </a:lnTo>
                  <a:lnTo>
                    <a:pt x="158605" y="32779"/>
                  </a:lnTo>
                  <a:lnTo>
                    <a:pt x="120152" y="56662"/>
                  </a:lnTo>
                  <a:lnTo>
                    <a:pt x="85956" y="86015"/>
                  </a:lnTo>
                  <a:lnTo>
                    <a:pt x="56623" y="120234"/>
                  </a:lnTo>
                  <a:lnTo>
                    <a:pt x="32757" y="158714"/>
                  </a:lnTo>
                  <a:lnTo>
                    <a:pt x="14961" y="200851"/>
                  </a:lnTo>
                  <a:lnTo>
                    <a:pt x="3841" y="246039"/>
                  </a:lnTo>
                  <a:lnTo>
                    <a:pt x="0" y="293674"/>
                  </a:lnTo>
                  <a:lnTo>
                    <a:pt x="3841" y="341310"/>
                  </a:lnTo>
                  <a:lnTo>
                    <a:pt x="14961" y="386498"/>
                  </a:lnTo>
                  <a:lnTo>
                    <a:pt x="32757" y="428634"/>
                  </a:lnTo>
                  <a:lnTo>
                    <a:pt x="56623" y="467114"/>
                  </a:lnTo>
                  <a:lnTo>
                    <a:pt x="85956" y="501333"/>
                  </a:lnTo>
                  <a:lnTo>
                    <a:pt x="120152" y="530686"/>
                  </a:lnTo>
                  <a:lnTo>
                    <a:pt x="158605" y="554569"/>
                  </a:lnTo>
                  <a:lnTo>
                    <a:pt x="200713" y="572376"/>
                  </a:lnTo>
                  <a:lnTo>
                    <a:pt x="245871" y="583504"/>
                  </a:lnTo>
                  <a:lnTo>
                    <a:pt x="293474" y="587348"/>
                  </a:lnTo>
                  <a:lnTo>
                    <a:pt x="341077" y="583504"/>
                  </a:lnTo>
                  <a:lnTo>
                    <a:pt x="386235" y="572376"/>
                  </a:lnTo>
                  <a:lnTo>
                    <a:pt x="428343" y="554569"/>
                  </a:lnTo>
                  <a:lnTo>
                    <a:pt x="466797" y="530686"/>
                  </a:lnTo>
                  <a:lnTo>
                    <a:pt x="500992" y="501333"/>
                  </a:lnTo>
                  <a:lnTo>
                    <a:pt x="530325" y="467114"/>
                  </a:lnTo>
                  <a:lnTo>
                    <a:pt x="554192" y="428634"/>
                  </a:lnTo>
                  <a:lnTo>
                    <a:pt x="571988" y="386498"/>
                  </a:lnTo>
                  <a:lnTo>
                    <a:pt x="583108" y="341310"/>
                  </a:lnTo>
                  <a:lnTo>
                    <a:pt x="586949" y="293674"/>
                  </a:lnTo>
                  <a:lnTo>
                    <a:pt x="583108" y="246039"/>
                  </a:lnTo>
                  <a:lnTo>
                    <a:pt x="571988" y="200851"/>
                  </a:lnTo>
                  <a:lnTo>
                    <a:pt x="554192" y="158714"/>
                  </a:lnTo>
                  <a:lnTo>
                    <a:pt x="530325" y="120234"/>
                  </a:lnTo>
                  <a:lnTo>
                    <a:pt x="500992" y="86015"/>
                  </a:lnTo>
                  <a:lnTo>
                    <a:pt x="466797" y="56662"/>
                  </a:lnTo>
                  <a:lnTo>
                    <a:pt x="428343" y="32779"/>
                  </a:lnTo>
                  <a:lnTo>
                    <a:pt x="386235" y="14971"/>
                  </a:lnTo>
                  <a:lnTo>
                    <a:pt x="341077" y="3843"/>
                  </a:lnTo>
                  <a:lnTo>
                    <a:pt x="2934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314081" y="3766094"/>
              <a:ext cx="587375" cy="587375"/>
            </a:xfrm>
            <a:custGeom>
              <a:avLst/>
              <a:gdLst/>
              <a:ahLst/>
              <a:cxnLst/>
              <a:rect l="l" t="t" r="r" b="b"/>
              <a:pathLst>
                <a:path w="587375" h="587375">
                  <a:moveTo>
                    <a:pt x="0" y="293674"/>
                  </a:moveTo>
                  <a:lnTo>
                    <a:pt x="3841" y="246038"/>
                  </a:lnTo>
                  <a:lnTo>
                    <a:pt x="14961" y="200850"/>
                  </a:lnTo>
                  <a:lnTo>
                    <a:pt x="32757" y="158713"/>
                  </a:lnTo>
                  <a:lnTo>
                    <a:pt x="56623" y="120233"/>
                  </a:lnTo>
                  <a:lnTo>
                    <a:pt x="85956" y="86015"/>
                  </a:lnTo>
                  <a:lnTo>
                    <a:pt x="120152" y="56662"/>
                  </a:lnTo>
                  <a:lnTo>
                    <a:pt x="158606" y="32779"/>
                  </a:lnTo>
                  <a:lnTo>
                    <a:pt x="200714" y="14971"/>
                  </a:lnTo>
                  <a:lnTo>
                    <a:pt x="245871" y="3843"/>
                  </a:lnTo>
                  <a:lnTo>
                    <a:pt x="293474" y="0"/>
                  </a:lnTo>
                  <a:lnTo>
                    <a:pt x="341078" y="3843"/>
                  </a:lnTo>
                  <a:lnTo>
                    <a:pt x="386235" y="14971"/>
                  </a:lnTo>
                  <a:lnTo>
                    <a:pt x="428343" y="32779"/>
                  </a:lnTo>
                  <a:lnTo>
                    <a:pt x="466797" y="56662"/>
                  </a:lnTo>
                  <a:lnTo>
                    <a:pt x="500993" y="86015"/>
                  </a:lnTo>
                  <a:lnTo>
                    <a:pt x="530326" y="120233"/>
                  </a:lnTo>
                  <a:lnTo>
                    <a:pt x="554192" y="158713"/>
                  </a:lnTo>
                  <a:lnTo>
                    <a:pt x="571988" y="200850"/>
                  </a:lnTo>
                  <a:lnTo>
                    <a:pt x="583108" y="246038"/>
                  </a:lnTo>
                  <a:lnTo>
                    <a:pt x="586949" y="293674"/>
                  </a:lnTo>
                  <a:lnTo>
                    <a:pt x="583108" y="341309"/>
                  </a:lnTo>
                  <a:lnTo>
                    <a:pt x="571988" y="386497"/>
                  </a:lnTo>
                  <a:lnTo>
                    <a:pt x="554192" y="428634"/>
                  </a:lnTo>
                  <a:lnTo>
                    <a:pt x="530326" y="467114"/>
                  </a:lnTo>
                  <a:lnTo>
                    <a:pt x="500993" y="501333"/>
                  </a:lnTo>
                  <a:lnTo>
                    <a:pt x="466797" y="530686"/>
                  </a:lnTo>
                  <a:lnTo>
                    <a:pt x="428343" y="554568"/>
                  </a:lnTo>
                  <a:lnTo>
                    <a:pt x="386235" y="572376"/>
                  </a:lnTo>
                  <a:lnTo>
                    <a:pt x="341078" y="583504"/>
                  </a:lnTo>
                  <a:lnTo>
                    <a:pt x="293474" y="587348"/>
                  </a:lnTo>
                  <a:lnTo>
                    <a:pt x="245871" y="583504"/>
                  </a:lnTo>
                  <a:lnTo>
                    <a:pt x="200714" y="572376"/>
                  </a:lnTo>
                  <a:lnTo>
                    <a:pt x="158606" y="554568"/>
                  </a:lnTo>
                  <a:lnTo>
                    <a:pt x="120152" y="530686"/>
                  </a:lnTo>
                  <a:lnTo>
                    <a:pt x="85956" y="501333"/>
                  </a:lnTo>
                  <a:lnTo>
                    <a:pt x="56623" y="467114"/>
                  </a:lnTo>
                  <a:lnTo>
                    <a:pt x="32757" y="428634"/>
                  </a:lnTo>
                  <a:lnTo>
                    <a:pt x="14961" y="386497"/>
                  </a:lnTo>
                  <a:lnTo>
                    <a:pt x="3841" y="341309"/>
                  </a:lnTo>
                  <a:lnTo>
                    <a:pt x="0" y="293674"/>
                  </a:lnTo>
                  <a:close/>
                </a:path>
              </a:pathLst>
            </a:custGeom>
            <a:ln w="28902">
              <a:solidFill>
                <a:srgbClr val="0B0B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75651" y="3828801"/>
              <a:ext cx="463296" cy="463296"/>
            </a:xfrm>
            <a:prstGeom prst="rect">
              <a:avLst/>
            </a:prstGeom>
          </p:spPr>
        </p:pic>
        <p:sp>
          <p:nvSpPr>
            <p:cNvPr id="27" name="object 27" descr=""/>
            <p:cNvSpPr/>
            <p:nvPr/>
          </p:nvSpPr>
          <p:spPr>
            <a:xfrm>
              <a:off x="7537555" y="2637172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7" y="19334"/>
                  </a:lnTo>
                  <a:lnTo>
                    <a:pt x="108402" y="42018"/>
                  </a:lnTo>
                  <a:lnTo>
                    <a:pt x="72014" y="72062"/>
                  </a:lnTo>
                  <a:lnTo>
                    <a:pt x="41991" y="108474"/>
                  </a:lnTo>
                  <a:lnTo>
                    <a:pt x="19321" y="150267"/>
                  </a:lnTo>
                  <a:lnTo>
                    <a:pt x="4995" y="196451"/>
                  </a:lnTo>
                  <a:lnTo>
                    <a:pt x="0" y="246037"/>
                  </a:lnTo>
                  <a:lnTo>
                    <a:pt x="4995" y="295622"/>
                  </a:lnTo>
                  <a:lnTo>
                    <a:pt x="19321" y="341805"/>
                  </a:lnTo>
                  <a:lnTo>
                    <a:pt x="41991" y="383598"/>
                  </a:lnTo>
                  <a:lnTo>
                    <a:pt x="72014" y="420011"/>
                  </a:lnTo>
                  <a:lnTo>
                    <a:pt x="108402" y="450054"/>
                  </a:lnTo>
                  <a:lnTo>
                    <a:pt x="150167" y="472739"/>
                  </a:lnTo>
                  <a:lnTo>
                    <a:pt x="196319" y="487075"/>
                  </a:lnTo>
                  <a:lnTo>
                    <a:pt x="245870" y="492074"/>
                  </a:lnTo>
                  <a:lnTo>
                    <a:pt x="295422" y="487075"/>
                  </a:lnTo>
                  <a:lnTo>
                    <a:pt x="341574" y="472739"/>
                  </a:lnTo>
                  <a:lnTo>
                    <a:pt x="383339" y="450054"/>
                  </a:lnTo>
                  <a:lnTo>
                    <a:pt x="419727" y="420011"/>
                  </a:lnTo>
                  <a:lnTo>
                    <a:pt x="449750" y="383598"/>
                  </a:lnTo>
                  <a:lnTo>
                    <a:pt x="472419" y="341805"/>
                  </a:lnTo>
                  <a:lnTo>
                    <a:pt x="486746" y="295622"/>
                  </a:lnTo>
                  <a:lnTo>
                    <a:pt x="491741" y="246037"/>
                  </a:lnTo>
                  <a:lnTo>
                    <a:pt x="486746" y="196451"/>
                  </a:lnTo>
                  <a:lnTo>
                    <a:pt x="472419" y="150267"/>
                  </a:lnTo>
                  <a:lnTo>
                    <a:pt x="449750" y="108474"/>
                  </a:lnTo>
                  <a:lnTo>
                    <a:pt x="419727" y="72062"/>
                  </a:lnTo>
                  <a:lnTo>
                    <a:pt x="383339" y="42018"/>
                  </a:lnTo>
                  <a:lnTo>
                    <a:pt x="341574" y="19334"/>
                  </a:lnTo>
                  <a:lnTo>
                    <a:pt x="295422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537555" y="2637172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0" y="246037"/>
                  </a:moveTo>
                  <a:lnTo>
                    <a:pt x="4995" y="196452"/>
                  </a:lnTo>
                  <a:lnTo>
                    <a:pt x="19321" y="150268"/>
                  </a:lnTo>
                  <a:lnTo>
                    <a:pt x="41990" y="108475"/>
                  </a:lnTo>
                  <a:lnTo>
                    <a:pt x="72013" y="72062"/>
                  </a:lnTo>
                  <a:lnTo>
                    <a:pt x="108402" y="42019"/>
                  </a:lnTo>
                  <a:lnTo>
                    <a:pt x="150166" y="19334"/>
                  </a:lnTo>
                  <a:lnTo>
                    <a:pt x="196319" y="4998"/>
                  </a:lnTo>
                  <a:lnTo>
                    <a:pt x="245870" y="0"/>
                  </a:lnTo>
                  <a:lnTo>
                    <a:pt x="295422" y="4998"/>
                  </a:lnTo>
                  <a:lnTo>
                    <a:pt x="341574" y="19334"/>
                  </a:lnTo>
                  <a:lnTo>
                    <a:pt x="383339" y="42019"/>
                  </a:lnTo>
                  <a:lnTo>
                    <a:pt x="419727" y="72062"/>
                  </a:lnTo>
                  <a:lnTo>
                    <a:pt x="449750" y="108475"/>
                  </a:lnTo>
                  <a:lnTo>
                    <a:pt x="472419" y="150268"/>
                  </a:lnTo>
                  <a:lnTo>
                    <a:pt x="486746" y="196452"/>
                  </a:lnTo>
                  <a:lnTo>
                    <a:pt x="491741" y="246037"/>
                  </a:lnTo>
                  <a:lnTo>
                    <a:pt x="486746" y="295622"/>
                  </a:lnTo>
                  <a:lnTo>
                    <a:pt x="472419" y="341806"/>
                  </a:lnTo>
                  <a:lnTo>
                    <a:pt x="449750" y="383599"/>
                  </a:lnTo>
                  <a:lnTo>
                    <a:pt x="419727" y="420012"/>
                  </a:lnTo>
                  <a:lnTo>
                    <a:pt x="383339" y="450055"/>
                  </a:lnTo>
                  <a:lnTo>
                    <a:pt x="341574" y="472739"/>
                  </a:lnTo>
                  <a:lnTo>
                    <a:pt x="295422" y="487076"/>
                  </a:lnTo>
                  <a:lnTo>
                    <a:pt x="245870" y="492074"/>
                  </a:lnTo>
                  <a:lnTo>
                    <a:pt x="196319" y="487076"/>
                  </a:lnTo>
                  <a:lnTo>
                    <a:pt x="150166" y="472739"/>
                  </a:lnTo>
                  <a:lnTo>
                    <a:pt x="108402" y="450055"/>
                  </a:lnTo>
                  <a:lnTo>
                    <a:pt x="72013" y="420012"/>
                  </a:lnTo>
                  <a:lnTo>
                    <a:pt x="41990" y="383599"/>
                  </a:lnTo>
                  <a:lnTo>
                    <a:pt x="19321" y="341806"/>
                  </a:lnTo>
                  <a:lnTo>
                    <a:pt x="4995" y="295622"/>
                  </a:lnTo>
                  <a:lnTo>
                    <a:pt x="0" y="246037"/>
                  </a:lnTo>
                  <a:close/>
                </a:path>
              </a:pathLst>
            </a:custGeom>
            <a:ln w="28902">
              <a:solidFill>
                <a:srgbClr val="0B0B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89011" y="2716281"/>
              <a:ext cx="356616" cy="356615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77147" y="2728473"/>
              <a:ext cx="460248" cy="46024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36683" y="3298449"/>
              <a:ext cx="405383" cy="405384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7624905" y="3285102"/>
              <a:ext cx="171450" cy="265430"/>
            </a:xfrm>
            <a:custGeom>
              <a:avLst/>
              <a:gdLst/>
              <a:ahLst/>
              <a:cxnLst/>
              <a:rect l="l" t="t" r="r" b="b"/>
              <a:pathLst>
                <a:path w="171450" h="265429">
                  <a:moveTo>
                    <a:pt x="30029" y="0"/>
                  </a:moveTo>
                  <a:lnTo>
                    <a:pt x="0" y="248257"/>
                  </a:lnTo>
                  <a:lnTo>
                    <a:pt x="141273" y="265369"/>
                  </a:lnTo>
                  <a:lnTo>
                    <a:pt x="171302" y="17111"/>
                  </a:lnTo>
                  <a:lnTo>
                    <a:pt x="300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/>
          <p:nvPr/>
        </p:nvSpPr>
        <p:spPr>
          <a:xfrm>
            <a:off x="949543" y="2360166"/>
            <a:ext cx="2967355" cy="2282190"/>
          </a:xfrm>
          <a:custGeom>
            <a:avLst/>
            <a:gdLst/>
            <a:ahLst/>
            <a:cxnLst/>
            <a:rect l="l" t="t" r="r" b="b"/>
            <a:pathLst>
              <a:path w="2967354" h="2282190">
                <a:moveTo>
                  <a:pt x="2967168" y="0"/>
                </a:moveTo>
                <a:lnTo>
                  <a:pt x="0" y="0"/>
                </a:lnTo>
                <a:lnTo>
                  <a:pt x="0" y="2282121"/>
                </a:lnTo>
                <a:lnTo>
                  <a:pt x="2967168" y="2282121"/>
                </a:lnTo>
                <a:lnTo>
                  <a:pt x="2967168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949543" y="4640780"/>
            <a:ext cx="2967355" cy="1366520"/>
          </a:xfrm>
          <a:prstGeom prst="rect">
            <a:avLst/>
          </a:prstGeom>
          <a:solidFill>
            <a:srgbClr val="018BFF"/>
          </a:solidFill>
        </p:spPr>
        <p:txBody>
          <a:bodyPr wrap="square" lIns="0" tIns="469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370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Networks</a:t>
            </a:r>
            <a:r>
              <a:rPr dirty="0" sz="19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9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People</a:t>
            </a:r>
            <a:endParaRPr sz="1900">
              <a:latin typeface="Arial"/>
              <a:cs typeface="Arial"/>
            </a:endParaRPr>
          </a:p>
          <a:p>
            <a:pPr algn="ctr" marL="404495" marR="396875">
              <a:lnSpc>
                <a:spcPct val="99400"/>
              </a:lnSpc>
              <a:spcBef>
                <a:spcPts val="91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Employees,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Customers,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Suppliers,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Partners,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Influencers,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078941" y="4642288"/>
            <a:ext cx="2967355" cy="1364615"/>
          </a:xfrm>
          <a:prstGeom prst="rect">
            <a:avLst/>
          </a:prstGeom>
          <a:solidFill>
            <a:srgbClr val="018BFF"/>
          </a:solidFill>
        </p:spPr>
        <p:txBody>
          <a:bodyPr wrap="square" lIns="0" tIns="45085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355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Transaction</a:t>
            </a:r>
            <a:r>
              <a:rPr dirty="0" sz="19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Networks</a:t>
            </a:r>
            <a:endParaRPr sz="1900">
              <a:latin typeface="Arial"/>
              <a:cs typeface="Arial"/>
            </a:endParaRPr>
          </a:p>
          <a:p>
            <a:pPr algn="ctr" marL="504190" marR="501015">
              <a:lnSpc>
                <a:spcPct val="99400"/>
              </a:lnSpc>
              <a:spcBef>
                <a:spcPts val="915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Risk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management,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Supply</a:t>
            </a:r>
            <a:r>
              <a:rPr dirty="0" sz="16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chain,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Orders,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Payments,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etc.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 descr=""/>
          <p:cNvSpPr txBox="1"/>
          <p:nvPr/>
        </p:nvSpPr>
        <p:spPr>
          <a:xfrm rot="21120000">
            <a:off x="4973973" y="2928743"/>
            <a:ext cx="295286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30">
                <a:latin typeface="Arial Black"/>
                <a:cs typeface="Arial Black"/>
              </a:rPr>
              <a:t>Bought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5852310" y="3379636"/>
            <a:ext cx="186690" cy="350520"/>
          </a:xfrm>
          <a:custGeom>
            <a:avLst/>
            <a:gdLst/>
            <a:ahLst/>
            <a:cxnLst/>
            <a:rect l="l" t="t" r="r" b="b"/>
            <a:pathLst>
              <a:path w="186689" h="350520">
                <a:moveTo>
                  <a:pt x="140930" y="0"/>
                </a:moveTo>
                <a:lnTo>
                  <a:pt x="0" y="19502"/>
                </a:lnTo>
                <a:lnTo>
                  <a:pt x="45727" y="350398"/>
                </a:lnTo>
                <a:lnTo>
                  <a:pt x="186658" y="330895"/>
                </a:lnTo>
                <a:lnTo>
                  <a:pt x="1409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 rot="4920000">
            <a:off x="5792580" y="3517574"/>
            <a:ext cx="295735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30">
                <a:solidFill>
                  <a:srgbClr val="666666"/>
                </a:solidFill>
                <a:latin typeface="Arial Black"/>
                <a:cs typeface="Arial Black"/>
              </a:rPr>
              <a:t>Bought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39" name="object 39" descr=""/>
          <p:cNvSpPr/>
          <p:nvPr/>
        </p:nvSpPr>
        <p:spPr>
          <a:xfrm>
            <a:off x="4588966" y="3311373"/>
            <a:ext cx="281940" cy="360045"/>
          </a:xfrm>
          <a:custGeom>
            <a:avLst/>
            <a:gdLst/>
            <a:ahLst/>
            <a:cxnLst/>
            <a:rect l="l" t="t" r="r" b="b"/>
            <a:pathLst>
              <a:path w="281939" h="360045">
                <a:moveTo>
                  <a:pt x="125517" y="0"/>
                </a:moveTo>
                <a:lnTo>
                  <a:pt x="0" y="67047"/>
                </a:lnTo>
                <a:lnTo>
                  <a:pt x="156292" y="360037"/>
                </a:lnTo>
                <a:lnTo>
                  <a:pt x="281809" y="292990"/>
                </a:lnTo>
                <a:lnTo>
                  <a:pt x="1255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 txBox="1"/>
          <p:nvPr/>
        </p:nvSpPr>
        <p:spPr>
          <a:xfrm rot="3660000">
            <a:off x="4576082" y="3454395"/>
            <a:ext cx="294508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baseline="4629" sz="900" spc="-67">
                <a:solidFill>
                  <a:srgbClr val="666666"/>
                </a:solidFill>
                <a:latin typeface="Arial Black"/>
                <a:cs typeface="Arial Black"/>
              </a:rPr>
              <a:t>Vi</a:t>
            </a:r>
            <a:r>
              <a:rPr dirty="0" sz="600" spc="-45">
                <a:solidFill>
                  <a:srgbClr val="666666"/>
                </a:solidFill>
                <a:latin typeface="Arial Black"/>
                <a:cs typeface="Arial Black"/>
              </a:rPr>
              <a:t>ewed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41" name="object 41" descr=""/>
          <p:cNvSpPr/>
          <p:nvPr/>
        </p:nvSpPr>
        <p:spPr>
          <a:xfrm>
            <a:off x="6149385" y="3603943"/>
            <a:ext cx="361950" cy="419100"/>
          </a:xfrm>
          <a:custGeom>
            <a:avLst/>
            <a:gdLst/>
            <a:ahLst/>
            <a:cxnLst/>
            <a:rect l="l" t="t" r="r" b="b"/>
            <a:pathLst>
              <a:path w="361950" h="419100">
                <a:moveTo>
                  <a:pt x="247407" y="0"/>
                </a:moveTo>
                <a:lnTo>
                  <a:pt x="0" y="334310"/>
                </a:lnTo>
                <a:lnTo>
                  <a:pt x="114305" y="419016"/>
                </a:lnTo>
                <a:lnTo>
                  <a:pt x="361711" y="84705"/>
                </a:lnTo>
                <a:lnTo>
                  <a:pt x="24740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 descr=""/>
          <p:cNvSpPr txBox="1"/>
          <p:nvPr/>
        </p:nvSpPr>
        <p:spPr>
          <a:xfrm rot="18420000">
            <a:off x="6144543" y="3783716"/>
            <a:ext cx="375478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25">
                <a:solidFill>
                  <a:srgbClr val="666666"/>
                </a:solidFill>
                <a:latin typeface="Arial Black"/>
                <a:cs typeface="Arial Black"/>
              </a:rPr>
              <a:t>Returned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43" name="object 43" descr=""/>
          <p:cNvSpPr/>
          <p:nvPr/>
        </p:nvSpPr>
        <p:spPr>
          <a:xfrm>
            <a:off x="5382309" y="4021143"/>
            <a:ext cx="353060" cy="196850"/>
          </a:xfrm>
          <a:custGeom>
            <a:avLst/>
            <a:gdLst/>
            <a:ahLst/>
            <a:cxnLst/>
            <a:rect l="l" t="t" r="r" b="b"/>
            <a:pathLst>
              <a:path w="353060" h="196850">
                <a:moveTo>
                  <a:pt x="23862" y="0"/>
                </a:moveTo>
                <a:lnTo>
                  <a:pt x="0" y="140354"/>
                </a:lnTo>
                <a:lnTo>
                  <a:pt x="328965" y="196357"/>
                </a:lnTo>
                <a:lnTo>
                  <a:pt x="352826" y="56003"/>
                </a:lnTo>
                <a:lnTo>
                  <a:pt x="238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 txBox="1"/>
          <p:nvPr/>
        </p:nvSpPr>
        <p:spPr>
          <a:xfrm rot="540000">
            <a:off x="5407085" y="4089012"/>
            <a:ext cx="295899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30">
                <a:solidFill>
                  <a:srgbClr val="666666"/>
                </a:solidFill>
                <a:latin typeface="Arial Black"/>
                <a:cs typeface="Arial Black"/>
              </a:rPr>
              <a:t>Bought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7208350" y="4642288"/>
            <a:ext cx="2967355" cy="1364615"/>
          </a:xfrm>
          <a:prstGeom prst="rect">
            <a:avLst/>
          </a:prstGeom>
          <a:solidFill>
            <a:srgbClr val="018BFF"/>
          </a:solidFill>
        </p:spPr>
        <p:txBody>
          <a:bodyPr wrap="square" lIns="0" tIns="52069" rIns="0" bIns="0" rtlCol="0" vert="horz">
            <a:spAutoFit/>
          </a:bodyPr>
          <a:lstStyle/>
          <a:p>
            <a:pPr algn="ctr" marL="20320">
              <a:lnSpc>
                <a:spcPct val="100000"/>
              </a:lnSpc>
              <a:spcBef>
                <a:spcPts val="409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1800" spc="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Networks</a:t>
            </a:r>
            <a:endParaRPr sz="1800">
              <a:latin typeface="Arial"/>
              <a:cs typeface="Arial"/>
            </a:endParaRPr>
          </a:p>
          <a:p>
            <a:pPr algn="ctr" marL="386080" marR="355600" indent="-1905">
              <a:lnSpc>
                <a:spcPct val="99400"/>
              </a:lnSpc>
              <a:spcBef>
                <a:spcPts val="98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Enterprise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content,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Domain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content,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eCommerce</a:t>
            </a:r>
            <a:r>
              <a:rPr dirty="0" sz="16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content,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etc</a:t>
            </a:r>
            <a:endParaRPr sz="16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 rot="16620000">
            <a:off x="7606805" y="3383360"/>
            <a:ext cx="216423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50">
                <a:latin typeface="Arial Black"/>
                <a:cs typeface="Arial Black"/>
              </a:rPr>
              <a:t>Plays</a:t>
            </a:r>
            <a:endParaRPr sz="600">
              <a:latin typeface="Arial Black"/>
              <a:cs typeface="Arial Black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7874785" y="3141535"/>
            <a:ext cx="1409065" cy="776605"/>
            <a:chOff x="7874785" y="3141535"/>
            <a:chExt cx="1409065" cy="776605"/>
          </a:xfrm>
        </p:grpSpPr>
        <p:sp>
          <p:nvSpPr>
            <p:cNvPr id="48" name="object 48" descr=""/>
            <p:cNvSpPr/>
            <p:nvPr/>
          </p:nvSpPr>
          <p:spPr>
            <a:xfrm>
              <a:off x="7874785" y="3141535"/>
              <a:ext cx="800735" cy="699770"/>
            </a:xfrm>
            <a:custGeom>
              <a:avLst/>
              <a:gdLst/>
              <a:ahLst/>
              <a:cxnLst/>
              <a:rect l="l" t="t" r="r" b="b"/>
              <a:pathLst>
                <a:path w="800734" h="699770">
                  <a:moveTo>
                    <a:pt x="61427" y="550202"/>
                  </a:moveTo>
                  <a:lnTo>
                    <a:pt x="0" y="699679"/>
                  </a:lnTo>
                  <a:lnTo>
                    <a:pt x="156358" y="659168"/>
                  </a:lnTo>
                  <a:lnTo>
                    <a:pt x="121915" y="619633"/>
                  </a:lnTo>
                  <a:lnTo>
                    <a:pt x="102750" y="619633"/>
                  </a:lnTo>
                  <a:lnTo>
                    <a:pt x="93257" y="608736"/>
                  </a:lnTo>
                  <a:lnTo>
                    <a:pt x="104146" y="599236"/>
                  </a:lnTo>
                  <a:lnTo>
                    <a:pt x="61427" y="550202"/>
                  </a:lnTo>
                  <a:close/>
                </a:path>
                <a:path w="800734" h="699770">
                  <a:moveTo>
                    <a:pt x="104146" y="599236"/>
                  </a:moveTo>
                  <a:lnTo>
                    <a:pt x="93257" y="608736"/>
                  </a:lnTo>
                  <a:lnTo>
                    <a:pt x="102750" y="619633"/>
                  </a:lnTo>
                  <a:lnTo>
                    <a:pt x="113639" y="610133"/>
                  </a:lnTo>
                  <a:lnTo>
                    <a:pt x="104146" y="599236"/>
                  </a:lnTo>
                  <a:close/>
                </a:path>
                <a:path w="800734" h="699770">
                  <a:moveTo>
                    <a:pt x="113639" y="610133"/>
                  </a:moveTo>
                  <a:lnTo>
                    <a:pt x="102750" y="619633"/>
                  </a:lnTo>
                  <a:lnTo>
                    <a:pt x="121915" y="619633"/>
                  </a:lnTo>
                  <a:lnTo>
                    <a:pt x="113639" y="610133"/>
                  </a:lnTo>
                  <a:close/>
                </a:path>
                <a:path w="800734" h="699770">
                  <a:moveTo>
                    <a:pt x="791048" y="0"/>
                  </a:moveTo>
                  <a:lnTo>
                    <a:pt x="104146" y="599236"/>
                  </a:lnTo>
                  <a:lnTo>
                    <a:pt x="113639" y="610133"/>
                  </a:lnTo>
                  <a:lnTo>
                    <a:pt x="800541" y="10896"/>
                  </a:lnTo>
                  <a:lnTo>
                    <a:pt x="791048" y="0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8902468" y="3660422"/>
              <a:ext cx="381635" cy="257175"/>
            </a:xfrm>
            <a:custGeom>
              <a:avLst/>
              <a:gdLst/>
              <a:ahLst/>
              <a:cxnLst/>
              <a:rect l="l" t="t" r="r" b="b"/>
              <a:pathLst>
                <a:path w="381634" h="257175">
                  <a:moveTo>
                    <a:pt x="331354" y="0"/>
                  </a:moveTo>
                  <a:lnTo>
                    <a:pt x="0" y="123957"/>
                  </a:lnTo>
                  <a:lnTo>
                    <a:pt x="49762" y="257158"/>
                  </a:lnTo>
                  <a:lnTo>
                    <a:pt x="381115" y="133200"/>
                  </a:lnTo>
                  <a:lnTo>
                    <a:pt x="3313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 rot="20400000">
            <a:off x="8934584" y="3759986"/>
            <a:ext cx="313719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35">
                <a:solidFill>
                  <a:srgbClr val="666666"/>
                </a:solidFill>
                <a:latin typeface="Arial Black"/>
                <a:cs typeface="Arial Black"/>
              </a:rPr>
              <a:t>Lives_in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51" name="object 51" descr=""/>
          <p:cNvSpPr/>
          <p:nvPr/>
        </p:nvSpPr>
        <p:spPr>
          <a:xfrm>
            <a:off x="8039891" y="3358785"/>
            <a:ext cx="374015" cy="342900"/>
          </a:xfrm>
          <a:custGeom>
            <a:avLst/>
            <a:gdLst/>
            <a:ahLst/>
            <a:cxnLst/>
            <a:rect l="l" t="t" r="r" b="b"/>
            <a:pathLst>
              <a:path w="374015" h="342900">
                <a:moveTo>
                  <a:pt x="283578" y="0"/>
                </a:moveTo>
                <a:lnTo>
                  <a:pt x="0" y="232548"/>
                </a:lnTo>
                <a:lnTo>
                  <a:pt x="90064" y="342526"/>
                </a:lnTo>
                <a:lnTo>
                  <a:pt x="373644" y="109978"/>
                </a:lnTo>
                <a:lnTo>
                  <a:pt x="28357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 descr=""/>
          <p:cNvSpPr txBox="1"/>
          <p:nvPr/>
        </p:nvSpPr>
        <p:spPr>
          <a:xfrm rot="19260000">
            <a:off x="8064013" y="3499555"/>
            <a:ext cx="327281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30">
                <a:solidFill>
                  <a:srgbClr val="666666"/>
                </a:solidFill>
                <a:latin typeface="Arial Black"/>
                <a:cs typeface="Arial Black"/>
              </a:rPr>
              <a:t>In_sport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53" name="object 53" descr=""/>
          <p:cNvSpPr/>
          <p:nvPr/>
        </p:nvSpPr>
        <p:spPr>
          <a:xfrm>
            <a:off x="8080988" y="3930897"/>
            <a:ext cx="251460" cy="151765"/>
          </a:xfrm>
          <a:custGeom>
            <a:avLst/>
            <a:gdLst/>
            <a:ahLst/>
            <a:cxnLst/>
            <a:rect l="l" t="t" r="r" b="b"/>
            <a:pathLst>
              <a:path w="251459" h="151764">
                <a:moveTo>
                  <a:pt x="246042" y="0"/>
                </a:moveTo>
                <a:lnTo>
                  <a:pt x="0" y="8878"/>
                </a:lnTo>
                <a:lnTo>
                  <a:pt x="5132" y="151276"/>
                </a:lnTo>
                <a:lnTo>
                  <a:pt x="251172" y="142397"/>
                </a:lnTo>
                <a:lnTo>
                  <a:pt x="2460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 descr=""/>
          <p:cNvSpPr txBox="1"/>
          <p:nvPr/>
        </p:nvSpPr>
        <p:spPr>
          <a:xfrm rot="21480000">
            <a:off x="8098063" y="3975127"/>
            <a:ext cx="212497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60">
                <a:latin typeface="Arial Black"/>
                <a:cs typeface="Arial Black"/>
              </a:rPr>
              <a:t>Likes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55" name="object 55" descr=""/>
          <p:cNvSpPr/>
          <p:nvPr/>
        </p:nvSpPr>
        <p:spPr>
          <a:xfrm>
            <a:off x="8633007" y="3410435"/>
            <a:ext cx="204470" cy="327025"/>
          </a:xfrm>
          <a:custGeom>
            <a:avLst/>
            <a:gdLst/>
            <a:ahLst/>
            <a:cxnLst/>
            <a:rect l="l" t="t" r="r" b="b"/>
            <a:pathLst>
              <a:path w="204470" h="327025">
                <a:moveTo>
                  <a:pt x="65520" y="0"/>
                </a:moveTo>
                <a:lnTo>
                  <a:pt x="0" y="295723"/>
                </a:lnTo>
                <a:lnTo>
                  <a:pt x="138873" y="326533"/>
                </a:lnTo>
                <a:lnTo>
                  <a:pt x="204392" y="30810"/>
                </a:lnTo>
                <a:lnTo>
                  <a:pt x="65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 descr=""/>
          <p:cNvSpPr txBox="1"/>
          <p:nvPr/>
        </p:nvSpPr>
        <p:spPr>
          <a:xfrm rot="16980000">
            <a:off x="8606084" y="3539345"/>
            <a:ext cx="267617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35">
                <a:solidFill>
                  <a:srgbClr val="666666"/>
                </a:solidFill>
                <a:latin typeface="Arial Black"/>
                <a:cs typeface="Arial Black"/>
              </a:rPr>
              <a:t>Fan_of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57" name="object 57" descr=""/>
          <p:cNvSpPr/>
          <p:nvPr/>
        </p:nvSpPr>
        <p:spPr>
          <a:xfrm>
            <a:off x="8044657" y="2856545"/>
            <a:ext cx="413384" cy="187960"/>
          </a:xfrm>
          <a:custGeom>
            <a:avLst/>
            <a:gdLst/>
            <a:ahLst/>
            <a:cxnLst/>
            <a:rect l="l" t="t" r="r" b="b"/>
            <a:pathLst>
              <a:path w="413384" h="187960">
                <a:moveTo>
                  <a:pt x="16532" y="0"/>
                </a:moveTo>
                <a:lnTo>
                  <a:pt x="0" y="141354"/>
                </a:lnTo>
                <a:lnTo>
                  <a:pt x="396532" y="187796"/>
                </a:lnTo>
                <a:lnTo>
                  <a:pt x="413064" y="46441"/>
                </a:lnTo>
                <a:lnTo>
                  <a:pt x="165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 descr=""/>
          <p:cNvSpPr txBox="1"/>
          <p:nvPr/>
        </p:nvSpPr>
        <p:spPr>
          <a:xfrm rot="360000">
            <a:off x="8067942" y="2918202"/>
            <a:ext cx="360703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baseline="4629" sz="900" spc="-52">
                <a:solidFill>
                  <a:srgbClr val="666666"/>
                </a:solidFill>
                <a:latin typeface="Arial Black"/>
                <a:cs typeface="Arial Black"/>
              </a:rPr>
              <a:t>Pl</a:t>
            </a:r>
            <a:r>
              <a:rPr dirty="0" sz="600" spc="-35">
                <a:solidFill>
                  <a:srgbClr val="666666"/>
                </a:solidFill>
                <a:latin typeface="Arial Black"/>
                <a:cs typeface="Arial Black"/>
              </a:rPr>
              <a:t>ays_for</a:t>
            </a:r>
            <a:endParaRPr sz="600">
              <a:latin typeface="Arial Black"/>
              <a:cs typeface="Arial Black"/>
            </a:endParaRPr>
          </a:p>
        </p:txBody>
      </p:sp>
      <p:grpSp>
        <p:nvGrpSpPr>
          <p:cNvPr id="59" name="object 59" descr=""/>
          <p:cNvGrpSpPr/>
          <p:nvPr/>
        </p:nvGrpSpPr>
        <p:grpSpPr>
          <a:xfrm>
            <a:off x="1902994" y="2907407"/>
            <a:ext cx="1353185" cy="1175385"/>
            <a:chOff x="1902994" y="2907407"/>
            <a:chExt cx="1353185" cy="1175385"/>
          </a:xfrm>
        </p:grpSpPr>
        <p:sp>
          <p:nvSpPr>
            <p:cNvPr id="60" name="object 60" descr=""/>
            <p:cNvSpPr/>
            <p:nvPr/>
          </p:nvSpPr>
          <p:spPr>
            <a:xfrm>
              <a:off x="1902993" y="2907410"/>
              <a:ext cx="1353185" cy="1175385"/>
            </a:xfrm>
            <a:custGeom>
              <a:avLst/>
              <a:gdLst/>
              <a:ahLst/>
              <a:cxnLst/>
              <a:rect l="l" t="t" r="r" b="b"/>
              <a:pathLst>
                <a:path w="1353185" h="1175385">
                  <a:moveTo>
                    <a:pt x="797115" y="14071"/>
                  </a:moveTo>
                  <a:lnTo>
                    <a:pt x="793788" y="0"/>
                  </a:lnTo>
                  <a:lnTo>
                    <a:pt x="138925" y="154901"/>
                  </a:lnTo>
                  <a:lnTo>
                    <a:pt x="123964" y="91592"/>
                  </a:lnTo>
                  <a:lnTo>
                    <a:pt x="0" y="195186"/>
                  </a:lnTo>
                  <a:lnTo>
                    <a:pt x="157200" y="232283"/>
                  </a:lnTo>
                  <a:lnTo>
                    <a:pt x="143027" y="172300"/>
                  </a:lnTo>
                  <a:lnTo>
                    <a:pt x="142240" y="168973"/>
                  </a:lnTo>
                  <a:lnTo>
                    <a:pt x="797115" y="14071"/>
                  </a:lnTo>
                  <a:close/>
                </a:path>
                <a:path w="1353185" h="1175385">
                  <a:moveTo>
                    <a:pt x="890968" y="152768"/>
                  </a:moveTo>
                  <a:lnTo>
                    <a:pt x="879614" y="143827"/>
                  </a:lnTo>
                  <a:lnTo>
                    <a:pt x="343090" y="826211"/>
                  </a:lnTo>
                  <a:lnTo>
                    <a:pt x="291998" y="785977"/>
                  </a:lnTo>
                  <a:lnTo>
                    <a:pt x="259435" y="944283"/>
                  </a:lnTo>
                  <a:lnTo>
                    <a:pt x="405536" y="875372"/>
                  </a:lnTo>
                  <a:lnTo>
                    <a:pt x="368871" y="846505"/>
                  </a:lnTo>
                  <a:lnTo>
                    <a:pt x="354444" y="835152"/>
                  </a:lnTo>
                  <a:lnTo>
                    <a:pt x="890968" y="152768"/>
                  </a:lnTo>
                  <a:close/>
                </a:path>
                <a:path w="1353185" h="1175385">
                  <a:moveTo>
                    <a:pt x="1165898" y="1041819"/>
                  </a:moveTo>
                  <a:lnTo>
                    <a:pt x="1164424" y="1027430"/>
                  </a:lnTo>
                  <a:lnTo>
                    <a:pt x="498005" y="1095971"/>
                  </a:lnTo>
                  <a:lnTo>
                    <a:pt x="491350" y="1031265"/>
                  </a:lnTo>
                  <a:lnTo>
                    <a:pt x="355028" y="1117942"/>
                  </a:lnTo>
                  <a:lnTo>
                    <a:pt x="506120" y="1175067"/>
                  </a:lnTo>
                  <a:lnTo>
                    <a:pt x="499630" y="1111834"/>
                  </a:lnTo>
                  <a:lnTo>
                    <a:pt x="499478" y="1110361"/>
                  </a:lnTo>
                  <a:lnTo>
                    <a:pt x="1165898" y="1041819"/>
                  </a:lnTo>
                  <a:close/>
                </a:path>
                <a:path w="1353185" h="1175385">
                  <a:moveTo>
                    <a:pt x="1352638" y="608698"/>
                  </a:moveTo>
                  <a:lnTo>
                    <a:pt x="1291361" y="630402"/>
                  </a:lnTo>
                  <a:lnTo>
                    <a:pt x="1134122" y="185813"/>
                  </a:lnTo>
                  <a:lnTo>
                    <a:pt x="1120508" y="190639"/>
                  </a:lnTo>
                  <a:lnTo>
                    <a:pt x="1277747" y="635215"/>
                  </a:lnTo>
                  <a:lnTo>
                    <a:pt x="1216456" y="656920"/>
                  </a:lnTo>
                  <a:lnTo>
                    <a:pt x="1332750" y="769086"/>
                  </a:lnTo>
                  <a:lnTo>
                    <a:pt x="1347660" y="648843"/>
                  </a:lnTo>
                  <a:lnTo>
                    <a:pt x="1352638" y="608698"/>
                  </a:lnTo>
                  <a:close/>
                </a:path>
              </a:pathLst>
            </a:custGeom>
            <a:solidFill>
              <a:srgbClr val="6666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328457" y="3279258"/>
              <a:ext cx="304800" cy="330200"/>
            </a:xfrm>
            <a:custGeom>
              <a:avLst/>
              <a:gdLst/>
              <a:ahLst/>
              <a:cxnLst/>
              <a:rect l="l" t="t" r="r" b="b"/>
              <a:pathLst>
                <a:path w="304800" h="330200">
                  <a:moveTo>
                    <a:pt x="193829" y="0"/>
                  </a:moveTo>
                  <a:lnTo>
                    <a:pt x="0" y="240060"/>
                  </a:lnTo>
                  <a:lnTo>
                    <a:pt x="110808" y="329650"/>
                  </a:lnTo>
                  <a:lnTo>
                    <a:pt x="304637" y="89589"/>
                  </a:lnTo>
                  <a:lnTo>
                    <a:pt x="19382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 rot="18540000">
            <a:off x="2347318" y="3413509"/>
            <a:ext cx="270662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55">
                <a:solidFill>
                  <a:srgbClr val="666666"/>
                </a:solidFill>
                <a:latin typeface="Arial Black"/>
                <a:cs typeface="Arial Black"/>
              </a:rPr>
              <a:t>Knows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3" name="object 63" descr=""/>
          <p:cNvSpPr/>
          <p:nvPr/>
        </p:nvSpPr>
        <p:spPr>
          <a:xfrm>
            <a:off x="2145635" y="2896334"/>
            <a:ext cx="332740" cy="208915"/>
          </a:xfrm>
          <a:custGeom>
            <a:avLst/>
            <a:gdLst/>
            <a:ahLst/>
            <a:cxnLst/>
            <a:rect l="l" t="t" r="r" b="b"/>
            <a:pathLst>
              <a:path w="332739" h="208914">
                <a:moveTo>
                  <a:pt x="299958" y="0"/>
                </a:moveTo>
                <a:lnTo>
                  <a:pt x="0" y="70003"/>
                </a:lnTo>
                <a:lnTo>
                  <a:pt x="32317" y="208669"/>
                </a:lnTo>
                <a:lnTo>
                  <a:pt x="332276" y="138666"/>
                </a:lnTo>
                <a:lnTo>
                  <a:pt x="2999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 txBox="1"/>
          <p:nvPr/>
        </p:nvSpPr>
        <p:spPr>
          <a:xfrm rot="20820000">
            <a:off x="2174876" y="2968450"/>
            <a:ext cx="270842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55">
                <a:solidFill>
                  <a:srgbClr val="666666"/>
                </a:solidFill>
                <a:latin typeface="Arial Black"/>
                <a:cs typeface="Arial Black"/>
              </a:rPr>
              <a:t>Knows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5" name="object 65" descr=""/>
          <p:cNvSpPr/>
          <p:nvPr/>
        </p:nvSpPr>
        <p:spPr>
          <a:xfrm>
            <a:off x="2526800" y="3896785"/>
            <a:ext cx="319405" cy="168275"/>
          </a:xfrm>
          <a:custGeom>
            <a:avLst/>
            <a:gdLst/>
            <a:ahLst/>
            <a:cxnLst/>
            <a:rect l="l" t="t" r="r" b="b"/>
            <a:pathLst>
              <a:path w="319405" h="168275">
                <a:moveTo>
                  <a:pt x="307125" y="0"/>
                </a:moveTo>
                <a:lnTo>
                  <a:pt x="0" y="25610"/>
                </a:lnTo>
                <a:lnTo>
                  <a:pt x="11831" y="167676"/>
                </a:lnTo>
                <a:lnTo>
                  <a:pt x="318956" y="142066"/>
                </a:lnTo>
                <a:lnTo>
                  <a:pt x="307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 txBox="1"/>
          <p:nvPr/>
        </p:nvSpPr>
        <p:spPr>
          <a:xfrm rot="21360000">
            <a:off x="2547990" y="3950507"/>
            <a:ext cx="272060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50">
                <a:solidFill>
                  <a:srgbClr val="666666"/>
                </a:solidFill>
                <a:latin typeface="Arial Black"/>
                <a:cs typeface="Arial Black"/>
              </a:rPr>
              <a:t>Knows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7" name="object 67" descr=""/>
          <p:cNvSpPr/>
          <p:nvPr/>
        </p:nvSpPr>
        <p:spPr>
          <a:xfrm>
            <a:off x="3008191" y="3193519"/>
            <a:ext cx="236854" cy="338455"/>
          </a:xfrm>
          <a:custGeom>
            <a:avLst/>
            <a:gdLst/>
            <a:ahLst/>
            <a:cxnLst/>
            <a:rect l="l" t="t" r="r" b="b"/>
            <a:pathLst>
              <a:path w="236855" h="338454">
                <a:moveTo>
                  <a:pt x="134070" y="0"/>
                </a:moveTo>
                <a:lnTo>
                  <a:pt x="0" y="47240"/>
                </a:lnTo>
                <a:lnTo>
                  <a:pt x="102374" y="338181"/>
                </a:lnTo>
                <a:lnTo>
                  <a:pt x="236444" y="290941"/>
                </a:lnTo>
                <a:lnTo>
                  <a:pt x="1340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 txBox="1"/>
          <p:nvPr/>
        </p:nvSpPr>
        <p:spPr>
          <a:xfrm rot="4200000">
            <a:off x="2984497" y="3326964"/>
            <a:ext cx="271881" cy="76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600"/>
              </a:lnSpc>
            </a:pPr>
            <a:r>
              <a:rPr dirty="0" sz="600" spc="-50">
                <a:solidFill>
                  <a:srgbClr val="666666"/>
                </a:solidFill>
                <a:latin typeface="Arial Black"/>
                <a:cs typeface="Arial Black"/>
              </a:rPr>
              <a:t>Knows</a:t>
            </a:r>
            <a:endParaRPr sz="600">
              <a:latin typeface="Arial Black"/>
              <a:cs typeface="Arial Black"/>
            </a:endParaRPr>
          </a:p>
        </p:txBody>
      </p:sp>
      <p:sp>
        <p:nvSpPr>
          <p:cNvPr id="69" name="object 6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26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70" b="0">
                <a:latin typeface="Arial Black"/>
                <a:cs typeface="Arial Black"/>
              </a:rPr>
              <a:t>Everything</a:t>
            </a:r>
            <a:r>
              <a:rPr dirty="0" spc="-220" b="0">
                <a:latin typeface="Arial Black"/>
                <a:cs typeface="Arial Black"/>
              </a:rPr>
              <a:t> </a:t>
            </a:r>
            <a:r>
              <a:rPr dirty="0" spc="-260" b="0">
                <a:latin typeface="Arial Black"/>
                <a:cs typeface="Arial Black"/>
              </a:rPr>
              <a:t>is</a:t>
            </a:r>
            <a:r>
              <a:rPr dirty="0" spc="-225" b="0">
                <a:latin typeface="Arial Black"/>
                <a:cs typeface="Arial Black"/>
              </a:rPr>
              <a:t> </a:t>
            </a:r>
            <a:r>
              <a:rPr dirty="0" spc="-105" b="0">
                <a:latin typeface="Arial Black"/>
                <a:cs typeface="Arial Black"/>
              </a:rPr>
              <a:t>Naturally</a:t>
            </a:r>
            <a:r>
              <a:rPr dirty="0" spc="-210" b="0">
                <a:latin typeface="Arial Black"/>
                <a:cs typeface="Arial Black"/>
              </a:rPr>
              <a:t> </a:t>
            </a:r>
            <a:r>
              <a:rPr dirty="0" spc="-170" b="0">
                <a:latin typeface="Arial Black"/>
                <a:cs typeface="Arial Black"/>
              </a:rPr>
              <a:t>Connected</a:t>
            </a:r>
          </a:p>
        </p:txBody>
      </p:sp>
      <p:grpSp>
        <p:nvGrpSpPr>
          <p:cNvPr id="70" name="object 70" descr=""/>
          <p:cNvGrpSpPr/>
          <p:nvPr/>
        </p:nvGrpSpPr>
        <p:grpSpPr>
          <a:xfrm>
            <a:off x="2654300" y="2615697"/>
            <a:ext cx="585470" cy="725805"/>
            <a:chOff x="2654300" y="2615697"/>
            <a:chExt cx="585470" cy="725805"/>
          </a:xfrm>
        </p:grpSpPr>
        <p:sp>
          <p:nvSpPr>
            <p:cNvPr id="71" name="object 71" descr=""/>
            <p:cNvSpPr/>
            <p:nvPr/>
          </p:nvSpPr>
          <p:spPr>
            <a:xfrm>
              <a:off x="2700270" y="2615914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6" y="19334"/>
                  </a:lnTo>
                  <a:lnTo>
                    <a:pt x="108401" y="42019"/>
                  </a:lnTo>
                  <a:lnTo>
                    <a:pt x="72013" y="72062"/>
                  </a:lnTo>
                  <a:lnTo>
                    <a:pt x="41990" y="108475"/>
                  </a:lnTo>
                  <a:lnTo>
                    <a:pt x="19321" y="150268"/>
                  </a:lnTo>
                  <a:lnTo>
                    <a:pt x="4995" y="196452"/>
                  </a:lnTo>
                  <a:lnTo>
                    <a:pt x="0" y="246037"/>
                  </a:lnTo>
                  <a:lnTo>
                    <a:pt x="4995" y="295622"/>
                  </a:lnTo>
                  <a:lnTo>
                    <a:pt x="19321" y="341805"/>
                  </a:lnTo>
                  <a:lnTo>
                    <a:pt x="41990" y="383598"/>
                  </a:lnTo>
                  <a:lnTo>
                    <a:pt x="72013" y="420011"/>
                  </a:lnTo>
                  <a:lnTo>
                    <a:pt x="108401" y="450054"/>
                  </a:lnTo>
                  <a:lnTo>
                    <a:pt x="150166" y="472739"/>
                  </a:lnTo>
                  <a:lnTo>
                    <a:pt x="196319" y="487075"/>
                  </a:lnTo>
                  <a:lnTo>
                    <a:pt x="245870" y="492074"/>
                  </a:lnTo>
                  <a:lnTo>
                    <a:pt x="295422" y="487075"/>
                  </a:lnTo>
                  <a:lnTo>
                    <a:pt x="341574" y="472739"/>
                  </a:lnTo>
                  <a:lnTo>
                    <a:pt x="383339" y="450054"/>
                  </a:lnTo>
                  <a:lnTo>
                    <a:pt x="419727" y="420011"/>
                  </a:lnTo>
                  <a:lnTo>
                    <a:pt x="449750" y="383598"/>
                  </a:lnTo>
                  <a:lnTo>
                    <a:pt x="472419" y="341805"/>
                  </a:lnTo>
                  <a:lnTo>
                    <a:pt x="486746" y="295622"/>
                  </a:lnTo>
                  <a:lnTo>
                    <a:pt x="491741" y="246037"/>
                  </a:lnTo>
                  <a:lnTo>
                    <a:pt x="486746" y="196452"/>
                  </a:lnTo>
                  <a:lnTo>
                    <a:pt x="472419" y="150268"/>
                  </a:lnTo>
                  <a:lnTo>
                    <a:pt x="449750" y="108475"/>
                  </a:lnTo>
                  <a:lnTo>
                    <a:pt x="419727" y="72062"/>
                  </a:lnTo>
                  <a:lnTo>
                    <a:pt x="383339" y="42019"/>
                  </a:lnTo>
                  <a:lnTo>
                    <a:pt x="341574" y="19334"/>
                  </a:lnTo>
                  <a:lnTo>
                    <a:pt x="295422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0B0B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54300" y="2615697"/>
              <a:ext cx="585215" cy="725424"/>
            </a:xfrm>
            <a:prstGeom prst="rect">
              <a:avLst/>
            </a:prstGeom>
          </p:spPr>
        </p:pic>
      </p:grpSp>
      <p:grpSp>
        <p:nvGrpSpPr>
          <p:cNvPr id="73" name="object 73" descr=""/>
          <p:cNvGrpSpPr/>
          <p:nvPr/>
        </p:nvGrpSpPr>
        <p:grpSpPr>
          <a:xfrm>
            <a:off x="1358900" y="2899161"/>
            <a:ext cx="2273935" cy="1450975"/>
            <a:chOff x="1358900" y="2899161"/>
            <a:chExt cx="2273935" cy="1450975"/>
          </a:xfrm>
        </p:grpSpPr>
        <p:sp>
          <p:nvSpPr>
            <p:cNvPr id="74" name="object 74" descr=""/>
            <p:cNvSpPr/>
            <p:nvPr/>
          </p:nvSpPr>
          <p:spPr>
            <a:xfrm>
              <a:off x="1402431" y="2933871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6" y="19334"/>
                  </a:lnTo>
                  <a:lnTo>
                    <a:pt x="108401" y="42019"/>
                  </a:lnTo>
                  <a:lnTo>
                    <a:pt x="72013" y="72062"/>
                  </a:lnTo>
                  <a:lnTo>
                    <a:pt x="41990" y="108475"/>
                  </a:lnTo>
                  <a:lnTo>
                    <a:pt x="19321" y="150268"/>
                  </a:lnTo>
                  <a:lnTo>
                    <a:pt x="4995" y="196452"/>
                  </a:lnTo>
                  <a:lnTo>
                    <a:pt x="0" y="246038"/>
                  </a:lnTo>
                  <a:lnTo>
                    <a:pt x="4995" y="295623"/>
                  </a:lnTo>
                  <a:lnTo>
                    <a:pt x="19321" y="341807"/>
                  </a:lnTo>
                  <a:lnTo>
                    <a:pt x="41990" y="383599"/>
                  </a:lnTo>
                  <a:lnTo>
                    <a:pt x="72013" y="420012"/>
                  </a:lnTo>
                  <a:lnTo>
                    <a:pt x="108401" y="450056"/>
                  </a:lnTo>
                  <a:lnTo>
                    <a:pt x="150166" y="472740"/>
                  </a:lnTo>
                  <a:lnTo>
                    <a:pt x="196319" y="487076"/>
                  </a:lnTo>
                  <a:lnTo>
                    <a:pt x="245870" y="492075"/>
                  </a:lnTo>
                  <a:lnTo>
                    <a:pt x="295422" y="487076"/>
                  </a:lnTo>
                  <a:lnTo>
                    <a:pt x="341574" y="472740"/>
                  </a:lnTo>
                  <a:lnTo>
                    <a:pt x="383339" y="450056"/>
                  </a:lnTo>
                  <a:lnTo>
                    <a:pt x="419727" y="420012"/>
                  </a:lnTo>
                  <a:lnTo>
                    <a:pt x="449750" y="383599"/>
                  </a:lnTo>
                  <a:lnTo>
                    <a:pt x="472419" y="341807"/>
                  </a:lnTo>
                  <a:lnTo>
                    <a:pt x="486746" y="295623"/>
                  </a:lnTo>
                  <a:lnTo>
                    <a:pt x="491741" y="246038"/>
                  </a:lnTo>
                  <a:lnTo>
                    <a:pt x="486746" y="196452"/>
                  </a:lnTo>
                  <a:lnTo>
                    <a:pt x="472419" y="150268"/>
                  </a:lnTo>
                  <a:lnTo>
                    <a:pt x="449750" y="108475"/>
                  </a:lnTo>
                  <a:lnTo>
                    <a:pt x="419727" y="72062"/>
                  </a:lnTo>
                  <a:lnTo>
                    <a:pt x="383339" y="42019"/>
                  </a:lnTo>
                  <a:lnTo>
                    <a:pt x="341574" y="19334"/>
                  </a:lnTo>
                  <a:lnTo>
                    <a:pt x="295422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0B0B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8900" y="2899161"/>
              <a:ext cx="585215" cy="585215"/>
            </a:xfrm>
            <a:prstGeom prst="rect">
              <a:avLst/>
            </a:prstGeom>
          </p:spPr>
        </p:pic>
        <p:sp>
          <p:nvSpPr>
            <p:cNvPr id="76" name="object 76" descr=""/>
            <p:cNvSpPr/>
            <p:nvPr/>
          </p:nvSpPr>
          <p:spPr>
            <a:xfrm>
              <a:off x="1721984" y="3799385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6" y="19334"/>
                  </a:lnTo>
                  <a:lnTo>
                    <a:pt x="108401" y="42019"/>
                  </a:lnTo>
                  <a:lnTo>
                    <a:pt x="72013" y="72062"/>
                  </a:lnTo>
                  <a:lnTo>
                    <a:pt x="41990" y="108475"/>
                  </a:lnTo>
                  <a:lnTo>
                    <a:pt x="19321" y="150268"/>
                  </a:lnTo>
                  <a:lnTo>
                    <a:pt x="4995" y="196452"/>
                  </a:lnTo>
                  <a:lnTo>
                    <a:pt x="0" y="246037"/>
                  </a:lnTo>
                  <a:lnTo>
                    <a:pt x="4995" y="295622"/>
                  </a:lnTo>
                  <a:lnTo>
                    <a:pt x="19321" y="341805"/>
                  </a:lnTo>
                  <a:lnTo>
                    <a:pt x="41990" y="383598"/>
                  </a:lnTo>
                  <a:lnTo>
                    <a:pt x="72013" y="420011"/>
                  </a:lnTo>
                  <a:lnTo>
                    <a:pt x="108401" y="450054"/>
                  </a:lnTo>
                  <a:lnTo>
                    <a:pt x="150166" y="472739"/>
                  </a:lnTo>
                  <a:lnTo>
                    <a:pt x="196319" y="487075"/>
                  </a:lnTo>
                  <a:lnTo>
                    <a:pt x="245870" y="492074"/>
                  </a:lnTo>
                  <a:lnTo>
                    <a:pt x="295422" y="487075"/>
                  </a:lnTo>
                  <a:lnTo>
                    <a:pt x="341574" y="472739"/>
                  </a:lnTo>
                  <a:lnTo>
                    <a:pt x="383339" y="450054"/>
                  </a:lnTo>
                  <a:lnTo>
                    <a:pt x="419727" y="420011"/>
                  </a:lnTo>
                  <a:lnTo>
                    <a:pt x="449750" y="383598"/>
                  </a:lnTo>
                  <a:lnTo>
                    <a:pt x="472419" y="341805"/>
                  </a:lnTo>
                  <a:lnTo>
                    <a:pt x="486746" y="295622"/>
                  </a:lnTo>
                  <a:lnTo>
                    <a:pt x="491741" y="246037"/>
                  </a:lnTo>
                  <a:lnTo>
                    <a:pt x="486746" y="196452"/>
                  </a:lnTo>
                  <a:lnTo>
                    <a:pt x="472419" y="150268"/>
                  </a:lnTo>
                  <a:lnTo>
                    <a:pt x="449750" y="108475"/>
                  </a:lnTo>
                  <a:lnTo>
                    <a:pt x="419727" y="72062"/>
                  </a:lnTo>
                  <a:lnTo>
                    <a:pt x="383339" y="42019"/>
                  </a:lnTo>
                  <a:lnTo>
                    <a:pt x="341574" y="19334"/>
                  </a:lnTo>
                  <a:lnTo>
                    <a:pt x="295422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0B0B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75891" y="3764793"/>
              <a:ext cx="585216" cy="585216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3091775" y="3700740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6" y="19334"/>
                  </a:lnTo>
                  <a:lnTo>
                    <a:pt x="108401" y="42019"/>
                  </a:lnTo>
                  <a:lnTo>
                    <a:pt x="72013" y="72062"/>
                  </a:lnTo>
                  <a:lnTo>
                    <a:pt x="41990" y="108475"/>
                  </a:lnTo>
                  <a:lnTo>
                    <a:pt x="19321" y="150268"/>
                  </a:lnTo>
                  <a:lnTo>
                    <a:pt x="4995" y="196452"/>
                  </a:lnTo>
                  <a:lnTo>
                    <a:pt x="0" y="246037"/>
                  </a:lnTo>
                  <a:lnTo>
                    <a:pt x="4995" y="295622"/>
                  </a:lnTo>
                  <a:lnTo>
                    <a:pt x="19321" y="341805"/>
                  </a:lnTo>
                  <a:lnTo>
                    <a:pt x="41990" y="383598"/>
                  </a:lnTo>
                  <a:lnTo>
                    <a:pt x="72013" y="420011"/>
                  </a:lnTo>
                  <a:lnTo>
                    <a:pt x="108401" y="450054"/>
                  </a:lnTo>
                  <a:lnTo>
                    <a:pt x="150166" y="472739"/>
                  </a:lnTo>
                  <a:lnTo>
                    <a:pt x="196319" y="487075"/>
                  </a:lnTo>
                  <a:lnTo>
                    <a:pt x="245870" y="492074"/>
                  </a:lnTo>
                  <a:lnTo>
                    <a:pt x="295421" y="487075"/>
                  </a:lnTo>
                  <a:lnTo>
                    <a:pt x="341574" y="472739"/>
                  </a:lnTo>
                  <a:lnTo>
                    <a:pt x="383338" y="450054"/>
                  </a:lnTo>
                  <a:lnTo>
                    <a:pt x="419726" y="420011"/>
                  </a:lnTo>
                  <a:lnTo>
                    <a:pt x="449749" y="383598"/>
                  </a:lnTo>
                  <a:lnTo>
                    <a:pt x="472418" y="341805"/>
                  </a:lnTo>
                  <a:lnTo>
                    <a:pt x="486744" y="295622"/>
                  </a:lnTo>
                  <a:lnTo>
                    <a:pt x="491740" y="246037"/>
                  </a:lnTo>
                  <a:lnTo>
                    <a:pt x="486744" y="196452"/>
                  </a:lnTo>
                  <a:lnTo>
                    <a:pt x="472418" y="150268"/>
                  </a:lnTo>
                  <a:lnTo>
                    <a:pt x="449749" y="108475"/>
                  </a:lnTo>
                  <a:lnTo>
                    <a:pt x="419726" y="72062"/>
                  </a:lnTo>
                  <a:lnTo>
                    <a:pt x="383338" y="42019"/>
                  </a:lnTo>
                  <a:lnTo>
                    <a:pt x="341574" y="19334"/>
                  </a:lnTo>
                  <a:lnTo>
                    <a:pt x="295421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0B0B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47492" y="3667257"/>
              <a:ext cx="585216" cy="585215"/>
            </a:xfrm>
            <a:prstGeom prst="rect">
              <a:avLst/>
            </a:prstGeom>
          </p:spPr>
        </p:pic>
      </p:grpSp>
      <p:grpSp>
        <p:nvGrpSpPr>
          <p:cNvPr id="80" name="object 80" descr=""/>
          <p:cNvGrpSpPr/>
          <p:nvPr/>
        </p:nvGrpSpPr>
        <p:grpSpPr>
          <a:xfrm>
            <a:off x="4144771" y="2798577"/>
            <a:ext cx="585470" cy="814069"/>
            <a:chOff x="4144771" y="2798577"/>
            <a:chExt cx="585470" cy="814069"/>
          </a:xfrm>
        </p:grpSpPr>
        <p:sp>
          <p:nvSpPr>
            <p:cNvPr id="81" name="object 81" descr=""/>
            <p:cNvSpPr/>
            <p:nvPr/>
          </p:nvSpPr>
          <p:spPr>
            <a:xfrm>
              <a:off x="4188802" y="2800911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6" y="19334"/>
                  </a:lnTo>
                  <a:lnTo>
                    <a:pt x="108401" y="42019"/>
                  </a:lnTo>
                  <a:lnTo>
                    <a:pt x="72013" y="72062"/>
                  </a:lnTo>
                  <a:lnTo>
                    <a:pt x="41990" y="108475"/>
                  </a:lnTo>
                  <a:lnTo>
                    <a:pt x="19321" y="150268"/>
                  </a:lnTo>
                  <a:lnTo>
                    <a:pt x="4995" y="196452"/>
                  </a:lnTo>
                  <a:lnTo>
                    <a:pt x="0" y="246037"/>
                  </a:lnTo>
                  <a:lnTo>
                    <a:pt x="4995" y="295622"/>
                  </a:lnTo>
                  <a:lnTo>
                    <a:pt x="19321" y="341806"/>
                  </a:lnTo>
                  <a:lnTo>
                    <a:pt x="41990" y="383599"/>
                  </a:lnTo>
                  <a:lnTo>
                    <a:pt x="72013" y="420012"/>
                  </a:lnTo>
                  <a:lnTo>
                    <a:pt x="108401" y="450056"/>
                  </a:lnTo>
                  <a:lnTo>
                    <a:pt x="150166" y="472740"/>
                  </a:lnTo>
                  <a:lnTo>
                    <a:pt x="196319" y="487076"/>
                  </a:lnTo>
                  <a:lnTo>
                    <a:pt x="245870" y="492075"/>
                  </a:lnTo>
                  <a:lnTo>
                    <a:pt x="295422" y="487076"/>
                  </a:lnTo>
                  <a:lnTo>
                    <a:pt x="341574" y="472740"/>
                  </a:lnTo>
                  <a:lnTo>
                    <a:pt x="383339" y="450056"/>
                  </a:lnTo>
                  <a:lnTo>
                    <a:pt x="419727" y="420012"/>
                  </a:lnTo>
                  <a:lnTo>
                    <a:pt x="449750" y="383599"/>
                  </a:lnTo>
                  <a:lnTo>
                    <a:pt x="472419" y="341806"/>
                  </a:lnTo>
                  <a:lnTo>
                    <a:pt x="486746" y="295622"/>
                  </a:lnTo>
                  <a:lnTo>
                    <a:pt x="491741" y="246037"/>
                  </a:lnTo>
                  <a:lnTo>
                    <a:pt x="486746" y="196452"/>
                  </a:lnTo>
                  <a:lnTo>
                    <a:pt x="472419" y="150268"/>
                  </a:lnTo>
                  <a:lnTo>
                    <a:pt x="449750" y="108475"/>
                  </a:lnTo>
                  <a:lnTo>
                    <a:pt x="419727" y="72062"/>
                  </a:lnTo>
                  <a:lnTo>
                    <a:pt x="383339" y="42019"/>
                  </a:lnTo>
                  <a:lnTo>
                    <a:pt x="341574" y="19334"/>
                  </a:lnTo>
                  <a:lnTo>
                    <a:pt x="295422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0B0B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44771" y="2798577"/>
              <a:ext cx="585215" cy="813815"/>
            </a:xfrm>
            <a:prstGeom prst="rect">
              <a:avLst/>
            </a:prstGeom>
          </p:spPr>
        </p:pic>
      </p:grpSp>
      <p:grpSp>
        <p:nvGrpSpPr>
          <p:cNvPr id="83" name="object 83" descr=""/>
          <p:cNvGrpSpPr/>
          <p:nvPr/>
        </p:nvGrpSpPr>
        <p:grpSpPr>
          <a:xfrm>
            <a:off x="8387588" y="3834896"/>
            <a:ext cx="585470" cy="585470"/>
            <a:chOff x="8387588" y="3834896"/>
            <a:chExt cx="585470" cy="585470"/>
          </a:xfrm>
        </p:grpSpPr>
        <p:sp>
          <p:nvSpPr>
            <p:cNvPr id="84" name="object 84" descr=""/>
            <p:cNvSpPr/>
            <p:nvPr/>
          </p:nvSpPr>
          <p:spPr>
            <a:xfrm>
              <a:off x="8431155" y="3869270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7" y="19334"/>
                  </a:lnTo>
                  <a:lnTo>
                    <a:pt x="108402" y="42019"/>
                  </a:lnTo>
                  <a:lnTo>
                    <a:pt x="72014" y="72062"/>
                  </a:lnTo>
                  <a:lnTo>
                    <a:pt x="41991" y="108475"/>
                  </a:lnTo>
                  <a:lnTo>
                    <a:pt x="19321" y="150268"/>
                  </a:lnTo>
                  <a:lnTo>
                    <a:pt x="4995" y="196452"/>
                  </a:lnTo>
                  <a:lnTo>
                    <a:pt x="0" y="246037"/>
                  </a:lnTo>
                  <a:lnTo>
                    <a:pt x="4995" y="295622"/>
                  </a:lnTo>
                  <a:lnTo>
                    <a:pt x="19321" y="341805"/>
                  </a:lnTo>
                  <a:lnTo>
                    <a:pt x="41991" y="383598"/>
                  </a:lnTo>
                  <a:lnTo>
                    <a:pt x="72014" y="420011"/>
                  </a:lnTo>
                  <a:lnTo>
                    <a:pt x="108402" y="450054"/>
                  </a:lnTo>
                  <a:lnTo>
                    <a:pt x="150167" y="472739"/>
                  </a:lnTo>
                  <a:lnTo>
                    <a:pt x="196319" y="487075"/>
                  </a:lnTo>
                  <a:lnTo>
                    <a:pt x="245870" y="492074"/>
                  </a:lnTo>
                  <a:lnTo>
                    <a:pt x="295422" y="487075"/>
                  </a:lnTo>
                  <a:lnTo>
                    <a:pt x="341574" y="472739"/>
                  </a:lnTo>
                  <a:lnTo>
                    <a:pt x="383339" y="450054"/>
                  </a:lnTo>
                  <a:lnTo>
                    <a:pt x="419727" y="420011"/>
                  </a:lnTo>
                  <a:lnTo>
                    <a:pt x="449750" y="383598"/>
                  </a:lnTo>
                  <a:lnTo>
                    <a:pt x="472419" y="341805"/>
                  </a:lnTo>
                  <a:lnTo>
                    <a:pt x="486746" y="295622"/>
                  </a:lnTo>
                  <a:lnTo>
                    <a:pt x="491741" y="246037"/>
                  </a:lnTo>
                  <a:lnTo>
                    <a:pt x="486746" y="196452"/>
                  </a:lnTo>
                  <a:lnTo>
                    <a:pt x="472419" y="150268"/>
                  </a:lnTo>
                  <a:lnTo>
                    <a:pt x="449750" y="108475"/>
                  </a:lnTo>
                  <a:lnTo>
                    <a:pt x="419727" y="72062"/>
                  </a:lnTo>
                  <a:lnTo>
                    <a:pt x="383339" y="42019"/>
                  </a:lnTo>
                  <a:lnTo>
                    <a:pt x="341574" y="19334"/>
                  </a:lnTo>
                  <a:lnTo>
                    <a:pt x="295422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0B0B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87588" y="3834896"/>
              <a:ext cx="585216" cy="585216"/>
            </a:xfrm>
            <a:prstGeom prst="rect">
              <a:avLst/>
            </a:prstGeom>
          </p:spPr>
        </p:pic>
      </p:grpSp>
      <p:grpSp>
        <p:nvGrpSpPr>
          <p:cNvPr id="86" name="object 86" descr=""/>
          <p:cNvGrpSpPr/>
          <p:nvPr/>
        </p:nvGrpSpPr>
        <p:grpSpPr>
          <a:xfrm>
            <a:off x="5726684" y="3892808"/>
            <a:ext cx="585470" cy="585470"/>
            <a:chOff x="5726684" y="3892808"/>
            <a:chExt cx="585470" cy="585470"/>
          </a:xfrm>
        </p:grpSpPr>
        <p:sp>
          <p:nvSpPr>
            <p:cNvPr id="87" name="object 87" descr=""/>
            <p:cNvSpPr/>
            <p:nvPr/>
          </p:nvSpPr>
          <p:spPr>
            <a:xfrm>
              <a:off x="5770330" y="3927008"/>
              <a:ext cx="492125" cy="492125"/>
            </a:xfrm>
            <a:custGeom>
              <a:avLst/>
              <a:gdLst/>
              <a:ahLst/>
              <a:cxnLst/>
              <a:rect l="l" t="t" r="r" b="b"/>
              <a:pathLst>
                <a:path w="492125" h="492125">
                  <a:moveTo>
                    <a:pt x="245870" y="0"/>
                  </a:moveTo>
                  <a:lnTo>
                    <a:pt x="196319" y="4998"/>
                  </a:lnTo>
                  <a:lnTo>
                    <a:pt x="150167" y="19334"/>
                  </a:lnTo>
                  <a:lnTo>
                    <a:pt x="108402" y="42019"/>
                  </a:lnTo>
                  <a:lnTo>
                    <a:pt x="72014" y="72062"/>
                  </a:lnTo>
                  <a:lnTo>
                    <a:pt x="41991" y="108475"/>
                  </a:lnTo>
                  <a:lnTo>
                    <a:pt x="19321" y="150268"/>
                  </a:lnTo>
                  <a:lnTo>
                    <a:pt x="4995" y="196452"/>
                  </a:lnTo>
                  <a:lnTo>
                    <a:pt x="0" y="246038"/>
                  </a:lnTo>
                  <a:lnTo>
                    <a:pt x="4995" y="295623"/>
                  </a:lnTo>
                  <a:lnTo>
                    <a:pt x="19321" y="341807"/>
                  </a:lnTo>
                  <a:lnTo>
                    <a:pt x="41991" y="383599"/>
                  </a:lnTo>
                  <a:lnTo>
                    <a:pt x="72014" y="420012"/>
                  </a:lnTo>
                  <a:lnTo>
                    <a:pt x="108402" y="450056"/>
                  </a:lnTo>
                  <a:lnTo>
                    <a:pt x="150167" y="472740"/>
                  </a:lnTo>
                  <a:lnTo>
                    <a:pt x="196319" y="487076"/>
                  </a:lnTo>
                  <a:lnTo>
                    <a:pt x="245870" y="492075"/>
                  </a:lnTo>
                  <a:lnTo>
                    <a:pt x="295422" y="487076"/>
                  </a:lnTo>
                  <a:lnTo>
                    <a:pt x="341574" y="472740"/>
                  </a:lnTo>
                  <a:lnTo>
                    <a:pt x="383339" y="450056"/>
                  </a:lnTo>
                  <a:lnTo>
                    <a:pt x="419727" y="420012"/>
                  </a:lnTo>
                  <a:lnTo>
                    <a:pt x="449750" y="383599"/>
                  </a:lnTo>
                  <a:lnTo>
                    <a:pt x="472419" y="341807"/>
                  </a:lnTo>
                  <a:lnTo>
                    <a:pt x="486746" y="295623"/>
                  </a:lnTo>
                  <a:lnTo>
                    <a:pt x="491741" y="246038"/>
                  </a:lnTo>
                  <a:lnTo>
                    <a:pt x="486746" y="196452"/>
                  </a:lnTo>
                  <a:lnTo>
                    <a:pt x="472419" y="150268"/>
                  </a:lnTo>
                  <a:lnTo>
                    <a:pt x="449750" y="108475"/>
                  </a:lnTo>
                  <a:lnTo>
                    <a:pt x="419727" y="72062"/>
                  </a:lnTo>
                  <a:lnTo>
                    <a:pt x="383339" y="42019"/>
                  </a:lnTo>
                  <a:lnTo>
                    <a:pt x="341574" y="19334"/>
                  </a:lnTo>
                  <a:lnTo>
                    <a:pt x="295422" y="4998"/>
                  </a:lnTo>
                  <a:lnTo>
                    <a:pt x="245870" y="0"/>
                  </a:lnTo>
                  <a:close/>
                </a:path>
              </a:pathLst>
            </a:custGeom>
            <a:solidFill>
              <a:srgbClr val="0B0B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8" name="object 8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726684" y="3892808"/>
              <a:ext cx="585215" cy="585216"/>
            </a:xfrm>
            <a:prstGeom prst="rect">
              <a:avLst/>
            </a:prstGeom>
          </p:spPr>
        </p:pic>
      </p:grpSp>
      <p:sp>
        <p:nvSpPr>
          <p:cNvPr id="89" name="object 8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90" name="object 9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850575" y="2046290"/>
            <a:ext cx="4127500" cy="4069079"/>
          </a:xfrm>
          <a:prstGeom prst="rect">
            <a:avLst/>
          </a:prstGeom>
          <a:solidFill>
            <a:srgbClr val="018BFF"/>
          </a:solidFill>
        </p:spPr>
        <p:txBody>
          <a:bodyPr wrap="square" lIns="0" tIns="869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2000">
              <a:latin typeface="Times New Roman"/>
              <a:cs typeface="Times New Roman"/>
            </a:endParaRPr>
          </a:p>
          <a:p>
            <a:pPr marL="191135">
              <a:lnSpc>
                <a:spcPct val="10000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Queries</a:t>
            </a: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20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dirty="0" sz="2000" spc="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exist.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2000" spc="1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endParaRPr sz="2000">
              <a:latin typeface="Arial"/>
              <a:cs typeface="Arial"/>
            </a:endParaRPr>
          </a:p>
          <a:p>
            <a:pPr marL="191135" marR="1113155">
              <a:lnSpc>
                <a:spcPct val="101099"/>
              </a:lnSpc>
              <a:spcBef>
                <a:spcPts val="1180"/>
              </a:spcBef>
            </a:pP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Uncover</a:t>
            </a:r>
            <a:r>
              <a:rPr dirty="0" sz="19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trends</a:t>
            </a:r>
            <a:r>
              <a:rPr dirty="0" sz="19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9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"/>
                <a:cs typeface="Arial"/>
              </a:rPr>
              <a:t>make 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predictions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9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Visualization</a:t>
            </a:r>
            <a:endParaRPr sz="20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Explore,</a:t>
            </a:r>
            <a:r>
              <a:rPr dirty="0" sz="2000" spc="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collaborate,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explain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15686" y="1244312"/>
            <a:ext cx="4791075" cy="544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5"/>
              <a:t> </a:t>
            </a:r>
            <a:r>
              <a:rPr dirty="0"/>
              <a:t>Data</a:t>
            </a:r>
            <a:r>
              <a:rPr dirty="0" spc="-5"/>
              <a:t> </a:t>
            </a:r>
            <a:r>
              <a:rPr dirty="0" spc="-10"/>
              <a:t>Science</a:t>
            </a: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7316" y="2121921"/>
            <a:ext cx="4718304" cy="4181855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3615960" y="4172097"/>
            <a:ext cx="825500" cy="4159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5080" indent="229870">
              <a:lnSpc>
                <a:spcPts val="1510"/>
              </a:lnSpc>
              <a:spcBef>
                <a:spcPts val="190"/>
              </a:spcBef>
            </a:pPr>
            <a:r>
              <a:rPr dirty="0" sz="1300" spc="-20">
                <a:solidFill>
                  <a:srgbClr val="434343"/>
                </a:solidFill>
                <a:latin typeface="Arial"/>
                <a:cs typeface="Arial"/>
              </a:rPr>
              <a:t>Data </a:t>
            </a:r>
            <a:r>
              <a:rPr dirty="0" sz="1300" spc="-30">
                <a:solidFill>
                  <a:srgbClr val="434343"/>
                </a:solidFill>
                <a:latin typeface="Arial"/>
                <a:cs typeface="Arial"/>
              </a:rPr>
              <a:t>Exploration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2023644" y="3184545"/>
            <a:ext cx="1548130" cy="1403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82015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solidFill>
                  <a:srgbClr val="434343"/>
                </a:solidFill>
                <a:latin typeface="Arial"/>
                <a:cs typeface="Arial"/>
              </a:rPr>
              <a:t>Analytics</a:t>
            </a:r>
            <a:endParaRPr sz="1300">
              <a:latin typeface="Arial"/>
              <a:cs typeface="Arial"/>
            </a:endParaRPr>
          </a:p>
          <a:p>
            <a:pPr algn="ctr" marL="906144" marR="16510">
              <a:lnSpc>
                <a:spcPct val="97900"/>
              </a:lnSpc>
              <a:spcBef>
                <a:spcPts val="1185"/>
              </a:spcBef>
            </a:pP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Graph </a:t>
            </a:r>
            <a:r>
              <a:rPr dirty="0" sz="1400" spc="-2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dirty="0" sz="1400" spc="-30">
                <a:solidFill>
                  <a:srgbClr val="FFFFFF"/>
                </a:solidFill>
                <a:latin typeface="Arial"/>
                <a:cs typeface="Arial"/>
              </a:rPr>
              <a:t>Science</a:t>
            </a:r>
            <a:endParaRPr sz="1400">
              <a:latin typeface="Arial"/>
              <a:cs typeface="Arial"/>
            </a:endParaRPr>
          </a:p>
          <a:p>
            <a:pPr algn="ctr" marL="12700" marR="673100" indent="-635">
              <a:lnSpc>
                <a:spcPts val="1510"/>
              </a:lnSpc>
              <a:spcBef>
                <a:spcPts val="190"/>
              </a:spcBef>
            </a:pPr>
            <a:r>
              <a:rPr dirty="0" sz="1300" spc="-10">
                <a:solidFill>
                  <a:srgbClr val="434343"/>
                </a:solidFill>
                <a:latin typeface="Arial"/>
                <a:cs typeface="Arial"/>
              </a:rPr>
              <a:t>Feature </a:t>
            </a:r>
            <a:r>
              <a:rPr dirty="0" sz="1300" spc="-30">
                <a:solidFill>
                  <a:srgbClr val="434343"/>
                </a:solidFill>
                <a:latin typeface="Arial"/>
                <a:cs typeface="Arial"/>
              </a:rPr>
              <a:t>Engineering</a:t>
            </a:r>
            <a:endParaRPr sz="13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462396" y="5941435"/>
            <a:ext cx="73152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Queries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3500" y="1902835"/>
            <a:ext cx="501586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67785" algn="l"/>
              </a:tabLst>
            </a:pPr>
            <a:r>
              <a:rPr dirty="0" sz="1600">
                <a:latin typeface="Arial"/>
                <a:cs typeface="Arial"/>
              </a:rPr>
              <a:t>Machine</a:t>
            </a:r>
            <a:r>
              <a:rPr dirty="0" sz="1600" spc="-8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Learning</a:t>
            </a:r>
            <a:r>
              <a:rPr dirty="0" sz="1600">
                <a:latin typeface="Arial"/>
                <a:cs typeface="Arial"/>
              </a:rPr>
              <a:t>	</a:t>
            </a:r>
            <a:r>
              <a:rPr dirty="0" sz="1600" spc="-10">
                <a:latin typeface="Arial"/>
                <a:cs typeface="Arial"/>
              </a:rPr>
              <a:t>Visualization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64715" y="850905"/>
            <a:ext cx="9474835" cy="5333365"/>
            <a:chOff x="1064715" y="850905"/>
            <a:chExt cx="9474835" cy="533336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6588" y="850905"/>
              <a:ext cx="2532888" cy="1389887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0430" y="3186268"/>
              <a:ext cx="9153348" cy="299786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070430" y="3186268"/>
              <a:ext cx="3055620" cy="2031364"/>
            </a:xfrm>
            <a:custGeom>
              <a:avLst/>
              <a:gdLst/>
              <a:ahLst/>
              <a:cxnLst/>
              <a:rect l="l" t="t" r="r" b="b"/>
              <a:pathLst>
                <a:path w="3055620" h="2031364">
                  <a:moveTo>
                    <a:pt x="3055552" y="0"/>
                  </a:moveTo>
                  <a:lnTo>
                    <a:pt x="0" y="0"/>
                  </a:lnTo>
                  <a:lnTo>
                    <a:pt x="0" y="2031131"/>
                  </a:lnTo>
                  <a:lnTo>
                    <a:pt x="3055552" y="2031131"/>
                  </a:lnTo>
                  <a:lnTo>
                    <a:pt x="3055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070430" y="3186268"/>
              <a:ext cx="3055620" cy="2031364"/>
            </a:xfrm>
            <a:custGeom>
              <a:avLst/>
              <a:gdLst/>
              <a:ahLst/>
              <a:cxnLst/>
              <a:rect l="l" t="t" r="r" b="b"/>
              <a:pathLst>
                <a:path w="3055620" h="2031364">
                  <a:moveTo>
                    <a:pt x="0" y="0"/>
                  </a:moveTo>
                  <a:lnTo>
                    <a:pt x="3055552" y="0"/>
                  </a:lnTo>
                  <a:lnTo>
                    <a:pt x="3055552" y="2031131"/>
                  </a:lnTo>
                  <a:lnTo>
                    <a:pt x="0" y="2031131"/>
                  </a:lnTo>
                  <a:lnTo>
                    <a:pt x="0" y="0"/>
                  </a:lnTo>
                  <a:close/>
                </a:path>
              </a:pathLst>
            </a:custGeom>
            <a:ln w="1083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19323" y="3186268"/>
              <a:ext cx="3055620" cy="1043305"/>
            </a:xfrm>
            <a:custGeom>
              <a:avLst/>
              <a:gdLst/>
              <a:ahLst/>
              <a:cxnLst/>
              <a:rect l="l" t="t" r="r" b="b"/>
              <a:pathLst>
                <a:path w="3055620" h="1043304">
                  <a:moveTo>
                    <a:pt x="3055552" y="0"/>
                  </a:moveTo>
                  <a:lnTo>
                    <a:pt x="0" y="0"/>
                  </a:lnTo>
                  <a:lnTo>
                    <a:pt x="0" y="1042884"/>
                  </a:lnTo>
                  <a:lnTo>
                    <a:pt x="3055552" y="1042884"/>
                  </a:lnTo>
                  <a:lnTo>
                    <a:pt x="30555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119323" y="3186268"/>
              <a:ext cx="3055620" cy="1043305"/>
            </a:xfrm>
            <a:custGeom>
              <a:avLst/>
              <a:gdLst/>
              <a:ahLst/>
              <a:cxnLst/>
              <a:rect l="l" t="t" r="r" b="b"/>
              <a:pathLst>
                <a:path w="3055620" h="1043304">
                  <a:moveTo>
                    <a:pt x="0" y="0"/>
                  </a:moveTo>
                  <a:lnTo>
                    <a:pt x="3055552" y="0"/>
                  </a:lnTo>
                  <a:lnTo>
                    <a:pt x="3055552" y="1042884"/>
                  </a:lnTo>
                  <a:lnTo>
                    <a:pt x="0" y="1042884"/>
                  </a:lnTo>
                  <a:lnTo>
                    <a:pt x="0" y="0"/>
                  </a:lnTo>
                  <a:close/>
                </a:path>
              </a:pathLst>
            </a:custGeom>
            <a:ln w="1084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316345" y="3907306"/>
              <a:ext cx="481965" cy="130810"/>
            </a:xfrm>
            <a:custGeom>
              <a:avLst/>
              <a:gdLst/>
              <a:ahLst/>
              <a:cxnLst/>
              <a:rect l="l" t="t" r="r" b="b"/>
              <a:pathLst>
                <a:path w="481964" h="130810">
                  <a:moveTo>
                    <a:pt x="0" y="0"/>
                  </a:moveTo>
                  <a:lnTo>
                    <a:pt x="481892" y="130813"/>
                  </a:lnTo>
                </a:path>
              </a:pathLst>
            </a:custGeom>
            <a:ln w="32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365246" y="4383858"/>
              <a:ext cx="494030" cy="34290"/>
            </a:xfrm>
            <a:custGeom>
              <a:avLst/>
              <a:gdLst/>
              <a:ahLst/>
              <a:cxnLst/>
              <a:rect l="l" t="t" r="r" b="b"/>
              <a:pathLst>
                <a:path w="494030" h="34289">
                  <a:moveTo>
                    <a:pt x="0" y="0"/>
                  </a:moveTo>
                  <a:lnTo>
                    <a:pt x="493948" y="33734"/>
                  </a:lnTo>
                </a:path>
              </a:pathLst>
            </a:custGeom>
            <a:ln w="32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099483" y="4647919"/>
              <a:ext cx="593090" cy="170815"/>
            </a:xfrm>
            <a:custGeom>
              <a:avLst/>
              <a:gdLst/>
              <a:ahLst/>
              <a:cxnLst/>
              <a:rect l="l" t="t" r="r" b="b"/>
              <a:pathLst>
                <a:path w="593089" h="170814">
                  <a:moveTo>
                    <a:pt x="0" y="0"/>
                  </a:moveTo>
                  <a:lnTo>
                    <a:pt x="592516" y="170459"/>
                  </a:lnTo>
                </a:path>
              </a:pathLst>
            </a:custGeom>
            <a:ln w="32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953107" y="4291980"/>
              <a:ext cx="153670" cy="322580"/>
            </a:xfrm>
            <a:custGeom>
              <a:avLst/>
              <a:gdLst/>
              <a:ahLst/>
              <a:cxnLst/>
              <a:rect l="l" t="t" r="r" b="b"/>
              <a:pathLst>
                <a:path w="153669" h="322579">
                  <a:moveTo>
                    <a:pt x="0" y="0"/>
                  </a:moveTo>
                  <a:lnTo>
                    <a:pt x="153050" y="322110"/>
                  </a:lnTo>
                </a:path>
              </a:pathLst>
            </a:custGeom>
            <a:ln w="32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954689" y="4248523"/>
              <a:ext cx="470534" cy="133350"/>
            </a:xfrm>
            <a:custGeom>
              <a:avLst/>
              <a:gdLst/>
              <a:ahLst/>
              <a:cxnLst/>
              <a:rect l="l" t="t" r="r" b="b"/>
              <a:pathLst>
                <a:path w="470535" h="133350">
                  <a:moveTo>
                    <a:pt x="0" y="0"/>
                  </a:moveTo>
                  <a:lnTo>
                    <a:pt x="470057" y="132997"/>
                  </a:lnTo>
                </a:path>
              </a:pathLst>
            </a:custGeom>
            <a:ln w="32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122904" y="4381042"/>
              <a:ext cx="293370" cy="262890"/>
            </a:xfrm>
            <a:custGeom>
              <a:avLst/>
              <a:gdLst/>
              <a:ahLst/>
              <a:cxnLst/>
              <a:rect l="l" t="t" r="r" b="b"/>
              <a:pathLst>
                <a:path w="293369" h="262889">
                  <a:moveTo>
                    <a:pt x="0" y="262264"/>
                  </a:moveTo>
                  <a:lnTo>
                    <a:pt x="293188" y="0"/>
                  </a:lnTo>
                </a:path>
              </a:pathLst>
            </a:custGeom>
            <a:ln w="325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741324" y="4038961"/>
              <a:ext cx="526415" cy="85725"/>
            </a:xfrm>
            <a:custGeom>
              <a:avLst/>
              <a:gdLst/>
              <a:ahLst/>
              <a:cxnLst/>
              <a:rect l="l" t="t" r="r" b="b"/>
              <a:pathLst>
                <a:path w="526414" h="85725">
                  <a:moveTo>
                    <a:pt x="0" y="0"/>
                  </a:moveTo>
                  <a:lnTo>
                    <a:pt x="526026" y="85419"/>
                  </a:lnTo>
                </a:path>
              </a:pathLst>
            </a:custGeom>
            <a:ln w="32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746204" y="4002486"/>
              <a:ext cx="405130" cy="496570"/>
            </a:xfrm>
            <a:custGeom>
              <a:avLst/>
              <a:gdLst/>
              <a:ahLst/>
              <a:cxnLst/>
              <a:rect l="l" t="t" r="r" b="b"/>
              <a:pathLst>
                <a:path w="405130" h="496570">
                  <a:moveTo>
                    <a:pt x="0" y="0"/>
                  </a:moveTo>
                  <a:lnTo>
                    <a:pt x="404503" y="496472"/>
                  </a:lnTo>
                </a:path>
              </a:pathLst>
            </a:custGeom>
            <a:ln w="32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780557" y="4042486"/>
              <a:ext cx="33655" cy="352425"/>
            </a:xfrm>
            <a:custGeom>
              <a:avLst/>
              <a:gdLst/>
              <a:ahLst/>
              <a:cxnLst/>
              <a:rect l="l" t="t" r="r" b="b"/>
              <a:pathLst>
                <a:path w="33655" h="352425">
                  <a:moveTo>
                    <a:pt x="0" y="0"/>
                  </a:moveTo>
                  <a:lnTo>
                    <a:pt x="33317" y="352278"/>
                  </a:lnTo>
                </a:path>
              </a:pathLst>
            </a:custGeom>
            <a:ln w="3250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698960" y="3970820"/>
              <a:ext cx="241935" cy="283845"/>
            </a:xfrm>
            <a:custGeom>
              <a:avLst/>
              <a:gdLst/>
              <a:ahLst/>
              <a:cxnLst/>
              <a:rect l="l" t="t" r="r" b="b"/>
              <a:pathLst>
                <a:path w="241935" h="283845">
                  <a:moveTo>
                    <a:pt x="0" y="0"/>
                  </a:moveTo>
                  <a:lnTo>
                    <a:pt x="241811" y="283844"/>
                  </a:lnTo>
                </a:path>
              </a:pathLst>
            </a:custGeom>
            <a:ln w="325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721826" y="4596930"/>
              <a:ext cx="118745" cy="239395"/>
            </a:xfrm>
            <a:custGeom>
              <a:avLst/>
              <a:gdLst/>
              <a:ahLst/>
              <a:cxnLst/>
              <a:rect l="l" t="t" r="r" b="b"/>
              <a:pathLst>
                <a:path w="118744" h="239395">
                  <a:moveTo>
                    <a:pt x="118479" y="239251"/>
                  </a:moveTo>
                  <a:lnTo>
                    <a:pt x="0" y="0"/>
                  </a:lnTo>
                </a:path>
              </a:pathLst>
            </a:custGeom>
            <a:ln w="325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735472" y="4287563"/>
              <a:ext cx="198755" cy="250190"/>
            </a:xfrm>
            <a:custGeom>
              <a:avLst/>
              <a:gdLst/>
              <a:ahLst/>
              <a:cxnLst/>
              <a:rect l="l" t="t" r="r" b="b"/>
              <a:pathLst>
                <a:path w="198755" h="250189">
                  <a:moveTo>
                    <a:pt x="0" y="249708"/>
                  </a:moveTo>
                  <a:lnTo>
                    <a:pt x="198300" y="0"/>
                  </a:lnTo>
                </a:path>
              </a:pathLst>
            </a:custGeom>
            <a:ln w="325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792016" y="3843531"/>
              <a:ext cx="273685" cy="158750"/>
            </a:xfrm>
            <a:custGeom>
              <a:avLst/>
              <a:gdLst/>
              <a:ahLst/>
              <a:cxnLst/>
              <a:rect l="l" t="t" r="r" b="b"/>
              <a:pathLst>
                <a:path w="273685" h="158750">
                  <a:moveTo>
                    <a:pt x="0" y="158627"/>
                  </a:moveTo>
                  <a:lnTo>
                    <a:pt x="273618" y="0"/>
                  </a:lnTo>
                </a:path>
              </a:pathLst>
            </a:custGeom>
            <a:ln w="325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142715" y="4465072"/>
              <a:ext cx="369570" cy="194945"/>
            </a:xfrm>
            <a:custGeom>
              <a:avLst/>
              <a:gdLst/>
              <a:ahLst/>
              <a:cxnLst/>
              <a:rect l="l" t="t" r="r" b="b"/>
              <a:pathLst>
                <a:path w="369570" h="194945">
                  <a:moveTo>
                    <a:pt x="0" y="0"/>
                  </a:moveTo>
                  <a:lnTo>
                    <a:pt x="369085" y="194905"/>
                  </a:lnTo>
                </a:path>
              </a:pathLst>
            </a:custGeom>
            <a:ln w="325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2383971" y="4826124"/>
              <a:ext cx="331470" cy="165735"/>
            </a:xfrm>
            <a:custGeom>
              <a:avLst/>
              <a:gdLst/>
              <a:ahLst/>
              <a:cxnLst/>
              <a:rect l="l" t="t" r="r" b="b"/>
              <a:pathLst>
                <a:path w="331469" h="165735">
                  <a:moveTo>
                    <a:pt x="0" y="165593"/>
                  </a:moveTo>
                  <a:lnTo>
                    <a:pt x="330893" y="0"/>
                  </a:lnTo>
                </a:path>
              </a:pathLst>
            </a:custGeom>
            <a:ln w="325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2681481" y="4812837"/>
              <a:ext cx="447675" cy="21590"/>
            </a:xfrm>
            <a:custGeom>
              <a:avLst/>
              <a:gdLst/>
              <a:ahLst/>
              <a:cxnLst/>
              <a:rect l="l" t="t" r="r" b="b"/>
              <a:pathLst>
                <a:path w="447675" h="21589">
                  <a:moveTo>
                    <a:pt x="0" y="0"/>
                  </a:moveTo>
                  <a:lnTo>
                    <a:pt x="447489" y="21586"/>
                  </a:lnTo>
                </a:path>
              </a:pathLst>
            </a:custGeom>
            <a:ln w="32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1787" y="4472875"/>
              <a:ext cx="194765" cy="201124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69388" y="3819545"/>
              <a:ext cx="194765" cy="2011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70754" y="3940275"/>
              <a:ext cx="194765" cy="20112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9988" y="4314219"/>
              <a:ext cx="194765" cy="201124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2054" y="4885359"/>
              <a:ext cx="194765" cy="20112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23425" y="4287135"/>
              <a:ext cx="194765" cy="20112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51470" y="4363646"/>
              <a:ext cx="194765" cy="201124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3469" y="4154054"/>
              <a:ext cx="194765" cy="201123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22847" y="4719682"/>
              <a:ext cx="194765" cy="201124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96879" y="4025673"/>
              <a:ext cx="194765" cy="201124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11666" y="3711754"/>
              <a:ext cx="194765" cy="201123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764047" y="4785073"/>
              <a:ext cx="194765" cy="201124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80555" y="4730408"/>
              <a:ext cx="194765" cy="201124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30315" y="4549330"/>
              <a:ext cx="194765" cy="201124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00167" y="4557091"/>
              <a:ext cx="194765" cy="20112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11641" y="3870109"/>
              <a:ext cx="194765" cy="20112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970779" y="2920497"/>
              <a:ext cx="1353312" cy="1143000"/>
            </a:xfrm>
            <a:prstGeom prst="rect">
              <a:avLst/>
            </a:prstGeom>
          </p:spPr>
        </p:pic>
        <p:pic>
          <p:nvPicPr>
            <p:cNvPr id="43" name="object 4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363203" y="2079249"/>
              <a:ext cx="914400" cy="1045463"/>
            </a:xfrm>
            <a:prstGeom prst="rect">
              <a:avLst/>
            </a:prstGeom>
          </p:spPr>
        </p:pic>
        <p:pic>
          <p:nvPicPr>
            <p:cNvPr id="44" name="object 44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4411" y="3112521"/>
              <a:ext cx="2667000" cy="643127"/>
            </a:xfrm>
            <a:prstGeom prst="rect">
              <a:avLst/>
            </a:prstGeom>
          </p:spPr>
        </p:pic>
        <p:pic>
          <p:nvPicPr>
            <p:cNvPr id="45" name="object 45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12412" y="2256033"/>
              <a:ext cx="2514599" cy="646176"/>
            </a:xfrm>
            <a:prstGeom prst="rect">
              <a:avLst/>
            </a:prstGeom>
          </p:spPr>
        </p:pic>
        <p:pic>
          <p:nvPicPr>
            <p:cNvPr id="46" name="object 4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45755" y="1180089"/>
              <a:ext cx="2514600" cy="935736"/>
            </a:xfrm>
            <a:prstGeom prst="rect">
              <a:avLst/>
            </a:prstGeom>
          </p:spPr>
        </p:pic>
      </p:grpSp>
      <p:pic>
        <p:nvPicPr>
          <p:cNvPr id="47" name="object 47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48" name="object 48" descr=""/>
          <p:cNvSpPr txBox="1"/>
          <p:nvPr/>
        </p:nvSpPr>
        <p:spPr>
          <a:xfrm>
            <a:off x="1002277" y="1350991"/>
            <a:ext cx="479107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b="1">
                <a:latin typeface="Arial"/>
                <a:cs typeface="Arial"/>
              </a:rPr>
              <a:t>Graphs</a:t>
            </a:r>
            <a:r>
              <a:rPr dirty="0" sz="3400" spc="-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&amp;</a:t>
            </a:r>
            <a:r>
              <a:rPr dirty="0" sz="3400" spc="5" b="1">
                <a:latin typeface="Arial"/>
                <a:cs typeface="Arial"/>
              </a:rPr>
              <a:t> </a:t>
            </a:r>
            <a:r>
              <a:rPr dirty="0" sz="3400" b="1">
                <a:latin typeface="Arial"/>
                <a:cs typeface="Arial"/>
              </a:rPr>
              <a:t>Data</a:t>
            </a:r>
            <a:r>
              <a:rPr dirty="0" sz="3400" spc="-5" b="1">
                <a:latin typeface="Arial"/>
                <a:cs typeface="Arial"/>
              </a:rPr>
              <a:t> </a:t>
            </a:r>
            <a:r>
              <a:rPr dirty="0" sz="3400" spc="-10" b="1">
                <a:latin typeface="Arial"/>
                <a:cs typeface="Arial"/>
              </a:rPr>
              <a:t>Science</a:t>
            </a:r>
            <a:endParaRPr sz="34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xfrm>
            <a:off x="7644409" y="1285589"/>
            <a:ext cx="2113915" cy="608330"/>
          </a:xfrm>
          <a:prstGeom prst="rect"/>
        </p:spPr>
        <p:txBody>
          <a:bodyPr wrap="square" lIns="0" tIns="9525" rIns="0" bIns="0" rtlCol="0" vert="horz">
            <a:spAutoFit/>
          </a:bodyPr>
          <a:lstStyle/>
          <a:p>
            <a:pPr marL="12700" marR="5080" indent="279400">
              <a:lnSpc>
                <a:spcPct val="101099"/>
              </a:lnSpc>
              <a:spcBef>
                <a:spcPts val="75"/>
              </a:spcBef>
            </a:pPr>
            <a:r>
              <a:rPr dirty="0" sz="1900">
                <a:solidFill>
                  <a:srgbClr val="0B0B66"/>
                </a:solidFill>
              </a:rPr>
              <a:t>Graph</a:t>
            </a:r>
            <a:r>
              <a:rPr dirty="0" sz="1900" spc="65">
                <a:solidFill>
                  <a:srgbClr val="0B0B66"/>
                </a:solidFill>
              </a:rPr>
              <a:t> </a:t>
            </a:r>
            <a:r>
              <a:rPr dirty="0" sz="1900" spc="-10">
                <a:solidFill>
                  <a:srgbClr val="0B0B66"/>
                </a:solidFill>
              </a:rPr>
              <a:t>Native </a:t>
            </a:r>
            <a:r>
              <a:rPr dirty="0" sz="1900">
                <a:solidFill>
                  <a:srgbClr val="0B0B66"/>
                </a:solidFill>
              </a:rPr>
              <a:t>Machine</a:t>
            </a:r>
            <a:r>
              <a:rPr dirty="0" sz="1900" spc="60">
                <a:solidFill>
                  <a:srgbClr val="0B0B66"/>
                </a:solidFill>
              </a:rPr>
              <a:t> </a:t>
            </a:r>
            <a:r>
              <a:rPr dirty="0" sz="1900" spc="-10">
                <a:solidFill>
                  <a:srgbClr val="0B0B66"/>
                </a:solidFill>
              </a:rPr>
              <a:t>Learning</a:t>
            </a:r>
            <a:endParaRPr sz="1900"/>
          </a:p>
        </p:txBody>
      </p:sp>
      <p:pic>
        <p:nvPicPr>
          <p:cNvPr id="50" name="object 5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57147" y="5322321"/>
            <a:ext cx="3179064" cy="810768"/>
          </a:xfrm>
          <a:prstGeom prst="rect">
            <a:avLst/>
          </a:prstGeom>
        </p:spPr>
      </p:pic>
      <p:sp>
        <p:nvSpPr>
          <p:cNvPr id="51" name="object 51" descr=""/>
          <p:cNvSpPr txBox="1"/>
          <p:nvPr/>
        </p:nvSpPr>
        <p:spPr>
          <a:xfrm>
            <a:off x="1231384" y="5414131"/>
            <a:ext cx="28327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55904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dirty="0" sz="16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you’re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looking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connected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153915" y="4450593"/>
            <a:ext cx="3041904" cy="1292352"/>
          </a:xfrm>
          <a:prstGeom prst="rect">
            <a:avLst/>
          </a:prstGeom>
        </p:spPr>
      </p:pic>
      <p:sp>
        <p:nvSpPr>
          <p:cNvPr id="53" name="object 53" descr=""/>
          <p:cNvSpPr txBox="1"/>
          <p:nvPr/>
        </p:nvSpPr>
        <p:spPr>
          <a:xfrm>
            <a:off x="4329728" y="4542403"/>
            <a:ext cx="2635250" cy="99504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700" marR="5080">
              <a:lnSpc>
                <a:spcPct val="99200"/>
              </a:lnSpc>
              <a:spcBef>
                <a:spcPts val="114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unsupervised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machine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techniques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identify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associations, anomalies,</a:t>
            </a:r>
            <a:r>
              <a:rPr dirty="0" sz="16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trends.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54" name="object 54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101331" y="3539240"/>
            <a:ext cx="3252216" cy="2258568"/>
          </a:xfrm>
          <a:prstGeom prst="rect">
            <a:avLst/>
          </a:prstGeom>
        </p:spPr>
      </p:pic>
      <p:sp>
        <p:nvSpPr>
          <p:cNvPr id="55" name="object 55" descr=""/>
          <p:cNvSpPr txBox="1"/>
          <p:nvPr/>
        </p:nvSpPr>
        <p:spPr>
          <a:xfrm>
            <a:off x="1465019" y="2361533"/>
            <a:ext cx="8624570" cy="2264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0767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Graph</a:t>
            </a:r>
            <a:r>
              <a:rPr dirty="0" sz="1900" spc="6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B0B66"/>
                </a:solidFill>
                <a:latin typeface="Arial"/>
                <a:cs typeface="Arial"/>
              </a:rPr>
              <a:t>Algorithms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900">
              <a:latin typeface="Arial"/>
              <a:cs typeface="Arial"/>
            </a:endParaRPr>
          </a:p>
          <a:p>
            <a:pPr algn="ctr" marR="6352540">
              <a:lnSpc>
                <a:spcPct val="100000"/>
              </a:lnSpc>
            </a:pPr>
            <a:r>
              <a:rPr dirty="0" sz="1900" b="1">
                <a:solidFill>
                  <a:srgbClr val="0B0B66"/>
                </a:solidFill>
                <a:latin typeface="Arial"/>
                <a:cs typeface="Arial"/>
              </a:rPr>
              <a:t>Knowledge</a:t>
            </a:r>
            <a:r>
              <a:rPr dirty="0" sz="1900" spc="10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0B0B66"/>
                </a:solidFill>
                <a:latin typeface="Arial"/>
                <a:cs typeface="Arial"/>
              </a:rPr>
              <a:t>Graphs</a:t>
            </a:r>
            <a:endParaRPr sz="1900">
              <a:latin typeface="Arial"/>
              <a:cs typeface="Arial"/>
            </a:endParaRPr>
          </a:p>
          <a:p>
            <a:pPr algn="ctr" marL="5857240" marR="5080">
              <a:lnSpc>
                <a:spcPct val="99200"/>
              </a:lnSpc>
              <a:spcBef>
                <a:spcPts val="98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embeddings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learn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features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your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don’t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even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know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are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important</a:t>
            </a:r>
            <a:r>
              <a:rPr dirty="0" sz="16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yet.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58" name="object 5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  <p:sp>
        <p:nvSpPr>
          <p:cNvPr id="56" name="object 56" descr=""/>
          <p:cNvSpPr txBox="1"/>
          <p:nvPr/>
        </p:nvSpPr>
        <p:spPr>
          <a:xfrm>
            <a:off x="7276228" y="4838059"/>
            <a:ext cx="2846705" cy="754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Train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in-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supervised</a:t>
            </a:r>
            <a:r>
              <a:rPr dirty="0" sz="16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ML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predict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links,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labels,</a:t>
            </a:r>
            <a:r>
              <a:rPr dirty="0" sz="16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missing</a:t>
            </a:r>
            <a:r>
              <a:rPr dirty="0" sz="16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Neo4j’s Graph</a:t>
            </a:r>
            <a:r>
              <a:rPr dirty="0" spc="10"/>
              <a:t> </a:t>
            </a:r>
            <a:r>
              <a:rPr dirty="0"/>
              <a:t>Data Science </a:t>
            </a:r>
            <a:r>
              <a:rPr dirty="0" spc="-10"/>
              <a:t>Framework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713440" y="2538536"/>
            <a:ext cx="9665335" cy="3329940"/>
            <a:chOff x="713440" y="2538536"/>
            <a:chExt cx="9665335" cy="3329940"/>
          </a:xfrm>
        </p:grpSpPr>
        <p:sp>
          <p:nvSpPr>
            <p:cNvPr id="4" name="object 4" descr=""/>
            <p:cNvSpPr/>
            <p:nvPr/>
          </p:nvSpPr>
          <p:spPr>
            <a:xfrm>
              <a:off x="713440" y="2538536"/>
              <a:ext cx="9665335" cy="3329940"/>
            </a:xfrm>
            <a:custGeom>
              <a:avLst/>
              <a:gdLst/>
              <a:ahLst/>
              <a:cxnLst/>
              <a:rect l="l" t="t" r="r" b="b"/>
              <a:pathLst>
                <a:path w="9665335" h="3329940">
                  <a:moveTo>
                    <a:pt x="9417801" y="0"/>
                  </a:moveTo>
                  <a:lnTo>
                    <a:pt x="247010" y="0"/>
                  </a:lnTo>
                  <a:lnTo>
                    <a:pt x="197229" y="5021"/>
                  </a:lnTo>
                  <a:lnTo>
                    <a:pt x="150863" y="19424"/>
                  </a:lnTo>
                  <a:lnTo>
                    <a:pt x="108904" y="42214"/>
                  </a:lnTo>
                  <a:lnTo>
                    <a:pt x="72347" y="72396"/>
                  </a:lnTo>
                  <a:lnTo>
                    <a:pt x="42185" y="108978"/>
                  </a:lnTo>
                  <a:lnTo>
                    <a:pt x="19411" y="150965"/>
                  </a:lnTo>
                  <a:lnTo>
                    <a:pt x="5018" y="197363"/>
                  </a:lnTo>
                  <a:lnTo>
                    <a:pt x="0" y="247178"/>
                  </a:lnTo>
                  <a:lnTo>
                    <a:pt x="0" y="3082276"/>
                  </a:lnTo>
                  <a:lnTo>
                    <a:pt x="5018" y="3132091"/>
                  </a:lnTo>
                  <a:lnTo>
                    <a:pt x="19411" y="3178489"/>
                  </a:lnTo>
                  <a:lnTo>
                    <a:pt x="42185" y="3220476"/>
                  </a:lnTo>
                  <a:lnTo>
                    <a:pt x="72347" y="3257058"/>
                  </a:lnTo>
                  <a:lnTo>
                    <a:pt x="108904" y="3287240"/>
                  </a:lnTo>
                  <a:lnTo>
                    <a:pt x="150863" y="3310030"/>
                  </a:lnTo>
                  <a:lnTo>
                    <a:pt x="197229" y="3324433"/>
                  </a:lnTo>
                  <a:lnTo>
                    <a:pt x="247010" y="3329454"/>
                  </a:lnTo>
                  <a:lnTo>
                    <a:pt x="9417801" y="3329454"/>
                  </a:lnTo>
                  <a:lnTo>
                    <a:pt x="9467583" y="3324433"/>
                  </a:lnTo>
                  <a:lnTo>
                    <a:pt x="9513949" y="3310030"/>
                  </a:lnTo>
                  <a:lnTo>
                    <a:pt x="9555908" y="3287240"/>
                  </a:lnTo>
                  <a:lnTo>
                    <a:pt x="9592465" y="3257058"/>
                  </a:lnTo>
                  <a:lnTo>
                    <a:pt x="9622627" y="3220476"/>
                  </a:lnTo>
                  <a:lnTo>
                    <a:pt x="9645401" y="3178489"/>
                  </a:lnTo>
                  <a:lnTo>
                    <a:pt x="9659794" y="3132091"/>
                  </a:lnTo>
                  <a:lnTo>
                    <a:pt x="9664813" y="3082276"/>
                  </a:lnTo>
                  <a:lnTo>
                    <a:pt x="9664813" y="247178"/>
                  </a:lnTo>
                  <a:lnTo>
                    <a:pt x="9659794" y="197363"/>
                  </a:lnTo>
                  <a:lnTo>
                    <a:pt x="9645401" y="150965"/>
                  </a:lnTo>
                  <a:lnTo>
                    <a:pt x="9622627" y="108978"/>
                  </a:lnTo>
                  <a:lnTo>
                    <a:pt x="9592465" y="72396"/>
                  </a:lnTo>
                  <a:lnTo>
                    <a:pt x="9555908" y="42214"/>
                  </a:lnTo>
                  <a:lnTo>
                    <a:pt x="9513949" y="19424"/>
                  </a:lnTo>
                  <a:lnTo>
                    <a:pt x="9467583" y="5021"/>
                  </a:lnTo>
                  <a:lnTo>
                    <a:pt x="941780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8373" y="2732070"/>
              <a:ext cx="2680335" cy="2479675"/>
            </a:xfrm>
            <a:custGeom>
              <a:avLst/>
              <a:gdLst/>
              <a:ahLst/>
              <a:cxnLst/>
              <a:rect l="l" t="t" r="r" b="b"/>
              <a:pathLst>
                <a:path w="2680335" h="2479675">
                  <a:moveTo>
                    <a:pt x="2495876" y="0"/>
                  </a:moveTo>
                  <a:lnTo>
                    <a:pt x="183963" y="0"/>
                  </a:lnTo>
                  <a:lnTo>
                    <a:pt x="135058" y="6575"/>
                  </a:lnTo>
                  <a:lnTo>
                    <a:pt x="91113" y="25133"/>
                  </a:lnTo>
                  <a:lnTo>
                    <a:pt x="53881" y="53918"/>
                  </a:lnTo>
                  <a:lnTo>
                    <a:pt x="25116" y="91175"/>
                  </a:lnTo>
                  <a:lnTo>
                    <a:pt x="6571" y="135150"/>
                  </a:lnTo>
                  <a:lnTo>
                    <a:pt x="0" y="184087"/>
                  </a:lnTo>
                  <a:lnTo>
                    <a:pt x="0" y="2295561"/>
                  </a:lnTo>
                  <a:lnTo>
                    <a:pt x="6571" y="2344500"/>
                  </a:lnTo>
                  <a:lnTo>
                    <a:pt x="25116" y="2388475"/>
                  </a:lnTo>
                  <a:lnTo>
                    <a:pt x="53881" y="2425732"/>
                  </a:lnTo>
                  <a:lnTo>
                    <a:pt x="91113" y="2454517"/>
                  </a:lnTo>
                  <a:lnTo>
                    <a:pt x="135058" y="2473075"/>
                  </a:lnTo>
                  <a:lnTo>
                    <a:pt x="183963" y="2479650"/>
                  </a:lnTo>
                  <a:lnTo>
                    <a:pt x="2495876" y="2479650"/>
                  </a:lnTo>
                  <a:lnTo>
                    <a:pt x="2544780" y="2473075"/>
                  </a:lnTo>
                  <a:lnTo>
                    <a:pt x="2588725" y="2454517"/>
                  </a:lnTo>
                  <a:lnTo>
                    <a:pt x="2625957" y="2425732"/>
                  </a:lnTo>
                  <a:lnTo>
                    <a:pt x="2654723" y="2388475"/>
                  </a:lnTo>
                  <a:lnTo>
                    <a:pt x="2673268" y="2344500"/>
                  </a:lnTo>
                  <a:lnTo>
                    <a:pt x="2679839" y="2295561"/>
                  </a:lnTo>
                  <a:lnTo>
                    <a:pt x="2679839" y="184087"/>
                  </a:lnTo>
                  <a:lnTo>
                    <a:pt x="2673268" y="135150"/>
                  </a:lnTo>
                  <a:lnTo>
                    <a:pt x="2654723" y="91175"/>
                  </a:lnTo>
                  <a:lnTo>
                    <a:pt x="2625957" y="53918"/>
                  </a:lnTo>
                  <a:lnTo>
                    <a:pt x="2588725" y="25133"/>
                  </a:lnTo>
                  <a:lnTo>
                    <a:pt x="2544780" y="6575"/>
                  </a:lnTo>
                  <a:lnTo>
                    <a:pt x="2495876" y="0"/>
                  </a:lnTo>
                  <a:close/>
                </a:path>
              </a:pathLst>
            </a:custGeom>
            <a:solidFill>
              <a:srgbClr val="86F1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88373" y="2732070"/>
              <a:ext cx="2680335" cy="2479675"/>
            </a:xfrm>
            <a:custGeom>
              <a:avLst/>
              <a:gdLst/>
              <a:ahLst/>
              <a:cxnLst/>
              <a:rect l="l" t="t" r="r" b="b"/>
              <a:pathLst>
                <a:path w="2680335" h="2479675">
                  <a:moveTo>
                    <a:pt x="0" y="184088"/>
                  </a:moveTo>
                  <a:lnTo>
                    <a:pt x="6571" y="135150"/>
                  </a:lnTo>
                  <a:lnTo>
                    <a:pt x="25116" y="91175"/>
                  </a:lnTo>
                  <a:lnTo>
                    <a:pt x="53881" y="53918"/>
                  </a:lnTo>
                  <a:lnTo>
                    <a:pt x="91113" y="25133"/>
                  </a:lnTo>
                  <a:lnTo>
                    <a:pt x="135058" y="6575"/>
                  </a:lnTo>
                  <a:lnTo>
                    <a:pt x="183963" y="0"/>
                  </a:lnTo>
                  <a:lnTo>
                    <a:pt x="2495876" y="0"/>
                  </a:lnTo>
                  <a:lnTo>
                    <a:pt x="2544781" y="6575"/>
                  </a:lnTo>
                  <a:lnTo>
                    <a:pt x="2588726" y="25133"/>
                  </a:lnTo>
                  <a:lnTo>
                    <a:pt x="2625958" y="53918"/>
                  </a:lnTo>
                  <a:lnTo>
                    <a:pt x="2654723" y="91175"/>
                  </a:lnTo>
                  <a:lnTo>
                    <a:pt x="2673268" y="135150"/>
                  </a:lnTo>
                  <a:lnTo>
                    <a:pt x="2679839" y="184088"/>
                  </a:lnTo>
                  <a:lnTo>
                    <a:pt x="2679839" y="2295562"/>
                  </a:lnTo>
                  <a:lnTo>
                    <a:pt x="2673268" y="2344500"/>
                  </a:lnTo>
                  <a:lnTo>
                    <a:pt x="2654723" y="2388475"/>
                  </a:lnTo>
                  <a:lnTo>
                    <a:pt x="2625958" y="2425732"/>
                  </a:lnTo>
                  <a:lnTo>
                    <a:pt x="2588726" y="2454517"/>
                  </a:lnTo>
                  <a:lnTo>
                    <a:pt x="2544781" y="2473074"/>
                  </a:lnTo>
                  <a:lnTo>
                    <a:pt x="2495876" y="2479650"/>
                  </a:lnTo>
                  <a:lnTo>
                    <a:pt x="183963" y="2479650"/>
                  </a:lnTo>
                  <a:lnTo>
                    <a:pt x="135058" y="2473074"/>
                  </a:lnTo>
                  <a:lnTo>
                    <a:pt x="91113" y="2454517"/>
                  </a:lnTo>
                  <a:lnTo>
                    <a:pt x="53881" y="2425732"/>
                  </a:lnTo>
                  <a:lnTo>
                    <a:pt x="25116" y="2388475"/>
                  </a:lnTo>
                  <a:lnTo>
                    <a:pt x="6571" y="2344500"/>
                  </a:lnTo>
                  <a:lnTo>
                    <a:pt x="0" y="2295562"/>
                  </a:lnTo>
                  <a:lnTo>
                    <a:pt x="0" y="184088"/>
                  </a:lnTo>
                  <a:close/>
                </a:path>
              </a:pathLst>
            </a:custGeom>
            <a:ln w="50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230500" y="3022432"/>
            <a:ext cx="2203450" cy="65087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135255" marR="5080" indent="-123189">
              <a:lnSpc>
                <a:spcPts val="2520"/>
              </a:lnSpc>
              <a:spcBef>
                <a:spcPts val="80"/>
              </a:spcBef>
            </a:pPr>
            <a:r>
              <a:rPr dirty="0" sz="2000" b="1">
                <a:latin typeface="Arial"/>
                <a:cs typeface="Arial"/>
              </a:rPr>
              <a:t>Neo4j</a:t>
            </a:r>
            <a:r>
              <a:rPr dirty="0" sz="2000" spc="7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Graph</a:t>
            </a:r>
            <a:r>
              <a:rPr dirty="0" sz="2000" spc="100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Data </a:t>
            </a:r>
            <a:r>
              <a:rPr dirty="0" sz="2000" b="1">
                <a:latin typeface="Arial"/>
                <a:cs typeface="Arial"/>
              </a:rPr>
              <a:t>Science</a:t>
            </a:r>
            <a:r>
              <a:rPr dirty="0" sz="2000" spc="9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Library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4153367" y="2706671"/>
            <a:ext cx="2731135" cy="2530475"/>
            <a:chOff x="4153367" y="2706671"/>
            <a:chExt cx="2731135" cy="2530475"/>
          </a:xfrm>
        </p:grpSpPr>
        <p:sp>
          <p:nvSpPr>
            <p:cNvPr id="9" name="object 9" descr=""/>
            <p:cNvSpPr/>
            <p:nvPr/>
          </p:nvSpPr>
          <p:spPr>
            <a:xfrm>
              <a:off x="4178767" y="2732071"/>
              <a:ext cx="2680335" cy="2479675"/>
            </a:xfrm>
            <a:custGeom>
              <a:avLst/>
              <a:gdLst/>
              <a:ahLst/>
              <a:cxnLst/>
              <a:rect l="l" t="t" r="r" b="b"/>
              <a:pathLst>
                <a:path w="2680334" h="2479675">
                  <a:moveTo>
                    <a:pt x="2495876" y="0"/>
                  </a:moveTo>
                  <a:lnTo>
                    <a:pt x="183964" y="0"/>
                  </a:lnTo>
                  <a:lnTo>
                    <a:pt x="135059" y="6575"/>
                  </a:lnTo>
                  <a:lnTo>
                    <a:pt x="91113" y="25133"/>
                  </a:lnTo>
                  <a:lnTo>
                    <a:pt x="53881" y="53918"/>
                  </a:lnTo>
                  <a:lnTo>
                    <a:pt x="25116" y="91175"/>
                  </a:lnTo>
                  <a:lnTo>
                    <a:pt x="6571" y="135150"/>
                  </a:lnTo>
                  <a:lnTo>
                    <a:pt x="0" y="184087"/>
                  </a:lnTo>
                  <a:lnTo>
                    <a:pt x="0" y="2295561"/>
                  </a:lnTo>
                  <a:lnTo>
                    <a:pt x="6571" y="2344500"/>
                  </a:lnTo>
                  <a:lnTo>
                    <a:pt x="25116" y="2388475"/>
                  </a:lnTo>
                  <a:lnTo>
                    <a:pt x="53881" y="2425732"/>
                  </a:lnTo>
                  <a:lnTo>
                    <a:pt x="91113" y="2454517"/>
                  </a:lnTo>
                  <a:lnTo>
                    <a:pt x="135059" y="2473075"/>
                  </a:lnTo>
                  <a:lnTo>
                    <a:pt x="183964" y="2479650"/>
                  </a:lnTo>
                  <a:lnTo>
                    <a:pt x="2495876" y="2479650"/>
                  </a:lnTo>
                  <a:lnTo>
                    <a:pt x="2544781" y="2473075"/>
                  </a:lnTo>
                  <a:lnTo>
                    <a:pt x="2588726" y="2454517"/>
                  </a:lnTo>
                  <a:lnTo>
                    <a:pt x="2625958" y="2425732"/>
                  </a:lnTo>
                  <a:lnTo>
                    <a:pt x="2654723" y="2388475"/>
                  </a:lnTo>
                  <a:lnTo>
                    <a:pt x="2673268" y="2344500"/>
                  </a:lnTo>
                  <a:lnTo>
                    <a:pt x="2679839" y="2295561"/>
                  </a:lnTo>
                  <a:lnTo>
                    <a:pt x="2679839" y="184087"/>
                  </a:lnTo>
                  <a:lnTo>
                    <a:pt x="2673268" y="135150"/>
                  </a:lnTo>
                  <a:lnTo>
                    <a:pt x="2654723" y="91175"/>
                  </a:lnTo>
                  <a:lnTo>
                    <a:pt x="2625958" y="53918"/>
                  </a:lnTo>
                  <a:lnTo>
                    <a:pt x="2588726" y="25133"/>
                  </a:lnTo>
                  <a:lnTo>
                    <a:pt x="2544781" y="6575"/>
                  </a:lnTo>
                  <a:lnTo>
                    <a:pt x="2495876" y="0"/>
                  </a:lnTo>
                  <a:close/>
                </a:path>
              </a:pathLst>
            </a:custGeom>
            <a:solidFill>
              <a:srgbClr val="79B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178767" y="2732071"/>
              <a:ext cx="2680335" cy="2479675"/>
            </a:xfrm>
            <a:custGeom>
              <a:avLst/>
              <a:gdLst/>
              <a:ahLst/>
              <a:cxnLst/>
              <a:rect l="l" t="t" r="r" b="b"/>
              <a:pathLst>
                <a:path w="2680334" h="2479675">
                  <a:moveTo>
                    <a:pt x="0" y="184088"/>
                  </a:moveTo>
                  <a:lnTo>
                    <a:pt x="6571" y="135150"/>
                  </a:lnTo>
                  <a:lnTo>
                    <a:pt x="25116" y="91175"/>
                  </a:lnTo>
                  <a:lnTo>
                    <a:pt x="53881" y="53918"/>
                  </a:lnTo>
                  <a:lnTo>
                    <a:pt x="91113" y="25133"/>
                  </a:lnTo>
                  <a:lnTo>
                    <a:pt x="135058" y="6575"/>
                  </a:lnTo>
                  <a:lnTo>
                    <a:pt x="183963" y="0"/>
                  </a:lnTo>
                  <a:lnTo>
                    <a:pt x="2495876" y="0"/>
                  </a:lnTo>
                  <a:lnTo>
                    <a:pt x="2544781" y="6575"/>
                  </a:lnTo>
                  <a:lnTo>
                    <a:pt x="2588726" y="25133"/>
                  </a:lnTo>
                  <a:lnTo>
                    <a:pt x="2625958" y="53918"/>
                  </a:lnTo>
                  <a:lnTo>
                    <a:pt x="2654723" y="91175"/>
                  </a:lnTo>
                  <a:lnTo>
                    <a:pt x="2673268" y="135150"/>
                  </a:lnTo>
                  <a:lnTo>
                    <a:pt x="2679839" y="184088"/>
                  </a:lnTo>
                  <a:lnTo>
                    <a:pt x="2679839" y="2295562"/>
                  </a:lnTo>
                  <a:lnTo>
                    <a:pt x="2673268" y="2344500"/>
                  </a:lnTo>
                  <a:lnTo>
                    <a:pt x="2654723" y="2388475"/>
                  </a:lnTo>
                  <a:lnTo>
                    <a:pt x="2625958" y="2425732"/>
                  </a:lnTo>
                  <a:lnTo>
                    <a:pt x="2588726" y="2454517"/>
                  </a:lnTo>
                  <a:lnTo>
                    <a:pt x="2544781" y="2473074"/>
                  </a:lnTo>
                  <a:lnTo>
                    <a:pt x="2495876" y="2479650"/>
                  </a:lnTo>
                  <a:lnTo>
                    <a:pt x="183963" y="2479650"/>
                  </a:lnTo>
                  <a:lnTo>
                    <a:pt x="135058" y="2473074"/>
                  </a:lnTo>
                  <a:lnTo>
                    <a:pt x="91113" y="2454517"/>
                  </a:lnTo>
                  <a:lnTo>
                    <a:pt x="53881" y="2425732"/>
                  </a:lnTo>
                  <a:lnTo>
                    <a:pt x="25116" y="2388475"/>
                  </a:lnTo>
                  <a:lnTo>
                    <a:pt x="6571" y="2344500"/>
                  </a:lnTo>
                  <a:lnTo>
                    <a:pt x="0" y="2295562"/>
                  </a:lnTo>
                  <a:lnTo>
                    <a:pt x="0" y="184088"/>
                  </a:lnTo>
                  <a:close/>
                </a:path>
              </a:pathLst>
            </a:custGeom>
            <a:ln w="50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4910870" y="2973664"/>
            <a:ext cx="1177925" cy="6477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 indent="223520">
              <a:lnSpc>
                <a:spcPct val="104000"/>
              </a:lnSpc>
              <a:spcBef>
                <a:spcPts val="5"/>
              </a:spcBef>
            </a:pPr>
            <a:r>
              <a:rPr dirty="0" sz="2000" spc="-20" b="1">
                <a:latin typeface="Arial"/>
                <a:cs typeface="Arial"/>
              </a:rPr>
              <a:t>Neo4j </a:t>
            </a:r>
            <a:r>
              <a:rPr dirty="0" sz="2000" spc="-10" b="1">
                <a:latin typeface="Arial"/>
                <a:cs typeface="Arial"/>
              </a:rPr>
              <a:t>Database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7343762" y="2706671"/>
            <a:ext cx="2731135" cy="2530475"/>
            <a:chOff x="7343762" y="2706671"/>
            <a:chExt cx="2731135" cy="2530475"/>
          </a:xfrm>
        </p:grpSpPr>
        <p:sp>
          <p:nvSpPr>
            <p:cNvPr id="13" name="object 13" descr=""/>
            <p:cNvSpPr/>
            <p:nvPr/>
          </p:nvSpPr>
          <p:spPr>
            <a:xfrm>
              <a:off x="7369162" y="2732071"/>
              <a:ext cx="2680335" cy="2479675"/>
            </a:xfrm>
            <a:custGeom>
              <a:avLst/>
              <a:gdLst/>
              <a:ahLst/>
              <a:cxnLst/>
              <a:rect l="l" t="t" r="r" b="b"/>
              <a:pathLst>
                <a:path w="2680334" h="2479675">
                  <a:moveTo>
                    <a:pt x="2495876" y="0"/>
                  </a:moveTo>
                  <a:lnTo>
                    <a:pt x="183964" y="0"/>
                  </a:lnTo>
                  <a:lnTo>
                    <a:pt x="135059" y="6575"/>
                  </a:lnTo>
                  <a:lnTo>
                    <a:pt x="91113" y="25133"/>
                  </a:lnTo>
                  <a:lnTo>
                    <a:pt x="53881" y="53918"/>
                  </a:lnTo>
                  <a:lnTo>
                    <a:pt x="25116" y="91175"/>
                  </a:lnTo>
                  <a:lnTo>
                    <a:pt x="6571" y="135150"/>
                  </a:lnTo>
                  <a:lnTo>
                    <a:pt x="0" y="184087"/>
                  </a:lnTo>
                  <a:lnTo>
                    <a:pt x="0" y="2295561"/>
                  </a:lnTo>
                  <a:lnTo>
                    <a:pt x="6571" y="2344500"/>
                  </a:lnTo>
                  <a:lnTo>
                    <a:pt x="25116" y="2388475"/>
                  </a:lnTo>
                  <a:lnTo>
                    <a:pt x="53881" y="2425732"/>
                  </a:lnTo>
                  <a:lnTo>
                    <a:pt x="91113" y="2454517"/>
                  </a:lnTo>
                  <a:lnTo>
                    <a:pt x="135059" y="2473075"/>
                  </a:lnTo>
                  <a:lnTo>
                    <a:pt x="183964" y="2479650"/>
                  </a:lnTo>
                  <a:lnTo>
                    <a:pt x="2495876" y="2479650"/>
                  </a:lnTo>
                  <a:lnTo>
                    <a:pt x="2544781" y="2473075"/>
                  </a:lnTo>
                  <a:lnTo>
                    <a:pt x="2588726" y="2454517"/>
                  </a:lnTo>
                  <a:lnTo>
                    <a:pt x="2625958" y="2425732"/>
                  </a:lnTo>
                  <a:lnTo>
                    <a:pt x="2654723" y="2388475"/>
                  </a:lnTo>
                  <a:lnTo>
                    <a:pt x="2673268" y="2344500"/>
                  </a:lnTo>
                  <a:lnTo>
                    <a:pt x="2679839" y="2295561"/>
                  </a:lnTo>
                  <a:lnTo>
                    <a:pt x="2679839" y="184087"/>
                  </a:lnTo>
                  <a:lnTo>
                    <a:pt x="2673268" y="135150"/>
                  </a:lnTo>
                  <a:lnTo>
                    <a:pt x="2654723" y="91175"/>
                  </a:lnTo>
                  <a:lnTo>
                    <a:pt x="2625958" y="53918"/>
                  </a:lnTo>
                  <a:lnTo>
                    <a:pt x="2588726" y="25133"/>
                  </a:lnTo>
                  <a:lnTo>
                    <a:pt x="2544781" y="6575"/>
                  </a:lnTo>
                  <a:lnTo>
                    <a:pt x="2495876" y="0"/>
                  </a:lnTo>
                  <a:close/>
                </a:path>
              </a:pathLst>
            </a:custGeom>
            <a:solidFill>
              <a:srgbClr val="A3D5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369162" y="2732071"/>
              <a:ext cx="2680335" cy="2479675"/>
            </a:xfrm>
            <a:custGeom>
              <a:avLst/>
              <a:gdLst/>
              <a:ahLst/>
              <a:cxnLst/>
              <a:rect l="l" t="t" r="r" b="b"/>
              <a:pathLst>
                <a:path w="2680334" h="2479675">
                  <a:moveTo>
                    <a:pt x="0" y="184088"/>
                  </a:moveTo>
                  <a:lnTo>
                    <a:pt x="6571" y="135150"/>
                  </a:lnTo>
                  <a:lnTo>
                    <a:pt x="25116" y="91175"/>
                  </a:lnTo>
                  <a:lnTo>
                    <a:pt x="53881" y="53918"/>
                  </a:lnTo>
                  <a:lnTo>
                    <a:pt x="91113" y="25133"/>
                  </a:lnTo>
                  <a:lnTo>
                    <a:pt x="135058" y="6575"/>
                  </a:lnTo>
                  <a:lnTo>
                    <a:pt x="183963" y="0"/>
                  </a:lnTo>
                  <a:lnTo>
                    <a:pt x="2495876" y="0"/>
                  </a:lnTo>
                  <a:lnTo>
                    <a:pt x="2544781" y="6575"/>
                  </a:lnTo>
                  <a:lnTo>
                    <a:pt x="2588726" y="25133"/>
                  </a:lnTo>
                  <a:lnTo>
                    <a:pt x="2625958" y="53918"/>
                  </a:lnTo>
                  <a:lnTo>
                    <a:pt x="2654723" y="91175"/>
                  </a:lnTo>
                  <a:lnTo>
                    <a:pt x="2673268" y="135150"/>
                  </a:lnTo>
                  <a:lnTo>
                    <a:pt x="2679839" y="184088"/>
                  </a:lnTo>
                  <a:lnTo>
                    <a:pt x="2679839" y="2295562"/>
                  </a:lnTo>
                  <a:lnTo>
                    <a:pt x="2673268" y="2344500"/>
                  </a:lnTo>
                  <a:lnTo>
                    <a:pt x="2654723" y="2388475"/>
                  </a:lnTo>
                  <a:lnTo>
                    <a:pt x="2625958" y="2425732"/>
                  </a:lnTo>
                  <a:lnTo>
                    <a:pt x="2588726" y="2454517"/>
                  </a:lnTo>
                  <a:lnTo>
                    <a:pt x="2544781" y="2473074"/>
                  </a:lnTo>
                  <a:lnTo>
                    <a:pt x="2495876" y="2479650"/>
                  </a:lnTo>
                  <a:lnTo>
                    <a:pt x="183963" y="2479650"/>
                  </a:lnTo>
                  <a:lnTo>
                    <a:pt x="135058" y="2473074"/>
                  </a:lnTo>
                  <a:lnTo>
                    <a:pt x="91113" y="2454517"/>
                  </a:lnTo>
                  <a:lnTo>
                    <a:pt x="53881" y="2425732"/>
                  </a:lnTo>
                  <a:lnTo>
                    <a:pt x="25116" y="2388475"/>
                  </a:lnTo>
                  <a:lnTo>
                    <a:pt x="6571" y="2344500"/>
                  </a:lnTo>
                  <a:lnTo>
                    <a:pt x="0" y="2295562"/>
                  </a:lnTo>
                  <a:lnTo>
                    <a:pt x="0" y="184088"/>
                  </a:lnTo>
                  <a:close/>
                </a:path>
              </a:pathLst>
            </a:custGeom>
            <a:ln w="505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8291955" y="2973664"/>
            <a:ext cx="829310" cy="64770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 indent="50165">
              <a:lnSpc>
                <a:spcPct val="104000"/>
              </a:lnSpc>
              <a:spcBef>
                <a:spcPts val="5"/>
              </a:spcBef>
            </a:pPr>
            <a:r>
              <a:rPr dirty="0" sz="2000" spc="-10" b="1">
                <a:latin typeface="Arial"/>
                <a:cs typeface="Arial"/>
              </a:rPr>
              <a:t>Neo4j Bloom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1669795" y="3749552"/>
            <a:ext cx="7842884" cy="1335405"/>
            <a:chOff x="1669795" y="3749552"/>
            <a:chExt cx="7842884" cy="1335405"/>
          </a:xfrm>
        </p:grpSpPr>
        <p:sp>
          <p:nvSpPr>
            <p:cNvPr id="17" name="object 17" descr=""/>
            <p:cNvSpPr/>
            <p:nvPr/>
          </p:nvSpPr>
          <p:spPr>
            <a:xfrm>
              <a:off x="3288035" y="4146714"/>
              <a:ext cx="1262380" cy="510540"/>
            </a:xfrm>
            <a:custGeom>
              <a:avLst/>
              <a:gdLst/>
              <a:ahLst/>
              <a:cxnLst/>
              <a:rect l="l" t="t" r="r" b="b"/>
              <a:pathLst>
                <a:path w="1262379" h="510539">
                  <a:moveTo>
                    <a:pt x="1006856" y="0"/>
                  </a:moveTo>
                  <a:lnTo>
                    <a:pt x="1006856" y="127547"/>
                  </a:lnTo>
                  <a:lnTo>
                    <a:pt x="254922" y="127547"/>
                  </a:lnTo>
                  <a:lnTo>
                    <a:pt x="254922" y="0"/>
                  </a:lnTo>
                  <a:lnTo>
                    <a:pt x="0" y="255094"/>
                  </a:lnTo>
                  <a:lnTo>
                    <a:pt x="254922" y="510189"/>
                  </a:lnTo>
                  <a:lnTo>
                    <a:pt x="254922" y="382640"/>
                  </a:lnTo>
                  <a:lnTo>
                    <a:pt x="1006856" y="382640"/>
                  </a:lnTo>
                  <a:lnTo>
                    <a:pt x="1006856" y="510189"/>
                  </a:lnTo>
                  <a:lnTo>
                    <a:pt x="1261776" y="255094"/>
                  </a:lnTo>
                  <a:lnTo>
                    <a:pt x="1006856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3288035" y="4146714"/>
              <a:ext cx="1262380" cy="510540"/>
            </a:xfrm>
            <a:custGeom>
              <a:avLst/>
              <a:gdLst/>
              <a:ahLst/>
              <a:cxnLst/>
              <a:rect l="l" t="t" r="r" b="b"/>
              <a:pathLst>
                <a:path w="1262379" h="510539">
                  <a:moveTo>
                    <a:pt x="0" y="255095"/>
                  </a:moveTo>
                  <a:lnTo>
                    <a:pt x="254921" y="0"/>
                  </a:lnTo>
                  <a:lnTo>
                    <a:pt x="254921" y="127547"/>
                  </a:lnTo>
                  <a:lnTo>
                    <a:pt x="1006855" y="127547"/>
                  </a:lnTo>
                  <a:lnTo>
                    <a:pt x="1006855" y="0"/>
                  </a:lnTo>
                  <a:lnTo>
                    <a:pt x="1261776" y="255095"/>
                  </a:lnTo>
                  <a:lnTo>
                    <a:pt x="1006855" y="510189"/>
                  </a:lnTo>
                  <a:lnTo>
                    <a:pt x="1006855" y="382641"/>
                  </a:lnTo>
                  <a:lnTo>
                    <a:pt x="254921" y="382641"/>
                  </a:lnTo>
                  <a:lnTo>
                    <a:pt x="254921" y="510189"/>
                  </a:lnTo>
                  <a:lnTo>
                    <a:pt x="0" y="255095"/>
                  </a:lnTo>
                  <a:close/>
                </a:path>
              </a:pathLst>
            </a:custGeom>
            <a:ln w="28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475066" y="4146714"/>
              <a:ext cx="1262380" cy="510540"/>
            </a:xfrm>
            <a:custGeom>
              <a:avLst/>
              <a:gdLst/>
              <a:ahLst/>
              <a:cxnLst/>
              <a:rect l="l" t="t" r="r" b="b"/>
              <a:pathLst>
                <a:path w="1262379" h="510539">
                  <a:moveTo>
                    <a:pt x="1006855" y="0"/>
                  </a:moveTo>
                  <a:lnTo>
                    <a:pt x="1006855" y="127547"/>
                  </a:lnTo>
                  <a:lnTo>
                    <a:pt x="254922" y="127547"/>
                  </a:lnTo>
                  <a:lnTo>
                    <a:pt x="254922" y="0"/>
                  </a:lnTo>
                  <a:lnTo>
                    <a:pt x="0" y="255094"/>
                  </a:lnTo>
                  <a:lnTo>
                    <a:pt x="254922" y="510189"/>
                  </a:lnTo>
                  <a:lnTo>
                    <a:pt x="254922" y="382640"/>
                  </a:lnTo>
                  <a:lnTo>
                    <a:pt x="1006855" y="382640"/>
                  </a:lnTo>
                  <a:lnTo>
                    <a:pt x="1006855" y="510189"/>
                  </a:lnTo>
                  <a:lnTo>
                    <a:pt x="1261776" y="255094"/>
                  </a:lnTo>
                  <a:lnTo>
                    <a:pt x="1006855" y="0"/>
                  </a:lnTo>
                  <a:close/>
                </a:path>
              </a:pathLst>
            </a:custGeom>
            <a:solidFill>
              <a:srgbClr val="C9C9C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475066" y="4146714"/>
              <a:ext cx="1262380" cy="510540"/>
            </a:xfrm>
            <a:custGeom>
              <a:avLst/>
              <a:gdLst/>
              <a:ahLst/>
              <a:cxnLst/>
              <a:rect l="l" t="t" r="r" b="b"/>
              <a:pathLst>
                <a:path w="1262379" h="510539">
                  <a:moveTo>
                    <a:pt x="0" y="255095"/>
                  </a:moveTo>
                  <a:lnTo>
                    <a:pt x="254921" y="0"/>
                  </a:lnTo>
                  <a:lnTo>
                    <a:pt x="254921" y="127547"/>
                  </a:lnTo>
                  <a:lnTo>
                    <a:pt x="1006855" y="127547"/>
                  </a:lnTo>
                  <a:lnTo>
                    <a:pt x="1006855" y="0"/>
                  </a:lnTo>
                  <a:lnTo>
                    <a:pt x="1261776" y="255095"/>
                  </a:lnTo>
                  <a:lnTo>
                    <a:pt x="1006855" y="510189"/>
                  </a:lnTo>
                  <a:lnTo>
                    <a:pt x="1006855" y="382641"/>
                  </a:lnTo>
                  <a:lnTo>
                    <a:pt x="254921" y="382641"/>
                  </a:lnTo>
                  <a:lnTo>
                    <a:pt x="254921" y="510189"/>
                  </a:lnTo>
                  <a:lnTo>
                    <a:pt x="0" y="255095"/>
                  </a:lnTo>
                  <a:close/>
                </a:path>
              </a:pathLst>
            </a:custGeom>
            <a:ln w="289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90947" y="3880616"/>
              <a:ext cx="1463039" cy="1130808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70780" y="4127504"/>
              <a:ext cx="1118615" cy="844295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06004" y="3749552"/>
              <a:ext cx="1606296" cy="1335024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69795" y="3752600"/>
              <a:ext cx="1264920" cy="1274064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1131510" y="5338447"/>
            <a:ext cx="244348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7345" marR="5080" indent="-33528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Scalable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Graph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Algorithms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&amp; </a:t>
            </a:r>
            <a:r>
              <a:rPr dirty="0" sz="1500" spc="-10">
                <a:latin typeface="Arial"/>
                <a:cs typeface="Arial"/>
              </a:rPr>
              <a:t>Analytics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Workspace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  <p:sp>
        <p:nvSpPr>
          <p:cNvPr id="26" name="object 26" descr=""/>
          <p:cNvSpPr txBox="1"/>
          <p:nvPr/>
        </p:nvSpPr>
        <p:spPr>
          <a:xfrm>
            <a:off x="4481201" y="5338447"/>
            <a:ext cx="2077720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46100" marR="5080" indent="-534035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Native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Graph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Creation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&amp; </a:t>
            </a:r>
            <a:r>
              <a:rPr dirty="0" sz="1500" spc="-10">
                <a:latin typeface="Arial"/>
                <a:cs typeface="Arial"/>
              </a:rPr>
              <a:t>Persistence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7652388" y="5338447"/>
            <a:ext cx="214947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1689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Arial"/>
                <a:cs typeface="Arial"/>
              </a:rPr>
              <a:t>Visual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Graph </a:t>
            </a:r>
            <a:r>
              <a:rPr dirty="0" sz="1500" spc="-10">
                <a:latin typeface="Arial"/>
                <a:cs typeface="Arial"/>
              </a:rPr>
              <a:t>Exploration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&amp;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Prototyping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609085" y="2367112"/>
            <a:ext cx="6189980" cy="1163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~70</a:t>
            </a:r>
            <a:r>
              <a:rPr dirty="0" sz="2000" spc="8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Robust</a:t>
            </a:r>
            <a:r>
              <a:rPr dirty="0" sz="2000" spc="8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Graph</a:t>
            </a:r>
            <a:r>
              <a:rPr dirty="0" sz="2000" spc="10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Algorithms</a:t>
            </a:r>
            <a:r>
              <a:rPr dirty="0" sz="2000" spc="9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&amp;</a:t>
            </a:r>
            <a:r>
              <a:rPr dirty="0" sz="2000" spc="10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ML</a:t>
            </a:r>
            <a:r>
              <a:rPr dirty="0" sz="2000" spc="10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B0B66"/>
                </a:solidFill>
                <a:latin typeface="Arial"/>
                <a:cs typeface="Arial"/>
              </a:rPr>
              <a:t>methods</a:t>
            </a:r>
            <a:endParaRPr sz="20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10"/>
              </a:spcBef>
              <a:buChar char="●"/>
              <a:tabLst>
                <a:tab pos="532130" algn="l"/>
              </a:tabLst>
            </a:pPr>
            <a:r>
              <a:rPr dirty="0" sz="1800">
                <a:latin typeface="Arial"/>
                <a:cs typeface="Arial"/>
              </a:rPr>
              <a:t>Compute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metrics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about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topology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connectivity</a:t>
            </a:r>
            <a:endParaRPr sz="18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20"/>
              </a:spcBef>
              <a:buChar char="●"/>
              <a:tabLst>
                <a:tab pos="532130" algn="l"/>
              </a:tabLst>
            </a:pPr>
            <a:r>
              <a:rPr dirty="0" sz="1800">
                <a:latin typeface="Arial"/>
                <a:cs typeface="Arial"/>
              </a:rPr>
              <a:t>Build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predictive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models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enhance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50"/>
              </a:spcBef>
              <a:buChar char="●"/>
              <a:tabLst>
                <a:tab pos="532130" algn="l"/>
              </a:tabLst>
            </a:pPr>
            <a:r>
              <a:rPr dirty="0" sz="1800">
                <a:latin typeface="Arial"/>
                <a:cs typeface="Arial"/>
              </a:rPr>
              <a:t>Highly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parallelized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scale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10’s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billions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nodes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606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dirty="0" spc="20"/>
              <a:t> </a:t>
            </a:r>
            <a:r>
              <a:rPr dirty="0" spc="-190" b="0">
                <a:latin typeface="Arial Black"/>
                <a:cs typeface="Arial Black"/>
              </a:rPr>
              <a:t>Neo4j</a:t>
            </a:r>
            <a:r>
              <a:rPr dirty="0" spc="-240" b="0">
                <a:latin typeface="Arial Black"/>
                <a:cs typeface="Arial Black"/>
              </a:rPr>
              <a:t> </a:t>
            </a:r>
            <a:r>
              <a:rPr dirty="0" spc="-375" b="0">
                <a:latin typeface="Arial Black"/>
                <a:cs typeface="Arial Black"/>
              </a:rPr>
              <a:t>GDS</a:t>
            </a:r>
            <a:r>
              <a:rPr dirty="0" spc="-240" b="0">
                <a:latin typeface="Arial Black"/>
                <a:cs typeface="Arial Black"/>
              </a:rPr>
              <a:t> </a:t>
            </a:r>
            <a:r>
              <a:rPr dirty="0" spc="-95" b="0">
                <a:latin typeface="Arial Black"/>
                <a:cs typeface="Arial Black"/>
              </a:rPr>
              <a:t>Library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6671564" y="4324924"/>
            <a:ext cx="3624579" cy="1608455"/>
            <a:chOff x="6671564" y="4324924"/>
            <a:chExt cx="3624579" cy="160845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5148" y="4584705"/>
              <a:ext cx="2337816" cy="55168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915200" y="4586301"/>
              <a:ext cx="2337435" cy="549275"/>
            </a:xfrm>
            <a:custGeom>
              <a:avLst/>
              <a:gdLst/>
              <a:ahLst/>
              <a:cxnLst/>
              <a:rect l="l" t="t" r="r" b="b"/>
              <a:pathLst>
                <a:path w="2337434" h="549275">
                  <a:moveTo>
                    <a:pt x="0" y="274345"/>
                  </a:moveTo>
                  <a:lnTo>
                    <a:pt x="1168537" y="0"/>
                  </a:lnTo>
                  <a:lnTo>
                    <a:pt x="2337074" y="274345"/>
                  </a:lnTo>
                  <a:lnTo>
                    <a:pt x="1168537" y="548691"/>
                  </a:lnTo>
                  <a:lnTo>
                    <a:pt x="0" y="274345"/>
                  </a:lnTo>
                  <a:close/>
                </a:path>
              </a:pathLst>
            </a:custGeom>
            <a:ln w="86733">
              <a:solidFill>
                <a:srgbClr val="E1E1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71564" y="4645665"/>
              <a:ext cx="2395728" cy="11064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2668" y="5426710"/>
              <a:ext cx="555202" cy="506383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90436" y="4764537"/>
              <a:ext cx="2157983" cy="50901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790761" y="4765859"/>
              <a:ext cx="2157730" cy="506730"/>
            </a:xfrm>
            <a:custGeom>
              <a:avLst/>
              <a:gdLst/>
              <a:ahLst/>
              <a:cxnLst/>
              <a:rect l="l" t="t" r="r" b="b"/>
              <a:pathLst>
                <a:path w="2157729" h="506729">
                  <a:moveTo>
                    <a:pt x="0" y="253191"/>
                  </a:moveTo>
                  <a:lnTo>
                    <a:pt x="1078582" y="0"/>
                  </a:lnTo>
                  <a:lnTo>
                    <a:pt x="2157164" y="253191"/>
                  </a:lnTo>
                  <a:lnTo>
                    <a:pt x="1078582" y="506382"/>
                  </a:lnTo>
                  <a:lnTo>
                    <a:pt x="0" y="253191"/>
                  </a:lnTo>
                  <a:close/>
                </a:path>
              </a:pathLst>
            </a:custGeom>
            <a:ln w="86733">
              <a:solidFill>
                <a:srgbClr val="E1E1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85347" y="4324924"/>
              <a:ext cx="1562969" cy="80811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8662607" y="5136412"/>
            <a:ext cx="1355090" cy="379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6705" marR="5080" indent="-294640">
              <a:lnSpc>
                <a:spcPct val="105500"/>
              </a:lnSpc>
              <a:spcBef>
                <a:spcPts val="100"/>
              </a:spcBef>
            </a:pPr>
            <a:r>
              <a:rPr dirty="0" sz="1100">
                <a:solidFill>
                  <a:srgbClr val="53585F"/>
                </a:solidFill>
                <a:latin typeface="Lucida Sans Unicode"/>
                <a:cs typeface="Lucida Sans Unicode"/>
              </a:rPr>
              <a:t>Mutable</a:t>
            </a:r>
            <a:r>
              <a:rPr dirty="0" sz="1100" spc="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95">
                <a:solidFill>
                  <a:srgbClr val="53585F"/>
                </a:solidFill>
                <a:latin typeface="Lucida Sans Unicode"/>
                <a:cs typeface="Lucida Sans Unicode"/>
              </a:rPr>
              <a:t>In-</a:t>
            </a:r>
            <a:r>
              <a:rPr dirty="0" sz="1100" spc="-10">
                <a:solidFill>
                  <a:srgbClr val="53585F"/>
                </a:solidFill>
                <a:latin typeface="Lucida Sans Unicode"/>
                <a:cs typeface="Lucida Sans Unicode"/>
              </a:rPr>
              <a:t>Memory Workspace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775210" y="4143287"/>
            <a:ext cx="1463040" cy="916940"/>
            <a:chOff x="8775210" y="4143287"/>
            <a:chExt cx="1463040" cy="916940"/>
          </a:xfrm>
        </p:grpSpPr>
        <p:pic>
          <p:nvPicPr>
            <p:cNvPr id="14" name="object 1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5210" y="4143287"/>
              <a:ext cx="1462821" cy="74722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31884" y="4764536"/>
              <a:ext cx="295655" cy="295656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7117188" y="4078642"/>
            <a:ext cx="147637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53585F"/>
                </a:solidFill>
                <a:latin typeface="Lucida Sans Unicode"/>
                <a:cs typeface="Lucida Sans Unicode"/>
              </a:rPr>
              <a:t>Computational</a:t>
            </a:r>
            <a:r>
              <a:rPr dirty="0" sz="1100" spc="-3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53585F"/>
                </a:solidFill>
                <a:latin typeface="Lucida Sans Unicode"/>
                <a:cs typeface="Lucida Sans Unicode"/>
              </a:rPr>
              <a:t>Graph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7190649" y="6041554"/>
            <a:ext cx="13049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53585F"/>
                </a:solidFill>
                <a:latin typeface="Lucida Sans Unicode"/>
                <a:cs typeface="Lucida Sans Unicode"/>
              </a:rPr>
              <a:t>Native</a:t>
            </a:r>
            <a:r>
              <a:rPr dirty="0" sz="1100" spc="-3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100">
                <a:solidFill>
                  <a:srgbClr val="53585F"/>
                </a:solidFill>
                <a:latin typeface="Lucida Sans Unicode"/>
                <a:cs typeface="Lucida Sans Unicode"/>
              </a:rPr>
              <a:t>Graph</a:t>
            </a:r>
            <a:r>
              <a:rPr dirty="0" sz="1100" spc="-3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20">
                <a:solidFill>
                  <a:srgbClr val="53585F"/>
                </a:solidFill>
                <a:latin typeface="Lucida Sans Unicode"/>
                <a:cs typeface="Lucida Sans Unicode"/>
              </a:rPr>
              <a:t>Store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14334" y="4177624"/>
            <a:ext cx="50349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Efficient</a:t>
            </a:r>
            <a:r>
              <a:rPr dirty="0" sz="2000" spc="9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&amp;</a:t>
            </a:r>
            <a:r>
              <a:rPr dirty="0" sz="2000" spc="114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Flexible</a:t>
            </a:r>
            <a:r>
              <a:rPr dirty="0" sz="2000" spc="10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Analytics</a:t>
            </a:r>
            <a:r>
              <a:rPr dirty="0" sz="2000" spc="10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B0B66"/>
                </a:solidFill>
                <a:latin typeface="Arial"/>
                <a:cs typeface="Arial"/>
              </a:rPr>
              <a:t>Workspace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58796" y="4492788"/>
            <a:ext cx="537210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7985" marR="5080" indent="-375920">
              <a:lnSpc>
                <a:spcPct val="111100"/>
              </a:lnSpc>
              <a:spcBef>
                <a:spcPts val="100"/>
              </a:spcBef>
              <a:buChar char="●"/>
              <a:tabLst>
                <a:tab pos="387985" algn="l"/>
              </a:tabLst>
            </a:pPr>
            <a:r>
              <a:rPr dirty="0" sz="1800">
                <a:latin typeface="Arial"/>
                <a:cs typeface="Arial"/>
              </a:rPr>
              <a:t>Automatically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reshapes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transactional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graphs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into </a:t>
            </a:r>
            <a:r>
              <a:rPr dirty="0" sz="1800">
                <a:latin typeface="Arial"/>
                <a:cs typeface="Arial"/>
              </a:rPr>
              <a:t>an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in-memory</a:t>
            </a:r>
            <a:r>
              <a:rPr dirty="0" sz="1800" spc="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analytics</a:t>
            </a:r>
            <a:r>
              <a:rPr dirty="0" sz="1800" spc="5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graph</a:t>
            </a:r>
            <a:endParaRPr sz="1800">
              <a:latin typeface="Arial"/>
              <a:cs typeface="Arial"/>
            </a:endParaRPr>
          </a:p>
          <a:p>
            <a:pPr marL="387985" indent="-375285">
              <a:lnSpc>
                <a:spcPct val="100000"/>
              </a:lnSpc>
              <a:spcBef>
                <a:spcPts val="240"/>
              </a:spcBef>
              <a:buChar char="●"/>
              <a:tabLst>
                <a:tab pos="387985" algn="l"/>
              </a:tabLst>
            </a:pPr>
            <a:r>
              <a:rPr dirty="0" sz="1800">
                <a:latin typeface="Arial"/>
                <a:cs typeface="Arial"/>
              </a:rPr>
              <a:t>Optimized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global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traversals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aggregation</a:t>
            </a:r>
            <a:endParaRPr sz="1800">
              <a:latin typeface="Arial"/>
              <a:cs typeface="Arial"/>
            </a:endParaRPr>
          </a:p>
          <a:p>
            <a:pPr marL="387985" indent="-375285">
              <a:lnSpc>
                <a:spcPct val="100000"/>
              </a:lnSpc>
              <a:spcBef>
                <a:spcPts val="240"/>
              </a:spcBef>
              <a:buChar char="●"/>
              <a:tabLst>
                <a:tab pos="387985" algn="l"/>
              </a:tabLst>
            </a:pPr>
            <a:r>
              <a:rPr dirty="0" sz="1800">
                <a:latin typeface="Arial"/>
                <a:cs typeface="Arial"/>
              </a:rPr>
              <a:t>Create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workflows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layer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algorithms</a:t>
            </a:r>
            <a:endParaRPr sz="1800">
              <a:latin typeface="Arial"/>
              <a:cs typeface="Arial"/>
            </a:endParaRPr>
          </a:p>
          <a:p>
            <a:pPr marL="387985" indent="-375285">
              <a:lnSpc>
                <a:spcPct val="100000"/>
              </a:lnSpc>
              <a:spcBef>
                <a:spcPts val="240"/>
              </a:spcBef>
              <a:buChar char="●"/>
              <a:tabLst>
                <a:tab pos="387985" algn="l"/>
              </a:tabLst>
            </a:pPr>
            <a:r>
              <a:rPr dirty="0" sz="1800">
                <a:latin typeface="Arial"/>
                <a:cs typeface="Arial"/>
              </a:rPr>
              <a:t>Store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manage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predictive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models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the</a:t>
            </a:r>
            <a:endParaRPr sz="1800">
              <a:latin typeface="Arial"/>
              <a:cs typeface="Arial"/>
            </a:endParaRPr>
          </a:p>
          <a:p>
            <a:pPr marL="387985">
              <a:lnSpc>
                <a:spcPct val="100000"/>
              </a:lnSpc>
              <a:spcBef>
                <a:spcPts val="240"/>
              </a:spcBef>
            </a:pPr>
            <a:r>
              <a:rPr dirty="0" sz="1800" b="1">
                <a:latin typeface="Arial"/>
                <a:cs typeface="Arial"/>
              </a:rPr>
              <a:t>model</a:t>
            </a:r>
            <a:r>
              <a:rPr dirty="0" sz="1800" spc="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catalog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97355" y="2280417"/>
            <a:ext cx="594359" cy="618743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97355" y="3030225"/>
            <a:ext cx="594359" cy="606551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931923" y="3033273"/>
            <a:ext cx="588263" cy="603503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28876" y="2289561"/>
            <a:ext cx="594360" cy="600455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660395" y="3033273"/>
            <a:ext cx="594359" cy="600456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660395" y="2289561"/>
            <a:ext cx="588263" cy="600455"/>
          </a:xfrm>
          <a:prstGeom prst="rect">
            <a:avLst/>
          </a:prstGeom>
        </p:spPr>
      </p:pic>
      <p:sp>
        <p:nvSpPr>
          <p:cNvPr id="26" name="object 26" descr=""/>
          <p:cNvSpPr txBox="1"/>
          <p:nvPr/>
        </p:nvSpPr>
        <p:spPr>
          <a:xfrm>
            <a:off x="260289" y="6397845"/>
            <a:ext cx="155575" cy="15367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9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139728" y="850876"/>
            <a:ext cx="396875" cy="5854700"/>
          </a:xfrm>
          <a:prstGeom prst="rect">
            <a:avLst/>
          </a:prstGeom>
          <a:solidFill>
            <a:srgbClr val="018B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02277" y="1350991"/>
            <a:ext cx="9310370" cy="544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~70</a:t>
            </a:r>
            <a:r>
              <a:rPr dirty="0" spc="10"/>
              <a:t> </a:t>
            </a:r>
            <a:r>
              <a:rPr dirty="0"/>
              <a:t>Graph</a:t>
            </a:r>
            <a:r>
              <a:rPr dirty="0" spc="20"/>
              <a:t> </a:t>
            </a:r>
            <a:r>
              <a:rPr dirty="0"/>
              <a:t>Data</a:t>
            </a:r>
            <a:r>
              <a:rPr dirty="0" spc="10"/>
              <a:t> </a:t>
            </a:r>
            <a:r>
              <a:rPr dirty="0"/>
              <a:t>Science</a:t>
            </a:r>
            <a:r>
              <a:rPr dirty="0" spc="10"/>
              <a:t> </a:t>
            </a:r>
            <a:r>
              <a:rPr dirty="0"/>
              <a:t>Techniques</a:t>
            </a:r>
            <a:r>
              <a:rPr dirty="0" spc="10"/>
              <a:t> </a:t>
            </a:r>
            <a:r>
              <a:rPr dirty="0"/>
              <a:t>in</a:t>
            </a:r>
            <a:r>
              <a:rPr dirty="0" spc="20"/>
              <a:t> </a:t>
            </a:r>
            <a:r>
              <a:rPr dirty="0" spc="-10"/>
              <a:t>Neo4j</a:t>
            </a: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661286" y="2225923"/>
          <a:ext cx="9887585" cy="43503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7260"/>
                <a:gridCol w="2621280"/>
                <a:gridCol w="2522220"/>
                <a:gridCol w="2450464"/>
              </a:tblGrid>
              <a:tr h="2388870">
                <a:tc>
                  <a:txBody>
                    <a:bodyPr/>
                    <a:lstStyle/>
                    <a:p>
                      <a:pPr marL="663575" marR="226060">
                        <a:lnSpc>
                          <a:spcPts val="1900"/>
                        </a:lnSpc>
                        <a:spcBef>
                          <a:spcPts val="905"/>
                        </a:spcBef>
                      </a:pP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Pathfinding</a:t>
                      </a:r>
                      <a:r>
                        <a:rPr dirty="0" sz="1600" spc="-4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5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Search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63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Shortest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Path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Single-Source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Shortest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Path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Pairs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Shortest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Path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A*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Shortest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Path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Yen’s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K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Shortest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Path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Minimum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Weight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Spanning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Tree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K-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Spanning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Tree</a:t>
                      </a:r>
                      <a:r>
                        <a:rPr dirty="0" sz="900" spc="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(MST)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Random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Walk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Breadth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Depth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First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Search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14935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7405" marR="652780">
                        <a:lnSpc>
                          <a:spcPts val="1900"/>
                        </a:lnSpc>
                        <a:spcBef>
                          <a:spcPts val="905"/>
                        </a:spcBef>
                      </a:pP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Centrality</a:t>
                      </a:r>
                      <a:r>
                        <a:rPr dirty="0" sz="1600" spc="-3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5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&amp; </a:t>
                      </a: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Importance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635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Degree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Centrality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Closeness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Centrality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Harmonic</a:t>
                      </a:r>
                      <a:r>
                        <a:rPr dirty="0" sz="9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Centrality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Betweenness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Centrality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&amp;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Approx.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PageRank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Personalized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PageRank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ArticleRank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Eigenvector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Centrality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Hyperlink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Induced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Topic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Search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(HITS)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Influence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Maximization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(Greedy,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CELF)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14935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5330" marR="666750">
                        <a:lnSpc>
                          <a:spcPts val="1900"/>
                        </a:lnSpc>
                        <a:spcBef>
                          <a:spcPts val="905"/>
                        </a:spcBef>
                      </a:pP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Community Detection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635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Triangle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Count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Local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Clustering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Coefficient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Connected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Components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(Union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Find)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Strongly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Connected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Components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Label</a:t>
                      </a:r>
                      <a:r>
                        <a:rPr dirty="0" sz="900" spc="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Propagation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Louvain</a:t>
                      </a:r>
                      <a:r>
                        <a:rPr dirty="0" sz="900" spc="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Modularity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K-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Coloring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Modularity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Optimization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Speaker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Listener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Label</a:t>
                      </a:r>
                      <a:r>
                        <a:rPr dirty="0" sz="900" spc="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Propagation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14935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1815" marR="177800">
                        <a:lnSpc>
                          <a:spcPts val="1900"/>
                        </a:lnSpc>
                        <a:spcBef>
                          <a:spcPts val="905"/>
                        </a:spcBef>
                      </a:pP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Supervised Machine</a:t>
                      </a:r>
                      <a:r>
                        <a:rPr dirty="0" sz="1600" spc="-55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98450" indent="-187325">
                        <a:lnSpc>
                          <a:spcPct val="100000"/>
                        </a:lnSpc>
                        <a:spcBef>
                          <a:spcPts val="63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Node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Classification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87325">
                        <a:lnSpc>
                          <a:spcPct val="100000"/>
                        </a:lnSpc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Link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Prediction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07695">
                        <a:lnSpc>
                          <a:spcPct val="100000"/>
                        </a:lnSpc>
                      </a:pPr>
                      <a:r>
                        <a:rPr dirty="0" sz="160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…</a:t>
                      </a:r>
                      <a:r>
                        <a:rPr dirty="0" sz="1600" spc="-4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600" spc="-25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more!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149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961514">
                <a:tc>
                  <a:txBody>
                    <a:bodyPr/>
                    <a:lstStyle/>
                    <a:p>
                      <a:pPr marL="607695" marR="257810">
                        <a:lnSpc>
                          <a:spcPts val="1900"/>
                        </a:lnSpc>
                        <a:spcBef>
                          <a:spcPts val="930"/>
                        </a:spcBef>
                      </a:pP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Heuristic</a:t>
                      </a:r>
                      <a:r>
                        <a:rPr dirty="0" sz="1600" spc="-25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Link </a:t>
                      </a: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Prediction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61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Adamic</a:t>
                      </a:r>
                      <a:r>
                        <a:rPr dirty="0" sz="900" spc="2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Adar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Common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Neighbors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Preferential</a:t>
                      </a:r>
                      <a:r>
                        <a:rPr dirty="0" sz="900" spc="4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Attachment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Resource</a:t>
                      </a:r>
                      <a:r>
                        <a:rPr dirty="0" sz="900" spc="25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Allocations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Same</a:t>
                      </a:r>
                      <a:r>
                        <a:rPr dirty="0" sz="900" spc="25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Community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Total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Neighbors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347980">
                        <a:lnSpc>
                          <a:spcPct val="100000"/>
                        </a:lnSpc>
                      </a:pPr>
                      <a:r>
                        <a:rPr dirty="0" sz="800">
                          <a:latin typeface="Arial"/>
                          <a:cs typeface="Arial"/>
                        </a:rPr>
                        <a:t>Neo4j,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Inc.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All</a:t>
                      </a:r>
                      <a:r>
                        <a:rPr dirty="0" sz="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>
                          <a:latin typeface="Arial"/>
                          <a:cs typeface="Arial"/>
                        </a:rPr>
                        <a:t>rights</a:t>
                      </a:r>
                      <a:r>
                        <a:rPr dirty="0" sz="8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10">
                          <a:latin typeface="Arial"/>
                          <a:cs typeface="Arial"/>
                        </a:rPr>
                        <a:t>reserved</a:t>
                      </a:r>
                      <a:r>
                        <a:rPr dirty="0" sz="8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00" spc="-20">
                          <a:latin typeface="Arial"/>
                          <a:cs typeface="Arial"/>
                        </a:rPr>
                        <a:t>2021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B="0" marT="11811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7405">
                        <a:lnSpc>
                          <a:spcPct val="100000"/>
                        </a:lnSpc>
                        <a:spcBef>
                          <a:spcPts val="850"/>
                        </a:spcBef>
                      </a:pP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Similarity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Node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Similarity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K-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Nearest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Neighbors</a:t>
                      </a:r>
                      <a:r>
                        <a:rPr dirty="0" sz="900" spc="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latin typeface="Arial"/>
                          <a:cs typeface="Arial"/>
                        </a:rPr>
                        <a:t>(KNN)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Jaccard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Similarity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Cosine</a:t>
                      </a:r>
                      <a:r>
                        <a:rPr dirty="0" sz="900" spc="15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Similarity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Pearson</a:t>
                      </a:r>
                      <a:r>
                        <a:rPr dirty="0" sz="900" spc="4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Similarity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Euclidean</a:t>
                      </a:r>
                      <a:r>
                        <a:rPr dirty="0" sz="900" spc="45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Distance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407034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407034" algn="l"/>
                        </a:tabLst>
                      </a:pP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Approximate</a:t>
                      </a:r>
                      <a:r>
                        <a:rPr dirty="0" sz="900" spc="3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Nearest</a:t>
                      </a:r>
                      <a:r>
                        <a:rPr dirty="0" sz="900" spc="3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Neighbors</a:t>
                      </a:r>
                      <a:r>
                        <a:rPr dirty="0" sz="900" spc="3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20">
                          <a:solidFill>
                            <a:srgbClr val="282828"/>
                          </a:solidFill>
                          <a:latin typeface="Arial"/>
                          <a:cs typeface="Arial"/>
                        </a:rPr>
                        <a:t>(ANN)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7950"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0" marR="623570">
                        <a:lnSpc>
                          <a:spcPts val="1900"/>
                        </a:lnSpc>
                        <a:spcBef>
                          <a:spcPts val="930"/>
                        </a:spcBef>
                      </a:pPr>
                      <a:r>
                        <a:rPr dirty="0" sz="1600" spc="-10" b="1">
                          <a:solidFill>
                            <a:srgbClr val="0B0B66"/>
                          </a:solidFill>
                          <a:latin typeface="Arial"/>
                          <a:cs typeface="Arial"/>
                        </a:rPr>
                        <a:t>Graph Embeddings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370205" indent="-187325">
                        <a:lnSpc>
                          <a:spcPct val="100000"/>
                        </a:lnSpc>
                        <a:spcBef>
                          <a:spcPts val="615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Node2Vec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87325">
                        <a:lnSpc>
                          <a:spcPct val="100000"/>
                        </a:lnSpc>
                        <a:spcBef>
                          <a:spcPts val="20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FastRP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8732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FastRPExtended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370205" indent="-18732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370205" algn="l"/>
                        </a:tabLst>
                      </a:pPr>
                      <a:r>
                        <a:rPr dirty="0" sz="900" spc="-10">
                          <a:latin typeface="Arial"/>
                          <a:cs typeface="Arial"/>
                        </a:rPr>
                        <a:t>GraphSAGE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18110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83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Synthetic</a:t>
                      </a:r>
                      <a:r>
                        <a:rPr dirty="0" sz="900" spc="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Graph</a:t>
                      </a:r>
                      <a:r>
                        <a:rPr dirty="0" sz="90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Generation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Scale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Properties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Collapse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Paths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One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Hot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Encoding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1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Split</a:t>
                      </a:r>
                      <a:r>
                        <a:rPr dirty="0" sz="900" spc="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Relationships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5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Graph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Export</a:t>
                      </a:r>
                      <a:endParaRPr sz="900">
                        <a:latin typeface="Arial"/>
                        <a:cs typeface="Arial"/>
                      </a:endParaRPr>
                    </a:p>
                    <a:p>
                      <a:pPr marL="298450" indent="-173355">
                        <a:lnSpc>
                          <a:spcPct val="100000"/>
                        </a:lnSpc>
                        <a:spcBef>
                          <a:spcPts val="20"/>
                        </a:spcBef>
                        <a:buChar char="•"/>
                        <a:tabLst>
                          <a:tab pos="298450" algn="l"/>
                        </a:tabLst>
                      </a:pPr>
                      <a:r>
                        <a:rPr dirty="0" sz="900">
                          <a:latin typeface="Arial"/>
                          <a:cs typeface="Arial"/>
                        </a:rPr>
                        <a:t>Pregel</a:t>
                      </a:r>
                      <a:r>
                        <a:rPr dirty="0" sz="900" spc="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API</a:t>
                      </a:r>
                      <a:r>
                        <a:rPr dirty="0" sz="900" spc="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(write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>
                          <a:latin typeface="Arial"/>
                          <a:cs typeface="Arial"/>
                        </a:rPr>
                        <a:t>your own</a:t>
                      </a:r>
                      <a:r>
                        <a:rPr dirty="0" sz="90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900" spc="-10">
                          <a:latin typeface="Arial"/>
                          <a:cs typeface="Arial"/>
                        </a:rPr>
                        <a:t>algos)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 marT="1054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3107" y="2228601"/>
            <a:ext cx="649223" cy="688848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5140" y="2228601"/>
            <a:ext cx="649224" cy="688848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982204" y="2228601"/>
            <a:ext cx="600455" cy="633984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10276" y="4563369"/>
            <a:ext cx="649224" cy="649224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34059" y="4654808"/>
            <a:ext cx="539496" cy="569976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7587" y="2262129"/>
            <a:ext cx="539495" cy="569976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85835" y="4054352"/>
            <a:ext cx="536448" cy="566927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023107" y="4545081"/>
            <a:ext cx="649223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2277" y="1223213"/>
            <a:ext cx="8599805" cy="1350010"/>
          </a:xfrm>
          <a:prstGeom prst="rect"/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/>
              <a:t>Our</a:t>
            </a:r>
            <a:r>
              <a:rPr dirty="0" spc="5"/>
              <a:t> </a:t>
            </a:r>
            <a:r>
              <a:rPr dirty="0"/>
              <a:t>Special</a:t>
            </a:r>
            <a:r>
              <a:rPr dirty="0" spc="10"/>
              <a:t> </a:t>
            </a:r>
            <a:r>
              <a:rPr dirty="0"/>
              <a:t>Sauce:</a:t>
            </a:r>
            <a:r>
              <a:rPr dirty="0" spc="10"/>
              <a:t> </a:t>
            </a:r>
            <a:r>
              <a:rPr dirty="0"/>
              <a:t>The</a:t>
            </a:r>
            <a:r>
              <a:rPr dirty="0" spc="5"/>
              <a:t> </a:t>
            </a:r>
            <a:r>
              <a:rPr dirty="0"/>
              <a:t>Graph</a:t>
            </a:r>
            <a:r>
              <a:rPr dirty="0" spc="20"/>
              <a:t> </a:t>
            </a:r>
            <a:r>
              <a:rPr dirty="0" spc="-10"/>
              <a:t>Catalogue</a:t>
            </a:r>
          </a:p>
          <a:p>
            <a:pPr marL="62230" marR="5080">
              <a:lnSpc>
                <a:spcPct val="109500"/>
              </a:lnSpc>
              <a:spcBef>
                <a:spcPts val="350"/>
              </a:spcBef>
            </a:pPr>
            <a:r>
              <a:rPr dirty="0" sz="1900" b="0">
                <a:latin typeface="Arial"/>
                <a:cs typeface="Arial"/>
              </a:rPr>
              <a:t>A</a:t>
            </a:r>
            <a:r>
              <a:rPr dirty="0" sz="1900" spc="60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graph-specific</a:t>
            </a:r>
            <a:r>
              <a:rPr dirty="0" sz="1900" spc="5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analytics</a:t>
            </a:r>
            <a:r>
              <a:rPr dirty="0" sz="1900" spc="5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workspace</a:t>
            </a:r>
            <a:r>
              <a:rPr dirty="0" sz="1900" spc="6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that’s</a:t>
            </a:r>
            <a:r>
              <a:rPr dirty="0" sz="1900" spc="5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mutable</a:t>
            </a:r>
            <a:r>
              <a:rPr dirty="0" sz="1900" spc="6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–</a:t>
            </a:r>
            <a:r>
              <a:rPr dirty="0" sz="1900" spc="6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integrated</a:t>
            </a:r>
            <a:r>
              <a:rPr dirty="0" sz="1900" spc="6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with</a:t>
            </a:r>
            <a:r>
              <a:rPr dirty="0" sz="1900" spc="65" b="0">
                <a:latin typeface="Arial"/>
                <a:cs typeface="Arial"/>
              </a:rPr>
              <a:t> </a:t>
            </a:r>
            <a:r>
              <a:rPr dirty="0" sz="1900" b="0">
                <a:latin typeface="Arial"/>
                <a:cs typeface="Arial"/>
              </a:rPr>
              <a:t>a</a:t>
            </a:r>
            <a:r>
              <a:rPr dirty="0" sz="1900" spc="65" b="0">
                <a:latin typeface="Arial"/>
                <a:cs typeface="Arial"/>
              </a:rPr>
              <a:t> </a:t>
            </a:r>
            <a:r>
              <a:rPr dirty="0" sz="1900" spc="-10" b="0">
                <a:latin typeface="Arial"/>
                <a:cs typeface="Arial"/>
              </a:rPr>
              <a:t>native- </a:t>
            </a:r>
            <a:r>
              <a:rPr dirty="0" sz="1900" b="0">
                <a:latin typeface="Arial"/>
                <a:cs typeface="Arial"/>
              </a:rPr>
              <a:t>graph</a:t>
            </a:r>
            <a:r>
              <a:rPr dirty="0" sz="1900" spc="50" b="0">
                <a:latin typeface="Arial"/>
                <a:cs typeface="Arial"/>
              </a:rPr>
              <a:t> </a:t>
            </a:r>
            <a:r>
              <a:rPr dirty="0" sz="1900" spc="-10" b="0">
                <a:latin typeface="Arial"/>
                <a:cs typeface="Arial"/>
              </a:rPr>
              <a:t>database</a:t>
            </a:r>
            <a:endParaRPr sz="1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293557" y="2992469"/>
            <a:ext cx="3662679" cy="329057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394970" marR="852169" indent="-382905">
              <a:lnSpc>
                <a:spcPts val="2110"/>
              </a:lnSpc>
              <a:spcBef>
                <a:spcPts val="310"/>
              </a:spcBef>
              <a:buChar char="•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Neo4j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automates</a:t>
            </a:r>
            <a:r>
              <a:rPr dirty="0" sz="1900" spc="7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data </a:t>
            </a:r>
            <a:r>
              <a:rPr dirty="0" sz="1900" spc="-10">
                <a:latin typeface="Arial"/>
                <a:cs typeface="Arial"/>
              </a:rPr>
              <a:t>transformations</a:t>
            </a:r>
            <a:endParaRPr sz="1900">
              <a:latin typeface="Arial"/>
              <a:cs typeface="Arial"/>
            </a:endParaRPr>
          </a:p>
          <a:p>
            <a:pPr algn="just" marL="393065" marR="5080" indent="-381000">
              <a:lnSpc>
                <a:spcPts val="2110"/>
              </a:lnSpc>
              <a:spcBef>
                <a:spcPts val="1085"/>
              </a:spcBef>
              <a:buChar char="•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Experiment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with</a:t>
            </a:r>
            <a:r>
              <a:rPr dirty="0" sz="1900" spc="8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different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data </a:t>
            </a:r>
            <a:r>
              <a:rPr dirty="0" sz="1900" spc="-20">
                <a:latin typeface="Arial"/>
                <a:cs typeface="Arial"/>
              </a:rPr>
              <a:t>	</a:t>
            </a:r>
            <a:r>
              <a:rPr dirty="0" sz="1900">
                <a:latin typeface="Arial"/>
                <a:cs typeface="Arial"/>
              </a:rPr>
              <a:t>sets,</a:t>
            </a:r>
            <a:r>
              <a:rPr dirty="0" sz="1900" spc="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data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models</a:t>
            </a:r>
            <a:endParaRPr sz="1900">
              <a:latin typeface="Arial"/>
              <a:cs typeface="Arial"/>
            </a:endParaRPr>
          </a:p>
          <a:p>
            <a:pPr algn="just" marL="393700" indent="-381000">
              <a:lnSpc>
                <a:spcPct val="100000"/>
              </a:lnSpc>
              <a:spcBef>
                <a:spcPts val="969"/>
              </a:spcBef>
              <a:buChar char="•"/>
              <a:tabLst>
                <a:tab pos="393700" algn="l"/>
              </a:tabLst>
            </a:pPr>
            <a:r>
              <a:rPr dirty="0" sz="1900">
                <a:latin typeface="Arial"/>
                <a:cs typeface="Arial"/>
              </a:rPr>
              <a:t>Fast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iterations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&amp;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layering</a:t>
            </a:r>
            <a:endParaRPr sz="1900">
              <a:latin typeface="Arial"/>
              <a:cs typeface="Arial"/>
            </a:endParaRPr>
          </a:p>
          <a:p>
            <a:pPr algn="just" marL="393065" marR="361315" indent="-381000">
              <a:lnSpc>
                <a:spcPct val="92100"/>
              </a:lnSpc>
              <a:spcBef>
                <a:spcPts val="1115"/>
              </a:spcBef>
              <a:buChar char="•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Production</a:t>
            </a:r>
            <a:r>
              <a:rPr dirty="0" sz="1900" spc="8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ready</a:t>
            </a:r>
            <a:r>
              <a:rPr dirty="0" sz="1900" spc="7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features, </a:t>
            </a:r>
            <a:r>
              <a:rPr dirty="0" sz="1900" spc="-10">
                <a:latin typeface="Arial"/>
                <a:cs typeface="Arial"/>
              </a:rPr>
              <a:t>	</a:t>
            </a:r>
            <a:r>
              <a:rPr dirty="0" sz="1900">
                <a:latin typeface="Arial"/>
                <a:cs typeface="Arial"/>
              </a:rPr>
              <a:t>parallelization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&amp;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enterprise 	support</a:t>
            </a:r>
            <a:endParaRPr sz="1900">
              <a:latin typeface="Arial"/>
              <a:cs typeface="Arial"/>
            </a:endParaRPr>
          </a:p>
          <a:p>
            <a:pPr marL="394970" marR="198120" indent="-382905">
              <a:lnSpc>
                <a:spcPts val="2110"/>
              </a:lnSpc>
              <a:spcBef>
                <a:spcPts val="1125"/>
              </a:spcBef>
              <a:buChar char="•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Ability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to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persist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and</a:t>
            </a:r>
            <a:r>
              <a:rPr dirty="0" sz="1900" spc="5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version </a:t>
            </a:r>
            <a:r>
              <a:rPr dirty="0" sz="1900" spc="-20">
                <a:latin typeface="Arial"/>
                <a:cs typeface="Arial"/>
              </a:rPr>
              <a:t>data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98068" y="3391454"/>
            <a:ext cx="5345430" cy="2379980"/>
            <a:chOff x="798068" y="3391454"/>
            <a:chExt cx="5345430" cy="237998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36012" y="3773937"/>
              <a:ext cx="3465576" cy="816863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637515" y="3776032"/>
              <a:ext cx="3462654" cy="812800"/>
            </a:xfrm>
            <a:custGeom>
              <a:avLst/>
              <a:gdLst/>
              <a:ahLst/>
              <a:cxnLst/>
              <a:rect l="l" t="t" r="r" b="b"/>
              <a:pathLst>
                <a:path w="3462654" h="812800">
                  <a:moveTo>
                    <a:pt x="0" y="406395"/>
                  </a:moveTo>
                  <a:lnTo>
                    <a:pt x="1731165" y="0"/>
                  </a:lnTo>
                  <a:lnTo>
                    <a:pt x="3462331" y="406395"/>
                  </a:lnTo>
                  <a:lnTo>
                    <a:pt x="1731165" y="812790"/>
                  </a:lnTo>
                  <a:lnTo>
                    <a:pt x="0" y="406395"/>
                  </a:lnTo>
                  <a:close/>
                </a:path>
              </a:pathLst>
            </a:custGeom>
            <a:ln w="86733">
              <a:solidFill>
                <a:srgbClr val="E1E1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068" y="3865377"/>
              <a:ext cx="3544824" cy="1636776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4876" y="5020950"/>
              <a:ext cx="819905" cy="75011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8755" y="4039113"/>
              <a:ext cx="3200399" cy="75590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971680" y="4042015"/>
              <a:ext cx="3195955" cy="750570"/>
            </a:xfrm>
            <a:custGeom>
              <a:avLst/>
              <a:gdLst/>
              <a:ahLst/>
              <a:cxnLst/>
              <a:rect l="l" t="t" r="r" b="b"/>
              <a:pathLst>
                <a:path w="3195954" h="750570">
                  <a:moveTo>
                    <a:pt x="0" y="375058"/>
                  </a:moveTo>
                  <a:lnTo>
                    <a:pt x="1597898" y="0"/>
                  </a:lnTo>
                  <a:lnTo>
                    <a:pt x="3195798" y="375058"/>
                  </a:lnTo>
                  <a:lnTo>
                    <a:pt x="1597898" y="750117"/>
                  </a:lnTo>
                  <a:lnTo>
                    <a:pt x="0" y="375058"/>
                  </a:lnTo>
                  <a:close/>
                </a:path>
              </a:pathLst>
            </a:custGeom>
            <a:ln w="86733">
              <a:solidFill>
                <a:srgbClr val="E1E1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8862" y="3391454"/>
              <a:ext cx="2310281" cy="1191872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3485200" y="4625732"/>
            <a:ext cx="24326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Mutable </a:t>
            </a:r>
            <a:r>
              <a:rPr dirty="0" sz="1400" spc="-25">
                <a:latin typeface="Arial"/>
                <a:cs typeface="Arial"/>
              </a:rPr>
              <a:t>In-</a:t>
            </a:r>
            <a:r>
              <a:rPr dirty="0" sz="1400" spc="-20">
                <a:latin typeface="Arial"/>
                <a:cs typeface="Arial"/>
              </a:rPr>
              <a:t>Memory</a:t>
            </a:r>
            <a:r>
              <a:rPr dirty="0" sz="1400" spc="-1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Workspace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3598195" y="3126135"/>
            <a:ext cx="2478405" cy="2181225"/>
            <a:chOff x="3598195" y="3126135"/>
            <a:chExt cx="2478405" cy="2181225"/>
          </a:xfrm>
        </p:grpSpPr>
        <p:sp>
          <p:nvSpPr>
            <p:cNvPr id="14" name="object 14" descr=""/>
            <p:cNvSpPr/>
            <p:nvPr/>
          </p:nvSpPr>
          <p:spPr>
            <a:xfrm>
              <a:off x="5743929" y="366153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44032" y="0"/>
                  </a:moveTo>
                  <a:lnTo>
                    <a:pt x="24323" y="7334"/>
                  </a:lnTo>
                  <a:lnTo>
                    <a:pt x="9471" y="21180"/>
                  </a:lnTo>
                  <a:lnTo>
                    <a:pt x="891" y="39588"/>
                  </a:lnTo>
                  <a:lnTo>
                    <a:pt x="0" y="60609"/>
                  </a:lnTo>
                  <a:lnTo>
                    <a:pt x="7329" y="80328"/>
                  </a:lnTo>
                  <a:lnTo>
                    <a:pt x="21167" y="95188"/>
                  </a:lnTo>
                  <a:lnTo>
                    <a:pt x="39564" y="103772"/>
                  </a:lnTo>
                  <a:lnTo>
                    <a:pt x="60572" y="104663"/>
                  </a:lnTo>
                  <a:lnTo>
                    <a:pt x="80281" y="97329"/>
                  </a:lnTo>
                  <a:lnTo>
                    <a:pt x="95133" y="83483"/>
                  </a:lnTo>
                  <a:lnTo>
                    <a:pt x="103713" y="65075"/>
                  </a:lnTo>
                  <a:lnTo>
                    <a:pt x="104603" y="44055"/>
                  </a:lnTo>
                  <a:lnTo>
                    <a:pt x="97274" y="24335"/>
                  </a:lnTo>
                  <a:lnTo>
                    <a:pt x="83437" y="9475"/>
                  </a:lnTo>
                  <a:lnTo>
                    <a:pt x="65040" y="891"/>
                  </a:lnTo>
                  <a:lnTo>
                    <a:pt x="440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743930" y="3661536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603" y="44054"/>
                  </a:moveTo>
                  <a:lnTo>
                    <a:pt x="103712" y="65074"/>
                  </a:lnTo>
                  <a:lnTo>
                    <a:pt x="95132" y="83482"/>
                  </a:lnTo>
                  <a:lnTo>
                    <a:pt x="80280" y="97328"/>
                  </a:lnTo>
                  <a:lnTo>
                    <a:pt x="60572" y="104663"/>
                  </a:lnTo>
                  <a:lnTo>
                    <a:pt x="39564" y="103772"/>
                  </a:lnTo>
                  <a:lnTo>
                    <a:pt x="21167" y="95188"/>
                  </a:lnTo>
                  <a:lnTo>
                    <a:pt x="7329" y="80328"/>
                  </a:lnTo>
                  <a:lnTo>
                    <a:pt x="0" y="60608"/>
                  </a:lnTo>
                  <a:lnTo>
                    <a:pt x="890" y="39588"/>
                  </a:lnTo>
                  <a:lnTo>
                    <a:pt x="9470" y="21180"/>
                  </a:lnTo>
                  <a:lnTo>
                    <a:pt x="24322" y="7334"/>
                  </a:lnTo>
                  <a:lnTo>
                    <a:pt x="44031" y="0"/>
                  </a:lnTo>
                  <a:lnTo>
                    <a:pt x="65039" y="890"/>
                  </a:lnTo>
                  <a:lnTo>
                    <a:pt x="83436" y="9474"/>
                  </a:lnTo>
                  <a:lnTo>
                    <a:pt x="97274" y="24335"/>
                  </a:lnTo>
                  <a:lnTo>
                    <a:pt x="104603" y="44054"/>
                  </a:lnTo>
                  <a:close/>
                </a:path>
              </a:pathLst>
            </a:custGeom>
            <a:ln w="10838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370639" y="411398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44030" y="0"/>
                  </a:moveTo>
                  <a:lnTo>
                    <a:pt x="24323" y="7334"/>
                  </a:lnTo>
                  <a:lnTo>
                    <a:pt x="9471" y="21180"/>
                  </a:lnTo>
                  <a:lnTo>
                    <a:pt x="891" y="39588"/>
                  </a:lnTo>
                  <a:lnTo>
                    <a:pt x="0" y="60608"/>
                  </a:lnTo>
                  <a:lnTo>
                    <a:pt x="7329" y="80327"/>
                  </a:lnTo>
                  <a:lnTo>
                    <a:pt x="21167" y="95187"/>
                  </a:lnTo>
                  <a:lnTo>
                    <a:pt x="39564" y="103772"/>
                  </a:lnTo>
                  <a:lnTo>
                    <a:pt x="60572" y="104663"/>
                  </a:lnTo>
                  <a:lnTo>
                    <a:pt x="80281" y="97328"/>
                  </a:lnTo>
                  <a:lnTo>
                    <a:pt x="95133" y="83482"/>
                  </a:lnTo>
                  <a:lnTo>
                    <a:pt x="103713" y="65074"/>
                  </a:lnTo>
                  <a:lnTo>
                    <a:pt x="104603" y="44053"/>
                  </a:lnTo>
                  <a:lnTo>
                    <a:pt x="97274" y="24334"/>
                  </a:lnTo>
                  <a:lnTo>
                    <a:pt x="83436" y="9474"/>
                  </a:lnTo>
                  <a:lnTo>
                    <a:pt x="65039" y="890"/>
                  </a:lnTo>
                  <a:lnTo>
                    <a:pt x="44030" y="0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370640" y="4113987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603" y="44054"/>
                  </a:moveTo>
                  <a:lnTo>
                    <a:pt x="103712" y="65074"/>
                  </a:lnTo>
                  <a:lnTo>
                    <a:pt x="95132" y="83482"/>
                  </a:lnTo>
                  <a:lnTo>
                    <a:pt x="80280" y="97328"/>
                  </a:lnTo>
                  <a:lnTo>
                    <a:pt x="60572" y="104663"/>
                  </a:lnTo>
                  <a:lnTo>
                    <a:pt x="39564" y="103772"/>
                  </a:lnTo>
                  <a:lnTo>
                    <a:pt x="21167" y="95188"/>
                  </a:lnTo>
                  <a:lnTo>
                    <a:pt x="7329" y="80328"/>
                  </a:lnTo>
                  <a:lnTo>
                    <a:pt x="0" y="60608"/>
                  </a:lnTo>
                  <a:lnTo>
                    <a:pt x="890" y="39588"/>
                  </a:lnTo>
                  <a:lnTo>
                    <a:pt x="9470" y="21180"/>
                  </a:lnTo>
                  <a:lnTo>
                    <a:pt x="24322" y="7334"/>
                  </a:lnTo>
                  <a:lnTo>
                    <a:pt x="44031" y="0"/>
                  </a:lnTo>
                  <a:lnTo>
                    <a:pt x="65039" y="890"/>
                  </a:lnTo>
                  <a:lnTo>
                    <a:pt x="83436" y="9474"/>
                  </a:lnTo>
                  <a:lnTo>
                    <a:pt x="97274" y="24335"/>
                  </a:lnTo>
                  <a:lnTo>
                    <a:pt x="104603" y="44054"/>
                  </a:lnTo>
                  <a:close/>
                </a:path>
              </a:pathLst>
            </a:custGeom>
            <a:ln w="10838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284477" y="399335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44030" y="0"/>
                  </a:moveTo>
                  <a:lnTo>
                    <a:pt x="24322" y="7334"/>
                  </a:lnTo>
                  <a:lnTo>
                    <a:pt x="9470" y="21180"/>
                  </a:lnTo>
                  <a:lnTo>
                    <a:pt x="890" y="39588"/>
                  </a:lnTo>
                  <a:lnTo>
                    <a:pt x="0" y="60609"/>
                  </a:lnTo>
                  <a:lnTo>
                    <a:pt x="7329" y="80328"/>
                  </a:lnTo>
                  <a:lnTo>
                    <a:pt x="21167" y="95188"/>
                  </a:lnTo>
                  <a:lnTo>
                    <a:pt x="39564" y="103772"/>
                  </a:lnTo>
                  <a:lnTo>
                    <a:pt x="60572" y="104663"/>
                  </a:lnTo>
                  <a:lnTo>
                    <a:pt x="80280" y="97329"/>
                  </a:lnTo>
                  <a:lnTo>
                    <a:pt x="95133" y="83483"/>
                  </a:lnTo>
                  <a:lnTo>
                    <a:pt x="103712" y="65075"/>
                  </a:lnTo>
                  <a:lnTo>
                    <a:pt x="104603" y="44055"/>
                  </a:lnTo>
                  <a:lnTo>
                    <a:pt x="97273" y="24335"/>
                  </a:lnTo>
                  <a:lnTo>
                    <a:pt x="83436" y="9474"/>
                  </a:lnTo>
                  <a:lnTo>
                    <a:pt x="65039" y="890"/>
                  </a:lnTo>
                  <a:lnTo>
                    <a:pt x="44030" y="0"/>
                  </a:lnTo>
                  <a:close/>
                </a:path>
              </a:pathLst>
            </a:custGeom>
            <a:solidFill>
              <a:srgbClr val="8FD2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84477" y="3993353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603" y="44054"/>
                  </a:moveTo>
                  <a:lnTo>
                    <a:pt x="103712" y="65074"/>
                  </a:lnTo>
                  <a:lnTo>
                    <a:pt x="95132" y="83482"/>
                  </a:lnTo>
                  <a:lnTo>
                    <a:pt x="80280" y="97328"/>
                  </a:lnTo>
                  <a:lnTo>
                    <a:pt x="60572" y="104663"/>
                  </a:lnTo>
                  <a:lnTo>
                    <a:pt x="39564" y="103772"/>
                  </a:lnTo>
                  <a:lnTo>
                    <a:pt x="21167" y="95188"/>
                  </a:lnTo>
                  <a:lnTo>
                    <a:pt x="7329" y="80328"/>
                  </a:lnTo>
                  <a:lnTo>
                    <a:pt x="0" y="60608"/>
                  </a:lnTo>
                  <a:lnTo>
                    <a:pt x="890" y="39588"/>
                  </a:lnTo>
                  <a:lnTo>
                    <a:pt x="9470" y="21180"/>
                  </a:lnTo>
                  <a:lnTo>
                    <a:pt x="24322" y="7334"/>
                  </a:lnTo>
                  <a:lnTo>
                    <a:pt x="44031" y="0"/>
                  </a:lnTo>
                  <a:lnTo>
                    <a:pt x="65039" y="890"/>
                  </a:lnTo>
                  <a:lnTo>
                    <a:pt x="83436" y="9474"/>
                  </a:lnTo>
                  <a:lnTo>
                    <a:pt x="97274" y="24335"/>
                  </a:lnTo>
                  <a:lnTo>
                    <a:pt x="104603" y="44054"/>
                  </a:lnTo>
                  <a:close/>
                </a:path>
              </a:pathLst>
            </a:custGeom>
            <a:ln w="10838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289895" y="3833049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44030" y="0"/>
                  </a:moveTo>
                  <a:lnTo>
                    <a:pt x="24322" y="7334"/>
                  </a:lnTo>
                  <a:lnTo>
                    <a:pt x="9470" y="21180"/>
                  </a:lnTo>
                  <a:lnTo>
                    <a:pt x="890" y="39588"/>
                  </a:lnTo>
                  <a:lnTo>
                    <a:pt x="0" y="60608"/>
                  </a:lnTo>
                  <a:lnTo>
                    <a:pt x="7329" y="80327"/>
                  </a:lnTo>
                  <a:lnTo>
                    <a:pt x="21167" y="95188"/>
                  </a:lnTo>
                  <a:lnTo>
                    <a:pt x="39564" y="103772"/>
                  </a:lnTo>
                  <a:lnTo>
                    <a:pt x="60572" y="104663"/>
                  </a:lnTo>
                  <a:lnTo>
                    <a:pt x="80280" y="97328"/>
                  </a:lnTo>
                  <a:lnTo>
                    <a:pt x="95133" y="83482"/>
                  </a:lnTo>
                  <a:lnTo>
                    <a:pt x="103712" y="65074"/>
                  </a:lnTo>
                  <a:lnTo>
                    <a:pt x="104603" y="44053"/>
                  </a:lnTo>
                  <a:lnTo>
                    <a:pt x="97273" y="24334"/>
                  </a:lnTo>
                  <a:lnTo>
                    <a:pt x="83436" y="9474"/>
                  </a:lnTo>
                  <a:lnTo>
                    <a:pt x="65039" y="890"/>
                  </a:lnTo>
                  <a:lnTo>
                    <a:pt x="44030" y="0"/>
                  </a:lnTo>
                  <a:close/>
                </a:path>
              </a:pathLst>
            </a:custGeom>
            <a:solidFill>
              <a:srgbClr val="E9EA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289895" y="383304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603" y="44054"/>
                  </a:moveTo>
                  <a:lnTo>
                    <a:pt x="103712" y="65074"/>
                  </a:lnTo>
                  <a:lnTo>
                    <a:pt x="95132" y="83482"/>
                  </a:lnTo>
                  <a:lnTo>
                    <a:pt x="80280" y="97328"/>
                  </a:lnTo>
                  <a:lnTo>
                    <a:pt x="60572" y="104663"/>
                  </a:lnTo>
                  <a:lnTo>
                    <a:pt x="39564" y="103772"/>
                  </a:lnTo>
                  <a:lnTo>
                    <a:pt x="21167" y="95188"/>
                  </a:lnTo>
                  <a:lnTo>
                    <a:pt x="7329" y="80328"/>
                  </a:lnTo>
                  <a:lnTo>
                    <a:pt x="0" y="60608"/>
                  </a:lnTo>
                  <a:lnTo>
                    <a:pt x="890" y="39588"/>
                  </a:lnTo>
                  <a:lnTo>
                    <a:pt x="9470" y="21180"/>
                  </a:lnTo>
                  <a:lnTo>
                    <a:pt x="24322" y="7334"/>
                  </a:lnTo>
                  <a:lnTo>
                    <a:pt x="44031" y="0"/>
                  </a:lnTo>
                  <a:lnTo>
                    <a:pt x="65039" y="890"/>
                  </a:lnTo>
                  <a:lnTo>
                    <a:pt x="83436" y="9474"/>
                  </a:lnTo>
                  <a:lnTo>
                    <a:pt x="97274" y="24335"/>
                  </a:lnTo>
                  <a:lnTo>
                    <a:pt x="104603" y="44054"/>
                  </a:lnTo>
                  <a:close/>
                </a:path>
              </a:pathLst>
            </a:custGeom>
            <a:ln w="10838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396533" y="37294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44030" y="0"/>
                  </a:moveTo>
                  <a:lnTo>
                    <a:pt x="24323" y="7334"/>
                  </a:lnTo>
                  <a:lnTo>
                    <a:pt x="9471" y="21180"/>
                  </a:lnTo>
                  <a:lnTo>
                    <a:pt x="891" y="39588"/>
                  </a:lnTo>
                  <a:lnTo>
                    <a:pt x="0" y="60609"/>
                  </a:lnTo>
                  <a:lnTo>
                    <a:pt x="7329" y="80328"/>
                  </a:lnTo>
                  <a:lnTo>
                    <a:pt x="21167" y="95188"/>
                  </a:lnTo>
                  <a:lnTo>
                    <a:pt x="39564" y="103772"/>
                  </a:lnTo>
                  <a:lnTo>
                    <a:pt x="60572" y="104663"/>
                  </a:lnTo>
                  <a:lnTo>
                    <a:pt x="80280" y="97329"/>
                  </a:lnTo>
                  <a:lnTo>
                    <a:pt x="95133" y="83483"/>
                  </a:lnTo>
                  <a:lnTo>
                    <a:pt x="103712" y="65075"/>
                  </a:lnTo>
                  <a:lnTo>
                    <a:pt x="104603" y="44055"/>
                  </a:lnTo>
                  <a:lnTo>
                    <a:pt x="97273" y="24335"/>
                  </a:lnTo>
                  <a:lnTo>
                    <a:pt x="83436" y="9475"/>
                  </a:lnTo>
                  <a:lnTo>
                    <a:pt x="65039" y="891"/>
                  </a:lnTo>
                  <a:lnTo>
                    <a:pt x="440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396533" y="372945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603" y="44054"/>
                  </a:moveTo>
                  <a:lnTo>
                    <a:pt x="103712" y="65074"/>
                  </a:lnTo>
                  <a:lnTo>
                    <a:pt x="95132" y="83482"/>
                  </a:lnTo>
                  <a:lnTo>
                    <a:pt x="80280" y="97328"/>
                  </a:lnTo>
                  <a:lnTo>
                    <a:pt x="60572" y="104663"/>
                  </a:lnTo>
                  <a:lnTo>
                    <a:pt x="39564" y="103772"/>
                  </a:lnTo>
                  <a:lnTo>
                    <a:pt x="21167" y="95188"/>
                  </a:lnTo>
                  <a:lnTo>
                    <a:pt x="7329" y="80328"/>
                  </a:lnTo>
                  <a:lnTo>
                    <a:pt x="0" y="60608"/>
                  </a:lnTo>
                  <a:lnTo>
                    <a:pt x="890" y="39588"/>
                  </a:lnTo>
                  <a:lnTo>
                    <a:pt x="9470" y="21180"/>
                  </a:lnTo>
                  <a:lnTo>
                    <a:pt x="24322" y="7334"/>
                  </a:lnTo>
                  <a:lnTo>
                    <a:pt x="44031" y="0"/>
                  </a:lnTo>
                  <a:lnTo>
                    <a:pt x="65039" y="890"/>
                  </a:lnTo>
                  <a:lnTo>
                    <a:pt x="83436" y="9474"/>
                  </a:lnTo>
                  <a:lnTo>
                    <a:pt x="97274" y="24335"/>
                  </a:lnTo>
                  <a:lnTo>
                    <a:pt x="104603" y="44054"/>
                  </a:lnTo>
                  <a:close/>
                </a:path>
              </a:pathLst>
            </a:custGeom>
            <a:ln w="10838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485705" y="3934280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4">
                  <a:moveTo>
                    <a:pt x="54062" y="0"/>
                  </a:moveTo>
                  <a:lnTo>
                    <a:pt x="29864" y="9005"/>
                  </a:lnTo>
                  <a:lnTo>
                    <a:pt x="11628" y="26006"/>
                  </a:lnTo>
                  <a:lnTo>
                    <a:pt x="1093" y="48608"/>
                  </a:lnTo>
                  <a:lnTo>
                    <a:pt x="0" y="74418"/>
                  </a:lnTo>
                  <a:lnTo>
                    <a:pt x="8999" y="98630"/>
                  </a:lnTo>
                  <a:lnTo>
                    <a:pt x="25989" y="116877"/>
                  </a:lnTo>
                  <a:lnTo>
                    <a:pt x="48578" y="127417"/>
                  </a:lnTo>
                  <a:lnTo>
                    <a:pt x="74373" y="128511"/>
                  </a:lnTo>
                  <a:lnTo>
                    <a:pt x="98571" y="119505"/>
                  </a:lnTo>
                  <a:lnTo>
                    <a:pt x="116807" y="102504"/>
                  </a:lnTo>
                  <a:lnTo>
                    <a:pt x="127342" y="79902"/>
                  </a:lnTo>
                  <a:lnTo>
                    <a:pt x="128436" y="54093"/>
                  </a:lnTo>
                  <a:lnTo>
                    <a:pt x="119437" y="29880"/>
                  </a:lnTo>
                  <a:lnTo>
                    <a:pt x="102446" y="11634"/>
                  </a:lnTo>
                  <a:lnTo>
                    <a:pt x="79857" y="1093"/>
                  </a:lnTo>
                  <a:lnTo>
                    <a:pt x="54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485704" y="3934280"/>
              <a:ext cx="128905" cy="128905"/>
            </a:xfrm>
            <a:custGeom>
              <a:avLst/>
              <a:gdLst/>
              <a:ahLst/>
              <a:cxnLst/>
              <a:rect l="l" t="t" r="r" b="b"/>
              <a:pathLst>
                <a:path w="128904" h="128904">
                  <a:moveTo>
                    <a:pt x="128437" y="54092"/>
                  </a:moveTo>
                  <a:lnTo>
                    <a:pt x="127343" y="79902"/>
                  </a:lnTo>
                  <a:lnTo>
                    <a:pt x="116808" y="102504"/>
                  </a:lnTo>
                  <a:lnTo>
                    <a:pt x="98572" y="119505"/>
                  </a:lnTo>
                  <a:lnTo>
                    <a:pt x="74373" y="128510"/>
                  </a:lnTo>
                  <a:lnTo>
                    <a:pt x="48578" y="127417"/>
                  </a:lnTo>
                  <a:lnTo>
                    <a:pt x="25989" y="116877"/>
                  </a:lnTo>
                  <a:lnTo>
                    <a:pt x="8999" y="98630"/>
                  </a:lnTo>
                  <a:lnTo>
                    <a:pt x="0" y="74418"/>
                  </a:lnTo>
                  <a:lnTo>
                    <a:pt x="1093" y="48608"/>
                  </a:lnTo>
                  <a:lnTo>
                    <a:pt x="11628" y="26006"/>
                  </a:lnTo>
                  <a:lnTo>
                    <a:pt x="29864" y="9005"/>
                  </a:lnTo>
                  <a:lnTo>
                    <a:pt x="54063" y="0"/>
                  </a:lnTo>
                  <a:lnTo>
                    <a:pt x="79858" y="1093"/>
                  </a:lnTo>
                  <a:lnTo>
                    <a:pt x="102447" y="11633"/>
                  </a:lnTo>
                  <a:lnTo>
                    <a:pt x="119437" y="29879"/>
                  </a:lnTo>
                  <a:lnTo>
                    <a:pt x="128437" y="54092"/>
                  </a:lnTo>
                  <a:close/>
                </a:path>
              </a:pathLst>
            </a:custGeom>
            <a:ln w="10838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966114" y="3742439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44030" y="0"/>
                  </a:moveTo>
                  <a:lnTo>
                    <a:pt x="24322" y="7334"/>
                  </a:lnTo>
                  <a:lnTo>
                    <a:pt x="9470" y="21180"/>
                  </a:lnTo>
                  <a:lnTo>
                    <a:pt x="890" y="39588"/>
                  </a:lnTo>
                  <a:lnTo>
                    <a:pt x="0" y="60609"/>
                  </a:lnTo>
                  <a:lnTo>
                    <a:pt x="7329" y="80328"/>
                  </a:lnTo>
                  <a:lnTo>
                    <a:pt x="21166" y="95188"/>
                  </a:lnTo>
                  <a:lnTo>
                    <a:pt x="39564" y="103772"/>
                  </a:lnTo>
                  <a:lnTo>
                    <a:pt x="60572" y="104663"/>
                  </a:lnTo>
                  <a:lnTo>
                    <a:pt x="80280" y="97329"/>
                  </a:lnTo>
                  <a:lnTo>
                    <a:pt x="95132" y="83483"/>
                  </a:lnTo>
                  <a:lnTo>
                    <a:pt x="103712" y="65075"/>
                  </a:lnTo>
                  <a:lnTo>
                    <a:pt x="104603" y="44055"/>
                  </a:lnTo>
                  <a:lnTo>
                    <a:pt x="97273" y="24335"/>
                  </a:lnTo>
                  <a:lnTo>
                    <a:pt x="83435" y="9474"/>
                  </a:lnTo>
                  <a:lnTo>
                    <a:pt x="65038" y="890"/>
                  </a:lnTo>
                  <a:lnTo>
                    <a:pt x="44030" y="0"/>
                  </a:lnTo>
                  <a:close/>
                </a:path>
              </a:pathLst>
            </a:custGeom>
            <a:solidFill>
              <a:srgbClr val="59A6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966114" y="374244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603" y="44054"/>
                  </a:moveTo>
                  <a:lnTo>
                    <a:pt x="103712" y="65074"/>
                  </a:lnTo>
                  <a:lnTo>
                    <a:pt x="95132" y="83482"/>
                  </a:lnTo>
                  <a:lnTo>
                    <a:pt x="80280" y="97328"/>
                  </a:lnTo>
                  <a:lnTo>
                    <a:pt x="60572" y="104663"/>
                  </a:lnTo>
                  <a:lnTo>
                    <a:pt x="39564" y="103772"/>
                  </a:lnTo>
                  <a:lnTo>
                    <a:pt x="21167" y="95188"/>
                  </a:lnTo>
                  <a:lnTo>
                    <a:pt x="7329" y="80328"/>
                  </a:lnTo>
                  <a:lnTo>
                    <a:pt x="0" y="60608"/>
                  </a:lnTo>
                  <a:lnTo>
                    <a:pt x="890" y="39588"/>
                  </a:lnTo>
                  <a:lnTo>
                    <a:pt x="9470" y="21180"/>
                  </a:lnTo>
                  <a:lnTo>
                    <a:pt x="24322" y="7334"/>
                  </a:lnTo>
                  <a:lnTo>
                    <a:pt x="44031" y="0"/>
                  </a:lnTo>
                  <a:lnTo>
                    <a:pt x="65039" y="890"/>
                  </a:lnTo>
                  <a:lnTo>
                    <a:pt x="83436" y="9474"/>
                  </a:lnTo>
                  <a:lnTo>
                    <a:pt x="97274" y="24335"/>
                  </a:lnTo>
                  <a:lnTo>
                    <a:pt x="104603" y="44054"/>
                  </a:lnTo>
                  <a:close/>
                </a:path>
              </a:pathLst>
            </a:custGeom>
            <a:ln w="10838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454104" y="4051133"/>
              <a:ext cx="57785" cy="72390"/>
            </a:xfrm>
            <a:custGeom>
              <a:avLst/>
              <a:gdLst/>
              <a:ahLst/>
              <a:cxnLst/>
              <a:rect l="l" t="t" r="r" b="b"/>
              <a:pathLst>
                <a:path w="57785" h="72389">
                  <a:moveTo>
                    <a:pt x="0" y="72329"/>
                  </a:moveTo>
                  <a:lnTo>
                    <a:pt x="57687" y="0"/>
                  </a:lnTo>
                </a:path>
              </a:pathLst>
            </a:custGeom>
            <a:ln w="10837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389078" y="4008700"/>
              <a:ext cx="97155" cy="29209"/>
            </a:xfrm>
            <a:custGeom>
              <a:avLst/>
              <a:gdLst/>
              <a:ahLst/>
              <a:cxnLst/>
              <a:rect l="l" t="t" r="r" b="b"/>
              <a:pathLst>
                <a:path w="97154" h="29210">
                  <a:moveTo>
                    <a:pt x="96696" y="0"/>
                  </a:moveTo>
                  <a:lnTo>
                    <a:pt x="0" y="28834"/>
                  </a:lnTo>
                </a:path>
              </a:pathLst>
            </a:custGeom>
            <a:ln w="10841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385071" y="3916531"/>
              <a:ext cx="112395" cy="43815"/>
            </a:xfrm>
            <a:custGeom>
              <a:avLst/>
              <a:gdLst/>
              <a:ahLst/>
              <a:cxnLst/>
              <a:rect l="l" t="t" r="r" b="b"/>
              <a:pathLst>
                <a:path w="112395" h="43814">
                  <a:moveTo>
                    <a:pt x="0" y="0"/>
                  </a:moveTo>
                  <a:lnTo>
                    <a:pt x="112290" y="43773"/>
                  </a:lnTo>
                </a:path>
              </a:pathLst>
            </a:custGeom>
            <a:ln w="10841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5614122" y="3913010"/>
              <a:ext cx="133350" cy="75565"/>
            </a:xfrm>
            <a:custGeom>
              <a:avLst/>
              <a:gdLst/>
              <a:ahLst/>
              <a:cxnLst/>
              <a:rect l="l" t="t" r="r" b="b"/>
              <a:pathLst>
                <a:path w="133350" h="75564">
                  <a:moveTo>
                    <a:pt x="0" y="75362"/>
                  </a:moveTo>
                  <a:lnTo>
                    <a:pt x="133006" y="0"/>
                  </a:lnTo>
                </a:path>
              </a:pathLst>
            </a:custGeom>
            <a:ln w="10840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750999" y="3803049"/>
              <a:ext cx="215265" cy="135890"/>
            </a:xfrm>
            <a:custGeom>
              <a:avLst/>
              <a:gdLst/>
              <a:ahLst/>
              <a:cxnLst/>
              <a:rect l="l" t="t" r="r" b="b"/>
              <a:pathLst>
                <a:path w="215264" h="135889">
                  <a:moveTo>
                    <a:pt x="215102" y="0"/>
                  </a:moveTo>
                  <a:lnTo>
                    <a:pt x="0" y="135454"/>
                  </a:lnTo>
                </a:path>
              </a:pathLst>
            </a:custGeom>
            <a:ln w="10839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802779" y="3766238"/>
              <a:ext cx="635" cy="72390"/>
            </a:xfrm>
            <a:custGeom>
              <a:avLst/>
              <a:gdLst/>
              <a:ahLst/>
              <a:cxnLst/>
              <a:rect l="l" t="t" r="r" b="b"/>
              <a:pathLst>
                <a:path w="635" h="72389">
                  <a:moveTo>
                    <a:pt x="0" y="0"/>
                  </a:moveTo>
                  <a:lnTo>
                    <a:pt x="306" y="72392"/>
                  </a:lnTo>
                </a:path>
              </a:pathLst>
            </a:custGeom>
            <a:ln w="10834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564798" y="3777001"/>
              <a:ext cx="299720" cy="164465"/>
            </a:xfrm>
            <a:custGeom>
              <a:avLst/>
              <a:gdLst/>
              <a:ahLst/>
              <a:cxnLst/>
              <a:rect l="l" t="t" r="r" b="b"/>
              <a:pathLst>
                <a:path w="299720" h="164464">
                  <a:moveTo>
                    <a:pt x="299238" y="163956"/>
                  </a:moveTo>
                  <a:lnTo>
                    <a:pt x="0" y="0"/>
                  </a:lnTo>
                </a:path>
              </a:pathLst>
            </a:custGeom>
            <a:ln w="10840">
              <a:solidFill>
                <a:srgbClr val="93939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00437" y="3745443"/>
              <a:ext cx="186738" cy="139349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41828" y="3833033"/>
              <a:ext cx="139275" cy="139349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11602" y="3126135"/>
              <a:ext cx="1834802" cy="896558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55668" y="3956817"/>
              <a:ext cx="569976" cy="569976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3598195" y="4964092"/>
              <a:ext cx="577850" cy="342900"/>
            </a:xfrm>
            <a:custGeom>
              <a:avLst/>
              <a:gdLst/>
              <a:ahLst/>
              <a:cxnLst/>
              <a:rect l="l" t="t" r="r" b="b"/>
              <a:pathLst>
                <a:path w="577850" h="342900">
                  <a:moveTo>
                    <a:pt x="60092" y="251766"/>
                  </a:moveTo>
                  <a:lnTo>
                    <a:pt x="0" y="342792"/>
                  </a:lnTo>
                  <a:lnTo>
                    <a:pt x="108827" y="336283"/>
                  </a:lnTo>
                  <a:lnTo>
                    <a:pt x="97269" y="316238"/>
                  </a:lnTo>
                  <a:lnTo>
                    <a:pt x="78506" y="316238"/>
                  </a:lnTo>
                  <a:lnTo>
                    <a:pt x="62261" y="288066"/>
                  </a:lnTo>
                  <a:lnTo>
                    <a:pt x="76337" y="279938"/>
                  </a:lnTo>
                  <a:lnTo>
                    <a:pt x="60092" y="251766"/>
                  </a:lnTo>
                  <a:close/>
                </a:path>
                <a:path w="577850" h="342900">
                  <a:moveTo>
                    <a:pt x="76337" y="279938"/>
                  </a:moveTo>
                  <a:lnTo>
                    <a:pt x="62261" y="288066"/>
                  </a:lnTo>
                  <a:lnTo>
                    <a:pt x="78506" y="316238"/>
                  </a:lnTo>
                  <a:lnTo>
                    <a:pt x="92582" y="308111"/>
                  </a:lnTo>
                  <a:lnTo>
                    <a:pt x="76337" y="279938"/>
                  </a:lnTo>
                  <a:close/>
                </a:path>
                <a:path w="577850" h="342900">
                  <a:moveTo>
                    <a:pt x="92582" y="308111"/>
                  </a:moveTo>
                  <a:lnTo>
                    <a:pt x="78506" y="316238"/>
                  </a:lnTo>
                  <a:lnTo>
                    <a:pt x="97269" y="316238"/>
                  </a:lnTo>
                  <a:lnTo>
                    <a:pt x="92582" y="308111"/>
                  </a:lnTo>
                  <a:close/>
                </a:path>
                <a:path w="577850" h="342900">
                  <a:moveTo>
                    <a:pt x="561158" y="0"/>
                  </a:moveTo>
                  <a:lnTo>
                    <a:pt x="76337" y="279938"/>
                  </a:lnTo>
                  <a:lnTo>
                    <a:pt x="92582" y="308111"/>
                  </a:lnTo>
                  <a:lnTo>
                    <a:pt x="577402" y="28172"/>
                  </a:lnTo>
                  <a:lnTo>
                    <a:pt x="561158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 txBox="1"/>
          <p:nvPr/>
        </p:nvSpPr>
        <p:spPr>
          <a:xfrm>
            <a:off x="1699201" y="3071252"/>
            <a:ext cx="16713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Computational</a:t>
            </a:r>
            <a:r>
              <a:rPr dirty="0" sz="1400" spc="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Graph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  <p:sp>
        <p:nvSpPr>
          <p:cNvPr id="41" name="object 41" descr=""/>
          <p:cNvSpPr txBox="1"/>
          <p:nvPr/>
        </p:nvSpPr>
        <p:spPr>
          <a:xfrm>
            <a:off x="1779560" y="5854076"/>
            <a:ext cx="151003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Native</a:t>
            </a:r>
            <a:r>
              <a:rPr dirty="0" sz="1400" spc="-8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Graph</a:t>
            </a:r>
            <a:r>
              <a:rPr dirty="0" sz="1400" spc="-7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Store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00" y="850905"/>
            <a:ext cx="10401300" cy="5854700"/>
          </a:xfrm>
          <a:custGeom>
            <a:avLst/>
            <a:gdLst/>
            <a:ahLst/>
            <a:cxnLst/>
            <a:rect l="l" t="t" r="r" b="b"/>
            <a:pathLst>
              <a:path w="10401300" h="5854700">
                <a:moveTo>
                  <a:pt x="10401300" y="0"/>
                </a:moveTo>
                <a:lnTo>
                  <a:pt x="0" y="0"/>
                </a:lnTo>
                <a:lnTo>
                  <a:pt x="0" y="5854700"/>
                </a:lnTo>
                <a:lnTo>
                  <a:pt x="10401300" y="5854700"/>
                </a:lnTo>
                <a:lnTo>
                  <a:pt x="10401300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166108" y="850905"/>
            <a:ext cx="6373495" cy="5854700"/>
            <a:chOff x="4166108" y="850905"/>
            <a:chExt cx="6373495" cy="5854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6108" y="850905"/>
              <a:ext cx="6373368" cy="58547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6996" y="6346449"/>
              <a:ext cx="627888" cy="2377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461841" y="2984151"/>
            <a:ext cx="7651750" cy="12725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91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Right,</a:t>
            </a:r>
            <a:r>
              <a:rPr dirty="0" sz="4100" spc="-30">
                <a:solidFill>
                  <a:srgbClr val="FFFFFF"/>
                </a:solidFill>
              </a:rPr>
              <a:t> </a:t>
            </a:r>
            <a:r>
              <a:rPr dirty="0" sz="4100">
                <a:solidFill>
                  <a:srgbClr val="FFFFFF"/>
                </a:solidFill>
              </a:rPr>
              <a:t>so</a:t>
            </a:r>
            <a:r>
              <a:rPr dirty="0" sz="4100" spc="-20">
                <a:solidFill>
                  <a:srgbClr val="FFFFFF"/>
                </a:solidFill>
              </a:rPr>
              <a:t> </a:t>
            </a:r>
            <a:r>
              <a:rPr dirty="0" sz="4100">
                <a:solidFill>
                  <a:srgbClr val="FFFFFF"/>
                </a:solidFill>
              </a:rPr>
              <a:t>how</a:t>
            </a:r>
            <a:r>
              <a:rPr dirty="0" sz="4100" spc="-20">
                <a:solidFill>
                  <a:srgbClr val="FFFFFF"/>
                </a:solidFill>
              </a:rPr>
              <a:t> </a:t>
            </a:r>
            <a:r>
              <a:rPr dirty="0" sz="4100">
                <a:solidFill>
                  <a:srgbClr val="FFFFFF"/>
                </a:solidFill>
              </a:rPr>
              <a:t>will</a:t>
            </a:r>
            <a:r>
              <a:rPr dirty="0" sz="4100" spc="-20">
                <a:solidFill>
                  <a:srgbClr val="FFFFFF"/>
                </a:solidFill>
              </a:rPr>
              <a:t> </a:t>
            </a:r>
            <a:r>
              <a:rPr dirty="0" sz="4100">
                <a:solidFill>
                  <a:srgbClr val="FFFFFF"/>
                </a:solidFill>
              </a:rPr>
              <a:t>this</a:t>
            </a:r>
            <a:r>
              <a:rPr dirty="0" sz="4100" spc="-20">
                <a:solidFill>
                  <a:srgbClr val="FFFFFF"/>
                </a:solidFill>
              </a:rPr>
              <a:t> </a:t>
            </a:r>
            <a:r>
              <a:rPr dirty="0" sz="4100" spc="-10">
                <a:solidFill>
                  <a:srgbClr val="FFFFFF"/>
                </a:solidFill>
              </a:rPr>
              <a:t>improve</a:t>
            </a:r>
            <a:endParaRPr sz="4100"/>
          </a:p>
          <a:p>
            <a:pPr marL="142240">
              <a:lnSpc>
                <a:spcPts val="4910"/>
              </a:lnSpc>
            </a:pPr>
            <a:r>
              <a:rPr dirty="0" sz="4100" i="1">
                <a:solidFill>
                  <a:srgbClr val="FFFFFF"/>
                </a:solidFill>
                <a:latin typeface="Arial"/>
                <a:cs typeface="Arial"/>
              </a:rPr>
              <a:t>my</a:t>
            </a:r>
            <a:r>
              <a:rPr dirty="0" sz="4100" spc="-40" i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100">
                <a:solidFill>
                  <a:srgbClr val="FFFFFF"/>
                </a:solidFill>
              </a:rPr>
              <a:t>machine</a:t>
            </a:r>
            <a:r>
              <a:rPr dirty="0" sz="4100" spc="-40">
                <a:solidFill>
                  <a:srgbClr val="FFFFFF"/>
                </a:solidFill>
              </a:rPr>
              <a:t> </a:t>
            </a:r>
            <a:r>
              <a:rPr dirty="0" sz="4100">
                <a:solidFill>
                  <a:srgbClr val="FFFFFF"/>
                </a:solidFill>
              </a:rPr>
              <a:t>learning</a:t>
            </a:r>
            <a:r>
              <a:rPr dirty="0" sz="4100" spc="-30">
                <a:solidFill>
                  <a:srgbClr val="FFFFFF"/>
                </a:solidFill>
              </a:rPr>
              <a:t> </a:t>
            </a:r>
            <a:r>
              <a:rPr dirty="0" sz="4100" spc="-10">
                <a:solidFill>
                  <a:srgbClr val="FFFFFF"/>
                </a:solidFill>
              </a:rPr>
              <a:t>project?</a:t>
            </a:r>
            <a:endParaRPr sz="41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4485" y="1026922"/>
            <a:ext cx="6404610" cy="4832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018BFF"/>
                </a:solidFill>
              </a:rPr>
              <a:t>Neo4j’s</a:t>
            </a:r>
            <a:r>
              <a:rPr dirty="0" sz="3000" spc="-170">
                <a:solidFill>
                  <a:srgbClr val="018BFF"/>
                </a:solidFill>
              </a:rPr>
              <a:t> </a:t>
            </a:r>
            <a:r>
              <a:rPr dirty="0" sz="3000">
                <a:solidFill>
                  <a:srgbClr val="018BFF"/>
                </a:solidFill>
              </a:rPr>
              <a:t>Graph</a:t>
            </a:r>
            <a:r>
              <a:rPr dirty="0" sz="3000" spc="-180">
                <a:solidFill>
                  <a:srgbClr val="018BFF"/>
                </a:solidFill>
              </a:rPr>
              <a:t> </a:t>
            </a:r>
            <a:r>
              <a:rPr dirty="0" sz="3000">
                <a:solidFill>
                  <a:srgbClr val="018BFF"/>
                </a:solidFill>
              </a:rPr>
              <a:t>Data</a:t>
            </a:r>
            <a:r>
              <a:rPr dirty="0" sz="3000" spc="-170">
                <a:solidFill>
                  <a:srgbClr val="018BFF"/>
                </a:solidFill>
              </a:rPr>
              <a:t> </a:t>
            </a:r>
            <a:r>
              <a:rPr dirty="0" sz="3000">
                <a:solidFill>
                  <a:srgbClr val="018BFF"/>
                </a:solidFill>
              </a:rPr>
              <a:t>Science</a:t>
            </a:r>
            <a:r>
              <a:rPr dirty="0" sz="3000" spc="-170">
                <a:solidFill>
                  <a:srgbClr val="018BFF"/>
                </a:solidFill>
              </a:rPr>
              <a:t> </a:t>
            </a:r>
            <a:r>
              <a:rPr dirty="0" sz="3000" spc="-10">
                <a:solidFill>
                  <a:srgbClr val="018BFF"/>
                </a:solidFill>
              </a:rPr>
              <a:t>Library</a:t>
            </a:r>
            <a:endParaRPr sz="3000"/>
          </a:p>
        </p:txBody>
      </p:sp>
      <p:sp>
        <p:nvSpPr>
          <p:cNvPr id="3" name="object 3" descr=""/>
          <p:cNvSpPr txBox="1"/>
          <p:nvPr/>
        </p:nvSpPr>
        <p:spPr>
          <a:xfrm>
            <a:off x="1166607" y="2635336"/>
            <a:ext cx="40233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Unsupervised</a:t>
            </a:r>
            <a:r>
              <a:rPr dirty="0" sz="2000" spc="13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B0B66"/>
                </a:solidFill>
                <a:latin typeface="Arial"/>
                <a:cs typeface="Arial"/>
              </a:rPr>
              <a:t>Graph</a:t>
            </a:r>
            <a:r>
              <a:rPr dirty="0" sz="2000" spc="130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0B0B66"/>
                </a:solidFill>
                <a:latin typeface="Arial"/>
                <a:cs typeface="Arial"/>
              </a:rPr>
              <a:t>Algorithms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3180114" y="1764367"/>
            <a:ext cx="2669540" cy="921385"/>
          </a:xfrm>
          <a:custGeom>
            <a:avLst/>
            <a:gdLst/>
            <a:ahLst/>
            <a:cxnLst/>
            <a:rect l="l" t="t" r="r" b="b"/>
            <a:pathLst>
              <a:path w="2669540" h="921385">
                <a:moveTo>
                  <a:pt x="2669196" y="0"/>
                </a:moveTo>
                <a:lnTo>
                  <a:pt x="2661042" y="43929"/>
                </a:lnTo>
                <a:lnTo>
                  <a:pt x="2637299" y="87492"/>
                </a:lnTo>
                <a:lnTo>
                  <a:pt x="2599041" y="130323"/>
                </a:lnTo>
                <a:lnTo>
                  <a:pt x="2547343" y="172056"/>
                </a:lnTo>
                <a:lnTo>
                  <a:pt x="2483281" y="212323"/>
                </a:lnTo>
                <a:lnTo>
                  <a:pt x="2446949" y="231793"/>
                </a:lnTo>
                <a:lnTo>
                  <a:pt x="2407930" y="250760"/>
                </a:lnTo>
                <a:lnTo>
                  <a:pt x="2366356" y="269177"/>
                </a:lnTo>
                <a:lnTo>
                  <a:pt x="2322364" y="286999"/>
                </a:lnTo>
                <a:lnTo>
                  <a:pt x="2276087" y="304180"/>
                </a:lnTo>
                <a:lnTo>
                  <a:pt x="2227660" y="320675"/>
                </a:lnTo>
                <a:lnTo>
                  <a:pt x="2177216" y="336437"/>
                </a:lnTo>
                <a:lnTo>
                  <a:pt x="2124891" y="351421"/>
                </a:lnTo>
                <a:lnTo>
                  <a:pt x="2070819" y="365581"/>
                </a:lnTo>
                <a:lnTo>
                  <a:pt x="2015135" y="378872"/>
                </a:lnTo>
                <a:lnTo>
                  <a:pt x="1957971" y="391246"/>
                </a:lnTo>
                <a:lnTo>
                  <a:pt x="1899464" y="402660"/>
                </a:lnTo>
                <a:lnTo>
                  <a:pt x="1839748" y="413066"/>
                </a:lnTo>
                <a:lnTo>
                  <a:pt x="1778956" y="422420"/>
                </a:lnTo>
                <a:lnTo>
                  <a:pt x="1717223" y="430675"/>
                </a:lnTo>
                <a:lnTo>
                  <a:pt x="1654684" y="437786"/>
                </a:lnTo>
                <a:lnTo>
                  <a:pt x="1591473" y="443706"/>
                </a:lnTo>
                <a:lnTo>
                  <a:pt x="1527725" y="448390"/>
                </a:lnTo>
                <a:lnTo>
                  <a:pt x="1463573" y="451793"/>
                </a:lnTo>
                <a:lnTo>
                  <a:pt x="1399152" y="453868"/>
                </a:lnTo>
                <a:lnTo>
                  <a:pt x="1334598" y="454570"/>
                </a:lnTo>
                <a:lnTo>
                  <a:pt x="1270043" y="455272"/>
                </a:lnTo>
                <a:lnTo>
                  <a:pt x="1205622" y="457348"/>
                </a:lnTo>
                <a:lnTo>
                  <a:pt x="1141470" y="460751"/>
                </a:lnTo>
                <a:lnTo>
                  <a:pt x="1077722" y="465436"/>
                </a:lnTo>
                <a:lnTo>
                  <a:pt x="1014511" y="471357"/>
                </a:lnTo>
                <a:lnTo>
                  <a:pt x="951972" y="478469"/>
                </a:lnTo>
                <a:lnTo>
                  <a:pt x="890239" y="486725"/>
                </a:lnTo>
                <a:lnTo>
                  <a:pt x="829448" y="496080"/>
                </a:lnTo>
                <a:lnTo>
                  <a:pt x="769731" y="506488"/>
                </a:lnTo>
                <a:lnTo>
                  <a:pt x="711224" y="517903"/>
                </a:lnTo>
                <a:lnTo>
                  <a:pt x="654061" y="530280"/>
                </a:lnTo>
                <a:lnTo>
                  <a:pt x="598376" y="543572"/>
                </a:lnTo>
                <a:lnTo>
                  <a:pt x="544304" y="557734"/>
                </a:lnTo>
                <a:lnTo>
                  <a:pt x="491979" y="572720"/>
                </a:lnTo>
                <a:lnTo>
                  <a:pt x="441536" y="588485"/>
                </a:lnTo>
                <a:lnTo>
                  <a:pt x="393108" y="604982"/>
                </a:lnTo>
                <a:lnTo>
                  <a:pt x="346831" y="622166"/>
                </a:lnTo>
                <a:lnTo>
                  <a:pt x="302839" y="639991"/>
                </a:lnTo>
                <a:lnTo>
                  <a:pt x="261266" y="658411"/>
                </a:lnTo>
                <a:lnTo>
                  <a:pt x="222246" y="677380"/>
                </a:lnTo>
                <a:lnTo>
                  <a:pt x="185914" y="696853"/>
                </a:lnTo>
                <a:lnTo>
                  <a:pt x="152405" y="716784"/>
                </a:lnTo>
                <a:lnTo>
                  <a:pt x="94390" y="757836"/>
                </a:lnTo>
                <a:lnTo>
                  <a:pt x="49278" y="800171"/>
                </a:lnTo>
                <a:lnTo>
                  <a:pt x="18143" y="843420"/>
                </a:lnTo>
                <a:lnTo>
                  <a:pt x="2060" y="887220"/>
                </a:lnTo>
                <a:lnTo>
                  <a:pt x="0" y="909211"/>
                </a:lnTo>
              </a:path>
              <a:path w="2669540" h="921385">
                <a:moveTo>
                  <a:pt x="2669196" y="0"/>
                </a:moveTo>
                <a:lnTo>
                  <a:pt x="2660772" y="49238"/>
                </a:lnTo>
                <a:lnTo>
                  <a:pt x="2636322" y="97974"/>
                </a:lnTo>
                <a:lnTo>
                  <a:pt x="2597079" y="145702"/>
                </a:lnTo>
                <a:lnTo>
                  <a:pt x="2544275" y="191921"/>
                </a:lnTo>
                <a:lnTo>
                  <a:pt x="2513173" y="214307"/>
                </a:lnTo>
                <a:lnTo>
                  <a:pt x="2479144" y="236127"/>
                </a:lnTo>
                <a:lnTo>
                  <a:pt x="2442341" y="257318"/>
                </a:lnTo>
                <a:lnTo>
                  <a:pt x="2402918" y="277816"/>
                </a:lnTo>
                <a:lnTo>
                  <a:pt x="2361029" y="297560"/>
                </a:lnTo>
                <a:lnTo>
                  <a:pt x="2316829" y="316486"/>
                </a:lnTo>
                <a:lnTo>
                  <a:pt x="2270472" y="334531"/>
                </a:lnTo>
                <a:lnTo>
                  <a:pt x="2222112" y="351632"/>
                </a:lnTo>
                <a:lnTo>
                  <a:pt x="2171902" y="367727"/>
                </a:lnTo>
                <a:lnTo>
                  <a:pt x="2119997" y="382753"/>
                </a:lnTo>
                <a:lnTo>
                  <a:pt x="2066552" y="396645"/>
                </a:lnTo>
                <a:lnTo>
                  <a:pt x="2011719" y="409343"/>
                </a:lnTo>
                <a:lnTo>
                  <a:pt x="1955654" y="420782"/>
                </a:lnTo>
                <a:lnTo>
                  <a:pt x="1898510" y="430901"/>
                </a:lnTo>
                <a:lnTo>
                  <a:pt x="1840441" y="439635"/>
                </a:lnTo>
                <a:lnTo>
                  <a:pt x="1781602" y="446922"/>
                </a:lnTo>
                <a:lnTo>
                  <a:pt x="1722147" y="452700"/>
                </a:lnTo>
                <a:lnTo>
                  <a:pt x="1662229" y="456904"/>
                </a:lnTo>
                <a:lnTo>
                  <a:pt x="1602004" y="459473"/>
                </a:lnTo>
                <a:lnTo>
                  <a:pt x="1541624" y="460343"/>
                </a:lnTo>
                <a:lnTo>
                  <a:pt x="1481244" y="461214"/>
                </a:lnTo>
                <a:lnTo>
                  <a:pt x="1421018" y="463783"/>
                </a:lnTo>
                <a:lnTo>
                  <a:pt x="1361100" y="467989"/>
                </a:lnTo>
                <a:lnTo>
                  <a:pt x="1301645" y="473768"/>
                </a:lnTo>
                <a:lnTo>
                  <a:pt x="1242806" y="481058"/>
                </a:lnTo>
                <a:lnTo>
                  <a:pt x="1184737" y="489794"/>
                </a:lnTo>
                <a:lnTo>
                  <a:pt x="1127593" y="499916"/>
                </a:lnTo>
                <a:lnTo>
                  <a:pt x="1071528" y="511358"/>
                </a:lnTo>
                <a:lnTo>
                  <a:pt x="1016696" y="524059"/>
                </a:lnTo>
                <a:lnTo>
                  <a:pt x="963250" y="537956"/>
                </a:lnTo>
                <a:lnTo>
                  <a:pt x="911345" y="552986"/>
                </a:lnTo>
                <a:lnTo>
                  <a:pt x="861136" y="569086"/>
                </a:lnTo>
                <a:lnTo>
                  <a:pt x="812775" y="586192"/>
                </a:lnTo>
                <a:lnTo>
                  <a:pt x="766418" y="604242"/>
                </a:lnTo>
                <a:lnTo>
                  <a:pt x="722218" y="623173"/>
                </a:lnTo>
                <a:lnTo>
                  <a:pt x="680330" y="642923"/>
                </a:lnTo>
                <a:lnTo>
                  <a:pt x="640907" y="663427"/>
                </a:lnTo>
                <a:lnTo>
                  <a:pt x="604104" y="684624"/>
                </a:lnTo>
                <a:lnTo>
                  <a:pt x="570074" y="706450"/>
                </a:lnTo>
                <a:lnTo>
                  <a:pt x="538972" y="728842"/>
                </a:lnTo>
                <a:lnTo>
                  <a:pt x="486169" y="775074"/>
                </a:lnTo>
                <a:lnTo>
                  <a:pt x="446926" y="822816"/>
                </a:lnTo>
                <a:lnTo>
                  <a:pt x="422476" y="871566"/>
                </a:lnTo>
                <a:lnTo>
                  <a:pt x="416183" y="896160"/>
                </a:lnTo>
                <a:lnTo>
                  <a:pt x="414052" y="920818"/>
                </a:lnTo>
              </a:path>
            </a:pathLst>
          </a:custGeom>
          <a:ln w="433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17399" y="3084593"/>
            <a:ext cx="1562735" cy="1760855"/>
          </a:xfrm>
          <a:custGeom>
            <a:avLst/>
            <a:gdLst/>
            <a:ahLst/>
            <a:cxnLst/>
            <a:rect l="l" t="t" r="r" b="b"/>
            <a:pathLst>
              <a:path w="1562735" h="1760854">
                <a:moveTo>
                  <a:pt x="1562713" y="0"/>
                </a:moveTo>
                <a:lnTo>
                  <a:pt x="1548779" y="44857"/>
                </a:lnTo>
                <a:lnTo>
                  <a:pt x="1509122" y="88603"/>
                </a:lnTo>
                <a:lnTo>
                  <a:pt x="1446956" y="130124"/>
                </a:lnTo>
                <a:lnTo>
                  <a:pt x="1408438" y="149702"/>
                </a:lnTo>
                <a:lnTo>
                  <a:pt x="1365498" y="168308"/>
                </a:lnTo>
                <a:lnTo>
                  <a:pt x="1318539" y="185802"/>
                </a:lnTo>
                <a:lnTo>
                  <a:pt x="1267962" y="202044"/>
                </a:lnTo>
                <a:lnTo>
                  <a:pt x="1214170" y="216896"/>
                </a:lnTo>
                <a:lnTo>
                  <a:pt x="1157565" y="230219"/>
                </a:lnTo>
                <a:lnTo>
                  <a:pt x="1098548" y="241874"/>
                </a:lnTo>
                <a:lnTo>
                  <a:pt x="1037521" y="251721"/>
                </a:lnTo>
                <a:lnTo>
                  <a:pt x="974887" y="259622"/>
                </a:lnTo>
                <a:lnTo>
                  <a:pt x="911046" y="265438"/>
                </a:lnTo>
                <a:lnTo>
                  <a:pt x="846402" y="269029"/>
                </a:lnTo>
                <a:lnTo>
                  <a:pt x="781356" y="270257"/>
                </a:lnTo>
                <a:lnTo>
                  <a:pt x="716310" y="271486"/>
                </a:lnTo>
                <a:lnTo>
                  <a:pt x="651666" y="275078"/>
                </a:lnTo>
                <a:lnTo>
                  <a:pt x="587826" y="280896"/>
                </a:lnTo>
                <a:lnTo>
                  <a:pt x="525191" y="288800"/>
                </a:lnTo>
                <a:lnTo>
                  <a:pt x="464164" y="298650"/>
                </a:lnTo>
                <a:lnTo>
                  <a:pt x="405147" y="310309"/>
                </a:lnTo>
                <a:lnTo>
                  <a:pt x="348542" y="323636"/>
                </a:lnTo>
                <a:lnTo>
                  <a:pt x="294750" y="338493"/>
                </a:lnTo>
                <a:lnTo>
                  <a:pt x="244173" y="354740"/>
                </a:lnTo>
                <a:lnTo>
                  <a:pt x="197214" y="372240"/>
                </a:lnTo>
                <a:lnTo>
                  <a:pt x="154274" y="390851"/>
                </a:lnTo>
                <a:lnTo>
                  <a:pt x="115756" y="410437"/>
                </a:lnTo>
                <a:lnTo>
                  <a:pt x="82061" y="430856"/>
                </a:lnTo>
                <a:lnTo>
                  <a:pt x="30747" y="473642"/>
                </a:lnTo>
                <a:lnTo>
                  <a:pt x="3550" y="518097"/>
                </a:lnTo>
                <a:lnTo>
                  <a:pt x="0" y="540602"/>
                </a:lnTo>
              </a:path>
              <a:path w="1562735" h="1760854">
                <a:moveTo>
                  <a:pt x="1562713" y="0"/>
                </a:moveTo>
                <a:lnTo>
                  <a:pt x="1562390" y="73288"/>
                </a:lnTo>
                <a:lnTo>
                  <a:pt x="1561444" y="146124"/>
                </a:lnTo>
                <a:lnTo>
                  <a:pt x="1559912" y="218054"/>
                </a:lnTo>
                <a:lnTo>
                  <a:pt x="1557831" y="288626"/>
                </a:lnTo>
                <a:lnTo>
                  <a:pt x="1555238" y="357386"/>
                </a:lnTo>
                <a:lnTo>
                  <a:pt x="1552168" y="423881"/>
                </a:lnTo>
                <a:lnTo>
                  <a:pt x="1548660" y="487660"/>
                </a:lnTo>
                <a:lnTo>
                  <a:pt x="1544748" y="548268"/>
                </a:lnTo>
                <a:lnTo>
                  <a:pt x="1540470" y="605254"/>
                </a:lnTo>
                <a:lnTo>
                  <a:pt x="1535863" y="658164"/>
                </a:lnTo>
                <a:lnTo>
                  <a:pt x="1530963" y="706545"/>
                </a:lnTo>
                <a:lnTo>
                  <a:pt x="1525807" y="749944"/>
                </a:lnTo>
                <a:lnTo>
                  <a:pt x="1520431" y="787909"/>
                </a:lnTo>
                <a:lnTo>
                  <a:pt x="1509166" y="845725"/>
                </a:lnTo>
                <a:lnTo>
                  <a:pt x="1491536" y="880369"/>
                </a:lnTo>
                <a:lnTo>
                  <a:pt x="1485611" y="884370"/>
                </a:lnTo>
                <a:lnTo>
                  <a:pt x="1468201" y="940751"/>
                </a:lnTo>
                <a:lnTo>
                  <a:pt x="1457266" y="1010795"/>
                </a:lnTo>
                <a:lnTo>
                  <a:pt x="1452110" y="1054194"/>
                </a:lnTo>
                <a:lnTo>
                  <a:pt x="1447210" y="1102575"/>
                </a:lnTo>
                <a:lnTo>
                  <a:pt x="1442603" y="1155485"/>
                </a:lnTo>
                <a:lnTo>
                  <a:pt x="1438325" y="1212470"/>
                </a:lnTo>
                <a:lnTo>
                  <a:pt x="1434414" y="1273079"/>
                </a:lnTo>
                <a:lnTo>
                  <a:pt x="1430905" y="1336857"/>
                </a:lnTo>
                <a:lnTo>
                  <a:pt x="1427836" y="1403353"/>
                </a:lnTo>
                <a:lnTo>
                  <a:pt x="1425242" y="1472113"/>
                </a:lnTo>
                <a:lnTo>
                  <a:pt x="1423161" y="1542685"/>
                </a:lnTo>
                <a:lnTo>
                  <a:pt x="1421630" y="1614615"/>
                </a:lnTo>
                <a:lnTo>
                  <a:pt x="1420684" y="1687451"/>
                </a:lnTo>
                <a:lnTo>
                  <a:pt x="1420360" y="1760739"/>
                </a:lnTo>
              </a:path>
              <a:path w="1562735" h="1760854">
                <a:moveTo>
                  <a:pt x="1562713" y="0"/>
                </a:moveTo>
                <a:lnTo>
                  <a:pt x="1547303" y="53731"/>
                </a:lnTo>
                <a:lnTo>
                  <a:pt x="1503942" y="105540"/>
                </a:lnTo>
                <a:lnTo>
                  <a:pt x="1473123" y="130124"/>
                </a:lnTo>
                <a:lnTo>
                  <a:pt x="1436928" y="153506"/>
                </a:lnTo>
                <a:lnTo>
                  <a:pt x="1395896" y="175447"/>
                </a:lnTo>
                <a:lnTo>
                  <a:pt x="1350563" y="195707"/>
                </a:lnTo>
                <a:lnTo>
                  <a:pt x="1301468" y="214044"/>
                </a:lnTo>
                <a:lnTo>
                  <a:pt x="1249147" y="230220"/>
                </a:lnTo>
                <a:lnTo>
                  <a:pt x="1194139" y="243993"/>
                </a:lnTo>
                <a:lnTo>
                  <a:pt x="1136980" y="255123"/>
                </a:lnTo>
                <a:lnTo>
                  <a:pt x="1078209" y="263371"/>
                </a:lnTo>
                <a:lnTo>
                  <a:pt x="1018363" y="268496"/>
                </a:lnTo>
                <a:lnTo>
                  <a:pt x="957979" y="270258"/>
                </a:lnTo>
                <a:lnTo>
                  <a:pt x="897595" y="272020"/>
                </a:lnTo>
                <a:lnTo>
                  <a:pt x="837749" y="277147"/>
                </a:lnTo>
                <a:lnTo>
                  <a:pt x="778977" y="285397"/>
                </a:lnTo>
                <a:lnTo>
                  <a:pt x="721819" y="296531"/>
                </a:lnTo>
                <a:lnTo>
                  <a:pt x="666810" y="310309"/>
                </a:lnTo>
                <a:lnTo>
                  <a:pt x="614490" y="326489"/>
                </a:lnTo>
                <a:lnTo>
                  <a:pt x="565394" y="344833"/>
                </a:lnTo>
                <a:lnTo>
                  <a:pt x="520062" y="365098"/>
                </a:lnTo>
                <a:lnTo>
                  <a:pt x="479029" y="387046"/>
                </a:lnTo>
                <a:lnTo>
                  <a:pt x="442835" y="410436"/>
                </a:lnTo>
                <a:lnTo>
                  <a:pt x="412016" y="435027"/>
                </a:lnTo>
                <a:lnTo>
                  <a:pt x="368654" y="486854"/>
                </a:lnTo>
                <a:lnTo>
                  <a:pt x="357186" y="513608"/>
                </a:lnTo>
                <a:lnTo>
                  <a:pt x="353244" y="540602"/>
                </a:lnTo>
              </a:path>
            </a:pathLst>
          </a:custGeom>
          <a:ln w="433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603231" y="3640488"/>
            <a:ext cx="2019300" cy="107378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ctr" marL="8890">
              <a:lnSpc>
                <a:spcPct val="100000"/>
              </a:lnSpc>
              <a:spcBef>
                <a:spcPts val="620"/>
              </a:spcBef>
            </a:pPr>
            <a:r>
              <a:rPr dirty="0" sz="1700" spc="-10">
                <a:solidFill>
                  <a:srgbClr val="0B0B66"/>
                </a:solidFill>
                <a:latin typeface="Arial Black"/>
                <a:cs typeface="Arial Black"/>
              </a:rPr>
              <a:t>Clustering</a:t>
            </a:r>
            <a:endParaRPr sz="1700">
              <a:latin typeface="Arial Black"/>
              <a:cs typeface="Arial Black"/>
            </a:endParaRPr>
          </a:p>
          <a:p>
            <a:pPr algn="ctr" marL="12065" marR="5080">
              <a:lnSpc>
                <a:spcPts val="1490"/>
              </a:lnSpc>
              <a:spcBef>
                <a:spcPts val="509"/>
              </a:spcBef>
            </a:pPr>
            <a:r>
              <a:rPr dirty="0" sz="1300" spc="-30">
                <a:latin typeface="Arial"/>
                <a:cs typeface="Arial"/>
              </a:rPr>
              <a:t>Which</a:t>
            </a:r>
            <a:r>
              <a:rPr dirty="0" sz="1300" spc="-65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parts</a:t>
            </a:r>
            <a:r>
              <a:rPr dirty="0" sz="1300" spc="-65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of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my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 spc="-30">
                <a:latin typeface="Arial"/>
                <a:cs typeface="Arial"/>
              </a:rPr>
              <a:t>graph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are </a:t>
            </a:r>
            <a:r>
              <a:rPr dirty="0" sz="1300" spc="-35">
                <a:latin typeface="Arial"/>
                <a:cs typeface="Arial"/>
              </a:rPr>
              <a:t>connected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to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25">
                <a:latin typeface="Arial"/>
                <a:cs typeface="Arial"/>
              </a:rPr>
              <a:t>each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other?</a:t>
            </a:r>
            <a:endParaRPr sz="1300">
              <a:latin typeface="Arial"/>
              <a:cs typeface="Arial"/>
            </a:endParaRPr>
          </a:p>
          <a:p>
            <a:pPr marL="415290">
              <a:lnSpc>
                <a:spcPct val="100000"/>
              </a:lnSpc>
              <a:spcBef>
                <a:spcPts val="284"/>
              </a:spcBef>
            </a:pPr>
            <a:r>
              <a:rPr dirty="0" sz="1600" spc="-10" b="1">
                <a:solidFill>
                  <a:srgbClr val="018BFF"/>
                </a:solidFill>
                <a:latin typeface="Arial"/>
                <a:cs typeface="Arial"/>
              </a:rPr>
              <a:t>Community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184656" y="2635336"/>
            <a:ext cx="38360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>
                <a:solidFill>
                  <a:srgbClr val="0494CE"/>
                </a:solidFill>
                <a:latin typeface="Arial Black"/>
                <a:cs typeface="Arial Black"/>
              </a:rPr>
              <a:t>Supervised</a:t>
            </a:r>
            <a:r>
              <a:rPr dirty="0" sz="2000" spc="-80">
                <a:solidFill>
                  <a:srgbClr val="0494CE"/>
                </a:solidFill>
                <a:latin typeface="Arial Black"/>
                <a:cs typeface="Arial Black"/>
              </a:rPr>
              <a:t> </a:t>
            </a:r>
            <a:r>
              <a:rPr dirty="0" sz="2000" spc="-90">
                <a:solidFill>
                  <a:srgbClr val="0494CE"/>
                </a:solidFill>
                <a:latin typeface="Arial Black"/>
                <a:cs typeface="Arial Black"/>
              </a:rPr>
              <a:t>Machine</a:t>
            </a:r>
            <a:r>
              <a:rPr dirty="0" sz="2000" spc="-75">
                <a:solidFill>
                  <a:srgbClr val="0494CE"/>
                </a:solidFill>
                <a:latin typeface="Arial Black"/>
                <a:cs typeface="Arial Black"/>
              </a:rPr>
              <a:t> </a:t>
            </a:r>
            <a:r>
              <a:rPr dirty="0" sz="2000" spc="-55">
                <a:solidFill>
                  <a:srgbClr val="0494CE"/>
                </a:solidFill>
                <a:latin typeface="Arial Black"/>
                <a:cs typeface="Arial Black"/>
              </a:rPr>
              <a:t>Learning</a:t>
            </a:r>
            <a:endParaRPr sz="2000">
              <a:latin typeface="Arial Black"/>
              <a:cs typeface="Arial Black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104261" y="3096147"/>
            <a:ext cx="1209675" cy="529590"/>
          </a:xfrm>
          <a:custGeom>
            <a:avLst/>
            <a:gdLst/>
            <a:ahLst/>
            <a:cxnLst/>
            <a:rect l="l" t="t" r="r" b="b"/>
            <a:pathLst>
              <a:path w="1209675" h="529589">
                <a:moveTo>
                  <a:pt x="0" y="0"/>
                </a:moveTo>
                <a:lnTo>
                  <a:pt x="15409" y="52581"/>
                </a:lnTo>
                <a:lnTo>
                  <a:pt x="58771" y="103283"/>
                </a:lnTo>
                <a:lnTo>
                  <a:pt x="89590" y="127340"/>
                </a:lnTo>
                <a:lnTo>
                  <a:pt x="125784" y="150222"/>
                </a:lnTo>
                <a:lnTo>
                  <a:pt x="166817" y="171694"/>
                </a:lnTo>
                <a:lnTo>
                  <a:pt x="212149" y="191520"/>
                </a:lnTo>
                <a:lnTo>
                  <a:pt x="261245" y="209465"/>
                </a:lnTo>
                <a:lnTo>
                  <a:pt x="313565" y="225294"/>
                </a:lnTo>
                <a:lnTo>
                  <a:pt x="368574" y="238773"/>
                </a:lnTo>
                <a:lnTo>
                  <a:pt x="425732" y="249666"/>
                </a:lnTo>
                <a:lnTo>
                  <a:pt x="484504" y="257737"/>
                </a:lnTo>
                <a:lnTo>
                  <a:pt x="544350" y="262752"/>
                </a:lnTo>
                <a:lnTo>
                  <a:pt x="604734" y="264476"/>
                </a:lnTo>
                <a:lnTo>
                  <a:pt x="665118" y="266200"/>
                </a:lnTo>
                <a:lnTo>
                  <a:pt x="724964" y="271217"/>
                </a:lnTo>
                <a:lnTo>
                  <a:pt x="783735" y="279289"/>
                </a:lnTo>
                <a:lnTo>
                  <a:pt x="840894" y="290184"/>
                </a:lnTo>
                <a:lnTo>
                  <a:pt x="895902" y="303664"/>
                </a:lnTo>
                <a:lnTo>
                  <a:pt x="948223" y="319496"/>
                </a:lnTo>
                <a:lnTo>
                  <a:pt x="997318" y="337444"/>
                </a:lnTo>
                <a:lnTo>
                  <a:pt x="1042651" y="357273"/>
                </a:lnTo>
                <a:lnTo>
                  <a:pt x="1083683" y="378748"/>
                </a:lnTo>
                <a:lnTo>
                  <a:pt x="1119878" y="401634"/>
                </a:lnTo>
                <a:lnTo>
                  <a:pt x="1150697" y="425696"/>
                </a:lnTo>
                <a:lnTo>
                  <a:pt x="1194058" y="476405"/>
                </a:lnTo>
                <a:lnTo>
                  <a:pt x="1205526" y="502583"/>
                </a:lnTo>
                <a:lnTo>
                  <a:pt x="1209468" y="528995"/>
                </a:lnTo>
              </a:path>
              <a:path w="1209675" h="529589">
                <a:moveTo>
                  <a:pt x="0" y="0"/>
                </a:moveTo>
                <a:lnTo>
                  <a:pt x="16216" y="56288"/>
                </a:lnTo>
                <a:lnTo>
                  <a:pt x="61623" y="110264"/>
                </a:lnTo>
                <a:lnTo>
                  <a:pt x="93752" y="135662"/>
                </a:lnTo>
                <a:lnTo>
                  <a:pt x="131354" y="159614"/>
                </a:lnTo>
                <a:lnTo>
                  <a:pt x="173821" y="181831"/>
                </a:lnTo>
                <a:lnTo>
                  <a:pt x="220545" y="202024"/>
                </a:lnTo>
                <a:lnTo>
                  <a:pt x="270918" y="219903"/>
                </a:lnTo>
                <a:lnTo>
                  <a:pt x="324331" y="235180"/>
                </a:lnTo>
                <a:lnTo>
                  <a:pt x="380177" y="247566"/>
                </a:lnTo>
                <a:lnTo>
                  <a:pt x="437847" y="256771"/>
                </a:lnTo>
                <a:lnTo>
                  <a:pt x="496734" y="262506"/>
                </a:lnTo>
                <a:lnTo>
                  <a:pt x="556228" y="264482"/>
                </a:lnTo>
                <a:lnTo>
                  <a:pt x="615723" y="266458"/>
                </a:lnTo>
                <a:lnTo>
                  <a:pt x="674610" y="272193"/>
                </a:lnTo>
                <a:lnTo>
                  <a:pt x="732280" y="281399"/>
                </a:lnTo>
                <a:lnTo>
                  <a:pt x="788126" y="293786"/>
                </a:lnTo>
                <a:lnTo>
                  <a:pt x="841539" y="309065"/>
                </a:lnTo>
                <a:lnTo>
                  <a:pt x="891912" y="326947"/>
                </a:lnTo>
                <a:lnTo>
                  <a:pt x="938636" y="347142"/>
                </a:lnTo>
                <a:lnTo>
                  <a:pt x="981103" y="369361"/>
                </a:lnTo>
                <a:lnTo>
                  <a:pt x="1018705" y="393316"/>
                </a:lnTo>
                <a:lnTo>
                  <a:pt x="1050834" y="418717"/>
                </a:lnTo>
                <a:lnTo>
                  <a:pt x="1096241" y="472699"/>
                </a:lnTo>
                <a:lnTo>
                  <a:pt x="1108302" y="500703"/>
                </a:lnTo>
                <a:lnTo>
                  <a:pt x="1112457" y="528995"/>
                </a:lnTo>
              </a:path>
            </a:pathLst>
          </a:custGeom>
          <a:ln w="4335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161045" y="3640488"/>
            <a:ext cx="1664970" cy="78930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dirty="0" sz="1700" spc="-85">
                <a:solidFill>
                  <a:srgbClr val="0494CE"/>
                </a:solidFill>
                <a:latin typeface="Arial Black"/>
                <a:cs typeface="Arial Black"/>
              </a:rPr>
              <a:t>Link</a:t>
            </a:r>
            <a:r>
              <a:rPr dirty="0" sz="1700" spc="-110">
                <a:solidFill>
                  <a:srgbClr val="0494CE"/>
                </a:solidFill>
                <a:latin typeface="Arial Black"/>
                <a:cs typeface="Arial Black"/>
              </a:rPr>
              <a:t> </a:t>
            </a:r>
            <a:r>
              <a:rPr dirty="0" sz="1700" spc="-65">
                <a:solidFill>
                  <a:srgbClr val="0494CE"/>
                </a:solidFill>
                <a:latin typeface="Arial Black"/>
                <a:cs typeface="Arial Black"/>
              </a:rPr>
              <a:t>Prediction</a:t>
            </a:r>
            <a:endParaRPr sz="1700">
              <a:latin typeface="Arial Black"/>
              <a:cs typeface="Arial Black"/>
            </a:endParaRPr>
          </a:p>
          <a:p>
            <a:pPr algn="ctr" marL="21590" marR="5080">
              <a:lnSpc>
                <a:spcPts val="1490"/>
              </a:lnSpc>
              <a:spcBef>
                <a:spcPts val="509"/>
              </a:spcBef>
            </a:pPr>
            <a:r>
              <a:rPr dirty="0" sz="1300" spc="-35">
                <a:latin typeface="Arial"/>
                <a:cs typeface="Arial"/>
              </a:rPr>
              <a:t>Where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>
                <a:latin typeface="Arial"/>
                <a:cs typeface="Arial"/>
              </a:rPr>
              <a:t>will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connections </a:t>
            </a:r>
            <a:r>
              <a:rPr dirty="0" sz="1300" spc="-30">
                <a:latin typeface="Arial"/>
                <a:cs typeface="Arial"/>
              </a:rPr>
              <a:t>form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next?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289930" y="3640488"/>
            <a:ext cx="2103120" cy="78930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700" spc="-85">
                <a:solidFill>
                  <a:srgbClr val="0494CE"/>
                </a:solidFill>
                <a:latin typeface="Arial Black"/>
                <a:cs typeface="Arial Black"/>
              </a:rPr>
              <a:t>Node</a:t>
            </a:r>
            <a:r>
              <a:rPr dirty="0" sz="1700" spc="-114">
                <a:solidFill>
                  <a:srgbClr val="0494CE"/>
                </a:solidFill>
                <a:latin typeface="Arial Black"/>
                <a:cs typeface="Arial Black"/>
              </a:rPr>
              <a:t> </a:t>
            </a:r>
            <a:r>
              <a:rPr dirty="0" sz="1700" spc="-100">
                <a:solidFill>
                  <a:srgbClr val="0494CE"/>
                </a:solidFill>
                <a:latin typeface="Arial Black"/>
                <a:cs typeface="Arial Black"/>
              </a:rPr>
              <a:t>Classification</a:t>
            </a:r>
            <a:endParaRPr sz="1700">
              <a:latin typeface="Arial Black"/>
              <a:cs typeface="Arial Black"/>
            </a:endParaRPr>
          </a:p>
          <a:p>
            <a:pPr marL="621030" marR="427990" indent="-85090">
              <a:lnSpc>
                <a:spcPts val="1490"/>
              </a:lnSpc>
              <a:spcBef>
                <a:spcPts val="509"/>
              </a:spcBef>
            </a:pPr>
            <a:r>
              <a:rPr dirty="0" sz="1300" spc="-30">
                <a:latin typeface="Arial"/>
                <a:cs typeface="Arial"/>
              </a:rPr>
              <a:t>What’s</a:t>
            </a:r>
            <a:r>
              <a:rPr dirty="0" sz="1300" spc="-4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the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label for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this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node?</a:t>
            </a:r>
            <a:endParaRPr sz="13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3866889" y="4409739"/>
            <a:ext cx="1292225" cy="576580"/>
          </a:xfrm>
          <a:custGeom>
            <a:avLst/>
            <a:gdLst/>
            <a:ahLst/>
            <a:cxnLst/>
            <a:rect l="l" t="t" r="r" b="b"/>
            <a:pathLst>
              <a:path w="1292225" h="576579">
                <a:moveTo>
                  <a:pt x="1057746" y="0"/>
                </a:moveTo>
                <a:lnTo>
                  <a:pt x="233884" y="0"/>
                </a:lnTo>
                <a:lnTo>
                  <a:pt x="186748" y="4754"/>
                </a:lnTo>
                <a:lnTo>
                  <a:pt x="142846" y="18392"/>
                </a:lnTo>
                <a:lnTo>
                  <a:pt x="103117" y="39971"/>
                </a:lnTo>
                <a:lnTo>
                  <a:pt x="68503" y="68549"/>
                </a:lnTo>
                <a:lnTo>
                  <a:pt x="39943" y="103187"/>
                </a:lnTo>
                <a:lnTo>
                  <a:pt x="18379" y="142943"/>
                </a:lnTo>
                <a:lnTo>
                  <a:pt x="4751" y="186876"/>
                </a:lnTo>
                <a:lnTo>
                  <a:pt x="0" y="234044"/>
                </a:lnTo>
                <a:lnTo>
                  <a:pt x="0" y="342036"/>
                </a:lnTo>
                <a:lnTo>
                  <a:pt x="4751" y="389204"/>
                </a:lnTo>
                <a:lnTo>
                  <a:pt x="18379" y="433136"/>
                </a:lnTo>
                <a:lnTo>
                  <a:pt x="39943" y="472891"/>
                </a:lnTo>
                <a:lnTo>
                  <a:pt x="68503" y="507529"/>
                </a:lnTo>
                <a:lnTo>
                  <a:pt x="103117" y="536108"/>
                </a:lnTo>
                <a:lnTo>
                  <a:pt x="142846" y="557687"/>
                </a:lnTo>
                <a:lnTo>
                  <a:pt x="186748" y="571324"/>
                </a:lnTo>
                <a:lnTo>
                  <a:pt x="233884" y="576079"/>
                </a:lnTo>
                <a:lnTo>
                  <a:pt x="1057746" y="576079"/>
                </a:lnTo>
                <a:lnTo>
                  <a:pt x="1104881" y="571324"/>
                </a:lnTo>
                <a:lnTo>
                  <a:pt x="1148784" y="557687"/>
                </a:lnTo>
                <a:lnTo>
                  <a:pt x="1188513" y="536108"/>
                </a:lnTo>
                <a:lnTo>
                  <a:pt x="1223127" y="507529"/>
                </a:lnTo>
                <a:lnTo>
                  <a:pt x="1251686" y="472891"/>
                </a:lnTo>
                <a:lnTo>
                  <a:pt x="1273250" y="433136"/>
                </a:lnTo>
                <a:lnTo>
                  <a:pt x="1286878" y="389204"/>
                </a:lnTo>
                <a:lnTo>
                  <a:pt x="1291630" y="342036"/>
                </a:lnTo>
                <a:lnTo>
                  <a:pt x="1291630" y="234044"/>
                </a:lnTo>
                <a:lnTo>
                  <a:pt x="1286878" y="186876"/>
                </a:lnTo>
                <a:lnTo>
                  <a:pt x="1273250" y="142943"/>
                </a:lnTo>
                <a:lnTo>
                  <a:pt x="1251686" y="103187"/>
                </a:lnTo>
                <a:lnTo>
                  <a:pt x="1223127" y="68549"/>
                </a:lnTo>
                <a:lnTo>
                  <a:pt x="1188513" y="39971"/>
                </a:lnTo>
                <a:lnTo>
                  <a:pt x="1148784" y="18392"/>
                </a:lnTo>
                <a:lnTo>
                  <a:pt x="1104881" y="4754"/>
                </a:lnTo>
                <a:lnTo>
                  <a:pt x="1057746" y="0"/>
                </a:lnTo>
                <a:close/>
              </a:path>
            </a:pathLst>
          </a:custGeom>
          <a:solidFill>
            <a:srgbClr val="FFFFFF">
              <a:alpha val="7724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3650251" y="3640488"/>
            <a:ext cx="1606550" cy="107378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620"/>
              </a:spcBef>
            </a:pPr>
            <a:r>
              <a:rPr dirty="0" sz="1700" spc="-30">
                <a:solidFill>
                  <a:srgbClr val="0B0B66"/>
                </a:solidFill>
                <a:latin typeface="Arial Black"/>
                <a:cs typeface="Arial Black"/>
              </a:rPr>
              <a:t>Association</a:t>
            </a:r>
            <a:endParaRPr sz="1700">
              <a:latin typeface="Arial Black"/>
              <a:cs typeface="Arial Black"/>
            </a:endParaRPr>
          </a:p>
          <a:p>
            <a:pPr marL="527050" marR="5080" indent="-514984">
              <a:lnSpc>
                <a:spcPts val="1490"/>
              </a:lnSpc>
              <a:spcBef>
                <a:spcPts val="509"/>
              </a:spcBef>
            </a:pPr>
            <a:r>
              <a:rPr dirty="0" sz="1300" spc="-30">
                <a:latin typeface="Arial"/>
                <a:cs typeface="Arial"/>
              </a:rPr>
              <a:t>Which</a:t>
            </a:r>
            <a:r>
              <a:rPr dirty="0" sz="1300" spc="-60">
                <a:latin typeface="Arial"/>
                <a:cs typeface="Arial"/>
              </a:rPr>
              <a:t> </a:t>
            </a:r>
            <a:r>
              <a:rPr dirty="0" sz="1300" spc="-30">
                <a:latin typeface="Arial"/>
                <a:cs typeface="Arial"/>
              </a:rPr>
              <a:t>nodes</a:t>
            </a:r>
            <a:r>
              <a:rPr dirty="0" sz="1300" spc="-50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are</a:t>
            </a:r>
            <a:r>
              <a:rPr dirty="0" sz="1300" spc="-55"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most </a:t>
            </a:r>
            <a:r>
              <a:rPr dirty="0" sz="1300" spc="-10">
                <a:latin typeface="Arial"/>
                <a:cs typeface="Arial"/>
              </a:rPr>
              <a:t>similar?</a:t>
            </a:r>
            <a:endParaRPr sz="1300">
              <a:latin typeface="Arial"/>
              <a:cs typeface="Arial"/>
            </a:endParaRPr>
          </a:p>
          <a:p>
            <a:pPr marL="407034">
              <a:lnSpc>
                <a:spcPct val="100000"/>
              </a:lnSpc>
              <a:spcBef>
                <a:spcPts val="284"/>
              </a:spcBef>
            </a:pPr>
            <a:r>
              <a:rPr dirty="0" sz="1600" spc="-10" b="1">
                <a:solidFill>
                  <a:srgbClr val="018BFF"/>
                </a:solidFill>
                <a:latin typeface="Arial"/>
                <a:cs typeface="Arial"/>
              </a:rPr>
              <a:t>Similarity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02682" y="4658227"/>
            <a:ext cx="3977640" cy="1473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880"/>
              </a:lnSpc>
              <a:spcBef>
                <a:spcPts val="100"/>
              </a:spcBef>
              <a:tabLst>
                <a:tab pos="2843530" algn="l"/>
              </a:tabLst>
            </a:pPr>
            <a:r>
              <a:rPr dirty="0" sz="1600" spc="-10" b="1">
                <a:solidFill>
                  <a:srgbClr val="018BFF"/>
                </a:solidFill>
                <a:latin typeface="Arial"/>
                <a:cs typeface="Arial"/>
              </a:rPr>
              <a:t>Detection</a:t>
            </a:r>
            <a:r>
              <a:rPr dirty="0" sz="1600" b="1">
                <a:solidFill>
                  <a:srgbClr val="018BFF"/>
                </a:solidFill>
                <a:latin typeface="Arial"/>
                <a:cs typeface="Arial"/>
              </a:rPr>
              <a:t>	</a:t>
            </a:r>
            <a:r>
              <a:rPr dirty="0" sz="1600" spc="-10" b="1">
                <a:solidFill>
                  <a:srgbClr val="018BFF"/>
                </a:solidFill>
                <a:latin typeface="Arial"/>
                <a:cs typeface="Arial"/>
              </a:rPr>
              <a:t>Pathfinding</a:t>
            </a:r>
            <a:endParaRPr sz="1600">
              <a:latin typeface="Arial"/>
              <a:cs typeface="Arial"/>
            </a:endParaRPr>
          </a:p>
          <a:p>
            <a:pPr algn="ctr" marL="76835">
              <a:lnSpc>
                <a:spcPts val="1970"/>
              </a:lnSpc>
            </a:pPr>
            <a:r>
              <a:rPr dirty="0" sz="1700" spc="-75">
                <a:solidFill>
                  <a:srgbClr val="0B0B66"/>
                </a:solidFill>
                <a:latin typeface="Arial Black"/>
                <a:cs typeface="Arial Black"/>
              </a:rPr>
              <a:t>Dimension</a:t>
            </a:r>
            <a:r>
              <a:rPr dirty="0" sz="1700" spc="-80">
                <a:solidFill>
                  <a:srgbClr val="0B0B66"/>
                </a:solidFill>
                <a:latin typeface="Arial Black"/>
                <a:cs typeface="Arial Black"/>
              </a:rPr>
              <a:t> </a:t>
            </a:r>
            <a:r>
              <a:rPr dirty="0" sz="1700" spc="-10">
                <a:solidFill>
                  <a:srgbClr val="0B0B66"/>
                </a:solidFill>
                <a:latin typeface="Arial Black"/>
                <a:cs typeface="Arial Black"/>
              </a:rPr>
              <a:t>Reduction</a:t>
            </a:r>
            <a:endParaRPr sz="1700">
              <a:latin typeface="Arial Black"/>
              <a:cs typeface="Arial Black"/>
            </a:endParaRPr>
          </a:p>
          <a:p>
            <a:pPr algn="ctr" marL="78740">
              <a:lnSpc>
                <a:spcPts val="1650"/>
              </a:lnSpc>
            </a:pPr>
            <a:r>
              <a:rPr dirty="0" sz="1400" spc="-30">
                <a:solidFill>
                  <a:srgbClr val="0B0B66"/>
                </a:solidFill>
                <a:latin typeface="Arial Black"/>
                <a:cs typeface="Arial Black"/>
              </a:rPr>
              <a:t>(generalization)</a:t>
            </a:r>
            <a:endParaRPr sz="1400">
              <a:latin typeface="Arial Black"/>
              <a:cs typeface="Arial Black"/>
            </a:endParaRPr>
          </a:p>
          <a:p>
            <a:pPr algn="ctr" marR="3175">
              <a:lnSpc>
                <a:spcPct val="100000"/>
              </a:lnSpc>
              <a:spcBef>
                <a:spcPts val="220"/>
              </a:spcBef>
            </a:pPr>
            <a:r>
              <a:rPr dirty="0" sz="1300" spc="-25">
                <a:latin typeface="Calibri"/>
                <a:cs typeface="Calibri"/>
              </a:rPr>
              <a:t>How</a:t>
            </a:r>
            <a:r>
              <a:rPr dirty="0" sz="1300" spc="-50">
                <a:latin typeface="Calibri"/>
                <a:cs typeface="Calibri"/>
              </a:rPr>
              <a:t> </a:t>
            </a:r>
            <a:r>
              <a:rPr dirty="0" sz="1300" spc="-30">
                <a:latin typeface="Calibri"/>
                <a:cs typeface="Calibri"/>
              </a:rPr>
              <a:t>important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is</a:t>
            </a:r>
            <a:r>
              <a:rPr dirty="0" sz="1300" spc="-50">
                <a:latin typeface="Calibri"/>
                <a:cs typeface="Calibri"/>
              </a:rPr>
              <a:t> </a:t>
            </a:r>
            <a:r>
              <a:rPr dirty="0" sz="1300" spc="-25">
                <a:latin typeface="Calibri"/>
                <a:cs typeface="Calibri"/>
              </a:rPr>
              <a:t>each</a:t>
            </a:r>
            <a:r>
              <a:rPr dirty="0" sz="1300" spc="-45">
                <a:latin typeface="Calibri"/>
                <a:cs typeface="Calibri"/>
              </a:rPr>
              <a:t> </a:t>
            </a:r>
            <a:r>
              <a:rPr dirty="0" sz="1300" spc="-20">
                <a:latin typeface="Calibri"/>
                <a:cs typeface="Calibri"/>
              </a:rPr>
              <a:t>node?</a:t>
            </a:r>
            <a:endParaRPr sz="1300">
              <a:latin typeface="Calibri"/>
              <a:cs typeface="Calibri"/>
            </a:endParaRPr>
          </a:p>
          <a:p>
            <a:pPr marL="1495425" marR="1263015" indent="139700">
              <a:lnSpc>
                <a:spcPts val="1700"/>
              </a:lnSpc>
              <a:spcBef>
                <a:spcPts val="730"/>
              </a:spcBef>
            </a:pPr>
            <a:r>
              <a:rPr dirty="0" sz="1600" spc="-10" b="1">
                <a:solidFill>
                  <a:srgbClr val="018BFF"/>
                </a:solidFill>
                <a:latin typeface="Arial"/>
                <a:cs typeface="Arial"/>
              </a:rPr>
              <a:t>Centrality Embeddings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908" y="4508505"/>
            <a:ext cx="356616" cy="37795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7851" y="5675889"/>
            <a:ext cx="451104" cy="451104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56508" y="4487169"/>
            <a:ext cx="399288" cy="420624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 rot="20700000">
            <a:off x="666150" y="2182806"/>
            <a:ext cx="118947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40">
                <a:solidFill>
                  <a:srgbClr val="ED1253"/>
                </a:solidFill>
                <a:latin typeface="Calibri"/>
                <a:cs typeface="Calibri"/>
              </a:rPr>
              <a:t>Mor</a:t>
            </a:r>
            <a:r>
              <a:rPr dirty="0" baseline="1984" sz="2100" spc="-60">
                <a:solidFill>
                  <a:srgbClr val="ED1253"/>
                </a:solidFill>
                <a:latin typeface="Calibri"/>
                <a:cs typeface="Calibri"/>
              </a:rPr>
              <a:t>e </a:t>
            </a:r>
            <a:r>
              <a:rPr dirty="0" baseline="1984" sz="2100" spc="-44">
                <a:solidFill>
                  <a:srgbClr val="ED1253"/>
                </a:solidFill>
                <a:latin typeface="Calibri"/>
                <a:cs typeface="Calibri"/>
              </a:rPr>
              <a:t>Algos</a:t>
            </a:r>
            <a:r>
              <a:rPr dirty="0" baseline="1984" sz="2100" spc="-37">
                <a:solidFill>
                  <a:srgbClr val="ED1253"/>
                </a:solidFill>
                <a:latin typeface="Calibri"/>
                <a:cs typeface="Calibri"/>
              </a:rPr>
              <a:t> </a:t>
            </a:r>
            <a:r>
              <a:rPr dirty="0" baseline="1984" sz="2100" spc="-30">
                <a:solidFill>
                  <a:srgbClr val="ED1253"/>
                </a:solidFill>
                <a:latin typeface="Calibri"/>
                <a:cs typeface="Calibri"/>
              </a:rPr>
              <a:t>t</a:t>
            </a:r>
            <a:r>
              <a:rPr dirty="0" baseline="3968" sz="2100" spc="-30">
                <a:solidFill>
                  <a:srgbClr val="ED1253"/>
                </a:solidFill>
                <a:latin typeface="Calibri"/>
                <a:cs typeface="Calibri"/>
              </a:rPr>
              <a:t>han</a:t>
            </a:r>
            <a:endParaRPr baseline="3968" sz="2100">
              <a:latin typeface="Calibri"/>
              <a:cs typeface="Calibri"/>
            </a:endParaRPr>
          </a:p>
        </p:txBody>
      </p: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18" name="object 18" descr=""/>
          <p:cNvSpPr txBox="1"/>
          <p:nvPr/>
        </p:nvSpPr>
        <p:spPr>
          <a:xfrm rot="20700000">
            <a:off x="720286" y="2375289"/>
            <a:ext cx="1231559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35">
                <a:solidFill>
                  <a:srgbClr val="ED1253"/>
                </a:solidFill>
                <a:latin typeface="Calibri"/>
                <a:cs typeface="Calibri"/>
              </a:rPr>
              <a:t>any</a:t>
            </a:r>
            <a:r>
              <a:rPr dirty="0" sz="1400" spc="-40">
                <a:solidFill>
                  <a:srgbClr val="ED1253"/>
                </a:solidFill>
                <a:latin typeface="Calibri"/>
                <a:cs typeface="Calibri"/>
              </a:rPr>
              <a:t> </a:t>
            </a:r>
            <a:r>
              <a:rPr dirty="0" baseline="1984" sz="2100" spc="-52">
                <a:solidFill>
                  <a:srgbClr val="ED1253"/>
                </a:solidFill>
                <a:latin typeface="Calibri"/>
                <a:cs typeface="Calibri"/>
              </a:rPr>
              <a:t>other </a:t>
            </a:r>
            <a:r>
              <a:rPr dirty="0" baseline="1984" sz="2100" spc="-15">
                <a:solidFill>
                  <a:srgbClr val="ED1253"/>
                </a:solidFill>
                <a:latin typeface="Calibri"/>
                <a:cs typeface="Calibri"/>
              </a:rPr>
              <a:t>ve</a:t>
            </a:r>
            <a:r>
              <a:rPr dirty="0" baseline="3968" sz="2100" spc="-15">
                <a:solidFill>
                  <a:srgbClr val="ED1253"/>
                </a:solidFill>
                <a:latin typeface="Calibri"/>
                <a:cs typeface="Calibri"/>
              </a:rPr>
              <a:t>ndor</a:t>
            </a:r>
            <a:endParaRPr baseline="3968" sz="21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 rot="20700000">
            <a:off x="7637886" y="2020515"/>
            <a:ext cx="1012792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400"/>
              </a:lnSpc>
            </a:pPr>
            <a:r>
              <a:rPr dirty="0" sz="1400" spc="-25">
                <a:solidFill>
                  <a:srgbClr val="ED1253"/>
                </a:solidFill>
                <a:latin typeface="Calibri"/>
                <a:cs typeface="Calibri"/>
              </a:rPr>
              <a:t>ONL</a:t>
            </a:r>
            <a:r>
              <a:rPr dirty="0" baseline="1984" sz="2100" spc="-37">
                <a:solidFill>
                  <a:srgbClr val="ED1253"/>
                </a:solidFill>
                <a:latin typeface="Calibri"/>
                <a:cs typeface="Calibri"/>
              </a:rPr>
              <a:t>Y</a:t>
            </a:r>
            <a:r>
              <a:rPr dirty="0" baseline="1984" sz="2100" spc="-75">
                <a:solidFill>
                  <a:srgbClr val="ED1253"/>
                </a:solidFill>
                <a:latin typeface="Calibri"/>
                <a:cs typeface="Calibri"/>
              </a:rPr>
              <a:t> </a:t>
            </a:r>
            <a:r>
              <a:rPr dirty="0" baseline="1984" sz="2100" spc="-30">
                <a:solidFill>
                  <a:srgbClr val="ED1253"/>
                </a:solidFill>
                <a:latin typeface="Calibri"/>
                <a:cs typeface="Calibri"/>
              </a:rPr>
              <a:t>in</a:t>
            </a:r>
            <a:r>
              <a:rPr dirty="0" baseline="1984" sz="2100" spc="-89">
                <a:solidFill>
                  <a:srgbClr val="ED1253"/>
                </a:solidFill>
                <a:latin typeface="Calibri"/>
                <a:cs typeface="Calibri"/>
              </a:rPr>
              <a:t> </a:t>
            </a:r>
            <a:r>
              <a:rPr dirty="0" baseline="1984" sz="2100" spc="-30">
                <a:solidFill>
                  <a:srgbClr val="ED1253"/>
                </a:solidFill>
                <a:latin typeface="Calibri"/>
                <a:cs typeface="Calibri"/>
              </a:rPr>
              <a:t>neo</a:t>
            </a:r>
            <a:r>
              <a:rPr dirty="0" baseline="3968" sz="2100" spc="-30">
                <a:solidFill>
                  <a:srgbClr val="ED1253"/>
                </a:solidFill>
                <a:latin typeface="Calibri"/>
                <a:cs typeface="Calibri"/>
              </a:rPr>
              <a:t>4j</a:t>
            </a:r>
            <a:endParaRPr baseline="3968"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97500" y="3685545"/>
            <a:ext cx="1734311" cy="106984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5206" y="1311368"/>
            <a:ext cx="9609455" cy="5441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Better</a:t>
            </a:r>
            <a:r>
              <a:rPr dirty="0" spc="-15"/>
              <a:t> </a:t>
            </a:r>
            <a:r>
              <a:rPr dirty="0"/>
              <a:t>Predictions</a:t>
            </a:r>
            <a:r>
              <a:rPr dirty="0" spc="-10"/>
              <a:t> </a:t>
            </a:r>
            <a:r>
              <a:rPr dirty="0"/>
              <a:t>with</a:t>
            </a:r>
            <a:r>
              <a:rPr dirty="0" spc="5"/>
              <a:t> </a:t>
            </a:r>
            <a:r>
              <a:rPr dirty="0"/>
              <a:t>Data</a:t>
            </a:r>
            <a:r>
              <a:rPr dirty="0" spc="-10"/>
              <a:t> </a:t>
            </a:r>
            <a:r>
              <a:rPr dirty="0"/>
              <a:t>You Already</a:t>
            </a:r>
            <a:r>
              <a:rPr dirty="0" spc="-10"/>
              <a:t> </a:t>
            </a:r>
            <a:r>
              <a:rPr dirty="0" spc="-20"/>
              <a:t>Have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072688" y="2015787"/>
            <a:ext cx="9003665" cy="139700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409575" indent="-396875">
              <a:lnSpc>
                <a:spcPct val="100000"/>
              </a:lnSpc>
              <a:spcBef>
                <a:spcPts val="1060"/>
              </a:spcBef>
              <a:buChar char="●"/>
              <a:tabLst>
                <a:tab pos="409575" algn="l"/>
              </a:tabLst>
            </a:pPr>
            <a:r>
              <a:rPr dirty="0" sz="2200" spc="-20">
                <a:latin typeface="Arial"/>
                <a:cs typeface="Arial"/>
              </a:rPr>
              <a:t>Traditional</a:t>
            </a:r>
            <a:r>
              <a:rPr dirty="0" sz="2200" spc="-8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ML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ignores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network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structure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because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it’s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difficult</a:t>
            </a:r>
            <a:r>
              <a:rPr dirty="0" sz="2200" spc="-8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extract</a:t>
            </a:r>
            <a:endParaRPr sz="2200">
              <a:latin typeface="Arial"/>
              <a:cs typeface="Arial"/>
            </a:endParaRPr>
          </a:p>
          <a:p>
            <a:pPr marL="409575" indent="-396875">
              <a:lnSpc>
                <a:spcPct val="100000"/>
              </a:lnSpc>
              <a:spcBef>
                <a:spcPts val="960"/>
              </a:spcBef>
              <a:buChar char="●"/>
              <a:tabLst>
                <a:tab pos="409575" algn="l"/>
              </a:tabLst>
            </a:pPr>
            <a:r>
              <a:rPr dirty="0" sz="2200">
                <a:latin typeface="Arial"/>
                <a:cs typeface="Arial"/>
              </a:rPr>
              <a:t>Add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graph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data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existing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ML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pipelines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10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increase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accuracy,</a:t>
            </a:r>
            <a:r>
              <a:rPr dirty="0" sz="2200" spc="-120">
                <a:latin typeface="Arial"/>
                <a:cs typeface="Arial"/>
              </a:rPr>
              <a:t> </a:t>
            </a:r>
            <a:r>
              <a:rPr dirty="0" sz="2200" spc="-25" i="1">
                <a:latin typeface="Arial"/>
                <a:cs typeface="Arial"/>
              </a:rPr>
              <a:t>or</a:t>
            </a:r>
            <a:endParaRPr sz="2200">
              <a:latin typeface="Arial"/>
              <a:cs typeface="Arial"/>
            </a:endParaRPr>
          </a:p>
          <a:p>
            <a:pPr marL="409575" indent="-396875">
              <a:lnSpc>
                <a:spcPct val="100000"/>
              </a:lnSpc>
              <a:spcBef>
                <a:spcPts val="960"/>
              </a:spcBef>
              <a:buChar char="●"/>
              <a:tabLst>
                <a:tab pos="409575" algn="l"/>
              </a:tabLst>
            </a:pPr>
            <a:r>
              <a:rPr dirty="0" sz="2200" spc="-10">
                <a:latin typeface="Arial"/>
                <a:cs typeface="Arial"/>
              </a:rPr>
              <a:t>Graphs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use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relationships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to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unlock</a:t>
            </a:r>
            <a:r>
              <a:rPr dirty="0" sz="2200" spc="-95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otherwise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20">
                <a:latin typeface="Arial"/>
                <a:cs typeface="Arial"/>
              </a:rPr>
              <a:t>unattainable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10">
                <a:latin typeface="Arial"/>
                <a:cs typeface="Arial"/>
              </a:rPr>
              <a:t>predictions</a:t>
            </a:r>
            <a:endParaRPr sz="2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9339" y="4877313"/>
            <a:ext cx="8924544" cy="153314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925445" y="5746363"/>
            <a:ext cx="256667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6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dirty="0" sz="16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Pipeline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1590547" y="3411225"/>
            <a:ext cx="6720840" cy="1705610"/>
            <a:chOff x="1590547" y="3411225"/>
            <a:chExt cx="6720840" cy="170561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20781" y="4836079"/>
              <a:ext cx="510510" cy="280697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5281" y="4836079"/>
              <a:ext cx="510510" cy="280697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4937" y="4836079"/>
              <a:ext cx="510509" cy="28069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90547" y="3469137"/>
              <a:ext cx="3654552" cy="141427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42380" y="3411225"/>
              <a:ext cx="1969007" cy="1645920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70985" y="4795272"/>
              <a:ext cx="510510" cy="280697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05403" y="3856233"/>
              <a:ext cx="655319" cy="582168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0651" y="3886713"/>
              <a:ext cx="926591" cy="652271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279140" y="4029969"/>
              <a:ext cx="652272" cy="58216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852675" y="4081785"/>
              <a:ext cx="923544" cy="655320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52875" y="4203705"/>
              <a:ext cx="652272" cy="582168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94708" y="3816609"/>
              <a:ext cx="902208" cy="966216"/>
            </a:xfrm>
            <a:prstGeom prst="rect">
              <a:avLst/>
            </a:prstGeom>
          </p:spPr>
        </p:pic>
      </p:grp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5"/>
              <a:t> </a:t>
            </a:r>
            <a:r>
              <a:rPr dirty="0"/>
              <a:t>Supervised</a:t>
            </a:r>
            <a:r>
              <a:rPr dirty="0" spc="10"/>
              <a:t> </a:t>
            </a:r>
            <a:r>
              <a:rPr dirty="0"/>
              <a:t>Machine </a:t>
            </a:r>
            <a:r>
              <a:rPr dirty="0" spc="-10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90889" y="2230417"/>
            <a:ext cx="3967479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2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018BFF"/>
                </a:solidFill>
                <a:latin typeface="Arial"/>
                <a:cs typeface="Arial"/>
              </a:rPr>
              <a:t>influenced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5" b="1" i="1">
                <a:solidFill>
                  <a:srgbClr val="018BFF"/>
                </a:solidFill>
                <a:latin typeface="Arial"/>
                <a:cs typeface="Arial"/>
              </a:rPr>
              <a:t>by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Traditional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ML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problems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where </a:t>
            </a:r>
            <a:r>
              <a:rPr dirty="0" sz="1800">
                <a:latin typeface="Arial"/>
                <a:cs typeface="Arial"/>
              </a:rPr>
              <a:t>relationships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between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points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important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predictive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50782" y="2230417"/>
            <a:ext cx="3958590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1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about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Enhance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graph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predicting </a:t>
            </a:r>
            <a:r>
              <a:rPr dirty="0" sz="1800">
                <a:latin typeface="Arial"/>
                <a:cs typeface="Arial"/>
              </a:rPr>
              <a:t>missing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changes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graph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occur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future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79522" y="4480976"/>
            <a:ext cx="2728595" cy="2064385"/>
            <a:chOff x="6079522" y="4480976"/>
            <a:chExt cx="2728595" cy="2064385"/>
          </a:xfrm>
        </p:grpSpPr>
        <p:sp>
          <p:nvSpPr>
            <p:cNvPr id="6" name="object 6" descr=""/>
            <p:cNvSpPr/>
            <p:nvPr/>
          </p:nvSpPr>
          <p:spPr>
            <a:xfrm>
              <a:off x="8300942" y="5315813"/>
              <a:ext cx="441959" cy="448945"/>
            </a:xfrm>
            <a:custGeom>
              <a:avLst/>
              <a:gdLst/>
              <a:ahLst/>
              <a:cxnLst/>
              <a:rect l="l" t="t" r="r" b="b"/>
              <a:pathLst>
                <a:path w="441959" h="448945">
                  <a:moveTo>
                    <a:pt x="441669" y="0"/>
                  </a:moveTo>
                  <a:lnTo>
                    <a:pt x="0" y="448516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279252" y="5740457"/>
              <a:ext cx="360045" cy="249554"/>
            </a:xfrm>
            <a:custGeom>
              <a:avLst/>
              <a:gdLst/>
              <a:ahLst/>
              <a:cxnLst/>
              <a:rect l="l" t="t" r="r" b="b"/>
              <a:pathLst>
                <a:path w="360045" h="249554">
                  <a:moveTo>
                    <a:pt x="359878" y="249357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927348" y="4928038"/>
              <a:ext cx="706755" cy="302895"/>
            </a:xfrm>
            <a:custGeom>
              <a:avLst/>
              <a:gdLst/>
              <a:ahLst/>
              <a:cxnLst/>
              <a:rect l="l" t="t" r="r" b="b"/>
              <a:pathLst>
                <a:path w="706754" h="302895">
                  <a:moveTo>
                    <a:pt x="706671" y="0"/>
                  </a:moveTo>
                  <a:lnTo>
                    <a:pt x="0" y="302830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173871" y="5740078"/>
              <a:ext cx="114935" cy="640080"/>
            </a:xfrm>
            <a:custGeom>
              <a:avLst/>
              <a:gdLst/>
              <a:ahLst/>
              <a:cxnLst/>
              <a:rect l="l" t="t" r="r" b="b"/>
              <a:pathLst>
                <a:path w="114934" h="640079">
                  <a:moveTo>
                    <a:pt x="0" y="639491"/>
                  </a:moveTo>
                  <a:lnTo>
                    <a:pt x="114506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50881" y="5497275"/>
              <a:ext cx="372110" cy="272415"/>
            </a:xfrm>
            <a:custGeom>
              <a:avLst/>
              <a:gdLst/>
              <a:ahLst/>
              <a:cxnLst/>
              <a:rect l="l" t="t" r="r" b="b"/>
              <a:pathLst>
                <a:path w="372109" h="272414">
                  <a:moveTo>
                    <a:pt x="371874" y="0"/>
                  </a:moveTo>
                  <a:lnTo>
                    <a:pt x="0" y="272274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563654" y="5438175"/>
              <a:ext cx="369570" cy="551815"/>
            </a:xfrm>
            <a:custGeom>
              <a:avLst/>
              <a:gdLst/>
              <a:ahLst/>
              <a:cxnLst/>
              <a:rect l="l" t="t" r="r" b="b"/>
              <a:pathLst>
                <a:path w="369570" h="551814">
                  <a:moveTo>
                    <a:pt x="369148" y="551642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789829" y="5490908"/>
              <a:ext cx="749300" cy="489584"/>
            </a:xfrm>
            <a:custGeom>
              <a:avLst/>
              <a:gdLst/>
              <a:ahLst/>
              <a:cxnLst/>
              <a:rect l="l" t="t" r="r" b="b"/>
              <a:pathLst>
                <a:path w="749300" h="489585">
                  <a:moveTo>
                    <a:pt x="749202" y="0"/>
                  </a:moveTo>
                  <a:lnTo>
                    <a:pt x="0" y="489439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276550" y="5578291"/>
              <a:ext cx="1162050" cy="167005"/>
            </a:xfrm>
            <a:custGeom>
              <a:avLst/>
              <a:gdLst/>
              <a:ahLst/>
              <a:cxnLst/>
              <a:rect l="l" t="t" r="r" b="b"/>
              <a:pathLst>
                <a:path w="1162050" h="167004">
                  <a:moveTo>
                    <a:pt x="1161428" y="166966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332713" y="5068471"/>
              <a:ext cx="875030" cy="645160"/>
            </a:xfrm>
            <a:custGeom>
              <a:avLst/>
              <a:gdLst/>
              <a:ahLst/>
              <a:cxnLst/>
              <a:rect l="l" t="t" r="r" b="b"/>
              <a:pathLst>
                <a:path w="875029" h="645160">
                  <a:moveTo>
                    <a:pt x="874614" y="0"/>
                  </a:moveTo>
                  <a:lnTo>
                    <a:pt x="0" y="644948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83719" y="4847262"/>
              <a:ext cx="332105" cy="819785"/>
            </a:xfrm>
            <a:custGeom>
              <a:avLst/>
              <a:gdLst/>
              <a:ahLst/>
              <a:cxnLst/>
              <a:rect l="l" t="t" r="r" b="b"/>
              <a:pathLst>
                <a:path w="332104" h="819785">
                  <a:moveTo>
                    <a:pt x="332070" y="0"/>
                  </a:moveTo>
                  <a:lnTo>
                    <a:pt x="0" y="819553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1"/>
                  </a:lnTo>
                  <a:lnTo>
                    <a:pt x="291192" y="196760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262084" y="4746865"/>
              <a:ext cx="259079" cy="100965"/>
            </a:xfrm>
            <a:custGeom>
              <a:avLst/>
              <a:gdLst/>
              <a:ahLst/>
              <a:cxnLst/>
              <a:rect l="l" t="t" r="r" b="b"/>
              <a:pathLst>
                <a:path w="259079" h="100964">
                  <a:moveTo>
                    <a:pt x="258458" y="100397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207428" y="4940340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70">
                  <a:moveTo>
                    <a:pt x="146132" y="0"/>
                  </a:moveTo>
                  <a:lnTo>
                    <a:pt x="0" y="128225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804709" y="4641320"/>
              <a:ext cx="202565" cy="0"/>
            </a:xfrm>
            <a:custGeom>
              <a:avLst/>
              <a:gdLst/>
              <a:ahLst/>
              <a:cxnLst/>
              <a:rect l="l" t="t" r="r" b="b"/>
              <a:pathLst>
                <a:path w="202565" h="0">
                  <a:moveTo>
                    <a:pt x="0" y="0"/>
                  </a:moveTo>
                  <a:lnTo>
                    <a:pt x="202295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388805" y="4747036"/>
              <a:ext cx="161290" cy="175260"/>
            </a:xfrm>
            <a:custGeom>
              <a:avLst/>
              <a:gdLst/>
              <a:ahLst/>
              <a:cxnLst/>
              <a:rect l="l" t="t" r="r" b="b"/>
              <a:pathLst>
                <a:path w="161290" h="175260">
                  <a:moveTo>
                    <a:pt x="160855" y="0"/>
                  </a:moveTo>
                  <a:lnTo>
                    <a:pt x="0" y="175150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382" y="0"/>
                  </a:moveTo>
                  <a:lnTo>
                    <a:pt x="102166" y="7620"/>
                  </a:lnTo>
                  <a:lnTo>
                    <a:pt x="61159" y="28841"/>
                  </a:lnTo>
                  <a:lnTo>
                    <a:pt x="28822" y="61201"/>
                  </a:lnTo>
                  <a:lnTo>
                    <a:pt x="7615" y="102236"/>
                  </a:lnTo>
                  <a:lnTo>
                    <a:pt x="0" y="149485"/>
                  </a:lnTo>
                  <a:lnTo>
                    <a:pt x="7615" y="196733"/>
                  </a:lnTo>
                  <a:lnTo>
                    <a:pt x="28822" y="237768"/>
                  </a:lnTo>
                  <a:lnTo>
                    <a:pt x="61159" y="270127"/>
                  </a:lnTo>
                  <a:lnTo>
                    <a:pt x="102166" y="291348"/>
                  </a:lnTo>
                  <a:lnTo>
                    <a:pt x="149382" y="298969"/>
                  </a:lnTo>
                  <a:lnTo>
                    <a:pt x="196599" y="291348"/>
                  </a:lnTo>
                  <a:lnTo>
                    <a:pt x="237606" y="270127"/>
                  </a:lnTo>
                  <a:lnTo>
                    <a:pt x="269944" y="237768"/>
                  </a:lnTo>
                  <a:lnTo>
                    <a:pt x="291150" y="196733"/>
                  </a:lnTo>
                  <a:lnTo>
                    <a:pt x="298766" y="149485"/>
                  </a:lnTo>
                  <a:lnTo>
                    <a:pt x="291150" y="102236"/>
                  </a:lnTo>
                  <a:lnTo>
                    <a:pt x="269944" y="61201"/>
                  </a:lnTo>
                  <a:lnTo>
                    <a:pt x="237606" y="28841"/>
                  </a:lnTo>
                  <a:lnTo>
                    <a:pt x="196599" y="7620"/>
                  </a:lnTo>
                  <a:lnTo>
                    <a:pt x="149382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484"/>
                  </a:moveTo>
                  <a:lnTo>
                    <a:pt x="7615" y="102235"/>
                  </a:lnTo>
                  <a:lnTo>
                    <a:pt x="28822" y="61200"/>
                  </a:lnTo>
                  <a:lnTo>
                    <a:pt x="61159" y="28841"/>
                  </a:lnTo>
                  <a:lnTo>
                    <a:pt x="102166" y="7620"/>
                  </a:lnTo>
                  <a:lnTo>
                    <a:pt x="149383" y="0"/>
                  </a:lnTo>
                  <a:lnTo>
                    <a:pt x="196599" y="7620"/>
                  </a:lnTo>
                  <a:lnTo>
                    <a:pt x="237607" y="28841"/>
                  </a:lnTo>
                  <a:lnTo>
                    <a:pt x="269944" y="61200"/>
                  </a:lnTo>
                  <a:lnTo>
                    <a:pt x="291150" y="102235"/>
                  </a:lnTo>
                  <a:lnTo>
                    <a:pt x="298766" y="149484"/>
                  </a:lnTo>
                  <a:lnTo>
                    <a:pt x="291150" y="196733"/>
                  </a:lnTo>
                  <a:lnTo>
                    <a:pt x="269944" y="237768"/>
                  </a:lnTo>
                  <a:lnTo>
                    <a:pt x="237607" y="270127"/>
                  </a:lnTo>
                  <a:lnTo>
                    <a:pt x="196599" y="291348"/>
                  </a:lnTo>
                  <a:lnTo>
                    <a:pt x="149383" y="298969"/>
                  </a:lnTo>
                  <a:lnTo>
                    <a:pt x="102166" y="291348"/>
                  </a:lnTo>
                  <a:lnTo>
                    <a:pt x="61159" y="270127"/>
                  </a:lnTo>
                  <a:lnTo>
                    <a:pt x="28822" y="237768"/>
                  </a:lnTo>
                  <a:lnTo>
                    <a:pt x="7615" y="196733"/>
                  </a:lnTo>
                  <a:lnTo>
                    <a:pt x="0" y="149484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" name="object 5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5124" y="4343913"/>
            <a:ext cx="4425696" cy="1731264"/>
          </a:xfrm>
          <a:prstGeom prst="rect">
            <a:avLst/>
          </a:prstGeom>
        </p:spPr>
      </p:pic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5"/>
              <a:t> </a:t>
            </a:r>
            <a:r>
              <a:rPr dirty="0"/>
              <a:t>Supervised</a:t>
            </a:r>
            <a:r>
              <a:rPr dirty="0" spc="10"/>
              <a:t> </a:t>
            </a:r>
            <a:r>
              <a:rPr dirty="0"/>
              <a:t>Machine </a:t>
            </a:r>
            <a:r>
              <a:rPr dirty="0" spc="-10"/>
              <a:t>Learning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90889" y="2230417"/>
            <a:ext cx="3967479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2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018BFF"/>
                </a:solidFill>
                <a:latin typeface="Arial"/>
                <a:cs typeface="Arial"/>
              </a:rPr>
              <a:t>influenced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5" b="1" i="1">
                <a:solidFill>
                  <a:srgbClr val="018BFF"/>
                </a:solidFill>
                <a:latin typeface="Arial"/>
                <a:cs typeface="Arial"/>
              </a:rPr>
              <a:t>by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Traditional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ML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problems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where </a:t>
            </a:r>
            <a:r>
              <a:rPr dirty="0" sz="1800">
                <a:latin typeface="Arial"/>
                <a:cs typeface="Arial"/>
              </a:rPr>
              <a:t>relationships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between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points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important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predictive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650782" y="2230417"/>
            <a:ext cx="3958590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1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about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Enhance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graph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predicting </a:t>
            </a:r>
            <a:r>
              <a:rPr dirty="0" sz="1800">
                <a:latin typeface="Arial"/>
                <a:cs typeface="Arial"/>
              </a:rPr>
              <a:t>missing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changes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graph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occur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future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079522" y="4480976"/>
            <a:ext cx="2728595" cy="2064385"/>
            <a:chOff x="6079522" y="4480976"/>
            <a:chExt cx="2728595" cy="2064385"/>
          </a:xfrm>
        </p:grpSpPr>
        <p:sp>
          <p:nvSpPr>
            <p:cNvPr id="6" name="object 6" descr=""/>
            <p:cNvSpPr/>
            <p:nvPr/>
          </p:nvSpPr>
          <p:spPr>
            <a:xfrm>
              <a:off x="8300942" y="5315813"/>
              <a:ext cx="441959" cy="448945"/>
            </a:xfrm>
            <a:custGeom>
              <a:avLst/>
              <a:gdLst/>
              <a:ahLst/>
              <a:cxnLst/>
              <a:rect l="l" t="t" r="r" b="b"/>
              <a:pathLst>
                <a:path w="441959" h="448945">
                  <a:moveTo>
                    <a:pt x="441669" y="0"/>
                  </a:moveTo>
                  <a:lnTo>
                    <a:pt x="0" y="448516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279252" y="5740457"/>
              <a:ext cx="360045" cy="249554"/>
            </a:xfrm>
            <a:custGeom>
              <a:avLst/>
              <a:gdLst/>
              <a:ahLst/>
              <a:cxnLst/>
              <a:rect l="l" t="t" r="r" b="b"/>
              <a:pathLst>
                <a:path w="360045" h="249554">
                  <a:moveTo>
                    <a:pt x="359878" y="249357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927348" y="4928038"/>
              <a:ext cx="706755" cy="302895"/>
            </a:xfrm>
            <a:custGeom>
              <a:avLst/>
              <a:gdLst/>
              <a:ahLst/>
              <a:cxnLst/>
              <a:rect l="l" t="t" r="r" b="b"/>
              <a:pathLst>
                <a:path w="706754" h="302895">
                  <a:moveTo>
                    <a:pt x="706671" y="0"/>
                  </a:moveTo>
                  <a:lnTo>
                    <a:pt x="0" y="302830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173871" y="5740078"/>
              <a:ext cx="114935" cy="640080"/>
            </a:xfrm>
            <a:custGeom>
              <a:avLst/>
              <a:gdLst/>
              <a:ahLst/>
              <a:cxnLst/>
              <a:rect l="l" t="t" r="r" b="b"/>
              <a:pathLst>
                <a:path w="114934" h="640079">
                  <a:moveTo>
                    <a:pt x="0" y="639491"/>
                  </a:moveTo>
                  <a:lnTo>
                    <a:pt x="114506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250881" y="5497275"/>
              <a:ext cx="372110" cy="272415"/>
            </a:xfrm>
            <a:custGeom>
              <a:avLst/>
              <a:gdLst/>
              <a:ahLst/>
              <a:cxnLst/>
              <a:rect l="l" t="t" r="r" b="b"/>
              <a:pathLst>
                <a:path w="372109" h="272414">
                  <a:moveTo>
                    <a:pt x="371874" y="0"/>
                  </a:moveTo>
                  <a:lnTo>
                    <a:pt x="0" y="272274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563654" y="5438175"/>
              <a:ext cx="369570" cy="551815"/>
            </a:xfrm>
            <a:custGeom>
              <a:avLst/>
              <a:gdLst/>
              <a:ahLst/>
              <a:cxnLst/>
              <a:rect l="l" t="t" r="r" b="b"/>
              <a:pathLst>
                <a:path w="369570" h="551814">
                  <a:moveTo>
                    <a:pt x="369148" y="551642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789829" y="5490908"/>
              <a:ext cx="749300" cy="489584"/>
            </a:xfrm>
            <a:custGeom>
              <a:avLst/>
              <a:gdLst/>
              <a:ahLst/>
              <a:cxnLst/>
              <a:rect l="l" t="t" r="r" b="b"/>
              <a:pathLst>
                <a:path w="749300" h="489585">
                  <a:moveTo>
                    <a:pt x="749202" y="0"/>
                  </a:moveTo>
                  <a:lnTo>
                    <a:pt x="0" y="489439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276550" y="5578291"/>
              <a:ext cx="1162050" cy="167005"/>
            </a:xfrm>
            <a:custGeom>
              <a:avLst/>
              <a:gdLst/>
              <a:ahLst/>
              <a:cxnLst/>
              <a:rect l="l" t="t" r="r" b="b"/>
              <a:pathLst>
                <a:path w="1162050" h="167004">
                  <a:moveTo>
                    <a:pt x="1161428" y="166966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332713" y="5068471"/>
              <a:ext cx="875030" cy="645160"/>
            </a:xfrm>
            <a:custGeom>
              <a:avLst/>
              <a:gdLst/>
              <a:ahLst/>
              <a:cxnLst/>
              <a:rect l="l" t="t" r="r" b="b"/>
              <a:pathLst>
                <a:path w="875029" h="645160">
                  <a:moveTo>
                    <a:pt x="874614" y="0"/>
                  </a:moveTo>
                  <a:lnTo>
                    <a:pt x="0" y="644948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383719" y="4847262"/>
              <a:ext cx="332105" cy="819785"/>
            </a:xfrm>
            <a:custGeom>
              <a:avLst/>
              <a:gdLst/>
              <a:ahLst/>
              <a:cxnLst/>
              <a:rect l="l" t="t" r="r" b="b"/>
              <a:pathLst>
                <a:path w="332104" h="819785">
                  <a:moveTo>
                    <a:pt x="332070" y="0"/>
                  </a:moveTo>
                  <a:lnTo>
                    <a:pt x="0" y="819553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1"/>
                  </a:lnTo>
                  <a:lnTo>
                    <a:pt x="291192" y="196760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7262084" y="4746865"/>
              <a:ext cx="259079" cy="100965"/>
            </a:xfrm>
            <a:custGeom>
              <a:avLst/>
              <a:gdLst/>
              <a:ahLst/>
              <a:cxnLst/>
              <a:rect l="l" t="t" r="r" b="b"/>
              <a:pathLst>
                <a:path w="259079" h="100964">
                  <a:moveTo>
                    <a:pt x="258458" y="100397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207428" y="4940340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70">
                  <a:moveTo>
                    <a:pt x="146132" y="0"/>
                  </a:moveTo>
                  <a:lnTo>
                    <a:pt x="0" y="128225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804709" y="4641320"/>
              <a:ext cx="202565" cy="0"/>
            </a:xfrm>
            <a:custGeom>
              <a:avLst/>
              <a:gdLst/>
              <a:ahLst/>
              <a:cxnLst/>
              <a:rect l="l" t="t" r="r" b="b"/>
              <a:pathLst>
                <a:path w="202565" h="0">
                  <a:moveTo>
                    <a:pt x="0" y="0"/>
                  </a:moveTo>
                  <a:lnTo>
                    <a:pt x="202295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388805" y="4747036"/>
              <a:ext cx="161290" cy="175260"/>
            </a:xfrm>
            <a:custGeom>
              <a:avLst/>
              <a:gdLst/>
              <a:ahLst/>
              <a:cxnLst/>
              <a:rect l="l" t="t" r="r" b="b"/>
              <a:pathLst>
                <a:path w="161290" h="175260">
                  <a:moveTo>
                    <a:pt x="160855" y="0"/>
                  </a:moveTo>
                  <a:lnTo>
                    <a:pt x="0" y="175150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382" y="0"/>
                  </a:moveTo>
                  <a:lnTo>
                    <a:pt x="102166" y="7620"/>
                  </a:lnTo>
                  <a:lnTo>
                    <a:pt x="61159" y="28841"/>
                  </a:lnTo>
                  <a:lnTo>
                    <a:pt x="28822" y="61201"/>
                  </a:lnTo>
                  <a:lnTo>
                    <a:pt x="7615" y="102236"/>
                  </a:lnTo>
                  <a:lnTo>
                    <a:pt x="0" y="149485"/>
                  </a:lnTo>
                  <a:lnTo>
                    <a:pt x="7615" y="196733"/>
                  </a:lnTo>
                  <a:lnTo>
                    <a:pt x="28822" y="237768"/>
                  </a:lnTo>
                  <a:lnTo>
                    <a:pt x="61159" y="270127"/>
                  </a:lnTo>
                  <a:lnTo>
                    <a:pt x="102166" y="291348"/>
                  </a:lnTo>
                  <a:lnTo>
                    <a:pt x="149382" y="298969"/>
                  </a:lnTo>
                  <a:lnTo>
                    <a:pt x="196599" y="291348"/>
                  </a:lnTo>
                  <a:lnTo>
                    <a:pt x="237606" y="270127"/>
                  </a:lnTo>
                  <a:lnTo>
                    <a:pt x="269944" y="237768"/>
                  </a:lnTo>
                  <a:lnTo>
                    <a:pt x="291150" y="196733"/>
                  </a:lnTo>
                  <a:lnTo>
                    <a:pt x="298766" y="149485"/>
                  </a:lnTo>
                  <a:lnTo>
                    <a:pt x="291150" y="102236"/>
                  </a:lnTo>
                  <a:lnTo>
                    <a:pt x="269944" y="61201"/>
                  </a:lnTo>
                  <a:lnTo>
                    <a:pt x="237606" y="28841"/>
                  </a:lnTo>
                  <a:lnTo>
                    <a:pt x="196599" y="7620"/>
                  </a:lnTo>
                  <a:lnTo>
                    <a:pt x="149382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484"/>
                  </a:moveTo>
                  <a:lnTo>
                    <a:pt x="7615" y="102235"/>
                  </a:lnTo>
                  <a:lnTo>
                    <a:pt x="28822" y="61200"/>
                  </a:lnTo>
                  <a:lnTo>
                    <a:pt x="61159" y="28841"/>
                  </a:lnTo>
                  <a:lnTo>
                    <a:pt x="102166" y="7620"/>
                  </a:lnTo>
                  <a:lnTo>
                    <a:pt x="149383" y="0"/>
                  </a:lnTo>
                  <a:lnTo>
                    <a:pt x="196599" y="7620"/>
                  </a:lnTo>
                  <a:lnTo>
                    <a:pt x="237607" y="28841"/>
                  </a:lnTo>
                  <a:lnTo>
                    <a:pt x="269944" y="61200"/>
                  </a:lnTo>
                  <a:lnTo>
                    <a:pt x="291150" y="102235"/>
                  </a:lnTo>
                  <a:lnTo>
                    <a:pt x="298766" y="149484"/>
                  </a:lnTo>
                  <a:lnTo>
                    <a:pt x="291150" y="196733"/>
                  </a:lnTo>
                  <a:lnTo>
                    <a:pt x="269944" y="237768"/>
                  </a:lnTo>
                  <a:lnTo>
                    <a:pt x="237607" y="270127"/>
                  </a:lnTo>
                  <a:lnTo>
                    <a:pt x="196599" y="291348"/>
                  </a:lnTo>
                  <a:lnTo>
                    <a:pt x="149383" y="298969"/>
                  </a:lnTo>
                  <a:lnTo>
                    <a:pt x="102166" y="291348"/>
                  </a:lnTo>
                  <a:lnTo>
                    <a:pt x="61159" y="270127"/>
                  </a:lnTo>
                  <a:lnTo>
                    <a:pt x="28822" y="237768"/>
                  </a:lnTo>
                  <a:lnTo>
                    <a:pt x="7615" y="196733"/>
                  </a:lnTo>
                  <a:lnTo>
                    <a:pt x="0" y="149484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" name="object 5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19" y="4387194"/>
            <a:ext cx="4304680" cy="1644700"/>
          </a:xfrm>
          <a:prstGeom prst="rect">
            <a:avLst/>
          </a:prstGeom>
        </p:spPr>
      </p:pic>
      <p:sp>
        <p:nvSpPr>
          <p:cNvPr id="51" name="object 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52" name="object 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79522" y="4480976"/>
            <a:ext cx="2728595" cy="2064385"/>
            <a:chOff x="6079522" y="4480976"/>
            <a:chExt cx="2728595" cy="2064385"/>
          </a:xfrm>
        </p:grpSpPr>
        <p:sp>
          <p:nvSpPr>
            <p:cNvPr id="3" name="object 3" descr=""/>
            <p:cNvSpPr/>
            <p:nvPr/>
          </p:nvSpPr>
          <p:spPr>
            <a:xfrm>
              <a:off x="6951521" y="4778791"/>
              <a:ext cx="148590" cy="384810"/>
            </a:xfrm>
            <a:custGeom>
              <a:avLst/>
              <a:gdLst/>
              <a:ahLst/>
              <a:cxnLst/>
              <a:rect l="l" t="t" r="r" b="b"/>
              <a:pathLst>
                <a:path w="148590" h="384810">
                  <a:moveTo>
                    <a:pt x="148443" y="0"/>
                  </a:moveTo>
                  <a:lnTo>
                    <a:pt x="0" y="384508"/>
                  </a:lnTo>
                </a:path>
              </a:pathLst>
            </a:custGeom>
            <a:ln w="21671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300942" y="5315813"/>
              <a:ext cx="441959" cy="448945"/>
            </a:xfrm>
            <a:custGeom>
              <a:avLst/>
              <a:gdLst/>
              <a:ahLst/>
              <a:cxnLst/>
              <a:rect l="l" t="t" r="r" b="b"/>
              <a:pathLst>
                <a:path w="441959" h="448945">
                  <a:moveTo>
                    <a:pt x="441669" y="0"/>
                  </a:moveTo>
                  <a:lnTo>
                    <a:pt x="0" y="448516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279252" y="5740457"/>
              <a:ext cx="360045" cy="249554"/>
            </a:xfrm>
            <a:custGeom>
              <a:avLst/>
              <a:gdLst/>
              <a:ahLst/>
              <a:cxnLst/>
              <a:rect l="l" t="t" r="r" b="b"/>
              <a:pathLst>
                <a:path w="360045" h="249554">
                  <a:moveTo>
                    <a:pt x="359878" y="249357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927348" y="4928038"/>
              <a:ext cx="706755" cy="302895"/>
            </a:xfrm>
            <a:custGeom>
              <a:avLst/>
              <a:gdLst/>
              <a:ahLst/>
              <a:cxnLst/>
              <a:rect l="l" t="t" r="r" b="b"/>
              <a:pathLst>
                <a:path w="706754" h="302895">
                  <a:moveTo>
                    <a:pt x="706671" y="0"/>
                  </a:moveTo>
                  <a:lnTo>
                    <a:pt x="0" y="302830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173871" y="5740078"/>
              <a:ext cx="114935" cy="640080"/>
            </a:xfrm>
            <a:custGeom>
              <a:avLst/>
              <a:gdLst/>
              <a:ahLst/>
              <a:cxnLst/>
              <a:rect l="l" t="t" r="r" b="b"/>
              <a:pathLst>
                <a:path w="114934" h="640079">
                  <a:moveTo>
                    <a:pt x="0" y="639491"/>
                  </a:moveTo>
                  <a:lnTo>
                    <a:pt x="114506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50881" y="5497275"/>
              <a:ext cx="372110" cy="272415"/>
            </a:xfrm>
            <a:custGeom>
              <a:avLst/>
              <a:gdLst/>
              <a:ahLst/>
              <a:cxnLst/>
              <a:rect l="l" t="t" r="r" b="b"/>
              <a:pathLst>
                <a:path w="372109" h="272414">
                  <a:moveTo>
                    <a:pt x="371874" y="0"/>
                  </a:moveTo>
                  <a:lnTo>
                    <a:pt x="0" y="272274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563654" y="5438175"/>
              <a:ext cx="369570" cy="551815"/>
            </a:xfrm>
            <a:custGeom>
              <a:avLst/>
              <a:gdLst/>
              <a:ahLst/>
              <a:cxnLst/>
              <a:rect l="l" t="t" r="r" b="b"/>
              <a:pathLst>
                <a:path w="369570" h="551814">
                  <a:moveTo>
                    <a:pt x="369148" y="551642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789829" y="5490908"/>
              <a:ext cx="749300" cy="489584"/>
            </a:xfrm>
            <a:custGeom>
              <a:avLst/>
              <a:gdLst/>
              <a:ahLst/>
              <a:cxnLst/>
              <a:rect l="l" t="t" r="r" b="b"/>
              <a:pathLst>
                <a:path w="749300" h="489585">
                  <a:moveTo>
                    <a:pt x="749202" y="0"/>
                  </a:moveTo>
                  <a:lnTo>
                    <a:pt x="0" y="489439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76550" y="5578291"/>
              <a:ext cx="1162050" cy="167005"/>
            </a:xfrm>
            <a:custGeom>
              <a:avLst/>
              <a:gdLst/>
              <a:ahLst/>
              <a:cxnLst/>
              <a:rect l="l" t="t" r="r" b="b"/>
              <a:pathLst>
                <a:path w="1162050" h="167004">
                  <a:moveTo>
                    <a:pt x="1161428" y="166966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32713" y="5068471"/>
              <a:ext cx="875030" cy="645160"/>
            </a:xfrm>
            <a:custGeom>
              <a:avLst/>
              <a:gdLst/>
              <a:ahLst/>
              <a:cxnLst/>
              <a:rect l="l" t="t" r="r" b="b"/>
              <a:pathLst>
                <a:path w="875029" h="645160">
                  <a:moveTo>
                    <a:pt x="874614" y="0"/>
                  </a:moveTo>
                  <a:lnTo>
                    <a:pt x="0" y="644948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83719" y="4847262"/>
              <a:ext cx="332105" cy="819785"/>
            </a:xfrm>
            <a:custGeom>
              <a:avLst/>
              <a:gdLst/>
              <a:ahLst/>
              <a:cxnLst/>
              <a:rect l="l" t="t" r="r" b="b"/>
              <a:pathLst>
                <a:path w="332104" h="819785">
                  <a:moveTo>
                    <a:pt x="332070" y="0"/>
                  </a:moveTo>
                  <a:lnTo>
                    <a:pt x="0" y="819553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1"/>
                  </a:lnTo>
                  <a:lnTo>
                    <a:pt x="291192" y="196760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262084" y="4746865"/>
              <a:ext cx="259079" cy="100965"/>
            </a:xfrm>
            <a:custGeom>
              <a:avLst/>
              <a:gdLst/>
              <a:ahLst/>
              <a:cxnLst/>
              <a:rect l="l" t="t" r="r" b="b"/>
              <a:pathLst>
                <a:path w="259079" h="100964">
                  <a:moveTo>
                    <a:pt x="258458" y="100397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207428" y="4940340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70">
                  <a:moveTo>
                    <a:pt x="146132" y="0"/>
                  </a:moveTo>
                  <a:lnTo>
                    <a:pt x="0" y="128225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804709" y="4641320"/>
              <a:ext cx="202565" cy="0"/>
            </a:xfrm>
            <a:custGeom>
              <a:avLst/>
              <a:gdLst/>
              <a:ahLst/>
              <a:cxnLst/>
              <a:rect l="l" t="t" r="r" b="b"/>
              <a:pathLst>
                <a:path w="202565" h="0">
                  <a:moveTo>
                    <a:pt x="0" y="0"/>
                  </a:moveTo>
                  <a:lnTo>
                    <a:pt x="202295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388805" y="4747036"/>
              <a:ext cx="161290" cy="175260"/>
            </a:xfrm>
            <a:custGeom>
              <a:avLst/>
              <a:gdLst/>
              <a:ahLst/>
              <a:cxnLst/>
              <a:rect l="l" t="t" r="r" b="b"/>
              <a:pathLst>
                <a:path w="161290" h="175260">
                  <a:moveTo>
                    <a:pt x="160855" y="0"/>
                  </a:moveTo>
                  <a:lnTo>
                    <a:pt x="0" y="175150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382" y="0"/>
                  </a:moveTo>
                  <a:lnTo>
                    <a:pt x="102166" y="7620"/>
                  </a:lnTo>
                  <a:lnTo>
                    <a:pt x="61159" y="28841"/>
                  </a:lnTo>
                  <a:lnTo>
                    <a:pt x="28822" y="61201"/>
                  </a:lnTo>
                  <a:lnTo>
                    <a:pt x="7615" y="102236"/>
                  </a:lnTo>
                  <a:lnTo>
                    <a:pt x="0" y="149485"/>
                  </a:lnTo>
                  <a:lnTo>
                    <a:pt x="7615" y="196733"/>
                  </a:lnTo>
                  <a:lnTo>
                    <a:pt x="28822" y="237768"/>
                  </a:lnTo>
                  <a:lnTo>
                    <a:pt x="61159" y="270127"/>
                  </a:lnTo>
                  <a:lnTo>
                    <a:pt x="102166" y="291348"/>
                  </a:lnTo>
                  <a:lnTo>
                    <a:pt x="149382" y="298969"/>
                  </a:lnTo>
                  <a:lnTo>
                    <a:pt x="196599" y="291348"/>
                  </a:lnTo>
                  <a:lnTo>
                    <a:pt x="237606" y="270127"/>
                  </a:lnTo>
                  <a:lnTo>
                    <a:pt x="269944" y="237768"/>
                  </a:lnTo>
                  <a:lnTo>
                    <a:pt x="291150" y="196733"/>
                  </a:lnTo>
                  <a:lnTo>
                    <a:pt x="298766" y="149485"/>
                  </a:lnTo>
                  <a:lnTo>
                    <a:pt x="291150" y="102236"/>
                  </a:lnTo>
                  <a:lnTo>
                    <a:pt x="269944" y="61201"/>
                  </a:lnTo>
                  <a:lnTo>
                    <a:pt x="237606" y="28841"/>
                  </a:lnTo>
                  <a:lnTo>
                    <a:pt x="196599" y="7620"/>
                  </a:lnTo>
                  <a:lnTo>
                    <a:pt x="149382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484"/>
                  </a:moveTo>
                  <a:lnTo>
                    <a:pt x="7615" y="102235"/>
                  </a:lnTo>
                  <a:lnTo>
                    <a:pt x="28822" y="61200"/>
                  </a:lnTo>
                  <a:lnTo>
                    <a:pt x="61159" y="28841"/>
                  </a:lnTo>
                  <a:lnTo>
                    <a:pt x="102166" y="7620"/>
                  </a:lnTo>
                  <a:lnTo>
                    <a:pt x="149383" y="0"/>
                  </a:lnTo>
                  <a:lnTo>
                    <a:pt x="196599" y="7620"/>
                  </a:lnTo>
                  <a:lnTo>
                    <a:pt x="237607" y="28841"/>
                  </a:lnTo>
                  <a:lnTo>
                    <a:pt x="269944" y="61200"/>
                  </a:lnTo>
                  <a:lnTo>
                    <a:pt x="291150" y="102235"/>
                  </a:lnTo>
                  <a:lnTo>
                    <a:pt x="298766" y="149484"/>
                  </a:lnTo>
                  <a:lnTo>
                    <a:pt x="291150" y="196733"/>
                  </a:lnTo>
                  <a:lnTo>
                    <a:pt x="269944" y="237768"/>
                  </a:lnTo>
                  <a:lnTo>
                    <a:pt x="237607" y="270127"/>
                  </a:lnTo>
                  <a:lnTo>
                    <a:pt x="196599" y="291348"/>
                  </a:lnTo>
                  <a:lnTo>
                    <a:pt x="149383" y="298969"/>
                  </a:lnTo>
                  <a:lnTo>
                    <a:pt x="102166" y="291348"/>
                  </a:lnTo>
                  <a:lnTo>
                    <a:pt x="61159" y="270127"/>
                  </a:lnTo>
                  <a:lnTo>
                    <a:pt x="28822" y="237768"/>
                  </a:lnTo>
                  <a:lnTo>
                    <a:pt x="7615" y="196733"/>
                  </a:lnTo>
                  <a:lnTo>
                    <a:pt x="0" y="149484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323324" y="6114173"/>
              <a:ext cx="219075" cy="270510"/>
            </a:xfrm>
            <a:custGeom>
              <a:avLst/>
              <a:gdLst/>
              <a:ahLst/>
              <a:cxnLst/>
              <a:rect l="l" t="t" r="r" b="b"/>
              <a:pathLst>
                <a:path w="219075" h="270510">
                  <a:moveTo>
                    <a:pt x="218741" y="0"/>
                  </a:moveTo>
                  <a:lnTo>
                    <a:pt x="0" y="270453"/>
                  </a:lnTo>
                </a:path>
              </a:pathLst>
            </a:custGeom>
            <a:ln w="21675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5"/>
              <a:t> </a:t>
            </a:r>
            <a:r>
              <a:rPr dirty="0"/>
              <a:t>Supervised</a:t>
            </a:r>
            <a:r>
              <a:rPr dirty="0" spc="10"/>
              <a:t> </a:t>
            </a:r>
            <a:r>
              <a:rPr dirty="0"/>
              <a:t>Machine </a:t>
            </a:r>
            <a:r>
              <a:rPr dirty="0" spc="-10"/>
              <a:t>Learning</a:t>
            </a:r>
          </a:p>
        </p:txBody>
      </p:sp>
      <p:sp>
        <p:nvSpPr>
          <p:cNvPr id="50" name="object 50" descr=""/>
          <p:cNvSpPr txBox="1"/>
          <p:nvPr/>
        </p:nvSpPr>
        <p:spPr>
          <a:xfrm>
            <a:off x="1090889" y="2230417"/>
            <a:ext cx="3967479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2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018BFF"/>
                </a:solidFill>
                <a:latin typeface="Arial"/>
                <a:cs typeface="Arial"/>
              </a:rPr>
              <a:t>influenced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5" b="1" i="1">
                <a:solidFill>
                  <a:srgbClr val="018BFF"/>
                </a:solidFill>
                <a:latin typeface="Arial"/>
                <a:cs typeface="Arial"/>
              </a:rPr>
              <a:t>by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Traditional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ML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problems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where </a:t>
            </a:r>
            <a:r>
              <a:rPr dirty="0" sz="1800">
                <a:latin typeface="Arial"/>
                <a:cs typeface="Arial"/>
              </a:rPr>
              <a:t>relationships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between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points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important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predictive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650782" y="2230417"/>
            <a:ext cx="3958590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1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about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Enhance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graph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predicting </a:t>
            </a:r>
            <a:r>
              <a:rPr dirty="0" sz="1800">
                <a:latin typeface="Arial"/>
                <a:cs typeface="Arial"/>
              </a:rPr>
              <a:t>missing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changes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graph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occur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future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19" y="4387194"/>
            <a:ext cx="4304680" cy="1644700"/>
          </a:xfrm>
          <a:prstGeom prst="rect">
            <a:avLst/>
          </a:prstGeom>
        </p:spPr>
      </p:pic>
      <p:sp>
        <p:nvSpPr>
          <p:cNvPr id="53" name="object 5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54" name="object 5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079522" y="4480976"/>
            <a:ext cx="2728595" cy="2064385"/>
            <a:chOff x="6079522" y="4480976"/>
            <a:chExt cx="2728595" cy="2064385"/>
          </a:xfrm>
        </p:grpSpPr>
        <p:sp>
          <p:nvSpPr>
            <p:cNvPr id="3" name="object 3" descr=""/>
            <p:cNvSpPr/>
            <p:nvPr/>
          </p:nvSpPr>
          <p:spPr>
            <a:xfrm>
              <a:off x="6951521" y="4778791"/>
              <a:ext cx="148590" cy="384810"/>
            </a:xfrm>
            <a:custGeom>
              <a:avLst/>
              <a:gdLst/>
              <a:ahLst/>
              <a:cxnLst/>
              <a:rect l="l" t="t" r="r" b="b"/>
              <a:pathLst>
                <a:path w="148590" h="384810">
                  <a:moveTo>
                    <a:pt x="148443" y="0"/>
                  </a:moveTo>
                  <a:lnTo>
                    <a:pt x="0" y="384508"/>
                  </a:lnTo>
                </a:path>
              </a:pathLst>
            </a:custGeom>
            <a:ln w="21671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300942" y="5315813"/>
              <a:ext cx="441959" cy="448945"/>
            </a:xfrm>
            <a:custGeom>
              <a:avLst/>
              <a:gdLst/>
              <a:ahLst/>
              <a:cxnLst/>
              <a:rect l="l" t="t" r="r" b="b"/>
              <a:pathLst>
                <a:path w="441959" h="448945">
                  <a:moveTo>
                    <a:pt x="441669" y="0"/>
                  </a:moveTo>
                  <a:lnTo>
                    <a:pt x="0" y="448516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279252" y="5740457"/>
              <a:ext cx="360045" cy="249554"/>
            </a:xfrm>
            <a:custGeom>
              <a:avLst/>
              <a:gdLst/>
              <a:ahLst/>
              <a:cxnLst/>
              <a:rect l="l" t="t" r="r" b="b"/>
              <a:pathLst>
                <a:path w="360045" h="249554">
                  <a:moveTo>
                    <a:pt x="359878" y="249357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927348" y="4928038"/>
              <a:ext cx="706755" cy="302895"/>
            </a:xfrm>
            <a:custGeom>
              <a:avLst/>
              <a:gdLst/>
              <a:ahLst/>
              <a:cxnLst/>
              <a:rect l="l" t="t" r="r" b="b"/>
              <a:pathLst>
                <a:path w="706754" h="302895">
                  <a:moveTo>
                    <a:pt x="706671" y="0"/>
                  </a:moveTo>
                  <a:lnTo>
                    <a:pt x="0" y="302830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173871" y="5740078"/>
              <a:ext cx="114935" cy="640080"/>
            </a:xfrm>
            <a:custGeom>
              <a:avLst/>
              <a:gdLst/>
              <a:ahLst/>
              <a:cxnLst/>
              <a:rect l="l" t="t" r="r" b="b"/>
              <a:pathLst>
                <a:path w="114934" h="640079">
                  <a:moveTo>
                    <a:pt x="0" y="639491"/>
                  </a:moveTo>
                  <a:lnTo>
                    <a:pt x="114506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250881" y="5497275"/>
              <a:ext cx="372110" cy="272415"/>
            </a:xfrm>
            <a:custGeom>
              <a:avLst/>
              <a:gdLst/>
              <a:ahLst/>
              <a:cxnLst/>
              <a:rect l="l" t="t" r="r" b="b"/>
              <a:pathLst>
                <a:path w="372109" h="272414">
                  <a:moveTo>
                    <a:pt x="371874" y="0"/>
                  </a:moveTo>
                  <a:lnTo>
                    <a:pt x="0" y="272274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563654" y="5438175"/>
              <a:ext cx="369570" cy="551815"/>
            </a:xfrm>
            <a:custGeom>
              <a:avLst/>
              <a:gdLst/>
              <a:ahLst/>
              <a:cxnLst/>
              <a:rect l="l" t="t" r="r" b="b"/>
              <a:pathLst>
                <a:path w="369570" h="551814">
                  <a:moveTo>
                    <a:pt x="369148" y="551642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789829" y="5490908"/>
              <a:ext cx="749300" cy="489584"/>
            </a:xfrm>
            <a:custGeom>
              <a:avLst/>
              <a:gdLst/>
              <a:ahLst/>
              <a:cxnLst/>
              <a:rect l="l" t="t" r="r" b="b"/>
              <a:pathLst>
                <a:path w="749300" h="489585">
                  <a:moveTo>
                    <a:pt x="749202" y="0"/>
                  </a:moveTo>
                  <a:lnTo>
                    <a:pt x="0" y="489439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276550" y="5578291"/>
              <a:ext cx="1162050" cy="167005"/>
            </a:xfrm>
            <a:custGeom>
              <a:avLst/>
              <a:gdLst/>
              <a:ahLst/>
              <a:cxnLst/>
              <a:rect l="l" t="t" r="r" b="b"/>
              <a:pathLst>
                <a:path w="1162050" h="167004">
                  <a:moveTo>
                    <a:pt x="1161428" y="166966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332713" y="5068471"/>
              <a:ext cx="875030" cy="645160"/>
            </a:xfrm>
            <a:custGeom>
              <a:avLst/>
              <a:gdLst/>
              <a:ahLst/>
              <a:cxnLst/>
              <a:rect l="l" t="t" r="r" b="b"/>
              <a:pathLst>
                <a:path w="875029" h="645160">
                  <a:moveTo>
                    <a:pt x="874614" y="0"/>
                  </a:moveTo>
                  <a:lnTo>
                    <a:pt x="0" y="644948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383719" y="4847262"/>
              <a:ext cx="332105" cy="819785"/>
            </a:xfrm>
            <a:custGeom>
              <a:avLst/>
              <a:gdLst/>
              <a:ahLst/>
              <a:cxnLst/>
              <a:rect l="l" t="t" r="r" b="b"/>
              <a:pathLst>
                <a:path w="332104" h="819785">
                  <a:moveTo>
                    <a:pt x="332070" y="0"/>
                  </a:moveTo>
                  <a:lnTo>
                    <a:pt x="0" y="819553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709835" y="578274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309801" y="468511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9DD1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952280" y="502468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32515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498306" y="585895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487563" y="52720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006870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79BF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769921" y="510610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32515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7476783" y="48034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1"/>
                  </a:lnTo>
                  <a:lnTo>
                    <a:pt x="291192" y="196760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139169" y="559575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024470" y="62351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4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7262084" y="4746865"/>
              <a:ext cx="259079" cy="100965"/>
            </a:xfrm>
            <a:custGeom>
              <a:avLst/>
              <a:gdLst/>
              <a:ahLst/>
              <a:cxnLst/>
              <a:rect l="l" t="t" r="r" b="b"/>
              <a:pathLst>
                <a:path w="259079" h="100964">
                  <a:moveTo>
                    <a:pt x="258458" y="100397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207428" y="4940340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4" h="128270">
                  <a:moveTo>
                    <a:pt x="146132" y="0"/>
                  </a:moveTo>
                  <a:lnTo>
                    <a:pt x="0" y="128225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462472" y="5358145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6090361" y="563037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05899" y="449181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133886" y="487864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804709" y="4641320"/>
              <a:ext cx="202565" cy="0"/>
            </a:xfrm>
            <a:custGeom>
              <a:avLst/>
              <a:gdLst/>
              <a:ahLst/>
              <a:cxnLst/>
              <a:rect l="l" t="t" r="r" b="b"/>
              <a:pathLst>
                <a:path w="202565" h="0">
                  <a:moveTo>
                    <a:pt x="0" y="0"/>
                  </a:moveTo>
                  <a:lnTo>
                    <a:pt x="202295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388805" y="4747036"/>
              <a:ext cx="161290" cy="175260"/>
            </a:xfrm>
            <a:custGeom>
              <a:avLst/>
              <a:gdLst/>
              <a:ahLst/>
              <a:cxnLst/>
              <a:rect l="l" t="t" r="r" b="b"/>
              <a:pathLst>
                <a:path w="161290" h="175260">
                  <a:moveTo>
                    <a:pt x="160855" y="0"/>
                  </a:moveTo>
                  <a:lnTo>
                    <a:pt x="0" y="175150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382" y="0"/>
                  </a:moveTo>
                  <a:lnTo>
                    <a:pt x="102166" y="7620"/>
                  </a:lnTo>
                  <a:lnTo>
                    <a:pt x="61159" y="28841"/>
                  </a:lnTo>
                  <a:lnTo>
                    <a:pt x="28822" y="61201"/>
                  </a:lnTo>
                  <a:lnTo>
                    <a:pt x="7615" y="102236"/>
                  </a:lnTo>
                  <a:lnTo>
                    <a:pt x="0" y="149485"/>
                  </a:lnTo>
                  <a:lnTo>
                    <a:pt x="7615" y="196733"/>
                  </a:lnTo>
                  <a:lnTo>
                    <a:pt x="28822" y="237768"/>
                  </a:lnTo>
                  <a:lnTo>
                    <a:pt x="61159" y="270127"/>
                  </a:lnTo>
                  <a:lnTo>
                    <a:pt x="102166" y="291348"/>
                  </a:lnTo>
                  <a:lnTo>
                    <a:pt x="149382" y="298969"/>
                  </a:lnTo>
                  <a:lnTo>
                    <a:pt x="196599" y="291348"/>
                  </a:lnTo>
                  <a:lnTo>
                    <a:pt x="237606" y="270127"/>
                  </a:lnTo>
                  <a:lnTo>
                    <a:pt x="269944" y="237768"/>
                  </a:lnTo>
                  <a:lnTo>
                    <a:pt x="291150" y="196733"/>
                  </a:lnTo>
                  <a:lnTo>
                    <a:pt x="298766" y="149485"/>
                  </a:lnTo>
                  <a:lnTo>
                    <a:pt x="291150" y="102236"/>
                  </a:lnTo>
                  <a:lnTo>
                    <a:pt x="269944" y="61201"/>
                  </a:lnTo>
                  <a:lnTo>
                    <a:pt x="237606" y="28841"/>
                  </a:lnTo>
                  <a:lnTo>
                    <a:pt x="196599" y="7620"/>
                  </a:lnTo>
                  <a:lnTo>
                    <a:pt x="149382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7283669" y="544862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484"/>
                  </a:moveTo>
                  <a:lnTo>
                    <a:pt x="7615" y="102235"/>
                  </a:lnTo>
                  <a:lnTo>
                    <a:pt x="28822" y="61200"/>
                  </a:lnTo>
                  <a:lnTo>
                    <a:pt x="61159" y="28841"/>
                  </a:lnTo>
                  <a:lnTo>
                    <a:pt x="102166" y="7620"/>
                  </a:lnTo>
                  <a:lnTo>
                    <a:pt x="149383" y="0"/>
                  </a:lnTo>
                  <a:lnTo>
                    <a:pt x="196599" y="7620"/>
                  </a:lnTo>
                  <a:lnTo>
                    <a:pt x="237607" y="28841"/>
                  </a:lnTo>
                  <a:lnTo>
                    <a:pt x="269944" y="61200"/>
                  </a:lnTo>
                  <a:lnTo>
                    <a:pt x="291150" y="102235"/>
                  </a:lnTo>
                  <a:lnTo>
                    <a:pt x="298766" y="149484"/>
                  </a:lnTo>
                  <a:lnTo>
                    <a:pt x="291150" y="196733"/>
                  </a:lnTo>
                  <a:lnTo>
                    <a:pt x="269944" y="237768"/>
                  </a:lnTo>
                  <a:lnTo>
                    <a:pt x="237607" y="270127"/>
                  </a:lnTo>
                  <a:lnTo>
                    <a:pt x="196599" y="291348"/>
                  </a:lnTo>
                  <a:lnTo>
                    <a:pt x="149383" y="298969"/>
                  </a:lnTo>
                  <a:lnTo>
                    <a:pt x="102166" y="291348"/>
                  </a:lnTo>
                  <a:lnTo>
                    <a:pt x="61159" y="270127"/>
                  </a:lnTo>
                  <a:lnTo>
                    <a:pt x="28822" y="237768"/>
                  </a:lnTo>
                  <a:lnTo>
                    <a:pt x="7615" y="196733"/>
                  </a:lnTo>
                  <a:lnTo>
                    <a:pt x="0" y="149484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8323324" y="6114173"/>
              <a:ext cx="219075" cy="270510"/>
            </a:xfrm>
            <a:custGeom>
              <a:avLst/>
              <a:gdLst/>
              <a:ahLst/>
              <a:cxnLst/>
              <a:rect l="l" t="t" r="r" b="b"/>
              <a:pathLst>
                <a:path w="219075" h="270510">
                  <a:moveTo>
                    <a:pt x="218741" y="0"/>
                  </a:moveTo>
                  <a:lnTo>
                    <a:pt x="0" y="270453"/>
                  </a:lnTo>
                </a:path>
              </a:pathLst>
            </a:custGeom>
            <a:ln w="21675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Graphs</a:t>
            </a:r>
            <a:r>
              <a:rPr dirty="0" spc="-5"/>
              <a:t> </a:t>
            </a:r>
            <a:r>
              <a:rPr dirty="0"/>
              <a:t>&amp;</a:t>
            </a:r>
            <a:r>
              <a:rPr dirty="0" spc="5"/>
              <a:t> </a:t>
            </a:r>
            <a:r>
              <a:rPr dirty="0"/>
              <a:t>Supervised</a:t>
            </a:r>
            <a:r>
              <a:rPr dirty="0" spc="10"/>
              <a:t> </a:t>
            </a:r>
            <a:r>
              <a:rPr dirty="0"/>
              <a:t>Machine </a:t>
            </a:r>
            <a:r>
              <a:rPr dirty="0" spc="-10"/>
              <a:t>Learning</a:t>
            </a:r>
          </a:p>
        </p:txBody>
      </p:sp>
      <p:sp>
        <p:nvSpPr>
          <p:cNvPr id="50" name="object 50" descr=""/>
          <p:cNvSpPr txBox="1"/>
          <p:nvPr/>
        </p:nvSpPr>
        <p:spPr>
          <a:xfrm>
            <a:off x="1090889" y="2230417"/>
            <a:ext cx="3967479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2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b="1" i="1">
                <a:solidFill>
                  <a:srgbClr val="018BFF"/>
                </a:solidFill>
                <a:latin typeface="Arial"/>
                <a:cs typeface="Arial"/>
              </a:rPr>
              <a:t>influenced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5" b="1" i="1">
                <a:solidFill>
                  <a:srgbClr val="018BFF"/>
                </a:solidFill>
                <a:latin typeface="Arial"/>
                <a:cs typeface="Arial"/>
              </a:rPr>
              <a:t>by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Traditional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ML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problems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where </a:t>
            </a:r>
            <a:r>
              <a:rPr dirty="0" sz="1800">
                <a:latin typeface="Arial"/>
                <a:cs typeface="Arial"/>
              </a:rPr>
              <a:t>relationships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between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points </a:t>
            </a:r>
            <a:r>
              <a:rPr dirty="0" sz="1800">
                <a:latin typeface="Arial"/>
                <a:cs typeface="Arial"/>
              </a:rPr>
              <a:t>are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important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predictive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5650782" y="2230417"/>
            <a:ext cx="3958590" cy="18916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Predictions</a:t>
            </a:r>
            <a:r>
              <a:rPr dirty="0" sz="2500" spc="-1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20" b="1" i="1">
                <a:solidFill>
                  <a:srgbClr val="018BFF"/>
                </a:solidFill>
                <a:latin typeface="Arial"/>
                <a:cs typeface="Arial"/>
              </a:rPr>
              <a:t>about</a:t>
            </a:r>
            <a:endParaRPr sz="2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5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2500" spc="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018BFF"/>
                </a:solidFill>
                <a:latin typeface="Arial"/>
                <a:cs typeface="Arial"/>
              </a:rPr>
              <a:t>structure</a:t>
            </a:r>
            <a:endParaRPr sz="25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2210"/>
              </a:spcBef>
            </a:pPr>
            <a:r>
              <a:rPr dirty="0" sz="1800">
                <a:latin typeface="Arial"/>
                <a:cs typeface="Arial"/>
              </a:rPr>
              <a:t>Enhance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graph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by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predicting </a:t>
            </a:r>
            <a:r>
              <a:rPr dirty="0" sz="1800">
                <a:latin typeface="Arial"/>
                <a:cs typeface="Arial"/>
              </a:rPr>
              <a:t>missing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changes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your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graph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occur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future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2" name="object 5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919" y="4387194"/>
            <a:ext cx="4304680" cy="1644700"/>
          </a:xfrm>
          <a:prstGeom prst="rect">
            <a:avLst/>
          </a:prstGeom>
        </p:spPr>
      </p:pic>
      <p:sp>
        <p:nvSpPr>
          <p:cNvPr id="53" name="object 5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54" name="object 5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4977" y="6412907"/>
            <a:ext cx="1576070" cy="113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</a:pP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Graph</a:t>
            </a:r>
            <a:r>
              <a:rPr dirty="0" spc="25"/>
              <a:t> </a:t>
            </a:r>
            <a:r>
              <a:rPr dirty="0"/>
              <a:t>Feature</a:t>
            </a:r>
            <a:r>
              <a:rPr dirty="0" spc="10"/>
              <a:t> </a:t>
            </a:r>
            <a:r>
              <a:rPr dirty="0" spc="-10"/>
              <a:t>Engineering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888006" y="6318183"/>
            <a:ext cx="1823720" cy="324485"/>
            <a:chOff x="888006" y="6318183"/>
            <a:chExt cx="1823720" cy="324485"/>
          </a:xfrm>
        </p:grpSpPr>
        <p:sp>
          <p:nvSpPr>
            <p:cNvPr id="8" name="object 8" descr=""/>
            <p:cNvSpPr/>
            <p:nvPr/>
          </p:nvSpPr>
          <p:spPr>
            <a:xfrm>
              <a:off x="902461" y="6332639"/>
              <a:ext cx="1794510" cy="295275"/>
            </a:xfrm>
            <a:custGeom>
              <a:avLst/>
              <a:gdLst/>
              <a:ahLst/>
              <a:cxnLst/>
              <a:rect l="l" t="t" r="r" b="b"/>
              <a:pathLst>
                <a:path w="1794510" h="295275">
                  <a:moveTo>
                    <a:pt x="1794292" y="0"/>
                  </a:moveTo>
                  <a:lnTo>
                    <a:pt x="0" y="0"/>
                  </a:lnTo>
                  <a:lnTo>
                    <a:pt x="0" y="295040"/>
                  </a:lnTo>
                  <a:lnTo>
                    <a:pt x="1794292" y="295040"/>
                  </a:lnTo>
                  <a:lnTo>
                    <a:pt x="17942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02461" y="6332639"/>
              <a:ext cx="1794510" cy="295275"/>
            </a:xfrm>
            <a:custGeom>
              <a:avLst/>
              <a:gdLst/>
              <a:ahLst/>
              <a:cxnLst/>
              <a:rect l="l" t="t" r="r" b="b"/>
              <a:pathLst>
                <a:path w="1794510" h="295275">
                  <a:moveTo>
                    <a:pt x="0" y="0"/>
                  </a:moveTo>
                  <a:lnTo>
                    <a:pt x="1794292" y="0"/>
                  </a:lnTo>
                  <a:lnTo>
                    <a:pt x="1794292" y="295039"/>
                  </a:lnTo>
                  <a:lnTo>
                    <a:pt x="0" y="295039"/>
                  </a:lnTo>
                  <a:lnTo>
                    <a:pt x="0" y="0"/>
                  </a:lnTo>
                  <a:close/>
                </a:path>
              </a:pathLst>
            </a:custGeom>
            <a:ln w="2891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895603" y="3179577"/>
            <a:ext cx="9629140" cy="3365500"/>
            <a:chOff x="895603" y="3179577"/>
            <a:chExt cx="9629140" cy="3365500"/>
          </a:xfrm>
        </p:grpSpPr>
        <p:sp>
          <p:nvSpPr>
            <p:cNvPr id="11" name="object 11" descr=""/>
            <p:cNvSpPr/>
            <p:nvPr/>
          </p:nvSpPr>
          <p:spPr>
            <a:xfrm>
              <a:off x="3761736" y="3881487"/>
              <a:ext cx="660400" cy="1226820"/>
            </a:xfrm>
            <a:custGeom>
              <a:avLst/>
              <a:gdLst/>
              <a:ahLst/>
              <a:cxnLst/>
              <a:rect l="l" t="t" r="r" b="b"/>
              <a:pathLst>
                <a:path w="660400" h="1226820">
                  <a:moveTo>
                    <a:pt x="532065" y="40317"/>
                  </a:moveTo>
                  <a:lnTo>
                    <a:pt x="494595" y="73473"/>
                  </a:lnTo>
                  <a:lnTo>
                    <a:pt x="465833" y="107271"/>
                  </a:lnTo>
                  <a:lnTo>
                    <a:pt x="439120" y="144956"/>
                  </a:lnTo>
                  <a:lnTo>
                    <a:pt x="414284" y="186502"/>
                  </a:lnTo>
                  <a:lnTo>
                    <a:pt x="391518" y="231495"/>
                  </a:lnTo>
                  <a:lnTo>
                    <a:pt x="371035" y="279523"/>
                  </a:lnTo>
                  <a:lnTo>
                    <a:pt x="353054" y="330166"/>
                  </a:lnTo>
                  <a:lnTo>
                    <a:pt x="337807" y="383012"/>
                  </a:lnTo>
                  <a:lnTo>
                    <a:pt x="325528" y="437643"/>
                  </a:lnTo>
                  <a:lnTo>
                    <a:pt x="316463" y="493637"/>
                  </a:lnTo>
                  <a:lnTo>
                    <a:pt x="310859" y="550578"/>
                  </a:lnTo>
                  <a:lnTo>
                    <a:pt x="308968" y="606545"/>
                  </a:lnTo>
                  <a:lnTo>
                    <a:pt x="307172" y="661102"/>
                  </a:lnTo>
                  <a:lnTo>
                    <a:pt x="301838" y="715291"/>
                  </a:lnTo>
                  <a:lnTo>
                    <a:pt x="293201" y="768657"/>
                  </a:lnTo>
                  <a:lnTo>
                    <a:pt x="281500" y="820741"/>
                  </a:lnTo>
                  <a:lnTo>
                    <a:pt x="266983" y="871086"/>
                  </a:lnTo>
                  <a:lnTo>
                    <a:pt x="249901" y="919233"/>
                  </a:lnTo>
                  <a:lnTo>
                    <a:pt x="230515" y="964721"/>
                  </a:lnTo>
                  <a:lnTo>
                    <a:pt x="209099" y="1007090"/>
                  </a:lnTo>
                  <a:lnTo>
                    <a:pt x="185939" y="1045878"/>
                  </a:lnTo>
                  <a:lnTo>
                    <a:pt x="161020" y="1081016"/>
                  </a:lnTo>
                  <a:lnTo>
                    <a:pt x="135235" y="1111307"/>
                  </a:lnTo>
                  <a:lnTo>
                    <a:pt x="95269" y="1147418"/>
                  </a:lnTo>
                  <a:lnTo>
                    <a:pt x="54970" y="1171340"/>
                  </a:lnTo>
                  <a:lnTo>
                    <a:pt x="15436" y="1182523"/>
                  </a:lnTo>
                  <a:lnTo>
                    <a:pt x="0" y="1183391"/>
                  </a:lnTo>
                  <a:lnTo>
                    <a:pt x="2379" y="1225824"/>
                  </a:lnTo>
                  <a:lnTo>
                    <a:pt x="2428" y="1226690"/>
                  </a:lnTo>
                  <a:lnTo>
                    <a:pt x="17863" y="1225824"/>
                  </a:lnTo>
                  <a:lnTo>
                    <a:pt x="35610" y="1223001"/>
                  </a:lnTo>
                  <a:lnTo>
                    <a:pt x="87226" y="1203811"/>
                  </a:lnTo>
                  <a:lnTo>
                    <a:pt x="119887" y="1183109"/>
                  </a:lnTo>
                  <a:lnTo>
                    <a:pt x="151005" y="1156891"/>
                  </a:lnTo>
                  <a:lnTo>
                    <a:pt x="180507" y="1125708"/>
                  </a:lnTo>
                  <a:lnTo>
                    <a:pt x="221256" y="1071013"/>
                  </a:lnTo>
                  <a:lnTo>
                    <a:pt x="246269" y="1029388"/>
                  </a:lnTo>
                  <a:lnTo>
                    <a:pt x="269166" y="984340"/>
                  </a:lnTo>
                  <a:lnTo>
                    <a:pt x="289750" y="936282"/>
                  </a:lnTo>
                  <a:lnTo>
                    <a:pt x="307812" y="885629"/>
                  </a:lnTo>
                  <a:lnTo>
                    <a:pt x="323132" y="832796"/>
                  </a:lnTo>
                  <a:lnTo>
                    <a:pt x="335478" y="778198"/>
                  </a:lnTo>
                  <a:lnTo>
                    <a:pt x="344614" y="722256"/>
                  </a:lnTo>
                  <a:lnTo>
                    <a:pt x="350299" y="665387"/>
                  </a:lnTo>
                  <a:lnTo>
                    <a:pt x="352281" y="608009"/>
                  </a:lnTo>
                  <a:lnTo>
                    <a:pt x="354172" y="552042"/>
                  </a:lnTo>
                  <a:lnTo>
                    <a:pt x="359590" y="497923"/>
                  </a:lnTo>
                  <a:lnTo>
                    <a:pt x="368305" y="444610"/>
                  </a:lnTo>
                  <a:lnTo>
                    <a:pt x="380083" y="392559"/>
                  </a:lnTo>
                  <a:lnTo>
                    <a:pt x="394684" y="342226"/>
                  </a:lnTo>
                  <a:lnTo>
                    <a:pt x="411862" y="294071"/>
                  </a:lnTo>
                  <a:lnTo>
                    <a:pt x="431365" y="248551"/>
                  </a:lnTo>
                  <a:lnTo>
                    <a:pt x="452931" y="206127"/>
                  </a:lnTo>
                  <a:lnTo>
                    <a:pt x="476286" y="167261"/>
                  </a:lnTo>
                  <a:lnTo>
                    <a:pt x="501145" y="132414"/>
                  </a:lnTo>
                  <a:lnTo>
                    <a:pt x="526850" y="102438"/>
                  </a:lnTo>
                  <a:lnTo>
                    <a:pt x="549175" y="81019"/>
                  </a:lnTo>
                  <a:lnTo>
                    <a:pt x="549051" y="80723"/>
                  </a:lnTo>
                  <a:lnTo>
                    <a:pt x="547909" y="80723"/>
                  </a:lnTo>
                  <a:lnTo>
                    <a:pt x="548807" y="80143"/>
                  </a:lnTo>
                  <a:lnTo>
                    <a:pt x="532065" y="40317"/>
                  </a:lnTo>
                  <a:close/>
                </a:path>
                <a:path w="660400" h="1226820">
                  <a:moveTo>
                    <a:pt x="641137" y="31715"/>
                  </a:moveTo>
                  <a:lnTo>
                    <a:pt x="551552" y="31715"/>
                  </a:lnTo>
                  <a:lnTo>
                    <a:pt x="569043" y="71394"/>
                  </a:lnTo>
                  <a:lnTo>
                    <a:pt x="551056" y="79334"/>
                  </a:lnTo>
                  <a:lnTo>
                    <a:pt x="549175" y="81019"/>
                  </a:lnTo>
                  <a:lnTo>
                    <a:pt x="565530" y="119926"/>
                  </a:lnTo>
                  <a:lnTo>
                    <a:pt x="641137" y="31715"/>
                  </a:lnTo>
                  <a:close/>
                </a:path>
                <a:path w="660400" h="1226820">
                  <a:moveTo>
                    <a:pt x="551056" y="79334"/>
                  </a:moveTo>
                  <a:lnTo>
                    <a:pt x="548872" y="80298"/>
                  </a:lnTo>
                  <a:lnTo>
                    <a:pt x="549051" y="80723"/>
                  </a:lnTo>
                  <a:lnTo>
                    <a:pt x="549175" y="81019"/>
                  </a:lnTo>
                  <a:lnTo>
                    <a:pt x="551056" y="79334"/>
                  </a:lnTo>
                  <a:close/>
                </a:path>
                <a:path w="660400" h="1226820">
                  <a:moveTo>
                    <a:pt x="548807" y="80143"/>
                  </a:moveTo>
                  <a:lnTo>
                    <a:pt x="547909" y="80723"/>
                  </a:lnTo>
                  <a:lnTo>
                    <a:pt x="548872" y="80298"/>
                  </a:lnTo>
                  <a:lnTo>
                    <a:pt x="548807" y="80143"/>
                  </a:lnTo>
                  <a:close/>
                </a:path>
                <a:path w="660400" h="1226820">
                  <a:moveTo>
                    <a:pt x="548872" y="80298"/>
                  </a:moveTo>
                  <a:lnTo>
                    <a:pt x="547909" y="80723"/>
                  </a:lnTo>
                  <a:lnTo>
                    <a:pt x="549051" y="80723"/>
                  </a:lnTo>
                  <a:lnTo>
                    <a:pt x="548872" y="80298"/>
                  </a:lnTo>
                  <a:close/>
                </a:path>
                <a:path w="660400" h="1226820">
                  <a:moveTo>
                    <a:pt x="553646" y="77015"/>
                  </a:moveTo>
                  <a:lnTo>
                    <a:pt x="548807" y="80143"/>
                  </a:lnTo>
                  <a:lnTo>
                    <a:pt x="548872" y="80298"/>
                  </a:lnTo>
                  <a:lnTo>
                    <a:pt x="551056" y="79334"/>
                  </a:lnTo>
                  <a:lnTo>
                    <a:pt x="553646" y="77015"/>
                  </a:lnTo>
                  <a:close/>
                </a:path>
                <a:path w="660400" h="1226820">
                  <a:moveTo>
                    <a:pt x="551552" y="31715"/>
                  </a:moveTo>
                  <a:lnTo>
                    <a:pt x="532065" y="40317"/>
                  </a:lnTo>
                  <a:lnTo>
                    <a:pt x="548807" y="80143"/>
                  </a:lnTo>
                  <a:lnTo>
                    <a:pt x="553646" y="77015"/>
                  </a:lnTo>
                  <a:lnTo>
                    <a:pt x="556310" y="77015"/>
                  </a:lnTo>
                  <a:lnTo>
                    <a:pt x="569043" y="71394"/>
                  </a:lnTo>
                  <a:lnTo>
                    <a:pt x="551552" y="31715"/>
                  </a:lnTo>
                  <a:close/>
                </a:path>
                <a:path w="660400" h="1226820">
                  <a:moveTo>
                    <a:pt x="556310" y="77015"/>
                  </a:moveTo>
                  <a:lnTo>
                    <a:pt x="553646" y="77015"/>
                  </a:lnTo>
                  <a:lnTo>
                    <a:pt x="551056" y="79334"/>
                  </a:lnTo>
                  <a:lnTo>
                    <a:pt x="556310" y="77015"/>
                  </a:lnTo>
                  <a:close/>
                </a:path>
                <a:path w="660400" h="1226820">
                  <a:moveTo>
                    <a:pt x="515117" y="0"/>
                  </a:moveTo>
                  <a:lnTo>
                    <a:pt x="532065" y="40317"/>
                  </a:lnTo>
                  <a:lnTo>
                    <a:pt x="551552" y="31715"/>
                  </a:lnTo>
                  <a:lnTo>
                    <a:pt x="641137" y="31715"/>
                  </a:lnTo>
                  <a:lnTo>
                    <a:pt x="660167" y="9513"/>
                  </a:lnTo>
                  <a:lnTo>
                    <a:pt x="515117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5835" y="4584705"/>
              <a:ext cx="2438400" cy="195986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19091" y="3179577"/>
              <a:ext cx="3599688" cy="1423415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5603" y="3947673"/>
              <a:ext cx="2868168" cy="227685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8016868" y="3869320"/>
              <a:ext cx="1324610" cy="715645"/>
            </a:xfrm>
            <a:custGeom>
              <a:avLst/>
              <a:gdLst/>
              <a:ahLst/>
              <a:cxnLst/>
              <a:rect l="l" t="t" r="r" b="b"/>
              <a:pathLst>
                <a:path w="1324609" h="715645">
                  <a:moveTo>
                    <a:pt x="1239067" y="593283"/>
                  </a:moveTo>
                  <a:lnTo>
                    <a:pt x="1237870" y="593533"/>
                  </a:lnTo>
                  <a:lnTo>
                    <a:pt x="1197086" y="602537"/>
                  </a:lnTo>
                  <a:lnTo>
                    <a:pt x="1288580" y="715571"/>
                  </a:lnTo>
                  <a:lnTo>
                    <a:pt x="1313941" y="614709"/>
                  </a:lnTo>
                  <a:lnTo>
                    <a:pt x="1244155" y="614709"/>
                  </a:lnTo>
                  <a:lnTo>
                    <a:pt x="1239126" y="593533"/>
                  </a:lnTo>
                  <a:lnTo>
                    <a:pt x="1239067" y="593283"/>
                  </a:lnTo>
                  <a:close/>
                </a:path>
                <a:path w="1324609" h="715645">
                  <a:moveTo>
                    <a:pt x="1239126" y="593533"/>
                  </a:moveTo>
                  <a:lnTo>
                    <a:pt x="1244155" y="614709"/>
                  </a:lnTo>
                  <a:lnTo>
                    <a:pt x="1286319" y="604683"/>
                  </a:lnTo>
                  <a:lnTo>
                    <a:pt x="1284203" y="595770"/>
                  </a:lnTo>
                  <a:lnTo>
                    <a:pt x="1240228" y="595770"/>
                  </a:lnTo>
                  <a:lnTo>
                    <a:pt x="1239126" y="593533"/>
                  </a:lnTo>
                  <a:close/>
                </a:path>
                <a:path w="1324609" h="715645">
                  <a:moveTo>
                    <a:pt x="1324049" y="574507"/>
                  </a:moveTo>
                  <a:lnTo>
                    <a:pt x="1281391" y="583925"/>
                  </a:lnTo>
                  <a:lnTo>
                    <a:pt x="1286319" y="604683"/>
                  </a:lnTo>
                  <a:lnTo>
                    <a:pt x="1244155" y="614709"/>
                  </a:lnTo>
                  <a:lnTo>
                    <a:pt x="1313941" y="614709"/>
                  </a:lnTo>
                  <a:lnTo>
                    <a:pt x="1324049" y="574507"/>
                  </a:lnTo>
                  <a:close/>
                </a:path>
                <a:path w="1324609" h="715645">
                  <a:moveTo>
                    <a:pt x="1281391" y="583925"/>
                  </a:moveTo>
                  <a:lnTo>
                    <a:pt x="1239003" y="593283"/>
                  </a:lnTo>
                  <a:lnTo>
                    <a:pt x="1240228" y="595770"/>
                  </a:lnTo>
                  <a:lnTo>
                    <a:pt x="1238562" y="591157"/>
                  </a:lnTo>
                  <a:lnTo>
                    <a:pt x="1283613" y="593283"/>
                  </a:lnTo>
                  <a:lnTo>
                    <a:pt x="1281391" y="583925"/>
                  </a:lnTo>
                  <a:close/>
                </a:path>
                <a:path w="1324609" h="715645">
                  <a:moveTo>
                    <a:pt x="1248634" y="591157"/>
                  </a:moveTo>
                  <a:lnTo>
                    <a:pt x="1238562" y="591157"/>
                  </a:lnTo>
                  <a:lnTo>
                    <a:pt x="1240228" y="595770"/>
                  </a:lnTo>
                  <a:lnTo>
                    <a:pt x="1284203" y="595770"/>
                  </a:lnTo>
                  <a:lnTo>
                    <a:pt x="1283672" y="593533"/>
                  </a:lnTo>
                  <a:lnTo>
                    <a:pt x="1283613" y="593283"/>
                  </a:lnTo>
                  <a:lnTo>
                    <a:pt x="1239003" y="593283"/>
                  </a:lnTo>
                  <a:lnTo>
                    <a:pt x="1248634" y="591157"/>
                  </a:lnTo>
                  <a:close/>
                </a:path>
                <a:path w="1324609" h="715645">
                  <a:moveTo>
                    <a:pt x="721" y="0"/>
                  </a:moveTo>
                  <a:lnTo>
                    <a:pt x="0" y="43361"/>
                  </a:lnTo>
                  <a:lnTo>
                    <a:pt x="60365" y="44367"/>
                  </a:lnTo>
                  <a:lnTo>
                    <a:pt x="119905" y="47318"/>
                  </a:lnTo>
                  <a:lnTo>
                    <a:pt x="179231" y="52155"/>
                  </a:lnTo>
                  <a:lnTo>
                    <a:pt x="238218" y="58813"/>
                  </a:lnTo>
                  <a:lnTo>
                    <a:pt x="296750" y="67232"/>
                  </a:lnTo>
                  <a:lnTo>
                    <a:pt x="354707" y="77348"/>
                  </a:lnTo>
                  <a:lnTo>
                    <a:pt x="411966" y="89096"/>
                  </a:lnTo>
                  <a:lnTo>
                    <a:pt x="468407" y="102417"/>
                  </a:lnTo>
                  <a:lnTo>
                    <a:pt x="523913" y="117245"/>
                  </a:lnTo>
                  <a:lnTo>
                    <a:pt x="578360" y="133515"/>
                  </a:lnTo>
                  <a:lnTo>
                    <a:pt x="631628" y="151164"/>
                  </a:lnTo>
                  <a:lnTo>
                    <a:pt x="683597" y="170125"/>
                  </a:lnTo>
                  <a:lnTo>
                    <a:pt x="734147" y="190336"/>
                  </a:lnTo>
                  <a:lnTo>
                    <a:pt x="783156" y="211726"/>
                  </a:lnTo>
                  <a:lnTo>
                    <a:pt x="830505" y="234233"/>
                  </a:lnTo>
                  <a:lnTo>
                    <a:pt x="876070" y="257789"/>
                  </a:lnTo>
                  <a:lnTo>
                    <a:pt x="919732" y="282323"/>
                  </a:lnTo>
                  <a:lnTo>
                    <a:pt x="961369" y="307767"/>
                  </a:lnTo>
                  <a:lnTo>
                    <a:pt x="1000861" y="334053"/>
                  </a:lnTo>
                  <a:lnTo>
                    <a:pt x="1038086" y="361104"/>
                  </a:lnTo>
                  <a:lnTo>
                    <a:pt x="1072925" y="388849"/>
                  </a:lnTo>
                  <a:lnTo>
                    <a:pt x="1105256" y="417211"/>
                  </a:lnTo>
                  <a:lnTo>
                    <a:pt x="1134964" y="446112"/>
                  </a:lnTo>
                  <a:lnTo>
                    <a:pt x="1161931" y="475471"/>
                  </a:lnTo>
                  <a:lnTo>
                    <a:pt x="1186046" y="505203"/>
                  </a:lnTo>
                  <a:lnTo>
                    <a:pt x="1225290" y="565439"/>
                  </a:lnTo>
                  <a:lnTo>
                    <a:pt x="1239003" y="593283"/>
                  </a:lnTo>
                  <a:lnTo>
                    <a:pt x="1238562" y="591157"/>
                  </a:lnTo>
                  <a:lnTo>
                    <a:pt x="1248634" y="591157"/>
                  </a:lnTo>
                  <a:lnTo>
                    <a:pt x="1281391" y="583925"/>
                  </a:lnTo>
                  <a:lnTo>
                    <a:pt x="1262430" y="543088"/>
                  </a:lnTo>
                  <a:lnTo>
                    <a:pt x="1242584" y="510181"/>
                  </a:lnTo>
                  <a:lnTo>
                    <a:pt x="1219667" y="477837"/>
                  </a:lnTo>
                  <a:lnTo>
                    <a:pt x="1193829" y="446112"/>
                  </a:lnTo>
                  <a:lnTo>
                    <a:pt x="1165153" y="414996"/>
                  </a:lnTo>
                  <a:lnTo>
                    <a:pt x="1133807" y="384583"/>
                  </a:lnTo>
                  <a:lnTo>
                    <a:pt x="1099897" y="354904"/>
                  </a:lnTo>
                  <a:lnTo>
                    <a:pt x="1063538" y="326003"/>
                  </a:lnTo>
                  <a:lnTo>
                    <a:pt x="1024850" y="297934"/>
                  </a:lnTo>
                  <a:lnTo>
                    <a:pt x="983946" y="270750"/>
                  </a:lnTo>
                  <a:lnTo>
                    <a:pt x="940941" y="244504"/>
                  </a:lnTo>
                  <a:lnTo>
                    <a:pt x="895951" y="219254"/>
                  </a:lnTo>
                  <a:lnTo>
                    <a:pt x="849092" y="195056"/>
                  </a:lnTo>
                  <a:lnTo>
                    <a:pt x="800475" y="171973"/>
                  </a:lnTo>
                  <a:lnTo>
                    <a:pt x="750219" y="150059"/>
                  </a:lnTo>
                  <a:lnTo>
                    <a:pt x="698436" y="129378"/>
                  </a:lnTo>
                  <a:lnTo>
                    <a:pt x="645243" y="109990"/>
                  </a:lnTo>
                  <a:lnTo>
                    <a:pt x="590754" y="91958"/>
                  </a:lnTo>
                  <a:lnTo>
                    <a:pt x="535084" y="75342"/>
                  </a:lnTo>
                  <a:lnTo>
                    <a:pt x="478349" y="60205"/>
                  </a:lnTo>
                  <a:lnTo>
                    <a:pt x="420664" y="46611"/>
                  </a:lnTo>
                  <a:lnTo>
                    <a:pt x="362146" y="34624"/>
                  </a:lnTo>
                  <a:lnTo>
                    <a:pt x="302908" y="24303"/>
                  </a:lnTo>
                  <a:lnTo>
                    <a:pt x="243069" y="15718"/>
                  </a:lnTo>
                  <a:lnTo>
                    <a:pt x="182741" y="8929"/>
                  </a:lnTo>
                  <a:lnTo>
                    <a:pt x="122041" y="4004"/>
                  </a:lnTo>
                  <a:lnTo>
                    <a:pt x="61086" y="1005"/>
                  </a:lnTo>
                  <a:lnTo>
                    <a:pt x="721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22468" y="4319529"/>
              <a:ext cx="1712976" cy="1310639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894441" y="1937344"/>
            <a:ext cx="8832850" cy="95567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40"/>
              </a:spcBef>
            </a:pPr>
            <a:r>
              <a:rPr dirty="0" sz="2000" b="1">
                <a:solidFill>
                  <a:srgbClr val="018BFF"/>
                </a:solidFill>
                <a:latin typeface="Arial"/>
                <a:cs typeface="Arial"/>
              </a:rPr>
              <a:t>Feature</a:t>
            </a:r>
            <a:r>
              <a:rPr dirty="0" sz="2000" spc="7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018BFF"/>
                </a:solidFill>
                <a:latin typeface="Arial"/>
                <a:cs typeface="Arial"/>
              </a:rPr>
              <a:t>Engineering</a:t>
            </a:r>
            <a:r>
              <a:rPr dirty="0" sz="2000" spc="9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how</a:t>
            </a:r>
            <a:r>
              <a:rPr dirty="0" sz="2000" spc="9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we</a:t>
            </a:r>
            <a:r>
              <a:rPr dirty="0" sz="2000" spc="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combine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process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data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create</a:t>
            </a:r>
            <a:r>
              <a:rPr dirty="0" sz="2000" spc="85">
                <a:latin typeface="Arial"/>
                <a:cs typeface="Arial"/>
              </a:rPr>
              <a:t> </a:t>
            </a:r>
            <a:r>
              <a:rPr dirty="0" sz="2000" spc="-20" b="1" i="1">
                <a:latin typeface="Arial"/>
                <a:cs typeface="Arial"/>
              </a:rPr>
              <a:t>new, </a:t>
            </a:r>
            <a:r>
              <a:rPr dirty="0" sz="2000" b="1" i="1">
                <a:latin typeface="Arial"/>
                <a:cs typeface="Arial"/>
              </a:rPr>
              <a:t>more</a:t>
            </a:r>
            <a:r>
              <a:rPr dirty="0" sz="2000" spc="125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meaningful</a:t>
            </a:r>
            <a:r>
              <a:rPr dirty="0" sz="2000" spc="110" b="1" i="1">
                <a:latin typeface="Arial"/>
                <a:cs typeface="Arial"/>
              </a:rPr>
              <a:t> </a:t>
            </a:r>
            <a:r>
              <a:rPr dirty="0" sz="2000" b="1" i="1">
                <a:latin typeface="Arial"/>
                <a:cs typeface="Arial"/>
              </a:rPr>
              <a:t>features</a:t>
            </a:r>
            <a:r>
              <a:rPr dirty="0" sz="2000">
                <a:latin typeface="Arial"/>
                <a:cs typeface="Arial"/>
              </a:rPr>
              <a:t>.</a:t>
            </a:r>
            <a:r>
              <a:rPr dirty="0" sz="2000" spc="1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Graph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algorithms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1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embeddings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translate</a:t>
            </a:r>
            <a:r>
              <a:rPr dirty="0" sz="2000" spc="13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the </a:t>
            </a:r>
            <a:r>
              <a:rPr dirty="0" sz="2000">
                <a:latin typeface="Arial"/>
                <a:cs typeface="Arial"/>
              </a:rPr>
              <a:t>connections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within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your</a:t>
            </a:r>
            <a:r>
              <a:rPr dirty="0" sz="2000" spc="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data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into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</a:t>
            </a:r>
            <a:r>
              <a:rPr dirty="0" sz="2000" spc="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rows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columns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you</a:t>
            </a:r>
            <a:r>
              <a:rPr dirty="0" sz="2000" spc="8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need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for</a:t>
            </a:r>
            <a:r>
              <a:rPr dirty="0" sz="2000" spc="70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ML.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In-</a:t>
            </a:r>
            <a:r>
              <a:rPr dirty="0"/>
              <a:t>Graph</a:t>
            </a:r>
            <a:r>
              <a:rPr dirty="0" spc="15"/>
              <a:t> </a:t>
            </a:r>
            <a:r>
              <a:rPr dirty="0"/>
              <a:t>Machine</a:t>
            </a:r>
            <a:r>
              <a:rPr dirty="0" spc="5"/>
              <a:t> </a:t>
            </a:r>
            <a:r>
              <a:rPr dirty="0" spc="-10"/>
              <a:t>Learning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4909720" y="2303625"/>
            <a:ext cx="5235575" cy="1828800"/>
            <a:chOff x="4909720" y="2303625"/>
            <a:chExt cx="5235575" cy="1828800"/>
          </a:xfrm>
        </p:grpSpPr>
        <p:sp>
          <p:nvSpPr>
            <p:cNvPr id="4" name="object 4" descr=""/>
            <p:cNvSpPr/>
            <p:nvPr/>
          </p:nvSpPr>
          <p:spPr>
            <a:xfrm>
              <a:off x="4909720" y="2303625"/>
              <a:ext cx="5235575" cy="1828800"/>
            </a:xfrm>
            <a:custGeom>
              <a:avLst/>
              <a:gdLst/>
              <a:ahLst/>
              <a:cxnLst/>
              <a:rect l="l" t="t" r="r" b="b"/>
              <a:pathLst>
                <a:path w="5235575" h="1828800">
                  <a:moveTo>
                    <a:pt x="5053599" y="0"/>
                  </a:moveTo>
                  <a:lnTo>
                    <a:pt x="181517" y="0"/>
                  </a:lnTo>
                  <a:lnTo>
                    <a:pt x="133262" y="6488"/>
                  </a:lnTo>
                  <a:lnTo>
                    <a:pt x="89902" y="24799"/>
                  </a:lnTo>
                  <a:lnTo>
                    <a:pt x="53165" y="53201"/>
                  </a:lnTo>
                  <a:lnTo>
                    <a:pt x="24782" y="89963"/>
                  </a:lnTo>
                  <a:lnTo>
                    <a:pt x="6484" y="133353"/>
                  </a:lnTo>
                  <a:lnTo>
                    <a:pt x="0" y="181640"/>
                  </a:lnTo>
                  <a:lnTo>
                    <a:pt x="0" y="1646650"/>
                  </a:lnTo>
                  <a:lnTo>
                    <a:pt x="6484" y="1694937"/>
                  </a:lnTo>
                  <a:lnTo>
                    <a:pt x="24782" y="1738327"/>
                  </a:lnTo>
                  <a:lnTo>
                    <a:pt x="53165" y="1775089"/>
                  </a:lnTo>
                  <a:lnTo>
                    <a:pt x="89902" y="1803491"/>
                  </a:lnTo>
                  <a:lnTo>
                    <a:pt x="133262" y="1821802"/>
                  </a:lnTo>
                  <a:lnTo>
                    <a:pt x="181517" y="1828290"/>
                  </a:lnTo>
                  <a:lnTo>
                    <a:pt x="5053599" y="1828290"/>
                  </a:lnTo>
                  <a:lnTo>
                    <a:pt x="5101853" y="1821802"/>
                  </a:lnTo>
                  <a:lnTo>
                    <a:pt x="5145214" y="1803491"/>
                  </a:lnTo>
                  <a:lnTo>
                    <a:pt x="5181951" y="1775089"/>
                  </a:lnTo>
                  <a:lnTo>
                    <a:pt x="5210333" y="1738327"/>
                  </a:lnTo>
                  <a:lnTo>
                    <a:pt x="5228632" y="1694937"/>
                  </a:lnTo>
                  <a:lnTo>
                    <a:pt x="5235116" y="1646650"/>
                  </a:lnTo>
                  <a:lnTo>
                    <a:pt x="5235116" y="181640"/>
                  </a:lnTo>
                  <a:lnTo>
                    <a:pt x="5228632" y="133353"/>
                  </a:lnTo>
                  <a:lnTo>
                    <a:pt x="5210333" y="89963"/>
                  </a:lnTo>
                  <a:lnTo>
                    <a:pt x="5181951" y="53201"/>
                  </a:lnTo>
                  <a:lnTo>
                    <a:pt x="5145214" y="24799"/>
                  </a:lnTo>
                  <a:lnTo>
                    <a:pt x="5101853" y="6488"/>
                  </a:lnTo>
                  <a:lnTo>
                    <a:pt x="505359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483442" y="3063998"/>
              <a:ext cx="356235" cy="361950"/>
            </a:xfrm>
            <a:custGeom>
              <a:avLst/>
              <a:gdLst/>
              <a:ahLst/>
              <a:cxnLst/>
              <a:rect l="l" t="t" r="r" b="b"/>
              <a:pathLst>
                <a:path w="356234" h="361950">
                  <a:moveTo>
                    <a:pt x="355966" y="0"/>
                  </a:moveTo>
                  <a:lnTo>
                    <a:pt x="0" y="361485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465962" y="3406243"/>
              <a:ext cx="290195" cy="201295"/>
            </a:xfrm>
            <a:custGeom>
              <a:avLst/>
              <a:gdLst/>
              <a:ahLst/>
              <a:cxnLst/>
              <a:rect l="l" t="t" r="r" b="b"/>
              <a:pathLst>
                <a:path w="290195" h="201295">
                  <a:moveTo>
                    <a:pt x="290046" y="200972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376386" y="2751469"/>
              <a:ext cx="569595" cy="244475"/>
            </a:xfrm>
            <a:custGeom>
              <a:avLst/>
              <a:gdLst/>
              <a:ahLst/>
              <a:cxnLst/>
              <a:rect l="l" t="t" r="r" b="b"/>
              <a:pathLst>
                <a:path w="569595" h="244475">
                  <a:moveTo>
                    <a:pt x="569547" y="0"/>
                  </a:moveTo>
                  <a:lnTo>
                    <a:pt x="0" y="244068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9381027" y="3405937"/>
              <a:ext cx="92710" cy="515620"/>
            </a:xfrm>
            <a:custGeom>
              <a:avLst/>
              <a:gdLst/>
              <a:ahLst/>
              <a:cxnLst/>
              <a:rect l="l" t="t" r="r" b="b"/>
              <a:pathLst>
                <a:path w="92709" h="515620">
                  <a:moveTo>
                    <a:pt x="0" y="515402"/>
                  </a:moveTo>
                  <a:lnTo>
                    <a:pt x="92287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831182" y="3210247"/>
              <a:ext cx="299720" cy="219710"/>
            </a:xfrm>
            <a:custGeom>
              <a:avLst/>
              <a:gdLst/>
              <a:ahLst/>
              <a:cxnLst/>
              <a:rect l="l" t="t" r="r" b="b"/>
              <a:pathLst>
                <a:path w="299720" h="219710">
                  <a:moveTo>
                    <a:pt x="299715" y="0"/>
                  </a:moveTo>
                  <a:lnTo>
                    <a:pt x="0" y="219441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8083263" y="3162615"/>
              <a:ext cx="297815" cy="445134"/>
            </a:xfrm>
            <a:custGeom>
              <a:avLst/>
              <a:gdLst/>
              <a:ahLst/>
              <a:cxnLst/>
              <a:rect l="l" t="t" r="r" b="b"/>
              <a:pathLst>
                <a:path w="297815" h="445135">
                  <a:moveTo>
                    <a:pt x="297517" y="444600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65551" y="3205116"/>
              <a:ext cx="603885" cy="394970"/>
            </a:xfrm>
            <a:custGeom>
              <a:avLst/>
              <a:gdLst/>
              <a:ahLst/>
              <a:cxnLst/>
              <a:rect l="l" t="t" r="r" b="b"/>
              <a:pathLst>
                <a:path w="603884" h="394970">
                  <a:moveTo>
                    <a:pt x="603824" y="0"/>
                  </a:moveTo>
                  <a:lnTo>
                    <a:pt x="0" y="394468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657826" y="3275545"/>
              <a:ext cx="936625" cy="134620"/>
            </a:xfrm>
            <a:custGeom>
              <a:avLst/>
              <a:gdLst/>
              <a:ahLst/>
              <a:cxnLst/>
              <a:rect l="l" t="t" r="r" b="b"/>
              <a:pathLst>
                <a:path w="936625" h="134620">
                  <a:moveTo>
                    <a:pt x="936061" y="134567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8703092" y="2864650"/>
              <a:ext cx="705485" cy="520065"/>
            </a:xfrm>
            <a:custGeom>
              <a:avLst/>
              <a:gdLst/>
              <a:ahLst/>
              <a:cxnLst/>
              <a:rect l="l" t="t" r="r" b="b"/>
              <a:pathLst>
                <a:path w="705484" h="520064">
                  <a:moveTo>
                    <a:pt x="704901" y="0"/>
                  </a:moveTo>
                  <a:lnTo>
                    <a:pt x="0" y="519799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8744200" y="2686364"/>
              <a:ext cx="267970" cy="661035"/>
            </a:xfrm>
            <a:custGeom>
              <a:avLst/>
              <a:gdLst/>
              <a:ahLst/>
              <a:cxnLst/>
              <a:rect l="l" t="t" r="r" b="b"/>
              <a:pathLst>
                <a:path w="267970" h="661035">
                  <a:moveTo>
                    <a:pt x="267634" y="0"/>
                  </a:moveTo>
                  <a:lnTo>
                    <a:pt x="0" y="660524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01079" y="3440327"/>
              <a:ext cx="240826" cy="240991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8201079" y="344032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90581" y="2555683"/>
              <a:ext cx="240827" cy="240990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9490581" y="255568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02435" y="2829356"/>
              <a:ext cx="240826" cy="240990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9202435" y="282935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42510" y="3501744"/>
              <a:ext cx="240826" cy="240990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9642510" y="350174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633851" y="3028704"/>
              <a:ext cx="240826" cy="24099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9633851" y="302870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40475" y="2399891"/>
              <a:ext cx="240827" cy="240990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8440475" y="239989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49507" y="2894979"/>
              <a:ext cx="240827" cy="240990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249507" y="289497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9205" y="2651074"/>
              <a:ext cx="240827" cy="240990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8819205" y="265107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53059" y="3289617"/>
              <a:ext cx="240827" cy="240990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9353059" y="328961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260618" y="3804923"/>
              <a:ext cx="240826" cy="240990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9260618" y="3804923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646168" y="2605451"/>
              <a:ext cx="208915" cy="81280"/>
            </a:xfrm>
            <a:custGeom>
              <a:avLst/>
              <a:gdLst/>
              <a:ahLst/>
              <a:cxnLst/>
              <a:rect l="l" t="t" r="r" b="b"/>
              <a:pathLst>
                <a:path w="208915" h="81280">
                  <a:moveTo>
                    <a:pt x="208306" y="80916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408074" y="2761382"/>
              <a:ext cx="118110" cy="103505"/>
            </a:xfrm>
            <a:custGeom>
              <a:avLst/>
              <a:gdLst/>
              <a:ahLst/>
              <a:cxnLst/>
              <a:rect l="l" t="t" r="r" b="b"/>
              <a:pathLst>
                <a:path w="118109" h="103505">
                  <a:moveTo>
                    <a:pt x="117776" y="0"/>
                  </a:moveTo>
                  <a:lnTo>
                    <a:pt x="0" y="103344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01714" y="3098115"/>
              <a:ext cx="240827" cy="240990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8001714" y="309811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1809" y="3317519"/>
              <a:ext cx="240827" cy="240990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7701809" y="331751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36716" y="2399891"/>
              <a:ext cx="240827" cy="240990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8036716" y="239989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6889" y="2711657"/>
              <a:ext cx="240827" cy="240990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7736889" y="271165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95"/>
                  </a:moveTo>
                  <a:lnTo>
                    <a:pt x="9462" y="73593"/>
                  </a:lnTo>
                  <a:lnTo>
                    <a:pt x="35268" y="35292"/>
                  </a:lnTo>
                  <a:lnTo>
                    <a:pt x="73543" y="9469"/>
                  </a:lnTo>
                  <a:lnTo>
                    <a:pt x="120413" y="0"/>
                  </a:lnTo>
                  <a:lnTo>
                    <a:pt x="167283" y="9469"/>
                  </a:lnTo>
                  <a:lnTo>
                    <a:pt x="205558" y="35292"/>
                  </a:lnTo>
                  <a:lnTo>
                    <a:pt x="231364" y="73593"/>
                  </a:lnTo>
                  <a:lnTo>
                    <a:pt x="240826" y="120495"/>
                  </a:lnTo>
                  <a:lnTo>
                    <a:pt x="231364" y="167397"/>
                  </a:lnTo>
                  <a:lnTo>
                    <a:pt x="205558" y="205698"/>
                  </a:lnTo>
                  <a:lnTo>
                    <a:pt x="167283" y="231521"/>
                  </a:lnTo>
                  <a:lnTo>
                    <a:pt x="120413" y="240990"/>
                  </a:lnTo>
                  <a:lnTo>
                    <a:pt x="73543" y="231521"/>
                  </a:lnTo>
                  <a:lnTo>
                    <a:pt x="35268" y="205698"/>
                  </a:lnTo>
                  <a:lnTo>
                    <a:pt x="9462" y="167397"/>
                  </a:lnTo>
                  <a:lnTo>
                    <a:pt x="0" y="12049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277542" y="2520386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5" h="0">
                  <a:moveTo>
                    <a:pt x="0" y="0"/>
                  </a:moveTo>
                  <a:lnTo>
                    <a:pt x="163041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7942341" y="2605589"/>
              <a:ext cx="130175" cy="141605"/>
            </a:xfrm>
            <a:custGeom>
              <a:avLst/>
              <a:gdLst/>
              <a:ahLst/>
              <a:cxnLst/>
              <a:rect l="l" t="t" r="r" b="b"/>
              <a:pathLst>
                <a:path w="130175" h="141605">
                  <a:moveTo>
                    <a:pt x="129642" y="0"/>
                  </a:moveTo>
                  <a:lnTo>
                    <a:pt x="0" y="141163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63565" y="3171041"/>
              <a:ext cx="240792" cy="240955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8663565" y="317104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78"/>
                  </a:moveTo>
                  <a:lnTo>
                    <a:pt x="9461" y="73582"/>
                  </a:lnTo>
                  <a:lnTo>
                    <a:pt x="35263" y="35287"/>
                  </a:lnTo>
                  <a:lnTo>
                    <a:pt x="73532" y="9467"/>
                  </a:lnTo>
                  <a:lnTo>
                    <a:pt x="120396" y="0"/>
                  </a:lnTo>
                  <a:lnTo>
                    <a:pt x="167260" y="9467"/>
                  </a:lnTo>
                  <a:lnTo>
                    <a:pt x="205529" y="35287"/>
                  </a:lnTo>
                  <a:lnTo>
                    <a:pt x="231331" y="73582"/>
                  </a:lnTo>
                  <a:lnTo>
                    <a:pt x="240792" y="120478"/>
                  </a:lnTo>
                  <a:lnTo>
                    <a:pt x="231331" y="167373"/>
                  </a:lnTo>
                  <a:lnTo>
                    <a:pt x="205529" y="205668"/>
                  </a:lnTo>
                  <a:lnTo>
                    <a:pt x="167260" y="231488"/>
                  </a:lnTo>
                  <a:lnTo>
                    <a:pt x="120396" y="240956"/>
                  </a:lnTo>
                  <a:lnTo>
                    <a:pt x="73532" y="231488"/>
                  </a:lnTo>
                  <a:lnTo>
                    <a:pt x="35263" y="205668"/>
                  </a:lnTo>
                  <a:lnTo>
                    <a:pt x="9461" y="167373"/>
                  </a:lnTo>
                  <a:lnTo>
                    <a:pt x="0" y="120478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9" name="object 49" descr=""/>
          <p:cNvGrpSpPr/>
          <p:nvPr/>
        </p:nvGrpSpPr>
        <p:grpSpPr>
          <a:xfrm>
            <a:off x="4909720" y="4274287"/>
            <a:ext cx="5235575" cy="1828800"/>
            <a:chOff x="4909720" y="4274287"/>
            <a:chExt cx="5235575" cy="1828800"/>
          </a:xfrm>
        </p:grpSpPr>
        <p:sp>
          <p:nvSpPr>
            <p:cNvPr id="50" name="object 50" descr=""/>
            <p:cNvSpPr/>
            <p:nvPr/>
          </p:nvSpPr>
          <p:spPr>
            <a:xfrm>
              <a:off x="4909720" y="4274287"/>
              <a:ext cx="5235575" cy="1828800"/>
            </a:xfrm>
            <a:custGeom>
              <a:avLst/>
              <a:gdLst/>
              <a:ahLst/>
              <a:cxnLst/>
              <a:rect l="l" t="t" r="r" b="b"/>
              <a:pathLst>
                <a:path w="5235575" h="1828800">
                  <a:moveTo>
                    <a:pt x="5053599" y="0"/>
                  </a:moveTo>
                  <a:lnTo>
                    <a:pt x="181517" y="0"/>
                  </a:lnTo>
                  <a:lnTo>
                    <a:pt x="133262" y="6488"/>
                  </a:lnTo>
                  <a:lnTo>
                    <a:pt x="89902" y="24799"/>
                  </a:lnTo>
                  <a:lnTo>
                    <a:pt x="53165" y="53201"/>
                  </a:lnTo>
                  <a:lnTo>
                    <a:pt x="24782" y="89963"/>
                  </a:lnTo>
                  <a:lnTo>
                    <a:pt x="6484" y="133353"/>
                  </a:lnTo>
                  <a:lnTo>
                    <a:pt x="0" y="181640"/>
                  </a:lnTo>
                  <a:lnTo>
                    <a:pt x="0" y="1646651"/>
                  </a:lnTo>
                  <a:lnTo>
                    <a:pt x="6484" y="1694938"/>
                  </a:lnTo>
                  <a:lnTo>
                    <a:pt x="24782" y="1738328"/>
                  </a:lnTo>
                  <a:lnTo>
                    <a:pt x="53165" y="1775090"/>
                  </a:lnTo>
                  <a:lnTo>
                    <a:pt x="89902" y="1803492"/>
                  </a:lnTo>
                  <a:lnTo>
                    <a:pt x="133262" y="1821803"/>
                  </a:lnTo>
                  <a:lnTo>
                    <a:pt x="181517" y="1828291"/>
                  </a:lnTo>
                  <a:lnTo>
                    <a:pt x="5053599" y="1828291"/>
                  </a:lnTo>
                  <a:lnTo>
                    <a:pt x="5101853" y="1821803"/>
                  </a:lnTo>
                  <a:lnTo>
                    <a:pt x="5145214" y="1803492"/>
                  </a:lnTo>
                  <a:lnTo>
                    <a:pt x="5181951" y="1775090"/>
                  </a:lnTo>
                  <a:lnTo>
                    <a:pt x="5210333" y="1738328"/>
                  </a:lnTo>
                  <a:lnTo>
                    <a:pt x="5228632" y="1694938"/>
                  </a:lnTo>
                  <a:lnTo>
                    <a:pt x="5235116" y="1646651"/>
                  </a:lnTo>
                  <a:lnTo>
                    <a:pt x="5235116" y="181640"/>
                  </a:lnTo>
                  <a:lnTo>
                    <a:pt x="5228632" y="133353"/>
                  </a:lnTo>
                  <a:lnTo>
                    <a:pt x="5210333" y="89963"/>
                  </a:lnTo>
                  <a:lnTo>
                    <a:pt x="5181951" y="53201"/>
                  </a:lnTo>
                  <a:lnTo>
                    <a:pt x="5145214" y="24799"/>
                  </a:lnTo>
                  <a:lnTo>
                    <a:pt x="5101853" y="6488"/>
                  </a:lnTo>
                  <a:lnTo>
                    <a:pt x="505359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8387788" y="5000900"/>
              <a:ext cx="414020" cy="276225"/>
            </a:xfrm>
            <a:custGeom>
              <a:avLst/>
              <a:gdLst/>
              <a:ahLst/>
              <a:cxnLst/>
              <a:rect l="l" t="t" r="r" b="b"/>
              <a:pathLst>
                <a:path w="414020" h="276225">
                  <a:moveTo>
                    <a:pt x="0" y="0"/>
                  </a:moveTo>
                  <a:lnTo>
                    <a:pt x="413946" y="276059"/>
                  </a:lnTo>
                </a:path>
              </a:pathLst>
            </a:custGeom>
            <a:ln w="21679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7923659" y="5375908"/>
              <a:ext cx="656590" cy="170815"/>
            </a:xfrm>
            <a:custGeom>
              <a:avLst/>
              <a:gdLst/>
              <a:ahLst/>
              <a:cxnLst/>
              <a:rect l="l" t="t" r="r" b="b"/>
              <a:pathLst>
                <a:path w="656590" h="170814">
                  <a:moveTo>
                    <a:pt x="0" y="0"/>
                  </a:moveTo>
                  <a:lnTo>
                    <a:pt x="656538" y="170369"/>
                  </a:lnTo>
                </a:path>
              </a:pathLst>
            </a:custGeom>
            <a:ln w="21683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9621791" y="5049427"/>
              <a:ext cx="356235" cy="361950"/>
            </a:xfrm>
            <a:custGeom>
              <a:avLst/>
              <a:gdLst/>
              <a:ahLst/>
              <a:cxnLst/>
              <a:rect l="l" t="t" r="r" b="b"/>
              <a:pathLst>
                <a:path w="356234" h="361950">
                  <a:moveTo>
                    <a:pt x="355986" y="0"/>
                  </a:moveTo>
                  <a:lnTo>
                    <a:pt x="0" y="361504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604309" y="5391690"/>
              <a:ext cx="290195" cy="201295"/>
            </a:xfrm>
            <a:custGeom>
              <a:avLst/>
              <a:gdLst/>
              <a:ahLst/>
              <a:cxnLst/>
              <a:rect l="l" t="t" r="r" b="b"/>
              <a:pathLst>
                <a:path w="290195" h="201295">
                  <a:moveTo>
                    <a:pt x="290062" y="200982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8494502" y="4523075"/>
              <a:ext cx="191770" cy="495300"/>
            </a:xfrm>
            <a:custGeom>
              <a:avLst/>
              <a:gdLst/>
              <a:ahLst/>
              <a:cxnLst/>
              <a:rect l="l" t="t" r="r" b="b"/>
              <a:pathLst>
                <a:path w="191770" h="495300">
                  <a:moveTo>
                    <a:pt x="191177" y="0"/>
                  </a:moveTo>
                  <a:lnTo>
                    <a:pt x="0" y="495199"/>
                  </a:lnTo>
                </a:path>
              </a:pathLst>
            </a:custGeom>
            <a:ln w="21671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8514675" y="4736880"/>
              <a:ext cx="569595" cy="244475"/>
            </a:xfrm>
            <a:custGeom>
              <a:avLst/>
              <a:gdLst/>
              <a:ahLst/>
              <a:cxnLst/>
              <a:rect l="l" t="t" r="r" b="b"/>
              <a:pathLst>
                <a:path w="569595" h="244475">
                  <a:moveTo>
                    <a:pt x="569576" y="0"/>
                  </a:moveTo>
                  <a:lnTo>
                    <a:pt x="0" y="244081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9519371" y="5391384"/>
              <a:ext cx="92710" cy="515620"/>
            </a:xfrm>
            <a:custGeom>
              <a:avLst/>
              <a:gdLst/>
              <a:ahLst/>
              <a:cxnLst/>
              <a:rect l="l" t="t" r="r" b="b"/>
              <a:pathLst>
                <a:path w="92709" h="515620">
                  <a:moveTo>
                    <a:pt x="0" y="515429"/>
                  </a:moveTo>
                  <a:lnTo>
                    <a:pt x="92292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969441" y="5195684"/>
              <a:ext cx="300355" cy="219710"/>
            </a:xfrm>
            <a:custGeom>
              <a:avLst/>
              <a:gdLst/>
              <a:ahLst/>
              <a:cxnLst/>
              <a:rect l="l" t="t" r="r" b="b"/>
              <a:pathLst>
                <a:path w="300354" h="219710">
                  <a:moveTo>
                    <a:pt x="299731" y="0"/>
                  </a:moveTo>
                  <a:lnTo>
                    <a:pt x="0" y="219453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8221537" y="5148050"/>
              <a:ext cx="297815" cy="445134"/>
            </a:xfrm>
            <a:custGeom>
              <a:avLst/>
              <a:gdLst/>
              <a:ahLst/>
              <a:cxnLst/>
              <a:rect l="l" t="t" r="r" b="b"/>
              <a:pathLst>
                <a:path w="297815" h="445135">
                  <a:moveTo>
                    <a:pt x="297533" y="444624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8403835" y="5190554"/>
              <a:ext cx="603885" cy="394970"/>
            </a:xfrm>
            <a:custGeom>
              <a:avLst/>
              <a:gdLst/>
              <a:ahLst/>
              <a:cxnLst/>
              <a:rect l="l" t="t" r="r" b="b"/>
              <a:pathLst>
                <a:path w="603884" h="394970">
                  <a:moveTo>
                    <a:pt x="603857" y="0"/>
                  </a:moveTo>
                  <a:lnTo>
                    <a:pt x="0" y="394488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8796132" y="5260985"/>
              <a:ext cx="936625" cy="134620"/>
            </a:xfrm>
            <a:custGeom>
              <a:avLst/>
              <a:gdLst/>
              <a:ahLst/>
              <a:cxnLst/>
              <a:rect l="l" t="t" r="r" b="b"/>
              <a:pathLst>
                <a:path w="936625" h="134620">
                  <a:moveTo>
                    <a:pt x="936111" y="134574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8841399" y="4850069"/>
              <a:ext cx="705485" cy="520065"/>
            </a:xfrm>
            <a:custGeom>
              <a:avLst/>
              <a:gdLst/>
              <a:ahLst/>
              <a:cxnLst/>
              <a:rect l="l" t="t" r="r" b="b"/>
              <a:pathLst>
                <a:path w="705484" h="520064">
                  <a:moveTo>
                    <a:pt x="704939" y="0"/>
                  </a:moveTo>
                  <a:lnTo>
                    <a:pt x="0" y="519828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8882510" y="4671775"/>
              <a:ext cx="267970" cy="661035"/>
            </a:xfrm>
            <a:custGeom>
              <a:avLst/>
              <a:gdLst/>
              <a:ahLst/>
              <a:cxnLst/>
              <a:rect l="l" t="t" r="r" b="b"/>
              <a:pathLst>
                <a:path w="267970" h="661035">
                  <a:moveTo>
                    <a:pt x="267649" y="0"/>
                  </a:moveTo>
                  <a:lnTo>
                    <a:pt x="0" y="660559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39358" y="5425776"/>
              <a:ext cx="240838" cy="241002"/>
            </a:xfrm>
            <a:prstGeom prst="rect">
              <a:avLst/>
            </a:prstGeom>
          </p:spPr>
        </p:pic>
        <p:sp>
          <p:nvSpPr>
            <p:cNvPr id="65" name="object 65" descr=""/>
            <p:cNvSpPr/>
            <p:nvPr/>
          </p:nvSpPr>
          <p:spPr>
            <a:xfrm>
              <a:off x="8339358" y="542577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28931" y="4541086"/>
              <a:ext cx="240840" cy="241002"/>
            </a:xfrm>
            <a:prstGeom prst="rect">
              <a:avLst/>
            </a:prstGeom>
          </p:spPr>
        </p:pic>
        <p:sp>
          <p:nvSpPr>
            <p:cNvPr id="67" name="object 67" descr=""/>
            <p:cNvSpPr/>
            <p:nvPr/>
          </p:nvSpPr>
          <p:spPr>
            <a:xfrm>
              <a:off x="9628931" y="454108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340768" y="4814774"/>
              <a:ext cx="240838" cy="241002"/>
            </a:xfrm>
            <a:prstGeom prst="rect">
              <a:avLst/>
            </a:prstGeom>
          </p:spPr>
        </p:pic>
        <p:sp>
          <p:nvSpPr>
            <p:cNvPr id="69" name="object 69" descr=""/>
            <p:cNvSpPr/>
            <p:nvPr/>
          </p:nvSpPr>
          <p:spPr>
            <a:xfrm>
              <a:off x="9340768" y="481477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0" name="object 7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80868" y="5487196"/>
              <a:ext cx="240838" cy="241002"/>
            </a:xfrm>
            <a:prstGeom prst="rect">
              <a:avLst/>
            </a:prstGeom>
          </p:spPr>
        </p:pic>
        <p:sp>
          <p:nvSpPr>
            <p:cNvPr id="71" name="object 71" descr=""/>
            <p:cNvSpPr/>
            <p:nvPr/>
          </p:nvSpPr>
          <p:spPr>
            <a:xfrm>
              <a:off x="9780868" y="5487196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72207" y="5014132"/>
              <a:ext cx="240838" cy="241002"/>
            </a:xfrm>
            <a:prstGeom prst="rect">
              <a:avLst/>
            </a:prstGeom>
          </p:spPr>
        </p:pic>
        <p:sp>
          <p:nvSpPr>
            <p:cNvPr id="73" name="object 73" descr=""/>
            <p:cNvSpPr/>
            <p:nvPr/>
          </p:nvSpPr>
          <p:spPr>
            <a:xfrm>
              <a:off x="9772207" y="501413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578769" y="4385284"/>
              <a:ext cx="240838" cy="241002"/>
            </a:xfrm>
            <a:prstGeom prst="rect">
              <a:avLst/>
            </a:prstGeom>
          </p:spPr>
        </p:pic>
        <p:sp>
          <p:nvSpPr>
            <p:cNvPr id="75" name="object 75" descr=""/>
            <p:cNvSpPr/>
            <p:nvPr/>
          </p:nvSpPr>
          <p:spPr>
            <a:xfrm>
              <a:off x="8578769" y="438528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87788" y="4880399"/>
              <a:ext cx="240838" cy="241002"/>
            </a:xfrm>
            <a:prstGeom prst="rect">
              <a:avLst/>
            </a:prstGeom>
          </p:spPr>
        </p:pic>
        <p:sp>
          <p:nvSpPr>
            <p:cNvPr id="77" name="object 77" descr=""/>
            <p:cNvSpPr/>
            <p:nvPr/>
          </p:nvSpPr>
          <p:spPr>
            <a:xfrm>
              <a:off x="8387788" y="4880399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57519" y="4636481"/>
              <a:ext cx="240838" cy="241002"/>
            </a:xfrm>
            <a:prstGeom prst="rect">
              <a:avLst/>
            </a:prstGeom>
          </p:spPr>
        </p:pic>
        <p:sp>
          <p:nvSpPr>
            <p:cNvPr id="79" name="object 79" descr=""/>
            <p:cNvSpPr/>
            <p:nvPr/>
          </p:nvSpPr>
          <p:spPr>
            <a:xfrm>
              <a:off x="8957519" y="4636481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0" name="object 8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491402" y="5275058"/>
              <a:ext cx="240838" cy="241002"/>
            </a:xfrm>
            <a:prstGeom prst="rect">
              <a:avLst/>
            </a:prstGeom>
          </p:spPr>
        </p:pic>
        <p:sp>
          <p:nvSpPr>
            <p:cNvPr id="81" name="object 81" descr=""/>
            <p:cNvSpPr/>
            <p:nvPr/>
          </p:nvSpPr>
          <p:spPr>
            <a:xfrm>
              <a:off x="9491402" y="527505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98954" y="5790392"/>
              <a:ext cx="240838" cy="241002"/>
            </a:xfrm>
            <a:prstGeom prst="rect">
              <a:avLst/>
            </a:prstGeom>
          </p:spPr>
        </p:pic>
        <p:sp>
          <p:nvSpPr>
            <p:cNvPr id="83" name="object 83" descr=""/>
            <p:cNvSpPr/>
            <p:nvPr/>
          </p:nvSpPr>
          <p:spPr>
            <a:xfrm>
              <a:off x="9398954" y="579039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 descr=""/>
            <p:cNvSpPr/>
            <p:nvPr/>
          </p:nvSpPr>
          <p:spPr>
            <a:xfrm>
              <a:off x="8784471" y="4590855"/>
              <a:ext cx="208915" cy="81280"/>
            </a:xfrm>
            <a:custGeom>
              <a:avLst/>
              <a:gdLst/>
              <a:ahLst/>
              <a:cxnLst/>
              <a:rect l="l" t="t" r="r" b="b"/>
              <a:pathLst>
                <a:path w="208915" h="81279">
                  <a:moveTo>
                    <a:pt x="208317" y="80920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9546418" y="4746796"/>
              <a:ext cx="118110" cy="103505"/>
            </a:xfrm>
            <a:custGeom>
              <a:avLst/>
              <a:gdLst/>
              <a:ahLst/>
              <a:cxnLst/>
              <a:rect l="l" t="t" r="r" b="b"/>
              <a:pathLst>
                <a:path w="118109" h="103504">
                  <a:moveTo>
                    <a:pt x="117782" y="0"/>
                  </a:moveTo>
                  <a:lnTo>
                    <a:pt x="0" y="103349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 descr=""/>
            <p:cNvSpPr/>
            <p:nvPr/>
          </p:nvSpPr>
          <p:spPr>
            <a:xfrm>
              <a:off x="9604744" y="5692905"/>
              <a:ext cx="211454" cy="133350"/>
            </a:xfrm>
            <a:custGeom>
              <a:avLst/>
              <a:gdLst/>
              <a:ahLst/>
              <a:cxnLst/>
              <a:rect l="l" t="t" r="r" b="b"/>
              <a:pathLst>
                <a:path w="211454" h="133350">
                  <a:moveTo>
                    <a:pt x="211394" y="0"/>
                  </a:moveTo>
                  <a:lnTo>
                    <a:pt x="0" y="132815"/>
                  </a:lnTo>
                </a:path>
              </a:pathLst>
            </a:custGeom>
            <a:ln w="21679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39984" y="5083547"/>
              <a:ext cx="240840" cy="241002"/>
            </a:xfrm>
            <a:prstGeom prst="rect">
              <a:avLst/>
            </a:prstGeom>
          </p:spPr>
        </p:pic>
        <p:sp>
          <p:nvSpPr>
            <p:cNvPr id="88" name="object 88" descr=""/>
            <p:cNvSpPr/>
            <p:nvPr/>
          </p:nvSpPr>
          <p:spPr>
            <a:xfrm>
              <a:off x="8139984" y="5083547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840062" y="5302962"/>
              <a:ext cx="240840" cy="241002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7840062" y="5302962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1" name="object 91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74987" y="4385284"/>
              <a:ext cx="240838" cy="241002"/>
            </a:xfrm>
            <a:prstGeom prst="rect">
              <a:avLst/>
            </a:prstGeom>
          </p:spPr>
        </p:pic>
        <p:sp>
          <p:nvSpPr>
            <p:cNvPr id="92" name="object 92" descr=""/>
            <p:cNvSpPr/>
            <p:nvPr/>
          </p:nvSpPr>
          <p:spPr>
            <a:xfrm>
              <a:off x="8174987" y="4385284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3" name="object 9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875144" y="4697068"/>
              <a:ext cx="240838" cy="241002"/>
            </a:xfrm>
            <a:prstGeom prst="rect">
              <a:avLst/>
            </a:prstGeom>
          </p:spPr>
        </p:pic>
        <p:sp>
          <p:nvSpPr>
            <p:cNvPr id="94" name="object 94" descr=""/>
            <p:cNvSpPr/>
            <p:nvPr/>
          </p:nvSpPr>
          <p:spPr>
            <a:xfrm>
              <a:off x="7875144" y="4697068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501"/>
                  </a:moveTo>
                  <a:lnTo>
                    <a:pt x="9463" y="73596"/>
                  </a:lnTo>
                  <a:lnTo>
                    <a:pt x="35270" y="35294"/>
                  </a:lnTo>
                  <a:lnTo>
                    <a:pt x="73546" y="9469"/>
                  </a:lnTo>
                  <a:lnTo>
                    <a:pt x="120419" y="0"/>
                  </a:lnTo>
                  <a:lnTo>
                    <a:pt x="167292" y="9469"/>
                  </a:lnTo>
                  <a:lnTo>
                    <a:pt x="205569" y="35294"/>
                  </a:lnTo>
                  <a:lnTo>
                    <a:pt x="231376" y="73596"/>
                  </a:lnTo>
                  <a:lnTo>
                    <a:pt x="240839" y="120501"/>
                  </a:lnTo>
                  <a:lnTo>
                    <a:pt x="231376" y="167406"/>
                  </a:lnTo>
                  <a:lnTo>
                    <a:pt x="205569" y="205708"/>
                  </a:lnTo>
                  <a:lnTo>
                    <a:pt x="167292" y="231533"/>
                  </a:lnTo>
                  <a:lnTo>
                    <a:pt x="120419" y="241002"/>
                  </a:lnTo>
                  <a:lnTo>
                    <a:pt x="73546" y="231533"/>
                  </a:lnTo>
                  <a:lnTo>
                    <a:pt x="35270" y="205708"/>
                  </a:lnTo>
                  <a:lnTo>
                    <a:pt x="9463" y="167406"/>
                  </a:lnTo>
                  <a:lnTo>
                    <a:pt x="0" y="120501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8415826" y="4505786"/>
              <a:ext cx="163195" cy="0"/>
            </a:xfrm>
            <a:custGeom>
              <a:avLst/>
              <a:gdLst/>
              <a:ahLst/>
              <a:cxnLst/>
              <a:rect l="l" t="t" r="r" b="b"/>
              <a:pathLst>
                <a:path w="163195" h="0">
                  <a:moveTo>
                    <a:pt x="0" y="0"/>
                  </a:moveTo>
                  <a:lnTo>
                    <a:pt x="163050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 descr=""/>
            <p:cNvSpPr/>
            <p:nvPr/>
          </p:nvSpPr>
          <p:spPr>
            <a:xfrm>
              <a:off x="8080607" y="4590992"/>
              <a:ext cx="130175" cy="141605"/>
            </a:xfrm>
            <a:custGeom>
              <a:avLst/>
              <a:gdLst/>
              <a:ahLst/>
              <a:cxnLst/>
              <a:rect l="l" t="t" r="r" b="b"/>
              <a:pathLst>
                <a:path w="130175" h="141604">
                  <a:moveTo>
                    <a:pt x="129648" y="0"/>
                  </a:moveTo>
                  <a:lnTo>
                    <a:pt x="0" y="141171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7" name="object 9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1869" y="5156475"/>
              <a:ext cx="240804" cy="240968"/>
            </a:xfrm>
            <a:prstGeom prst="rect">
              <a:avLst/>
            </a:prstGeom>
          </p:spPr>
        </p:pic>
        <p:sp>
          <p:nvSpPr>
            <p:cNvPr id="98" name="object 98" descr=""/>
            <p:cNvSpPr/>
            <p:nvPr/>
          </p:nvSpPr>
          <p:spPr>
            <a:xfrm>
              <a:off x="8801869" y="5156475"/>
              <a:ext cx="241300" cy="241300"/>
            </a:xfrm>
            <a:custGeom>
              <a:avLst/>
              <a:gdLst/>
              <a:ahLst/>
              <a:cxnLst/>
              <a:rect l="l" t="t" r="r" b="b"/>
              <a:pathLst>
                <a:path w="241300" h="241300">
                  <a:moveTo>
                    <a:pt x="0" y="120484"/>
                  </a:moveTo>
                  <a:lnTo>
                    <a:pt x="9461" y="73586"/>
                  </a:lnTo>
                  <a:lnTo>
                    <a:pt x="35265" y="35289"/>
                  </a:lnTo>
                  <a:lnTo>
                    <a:pt x="73536" y="9468"/>
                  </a:lnTo>
                  <a:lnTo>
                    <a:pt x="120402" y="0"/>
                  </a:lnTo>
                  <a:lnTo>
                    <a:pt x="167268" y="9468"/>
                  </a:lnTo>
                  <a:lnTo>
                    <a:pt x="205540" y="35289"/>
                  </a:lnTo>
                  <a:lnTo>
                    <a:pt x="231343" y="73586"/>
                  </a:lnTo>
                  <a:lnTo>
                    <a:pt x="240805" y="120484"/>
                  </a:lnTo>
                  <a:lnTo>
                    <a:pt x="231343" y="167382"/>
                  </a:lnTo>
                  <a:lnTo>
                    <a:pt x="205540" y="205679"/>
                  </a:lnTo>
                  <a:lnTo>
                    <a:pt x="167268" y="231500"/>
                  </a:lnTo>
                  <a:lnTo>
                    <a:pt x="120402" y="240968"/>
                  </a:lnTo>
                  <a:lnTo>
                    <a:pt x="73536" y="231500"/>
                  </a:lnTo>
                  <a:lnTo>
                    <a:pt x="35265" y="205679"/>
                  </a:lnTo>
                  <a:lnTo>
                    <a:pt x="9461" y="167382"/>
                  </a:lnTo>
                  <a:lnTo>
                    <a:pt x="0" y="120484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 descr=""/>
            <p:cNvSpPr/>
            <p:nvPr/>
          </p:nvSpPr>
          <p:spPr>
            <a:xfrm>
              <a:off x="9892626" y="5255134"/>
              <a:ext cx="8890" cy="232410"/>
            </a:xfrm>
            <a:custGeom>
              <a:avLst/>
              <a:gdLst/>
              <a:ahLst/>
              <a:cxnLst/>
              <a:rect l="l" t="t" r="r" b="b"/>
              <a:pathLst>
                <a:path w="8890" h="232410">
                  <a:moveTo>
                    <a:pt x="0" y="0"/>
                  </a:moveTo>
                  <a:lnTo>
                    <a:pt x="8531" y="232207"/>
                  </a:lnTo>
                </a:path>
              </a:pathLst>
            </a:custGeom>
            <a:ln w="21669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0" name="object 100" descr=""/>
          <p:cNvGrpSpPr/>
          <p:nvPr/>
        </p:nvGrpSpPr>
        <p:grpSpPr>
          <a:xfrm>
            <a:off x="752158" y="2103488"/>
            <a:ext cx="3018155" cy="4237990"/>
            <a:chOff x="752158" y="2103488"/>
            <a:chExt cx="3018155" cy="4237990"/>
          </a:xfrm>
        </p:grpSpPr>
        <p:sp>
          <p:nvSpPr>
            <p:cNvPr id="101" name="object 101" descr=""/>
            <p:cNvSpPr/>
            <p:nvPr/>
          </p:nvSpPr>
          <p:spPr>
            <a:xfrm>
              <a:off x="752158" y="2103488"/>
              <a:ext cx="3018155" cy="4237990"/>
            </a:xfrm>
            <a:custGeom>
              <a:avLst/>
              <a:gdLst/>
              <a:ahLst/>
              <a:cxnLst/>
              <a:rect l="l" t="t" r="r" b="b"/>
              <a:pathLst>
                <a:path w="3018154" h="4237990">
                  <a:moveTo>
                    <a:pt x="2717867" y="0"/>
                  </a:moveTo>
                  <a:lnTo>
                    <a:pt x="299806" y="0"/>
                  </a:lnTo>
                  <a:lnTo>
                    <a:pt x="251176" y="3926"/>
                  </a:lnTo>
                  <a:lnTo>
                    <a:pt x="205044" y="15294"/>
                  </a:lnTo>
                  <a:lnTo>
                    <a:pt x="162028" y="33486"/>
                  </a:lnTo>
                  <a:lnTo>
                    <a:pt x="122744" y="57884"/>
                  </a:lnTo>
                  <a:lnTo>
                    <a:pt x="87811" y="87870"/>
                  </a:lnTo>
                  <a:lnTo>
                    <a:pt x="57845" y="122827"/>
                  </a:lnTo>
                  <a:lnTo>
                    <a:pt x="33463" y="162137"/>
                  </a:lnTo>
                  <a:lnTo>
                    <a:pt x="15284" y="205183"/>
                  </a:lnTo>
                  <a:lnTo>
                    <a:pt x="3923" y="251346"/>
                  </a:lnTo>
                  <a:lnTo>
                    <a:pt x="0" y="300009"/>
                  </a:lnTo>
                  <a:lnTo>
                    <a:pt x="0" y="3937774"/>
                  </a:lnTo>
                  <a:lnTo>
                    <a:pt x="3923" y="3986437"/>
                  </a:lnTo>
                  <a:lnTo>
                    <a:pt x="15284" y="4032600"/>
                  </a:lnTo>
                  <a:lnTo>
                    <a:pt x="33463" y="4075646"/>
                  </a:lnTo>
                  <a:lnTo>
                    <a:pt x="57845" y="4114956"/>
                  </a:lnTo>
                  <a:lnTo>
                    <a:pt x="87811" y="4149913"/>
                  </a:lnTo>
                  <a:lnTo>
                    <a:pt x="122744" y="4179899"/>
                  </a:lnTo>
                  <a:lnTo>
                    <a:pt x="162028" y="4204297"/>
                  </a:lnTo>
                  <a:lnTo>
                    <a:pt x="205044" y="4222489"/>
                  </a:lnTo>
                  <a:lnTo>
                    <a:pt x="251176" y="4233857"/>
                  </a:lnTo>
                  <a:lnTo>
                    <a:pt x="299806" y="4237784"/>
                  </a:lnTo>
                  <a:lnTo>
                    <a:pt x="2717867" y="4237784"/>
                  </a:lnTo>
                  <a:lnTo>
                    <a:pt x="2766497" y="4233857"/>
                  </a:lnTo>
                  <a:lnTo>
                    <a:pt x="2812629" y="4222489"/>
                  </a:lnTo>
                  <a:lnTo>
                    <a:pt x="2855645" y="4204297"/>
                  </a:lnTo>
                  <a:lnTo>
                    <a:pt x="2894929" y="4179899"/>
                  </a:lnTo>
                  <a:lnTo>
                    <a:pt x="2929862" y="4149913"/>
                  </a:lnTo>
                  <a:lnTo>
                    <a:pt x="2959828" y="4114956"/>
                  </a:lnTo>
                  <a:lnTo>
                    <a:pt x="2984210" y="4075646"/>
                  </a:lnTo>
                  <a:lnTo>
                    <a:pt x="3002389" y="4032600"/>
                  </a:lnTo>
                  <a:lnTo>
                    <a:pt x="3013750" y="3986437"/>
                  </a:lnTo>
                  <a:lnTo>
                    <a:pt x="3017674" y="3937774"/>
                  </a:lnTo>
                  <a:lnTo>
                    <a:pt x="3017674" y="300009"/>
                  </a:lnTo>
                  <a:lnTo>
                    <a:pt x="3013750" y="251346"/>
                  </a:lnTo>
                  <a:lnTo>
                    <a:pt x="3002389" y="205183"/>
                  </a:lnTo>
                  <a:lnTo>
                    <a:pt x="2984210" y="162137"/>
                  </a:lnTo>
                  <a:lnTo>
                    <a:pt x="2959828" y="122827"/>
                  </a:lnTo>
                  <a:lnTo>
                    <a:pt x="2929862" y="87870"/>
                  </a:lnTo>
                  <a:lnTo>
                    <a:pt x="2894929" y="57884"/>
                  </a:lnTo>
                  <a:lnTo>
                    <a:pt x="2855645" y="33486"/>
                  </a:lnTo>
                  <a:lnTo>
                    <a:pt x="2812629" y="15294"/>
                  </a:lnTo>
                  <a:lnTo>
                    <a:pt x="2766497" y="3926"/>
                  </a:lnTo>
                  <a:lnTo>
                    <a:pt x="2717867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 descr=""/>
            <p:cNvSpPr/>
            <p:nvPr/>
          </p:nvSpPr>
          <p:spPr>
            <a:xfrm>
              <a:off x="3100292" y="3407614"/>
              <a:ext cx="441959" cy="448945"/>
            </a:xfrm>
            <a:custGeom>
              <a:avLst/>
              <a:gdLst/>
              <a:ahLst/>
              <a:cxnLst/>
              <a:rect l="l" t="t" r="r" b="b"/>
              <a:pathLst>
                <a:path w="441960" h="448945">
                  <a:moveTo>
                    <a:pt x="441669" y="0"/>
                  </a:moveTo>
                  <a:lnTo>
                    <a:pt x="0" y="448516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3078603" y="3832259"/>
              <a:ext cx="360045" cy="249554"/>
            </a:xfrm>
            <a:custGeom>
              <a:avLst/>
              <a:gdLst/>
              <a:ahLst/>
              <a:cxnLst/>
              <a:rect l="l" t="t" r="r" b="b"/>
              <a:pathLst>
                <a:path w="360045" h="249554">
                  <a:moveTo>
                    <a:pt x="359878" y="249357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 descr=""/>
            <p:cNvSpPr/>
            <p:nvPr/>
          </p:nvSpPr>
          <p:spPr>
            <a:xfrm>
              <a:off x="1726698" y="3019840"/>
              <a:ext cx="706755" cy="302895"/>
            </a:xfrm>
            <a:custGeom>
              <a:avLst/>
              <a:gdLst/>
              <a:ahLst/>
              <a:cxnLst/>
              <a:rect l="l" t="t" r="r" b="b"/>
              <a:pathLst>
                <a:path w="706755" h="302895">
                  <a:moveTo>
                    <a:pt x="706671" y="0"/>
                  </a:moveTo>
                  <a:lnTo>
                    <a:pt x="0" y="302830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5" name="object 105" descr=""/>
            <p:cNvSpPr/>
            <p:nvPr/>
          </p:nvSpPr>
          <p:spPr>
            <a:xfrm>
              <a:off x="2973219" y="3831879"/>
              <a:ext cx="114935" cy="640080"/>
            </a:xfrm>
            <a:custGeom>
              <a:avLst/>
              <a:gdLst/>
              <a:ahLst/>
              <a:cxnLst/>
              <a:rect l="l" t="t" r="r" b="b"/>
              <a:pathLst>
                <a:path w="114935" h="640079">
                  <a:moveTo>
                    <a:pt x="0" y="639491"/>
                  </a:moveTo>
                  <a:lnTo>
                    <a:pt x="114506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6" name="object 106" descr=""/>
            <p:cNvSpPr/>
            <p:nvPr/>
          </p:nvSpPr>
          <p:spPr>
            <a:xfrm>
              <a:off x="1050232" y="3589077"/>
              <a:ext cx="372110" cy="272415"/>
            </a:xfrm>
            <a:custGeom>
              <a:avLst/>
              <a:gdLst/>
              <a:ahLst/>
              <a:cxnLst/>
              <a:rect l="l" t="t" r="r" b="b"/>
              <a:pathLst>
                <a:path w="372109" h="272414">
                  <a:moveTo>
                    <a:pt x="371874" y="0"/>
                  </a:moveTo>
                  <a:lnTo>
                    <a:pt x="0" y="272274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 descr=""/>
            <p:cNvSpPr/>
            <p:nvPr/>
          </p:nvSpPr>
          <p:spPr>
            <a:xfrm>
              <a:off x="1363004" y="3529977"/>
              <a:ext cx="369570" cy="551815"/>
            </a:xfrm>
            <a:custGeom>
              <a:avLst/>
              <a:gdLst/>
              <a:ahLst/>
              <a:cxnLst/>
              <a:rect l="l" t="t" r="r" b="b"/>
              <a:pathLst>
                <a:path w="369569" h="551814">
                  <a:moveTo>
                    <a:pt x="369148" y="551642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 descr=""/>
            <p:cNvSpPr/>
            <p:nvPr/>
          </p:nvSpPr>
          <p:spPr>
            <a:xfrm>
              <a:off x="1589179" y="3582710"/>
              <a:ext cx="749300" cy="489584"/>
            </a:xfrm>
            <a:custGeom>
              <a:avLst/>
              <a:gdLst/>
              <a:ahLst/>
              <a:cxnLst/>
              <a:rect l="l" t="t" r="r" b="b"/>
              <a:pathLst>
                <a:path w="749300" h="489585">
                  <a:moveTo>
                    <a:pt x="749202" y="0"/>
                  </a:moveTo>
                  <a:lnTo>
                    <a:pt x="0" y="489439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2075900" y="3670093"/>
              <a:ext cx="1162050" cy="167005"/>
            </a:xfrm>
            <a:custGeom>
              <a:avLst/>
              <a:gdLst/>
              <a:ahLst/>
              <a:cxnLst/>
              <a:rect l="l" t="t" r="r" b="b"/>
              <a:pathLst>
                <a:path w="1162050" h="167004">
                  <a:moveTo>
                    <a:pt x="1161428" y="166966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 descr=""/>
            <p:cNvSpPr/>
            <p:nvPr/>
          </p:nvSpPr>
          <p:spPr>
            <a:xfrm>
              <a:off x="2132063" y="3160271"/>
              <a:ext cx="875030" cy="645160"/>
            </a:xfrm>
            <a:custGeom>
              <a:avLst/>
              <a:gdLst/>
              <a:ahLst/>
              <a:cxnLst/>
              <a:rect l="l" t="t" r="r" b="b"/>
              <a:pathLst>
                <a:path w="875030" h="645160">
                  <a:moveTo>
                    <a:pt x="874614" y="0"/>
                  </a:moveTo>
                  <a:lnTo>
                    <a:pt x="0" y="644948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1" name="object 111" descr=""/>
            <p:cNvSpPr/>
            <p:nvPr/>
          </p:nvSpPr>
          <p:spPr>
            <a:xfrm>
              <a:off x="2183069" y="2939063"/>
              <a:ext cx="332105" cy="819785"/>
            </a:xfrm>
            <a:custGeom>
              <a:avLst/>
              <a:gdLst/>
              <a:ahLst/>
              <a:cxnLst/>
              <a:rect l="l" t="t" r="r" b="b"/>
              <a:pathLst>
                <a:path w="332105" h="819785">
                  <a:moveTo>
                    <a:pt x="332070" y="0"/>
                  </a:moveTo>
                  <a:lnTo>
                    <a:pt x="0" y="819553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2" name="object 112" descr=""/>
            <p:cNvSpPr/>
            <p:nvPr/>
          </p:nvSpPr>
          <p:spPr>
            <a:xfrm>
              <a:off x="1509185" y="387455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 descr=""/>
            <p:cNvSpPr/>
            <p:nvPr/>
          </p:nvSpPr>
          <p:spPr>
            <a:xfrm>
              <a:off x="1509185" y="3874551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 descr=""/>
            <p:cNvSpPr/>
            <p:nvPr/>
          </p:nvSpPr>
          <p:spPr>
            <a:xfrm>
              <a:off x="3109151" y="2776918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3109151" y="2776918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 descr=""/>
            <p:cNvSpPr/>
            <p:nvPr/>
          </p:nvSpPr>
          <p:spPr>
            <a:xfrm>
              <a:off x="2751630" y="311648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 descr=""/>
            <p:cNvSpPr/>
            <p:nvPr/>
          </p:nvSpPr>
          <p:spPr>
            <a:xfrm>
              <a:off x="2751630" y="3116482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 descr=""/>
            <p:cNvSpPr/>
            <p:nvPr/>
          </p:nvSpPr>
          <p:spPr>
            <a:xfrm>
              <a:off x="3297656" y="395075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1"/>
                  </a:lnTo>
                  <a:lnTo>
                    <a:pt x="291192" y="196760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5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 descr=""/>
            <p:cNvSpPr/>
            <p:nvPr/>
          </p:nvSpPr>
          <p:spPr>
            <a:xfrm>
              <a:off x="3297656" y="395075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 descr=""/>
            <p:cNvSpPr/>
            <p:nvPr/>
          </p:nvSpPr>
          <p:spPr>
            <a:xfrm>
              <a:off x="3286913" y="33638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7" y="270166"/>
                  </a:lnTo>
                  <a:lnTo>
                    <a:pt x="102180" y="291390"/>
                  </a:lnTo>
                  <a:lnTo>
                    <a:pt x="149404" y="299012"/>
                  </a:lnTo>
                  <a:lnTo>
                    <a:pt x="196627" y="291390"/>
                  </a:lnTo>
                  <a:lnTo>
                    <a:pt x="237639" y="270166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1" name="object 121" descr=""/>
            <p:cNvSpPr/>
            <p:nvPr/>
          </p:nvSpPr>
          <p:spPr>
            <a:xfrm>
              <a:off x="3286913" y="336382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 descr=""/>
            <p:cNvSpPr/>
            <p:nvPr/>
          </p:nvSpPr>
          <p:spPr>
            <a:xfrm>
              <a:off x="1806220" y="258361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2" y="61209"/>
                  </a:lnTo>
                  <a:lnTo>
                    <a:pt x="237640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3" name="object 123" descr=""/>
            <p:cNvSpPr/>
            <p:nvPr/>
          </p:nvSpPr>
          <p:spPr>
            <a:xfrm>
              <a:off x="1806220" y="258361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 descr=""/>
            <p:cNvSpPr/>
            <p:nvPr/>
          </p:nvSpPr>
          <p:spPr>
            <a:xfrm>
              <a:off x="1569272" y="319790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 descr=""/>
            <p:cNvSpPr/>
            <p:nvPr/>
          </p:nvSpPr>
          <p:spPr>
            <a:xfrm>
              <a:off x="1569272" y="3197903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2276133" y="28952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39" y="270165"/>
                  </a:lnTo>
                  <a:lnTo>
                    <a:pt x="269981" y="237802"/>
                  </a:lnTo>
                  <a:lnTo>
                    <a:pt x="291191" y="196761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1" y="61209"/>
                  </a:lnTo>
                  <a:lnTo>
                    <a:pt x="237639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2276133" y="28952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 descr=""/>
            <p:cNvSpPr/>
            <p:nvPr/>
          </p:nvSpPr>
          <p:spPr>
            <a:xfrm>
              <a:off x="2938519" y="368755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9" name="object 129" descr=""/>
            <p:cNvSpPr/>
            <p:nvPr/>
          </p:nvSpPr>
          <p:spPr>
            <a:xfrm>
              <a:off x="2938519" y="368755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0" name="object 130" descr=""/>
            <p:cNvSpPr/>
            <p:nvPr/>
          </p:nvSpPr>
          <p:spPr>
            <a:xfrm>
              <a:off x="2823819" y="43269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6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 descr=""/>
            <p:cNvSpPr/>
            <p:nvPr/>
          </p:nvSpPr>
          <p:spPr>
            <a:xfrm>
              <a:off x="2823819" y="432692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 descr=""/>
            <p:cNvSpPr/>
            <p:nvPr/>
          </p:nvSpPr>
          <p:spPr>
            <a:xfrm>
              <a:off x="2061434" y="2838667"/>
              <a:ext cx="259079" cy="100965"/>
            </a:xfrm>
            <a:custGeom>
              <a:avLst/>
              <a:gdLst/>
              <a:ahLst/>
              <a:cxnLst/>
              <a:rect l="l" t="t" r="r" b="b"/>
              <a:pathLst>
                <a:path w="259080" h="100964">
                  <a:moveTo>
                    <a:pt x="258458" y="100397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 descr=""/>
            <p:cNvSpPr/>
            <p:nvPr/>
          </p:nvSpPr>
          <p:spPr>
            <a:xfrm>
              <a:off x="3006778" y="3032142"/>
              <a:ext cx="146685" cy="128270"/>
            </a:xfrm>
            <a:custGeom>
              <a:avLst/>
              <a:gdLst/>
              <a:ahLst/>
              <a:cxnLst/>
              <a:rect l="l" t="t" r="r" b="b"/>
              <a:pathLst>
                <a:path w="146685" h="128269">
                  <a:moveTo>
                    <a:pt x="146132" y="0"/>
                  </a:moveTo>
                  <a:lnTo>
                    <a:pt x="0" y="128225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4" name="object 134" descr=""/>
            <p:cNvSpPr/>
            <p:nvPr/>
          </p:nvSpPr>
          <p:spPr>
            <a:xfrm>
              <a:off x="1261823" y="344994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0" y="7621"/>
                  </a:lnTo>
                  <a:lnTo>
                    <a:pt x="61167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7" y="270165"/>
                  </a:lnTo>
                  <a:lnTo>
                    <a:pt x="102180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1"/>
                  </a:lnTo>
                  <a:lnTo>
                    <a:pt x="291191" y="196760"/>
                  </a:lnTo>
                  <a:lnTo>
                    <a:pt x="298808" y="149505"/>
                  </a:lnTo>
                  <a:lnTo>
                    <a:pt x="291191" y="102250"/>
                  </a:lnTo>
                  <a:lnTo>
                    <a:pt x="269982" y="61209"/>
                  </a:lnTo>
                  <a:lnTo>
                    <a:pt x="237640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5" name="object 135" descr=""/>
            <p:cNvSpPr/>
            <p:nvPr/>
          </p:nvSpPr>
          <p:spPr>
            <a:xfrm>
              <a:off x="1261823" y="3449947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 descr=""/>
            <p:cNvSpPr/>
            <p:nvPr/>
          </p:nvSpPr>
          <p:spPr>
            <a:xfrm>
              <a:off x="889711" y="37221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1" y="7621"/>
                  </a:lnTo>
                  <a:lnTo>
                    <a:pt x="61168" y="28846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1"/>
                  </a:lnTo>
                  <a:lnTo>
                    <a:pt x="28826" y="237802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2"/>
                  </a:lnTo>
                  <a:lnTo>
                    <a:pt x="291192" y="196761"/>
                  </a:lnTo>
                  <a:lnTo>
                    <a:pt x="298808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6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889711" y="3722174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8" name="object 138" descr=""/>
            <p:cNvSpPr/>
            <p:nvPr/>
          </p:nvSpPr>
          <p:spPr>
            <a:xfrm>
              <a:off x="1305250" y="258361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5" y="0"/>
                  </a:moveTo>
                  <a:lnTo>
                    <a:pt x="102181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5" y="299011"/>
                  </a:lnTo>
                  <a:lnTo>
                    <a:pt x="196628" y="291389"/>
                  </a:lnTo>
                  <a:lnTo>
                    <a:pt x="237641" y="270165"/>
                  </a:lnTo>
                  <a:lnTo>
                    <a:pt x="269982" y="237801"/>
                  </a:lnTo>
                  <a:lnTo>
                    <a:pt x="291192" y="196760"/>
                  </a:lnTo>
                  <a:lnTo>
                    <a:pt x="298809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1" y="28845"/>
                  </a:lnTo>
                  <a:lnTo>
                    <a:pt x="196628" y="7621"/>
                  </a:lnTo>
                  <a:lnTo>
                    <a:pt x="149405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 descr=""/>
            <p:cNvSpPr/>
            <p:nvPr/>
          </p:nvSpPr>
          <p:spPr>
            <a:xfrm>
              <a:off x="1305250" y="258361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 descr=""/>
            <p:cNvSpPr/>
            <p:nvPr/>
          </p:nvSpPr>
          <p:spPr>
            <a:xfrm>
              <a:off x="933237" y="297044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149404" y="0"/>
                  </a:moveTo>
                  <a:lnTo>
                    <a:pt x="102181" y="7621"/>
                  </a:lnTo>
                  <a:lnTo>
                    <a:pt x="61168" y="28845"/>
                  </a:lnTo>
                  <a:lnTo>
                    <a:pt x="28826" y="61209"/>
                  </a:lnTo>
                  <a:lnTo>
                    <a:pt x="7616" y="102250"/>
                  </a:lnTo>
                  <a:lnTo>
                    <a:pt x="0" y="149505"/>
                  </a:lnTo>
                  <a:lnTo>
                    <a:pt x="7616" y="196760"/>
                  </a:lnTo>
                  <a:lnTo>
                    <a:pt x="28826" y="237801"/>
                  </a:lnTo>
                  <a:lnTo>
                    <a:pt x="61168" y="270165"/>
                  </a:lnTo>
                  <a:lnTo>
                    <a:pt x="102181" y="291389"/>
                  </a:lnTo>
                  <a:lnTo>
                    <a:pt x="149404" y="299011"/>
                  </a:lnTo>
                  <a:lnTo>
                    <a:pt x="196627" y="291389"/>
                  </a:lnTo>
                  <a:lnTo>
                    <a:pt x="237640" y="270165"/>
                  </a:lnTo>
                  <a:lnTo>
                    <a:pt x="269982" y="237801"/>
                  </a:lnTo>
                  <a:lnTo>
                    <a:pt x="291192" y="196760"/>
                  </a:lnTo>
                  <a:lnTo>
                    <a:pt x="298808" y="149505"/>
                  </a:lnTo>
                  <a:lnTo>
                    <a:pt x="291192" y="102250"/>
                  </a:lnTo>
                  <a:lnTo>
                    <a:pt x="269982" y="61209"/>
                  </a:lnTo>
                  <a:lnTo>
                    <a:pt x="237640" y="28845"/>
                  </a:lnTo>
                  <a:lnTo>
                    <a:pt x="196627" y="7621"/>
                  </a:lnTo>
                  <a:lnTo>
                    <a:pt x="149404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1" name="object 141" descr=""/>
            <p:cNvSpPr/>
            <p:nvPr/>
          </p:nvSpPr>
          <p:spPr>
            <a:xfrm>
              <a:off x="933237" y="2970446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4" h="299085">
                  <a:moveTo>
                    <a:pt x="0" y="149505"/>
                  </a:moveTo>
                  <a:lnTo>
                    <a:pt x="7616" y="102250"/>
                  </a:lnTo>
                  <a:lnTo>
                    <a:pt x="28826" y="61209"/>
                  </a:lnTo>
                  <a:lnTo>
                    <a:pt x="61168" y="28845"/>
                  </a:lnTo>
                  <a:lnTo>
                    <a:pt x="102181" y="7621"/>
                  </a:lnTo>
                  <a:lnTo>
                    <a:pt x="149404" y="0"/>
                  </a:lnTo>
                  <a:lnTo>
                    <a:pt x="196627" y="7621"/>
                  </a:lnTo>
                  <a:lnTo>
                    <a:pt x="237640" y="28845"/>
                  </a:lnTo>
                  <a:lnTo>
                    <a:pt x="269982" y="61209"/>
                  </a:lnTo>
                  <a:lnTo>
                    <a:pt x="291191" y="102250"/>
                  </a:lnTo>
                  <a:lnTo>
                    <a:pt x="298808" y="149505"/>
                  </a:lnTo>
                  <a:lnTo>
                    <a:pt x="291191" y="196761"/>
                  </a:lnTo>
                  <a:lnTo>
                    <a:pt x="269982" y="237801"/>
                  </a:lnTo>
                  <a:lnTo>
                    <a:pt x="237640" y="270165"/>
                  </a:lnTo>
                  <a:lnTo>
                    <a:pt x="196627" y="291389"/>
                  </a:lnTo>
                  <a:lnTo>
                    <a:pt x="149404" y="299011"/>
                  </a:lnTo>
                  <a:lnTo>
                    <a:pt x="102181" y="291389"/>
                  </a:lnTo>
                  <a:lnTo>
                    <a:pt x="61168" y="270165"/>
                  </a:lnTo>
                  <a:lnTo>
                    <a:pt x="28826" y="237801"/>
                  </a:lnTo>
                  <a:lnTo>
                    <a:pt x="7616" y="196761"/>
                  </a:lnTo>
                  <a:lnTo>
                    <a:pt x="0" y="149505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1604059" y="2733121"/>
              <a:ext cx="202565" cy="0"/>
            </a:xfrm>
            <a:custGeom>
              <a:avLst/>
              <a:gdLst/>
              <a:ahLst/>
              <a:cxnLst/>
              <a:rect l="l" t="t" r="r" b="b"/>
              <a:pathLst>
                <a:path w="202564" h="0">
                  <a:moveTo>
                    <a:pt x="0" y="0"/>
                  </a:moveTo>
                  <a:lnTo>
                    <a:pt x="202295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1188155" y="2838838"/>
              <a:ext cx="161290" cy="175260"/>
            </a:xfrm>
            <a:custGeom>
              <a:avLst/>
              <a:gdLst/>
              <a:ahLst/>
              <a:cxnLst/>
              <a:rect l="l" t="t" r="r" b="b"/>
              <a:pathLst>
                <a:path w="161290" h="175260">
                  <a:moveTo>
                    <a:pt x="160855" y="0"/>
                  </a:moveTo>
                  <a:lnTo>
                    <a:pt x="0" y="175150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 descr=""/>
            <p:cNvSpPr/>
            <p:nvPr/>
          </p:nvSpPr>
          <p:spPr>
            <a:xfrm>
              <a:off x="2083019" y="354042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149383" y="0"/>
                  </a:moveTo>
                  <a:lnTo>
                    <a:pt x="102166" y="7620"/>
                  </a:lnTo>
                  <a:lnTo>
                    <a:pt x="61159" y="28841"/>
                  </a:lnTo>
                  <a:lnTo>
                    <a:pt x="28822" y="61200"/>
                  </a:lnTo>
                  <a:lnTo>
                    <a:pt x="7615" y="102235"/>
                  </a:lnTo>
                  <a:lnTo>
                    <a:pt x="0" y="149484"/>
                  </a:lnTo>
                  <a:lnTo>
                    <a:pt x="7615" y="196732"/>
                  </a:lnTo>
                  <a:lnTo>
                    <a:pt x="28822" y="237767"/>
                  </a:lnTo>
                  <a:lnTo>
                    <a:pt x="61159" y="270127"/>
                  </a:lnTo>
                  <a:lnTo>
                    <a:pt x="102166" y="291348"/>
                  </a:lnTo>
                  <a:lnTo>
                    <a:pt x="149383" y="298969"/>
                  </a:lnTo>
                  <a:lnTo>
                    <a:pt x="196600" y="291348"/>
                  </a:lnTo>
                  <a:lnTo>
                    <a:pt x="237607" y="270127"/>
                  </a:lnTo>
                  <a:lnTo>
                    <a:pt x="269944" y="237767"/>
                  </a:lnTo>
                  <a:lnTo>
                    <a:pt x="291150" y="196732"/>
                  </a:lnTo>
                  <a:lnTo>
                    <a:pt x="298766" y="149484"/>
                  </a:lnTo>
                  <a:lnTo>
                    <a:pt x="291150" y="102235"/>
                  </a:lnTo>
                  <a:lnTo>
                    <a:pt x="269944" y="61200"/>
                  </a:lnTo>
                  <a:lnTo>
                    <a:pt x="237607" y="28841"/>
                  </a:lnTo>
                  <a:lnTo>
                    <a:pt x="196600" y="7620"/>
                  </a:lnTo>
                  <a:lnTo>
                    <a:pt x="149383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5" name="object 145" descr=""/>
            <p:cNvSpPr/>
            <p:nvPr/>
          </p:nvSpPr>
          <p:spPr>
            <a:xfrm>
              <a:off x="2083019" y="3540429"/>
              <a:ext cx="299085" cy="299085"/>
            </a:xfrm>
            <a:custGeom>
              <a:avLst/>
              <a:gdLst/>
              <a:ahLst/>
              <a:cxnLst/>
              <a:rect l="l" t="t" r="r" b="b"/>
              <a:pathLst>
                <a:path w="299085" h="299085">
                  <a:moveTo>
                    <a:pt x="0" y="149484"/>
                  </a:moveTo>
                  <a:lnTo>
                    <a:pt x="7615" y="102235"/>
                  </a:lnTo>
                  <a:lnTo>
                    <a:pt x="28822" y="61200"/>
                  </a:lnTo>
                  <a:lnTo>
                    <a:pt x="61159" y="28841"/>
                  </a:lnTo>
                  <a:lnTo>
                    <a:pt x="102166" y="7620"/>
                  </a:lnTo>
                  <a:lnTo>
                    <a:pt x="149383" y="0"/>
                  </a:lnTo>
                  <a:lnTo>
                    <a:pt x="196599" y="7620"/>
                  </a:lnTo>
                  <a:lnTo>
                    <a:pt x="237607" y="28841"/>
                  </a:lnTo>
                  <a:lnTo>
                    <a:pt x="269944" y="61200"/>
                  </a:lnTo>
                  <a:lnTo>
                    <a:pt x="291150" y="102235"/>
                  </a:lnTo>
                  <a:lnTo>
                    <a:pt x="298766" y="149484"/>
                  </a:lnTo>
                  <a:lnTo>
                    <a:pt x="291150" y="196733"/>
                  </a:lnTo>
                  <a:lnTo>
                    <a:pt x="269944" y="237768"/>
                  </a:lnTo>
                  <a:lnTo>
                    <a:pt x="237607" y="270127"/>
                  </a:lnTo>
                  <a:lnTo>
                    <a:pt x="196599" y="291348"/>
                  </a:lnTo>
                  <a:lnTo>
                    <a:pt x="149383" y="298969"/>
                  </a:lnTo>
                  <a:lnTo>
                    <a:pt x="102166" y="291348"/>
                  </a:lnTo>
                  <a:lnTo>
                    <a:pt x="61159" y="270127"/>
                  </a:lnTo>
                  <a:lnTo>
                    <a:pt x="28822" y="237768"/>
                  </a:lnTo>
                  <a:lnTo>
                    <a:pt x="7615" y="196733"/>
                  </a:lnTo>
                  <a:lnTo>
                    <a:pt x="0" y="149484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6" name="object 146" descr=""/>
          <p:cNvSpPr txBox="1"/>
          <p:nvPr/>
        </p:nvSpPr>
        <p:spPr>
          <a:xfrm>
            <a:off x="5086329" y="2525608"/>
            <a:ext cx="1743075" cy="126936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35"/>
              </a:spcBef>
            </a:pPr>
            <a:r>
              <a:rPr dirty="0" sz="2000" spc="-20" b="1">
                <a:latin typeface="Arial"/>
                <a:cs typeface="Arial"/>
              </a:rPr>
              <a:t>Node </a:t>
            </a:r>
            <a:r>
              <a:rPr dirty="0" sz="2000" spc="-10" b="1">
                <a:latin typeface="Arial"/>
                <a:cs typeface="Arial"/>
              </a:rPr>
              <a:t>classification</a:t>
            </a:r>
            <a:r>
              <a:rPr dirty="0" sz="2000" spc="-10">
                <a:latin typeface="Arial"/>
                <a:cs typeface="Arial"/>
              </a:rPr>
              <a:t>: </a:t>
            </a:r>
            <a:r>
              <a:rPr dirty="0" sz="2000">
                <a:latin typeface="Arial"/>
                <a:cs typeface="Arial"/>
              </a:rPr>
              <a:t>“What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kind</a:t>
            </a:r>
            <a:r>
              <a:rPr dirty="0" sz="2000" spc="9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of </a:t>
            </a:r>
            <a:r>
              <a:rPr dirty="0" sz="2000">
                <a:latin typeface="Arial"/>
                <a:cs typeface="Arial"/>
              </a:rPr>
              <a:t>node</a:t>
            </a:r>
            <a:r>
              <a:rPr dirty="0" sz="2000" spc="5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is</a:t>
            </a:r>
            <a:r>
              <a:rPr dirty="0" sz="2000" spc="5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this?”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7" name="object 147" descr=""/>
          <p:cNvSpPr txBox="1"/>
          <p:nvPr/>
        </p:nvSpPr>
        <p:spPr>
          <a:xfrm>
            <a:off x="5086329" y="4461088"/>
            <a:ext cx="2406650" cy="127254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  <a:spcBef>
                <a:spcPts val="30"/>
              </a:spcBef>
            </a:pPr>
            <a:r>
              <a:rPr dirty="0" sz="2000" b="1">
                <a:latin typeface="Arial"/>
                <a:cs typeface="Arial"/>
              </a:rPr>
              <a:t>Link</a:t>
            </a:r>
            <a:r>
              <a:rPr dirty="0" sz="2000" spc="7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prediction: </a:t>
            </a:r>
            <a:r>
              <a:rPr dirty="0" sz="2000">
                <a:latin typeface="Arial"/>
                <a:cs typeface="Arial"/>
              </a:rPr>
              <a:t>“Should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there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a </a:t>
            </a:r>
            <a:r>
              <a:rPr dirty="0" sz="2000">
                <a:latin typeface="Arial"/>
                <a:cs typeface="Arial"/>
              </a:rPr>
              <a:t>relationship</a:t>
            </a:r>
            <a:r>
              <a:rPr dirty="0" sz="2000" spc="155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between </a:t>
            </a:r>
            <a:r>
              <a:rPr dirty="0" sz="2000">
                <a:latin typeface="Arial"/>
                <a:cs typeface="Arial"/>
              </a:rPr>
              <a:t>these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nodes?”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8" name="object 148" descr=""/>
          <p:cNvSpPr txBox="1"/>
          <p:nvPr/>
        </p:nvSpPr>
        <p:spPr>
          <a:xfrm>
            <a:off x="930131" y="4679563"/>
            <a:ext cx="2667635" cy="1235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14"/>
              </a:spcBef>
            </a:pPr>
            <a:r>
              <a:rPr dirty="0" sz="1600" b="1">
                <a:latin typeface="Arial"/>
                <a:cs typeface="Arial"/>
              </a:rPr>
              <a:t>Labeled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data: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Pairs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of</a:t>
            </a:r>
            <a:r>
              <a:rPr dirty="0" sz="1600" spc="-5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nodes </a:t>
            </a:r>
            <a:r>
              <a:rPr dirty="0" sz="1600">
                <a:latin typeface="Arial"/>
                <a:cs typeface="Arial"/>
              </a:rPr>
              <a:t>that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are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either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linked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or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not </a:t>
            </a:r>
            <a:r>
              <a:rPr dirty="0" sz="1600" b="1">
                <a:latin typeface="Arial"/>
                <a:cs typeface="Arial"/>
              </a:rPr>
              <a:t>Features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Pre-</a:t>
            </a:r>
            <a:r>
              <a:rPr dirty="0" sz="1600" spc="-10">
                <a:latin typeface="Arial"/>
                <a:cs typeface="Arial"/>
              </a:rPr>
              <a:t>existing attributes,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algorithms (pageRank),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embedding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149" name="object 149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077715" y="4892552"/>
            <a:ext cx="612648" cy="591312"/>
          </a:xfrm>
          <a:prstGeom prst="rect">
            <a:avLst/>
          </a:prstGeom>
        </p:spPr>
      </p:pic>
      <p:pic>
        <p:nvPicPr>
          <p:cNvPr id="150" name="object 150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74667" y="2926593"/>
            <a:ext cx="615696" cy="591312"/>
          </a:xfrm>
          <a:prstGeom prst="rect">
            <a:avLst/>
          </a:prstGeom>
        </p:spPr>
      </p:pic>
      <p:sp>
        <p:nvSpPr>
          <p:cNvPr id="151" name="object 15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152" name="object 15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Node</a:t>
            </a:r>
            <a:r>
              <a:rPr dirty="0" spc="5"/>
              <a:t> </a:t>
            </a:r>
            <a:r>
              <a:rPr dirty="0"/>
              <a:t>Classification -</a:t>
            </a:r>
            <a:r>
              <a:rPr dirty="0" spc="5"/>
              <a:t> </a:t>
            </a:r>
            <a:r>
              <a:rPr dirty="0"/>
              <a:t>in</a:t>
            </a:r>
            <a:r>
              <a:rPr dirty="0" spc="15"/>
              <a:t> </a:t>
            </a:r>
            <a:r>
              <a:rPr dirty="0" spc="-10"/>
              <a:t>Neo4j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91245" y="3273403"/>
            <a:ext cx="2109470" cy="1041400"/>
          </a:xfrm>
          <a:custGeom>
            <a:avLst/>
            <a:gdLst/>
            <a:ahLst/>
            <a:cxnLst/>
            <a:rect l="l" t="t" r="r" b="b"/>
            <a:pathLst>
              <a:path w="2109470" h="1041400">
                <a:moveTo>
                  <a:pt x="1935565" y="0"/>
                </a:moveTo>
                <a:lnTo>
                  <a:pt x="173359" y="0"/>
                </a:lnTo>
                <a:lnTo>
                  <a:pt x="127273" y="6196"/>
                </a:lnTo>
                <a:lnTo>
                  <a:pt x="85861" y="23684"/>
                </a:lnTo>
                <a:lnTo>
                  <a:pt x="50775" y="50810"/>
                </a:lnTo>
                <a:lnTo>
                  <a:pt x="23668" y="85919"/>
                </a:lnTo>
                <a:lnTo>
                  <a:pt x="6192" y="127359"/>
                </a:lnTo>
                <a:lnTo>
                  <a:pt x="0" y="173476"/>
                </a:lnTo>
                <a:lnTo>
                  <a:pt x="0" y="867359"/>
                </a:lnTo>
                <a:lnTo>
                  <a:pt x="6192" y="913475"/>
                </a:lnTo>
                <a:lnTo>
                  <a:pt x="23668" y="954915"/>
                </a:lnTo>
                <a:lnTo>
                  <a:pt x="50775" y="990025"/>
                </a:lnTo>
                <a:lnTo>
                  <a:pt x="85861" y="1017151"/>
                </a:lnTo>
                <a:lnTo>
                  <a:pt x="127273" y="1034639"/>
                </a:lnTo>
                <a:lnTo>
                  <a:pt x="173359" y="1040836"/>
                </a:lnTo>
                <a:lnTo>
                  <a:pt x="1935565" y="1040836"/>
                </a:lnTo>
                <a:lnTo>
                  <a:pt x="1981651" y="1034639"/>
                </a:lnTo>
                <a:lnTo>
                  <a:pt x="2023063" y="1017151"/>
                </a:lnTo>
                <a:lnTo>
                  <a:pt x="2058149" y="990025"/>
                </a:lnTo>
                <a:lnTo>
                  <a:pt x="2085255" y="954915"/>
                </a:lnTo>
                <a:lnTo>
                  <a:pt x="2102731" y="913475"/>
                </a:lnTo>
                <a:lnTo>
                  <a:pt x="2108924" y="867359"/>
                </a:lnTo>
                <a:lnTo>
                  <a:pt x="2108924" y="173476"/>
                </a:lnTo>
                <a:lnTo>
                  <a:pt x="2102731" y="127359"/>
                </a:lnTo>
                <a:lnTo>
                  <a:pt x="2085255" y="85919"/>
                </a:lnTo>
                <a:lnTo>
                  <a:pt x="2058149" y="50810"/>
                </a:lnTo>
                <a:lnTo>
                  <a:pt x="2023063" y="23684"/>
                </a:lnTo>
                <a:lnTo>
                  <a:pt x="1981651" y="6196"/>
                </a:lnTo>
                <a:lnTo>
                  <a:pt x="1935565" y="0"/>
                </a:lnTo>
                <a:close/>
              </a:path>
            </a:pathLst>
          </a:custGeom>
          <a:solidFill>
            <a:srgbClr val="79BF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33315" y="3378738"/>
            <a:ext cx="1859914" cy="77216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45"/>
              </a:spcBef>
            </a:pPr>
            <a:r>
              <a:rPr dirty="0" sz="1500">
                <a:latin typeface="Arial"/>
                <a:cs typeface="Arial"/>
              </a:rPr>
              <a:t>Load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your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in-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memory </a:t>
            </a:r>
            <a:r>
              <a:rPr dirty="0" sz="1500">
                <a:latin typeface="Arial"/>
                <a:cs typeface="Arial"/>
              </a:rPr>
              <a:t>graph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with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labels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&amp; </a:t>
            </a:r>
            <a:r>
              <a:rPr dirty="0" sz="1500" spc="-10">
                <a:latin typeface="Arial"/>
                <a:cs typeface="Arial"/>
              </a:rPr>
              <a:t>features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921572" y="3238111"/>
            <a:ext cx="2958465" cy="1074420"/>
            <a:chOff x="6921572" y="3238111"/>
            <a:chExt cx="2958465" cy="1074420"/>
          </a:xfrm>
        </p:grpSpPr>
        <p:sp>
          <p:nvSpPr>
            <p:cNvPr id="6" name="object 6" descr=""/>
            <p:cNvSpPr/>
            <p:nvPr/>
          </p:nvSpPr>
          <p:spPr>
            <a:xfrm>
              <a:off x="6938082" y="3254621"/>
              <a:ext cx="2925445" cy="1041400"/>
            </a:xfrm>
            <a:custGeom>
              <a:avLst/>
              <a:gdLst/>
              <a:ahLst/>
              <a:cxnLst/>
              <a:rect l="l" t="t" r="r" b="b"/>
              <a:pathLst>
                <a:path w="2925445" h="1041400">
                  <a:moveTo>
                    <a:pt x="2751495" y="0"/>
                  </a:moveTo>
                  <a:lnTo>
                    <a:pt x="173357" y="0"/>
                  </a:lnTo>
                  <a:lnTo>
                    <a:pt x="127272" y="6196"/>
                  </a:lnTo>
                  <a:lnTo>
                    <a:pt x="85860" y="23684"/>
                  </a:lnTo>
                  <a:lnTo>
                    <a:pt x="50775" y="50810"/>
                  </a:lnTo>
                  <a:lnTo>
                    <a:pt x="23668" y="85919"/>
                  </a:lnTo>
                  <a:lnTo>
                    <a:pt x="6192" y="127359"/>
                  </a:lnTo>
                  <a:lnTo>
                    <a:pt x="0" y="173476"/>
                  </a:lnTo>
                  <a:lnTo>
                    <a:pt x="0" y="867360"/>
                  </a:lnTo>
                  <a:lnTo>
                    <a:pt x="6192" y="913477"/>
                  </a:lnTo>
                  <a:lnTo>
                    <a:pt x="23668" y="954916"/>
                  </a:lnTo>
                  <a:lnTo>
                    <a:pt x="50775" y="990026"/>
                  </a:lnTo>
                  <a:lnTo>
                    <a:pt x="85860" y="1017151"/>
                  </a:lnTo>
                  <a:lnTo>
                    <a:pt x="127272" y="1034639"/>
                  </a:lnTo>
                  <a:lnTo>
                    <a:pt x="173357" y="1040836"/>
                  </a:lnTo>
                  <a:lnTo>
                    <a:pt x="2751495" y="1040836"/>
                  </a:lnTo>
                  <a:lnTo>
                    <a:pt x="2797580" y="1034639"/>
                  </a:lnTo>
                  <a:lnTo>
                    <a:pt x="2838992" y="1017151"/>
                  </a:lnTo>
                  <a:lnTo>
                    <a:pt x="2874077" y="990026"/>
                  </a:lnTo>
                  <a:lnTo>
                    <a:pt x="2901184" y="954916"/>
                  </a:lnTo>
                  <a:lnTo>
                    <a:pt x="2918660" y="913477"/>
                  </a:lnTo>
                  <a:lnTo>
                    <a:pt x="2924853" y="867360"/>
                  </a:lnTo>
                  <a:lnTo>
                    <a:pt x="2924853" y="173476"/>
                  </a:lnTo>
                  <a:lnTo>
                    <a:pt x="2918660" y="127359"/>
                  </a:lnTo>
                  <a:lnTo>
                    <a:pt x="2901184" y="85919"/>
                  </a:lnTo>
                  <a:lnTo>
                    <a:pt x="2874077" y="50810"/>
                  </a:lnTo>
                  <a:lnTo>
                    <a:pt x="2838992" y="23684"/>
                  </a:lnTo>
                  <a:lnTo>
                    <a:pt x="2797580" y="6196"/>
                  </a:lnTo>
                  <a:lnTo>
                    <a:pt x="275149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938082" y="3254621"/>
              <a:ext cx="2925445" cy="1041400"/>
            </a:xfrm>
            <a:custGeom>
              <a:avLst/>
              <a:gdLst/>
              <a:ahLst/>
              <a:cxnLst/>
              <a:rect l="l" t="t" r="r" b="b"/>
              <a:pathLst>
                <a:path w="2925445" h="1041400">
                  <a:moveTo>
                    <a:pt x="0" y="173475"/>
                  </a:moveTo>
                  <a:lnTo>
                    <a:pt x="6192" y="127359"/>
                  </a:lnTo>
                  <a:lnTo>
                    <a:pt x="23668" y="85919"/>
                  </a:lnTo>
                  <a:lnTo>
                    <a:pt x="50775" y="50809"/>
                  </a:lnTo>
                  <a:lnTo>
                    <a:pt x="85860" y="23684"/>
                  </a:lnTo>
                  <a:lnTo>
                    <a:pt x="127272" y="6196"/>
                  </a:lnTo>
                  <a:lnTo>
                    <a:pt x="173357" y="0"/>
                  </a:lnTo>
                  <a:lnTo>
                    <a:pt x="2751496" y="0"/>
                  </a:lnTo>
                  <a:lnTo>
                    <a:pt x="2797581" y="6196"/>
                  </a:lnTo>
                  <a:lnTo>
                    <a:pt x="2838993" y="23684"/>
                  </a:lnTo>
                  <a:lnTo>
                    <a:pt x="2874078" y="50809"/>
                  </a:lnTo>
                  <a:lnTo>
                    <a:pt x="2901185" y="85919"/>
                  </a:lnTo>
                  <a:lnTo>
                    <a:pt x="2918661" y="127359"/>
                  </a:lnTo>
                  <a:lnTo>
                    <a:pt x="2924853" y="173475"/>
                  </a:lnTo>
                  <a:lnTo>
                    <a:pt x="2924853" y="867359"/>
                  </a:lnTo>
                  <a:lnTo>
                    <a:pt x="2918661" y="913476"/>
                  </a:lnTo>
                  <a:lnTo>
                    <a:pt x="2901185" y="954916"/>
                  </a:lnTo>
                  <a:lnTo>
                    <a:pt x="2874078" y="990025"/>
                  </a:lnTo>
                  <a:lnTo>
                    <a:pt x="2838993" y="1017150"/>
                  </a:lnTo>
                  <a:lnTo>
                    <a:pt x="2797581" y="1034638"/>
                  </a:lnTo>
                  <a:lnTo>
                    <a:pt x="2751496" y="1040835"/>
                  </a:lnTo>
                  <a:lnTo>
                    <a:pt x="173357" y="1040835"/>
                  </a:lnTo>
                  <a:lnTo>
                    <a:pt x="127272" y="1034638"/>
                  </a:lnTo>
                  <a:lnTo>
                    <a:pt x="85860" y="1017150"/>
                  </a:lnTo>
                  <a:lnTo>
                    <a:pt x="50775" y="990025"/>
                  </a:lnTo>
                  <a:lnTo>
                    <a:pt x="23668" y="954916"/>
                  </a:lnTo>
                  <a:lnTo>
                    <a:pt x="6192" y="913476"/>
                  </a:lnTo>
                  <a:lnTo>
                    <a:pt x="0" y="867359"/>
                  </a:lnTo>
                  <a:lnTo>
                    <a:pt x="0" y="173475"/>
                  </a:lnTo>
                  <a:close/>
                </a:path>
              </a:pathLst>
            </a:custGeom>
            <a:ln w="32523">
              <a:solidFill>
                <a:srgbClr val="79BF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080153" y="3525404"/>
            <a:ext cx="3359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Use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92853" y="3755059"/>
            <a:ext cx="2517140" cy="241935"/>
          </a:xfrm>
          <a:prstGeom prst="rect">
            <a:avLst/>
          </a:prstGeom>
          <a:solidFill>
            <a:srgbClr val="EFEFEF"/>
          </a:solidFill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00" spc="-20" b="1">
                <a:latin typeface="Courier New"/>
                <a:cs typeface="Courier New"/>
              </a:rPr>
              <a:t>nodeClassification.train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299118" y="3240986"/>
            <a:ext cx="3216275" cy="1068705"/>
            <a:chOff x="3299118" y="3240986"/>
            <a:chExt cx="3216275" cy="1068705"/>
          </a:xfrm>
        </p:grpSpPr>
        <p:sp>
          <p:nvSpPr>
            <p:cNvPr id="11" name="object 11" descr=""/>
            <p:cNvSpPr/>
            <p:nvPr/>
          </p:nvSpPr>
          <p:spPr>
            <a:xfrm>
              <a:off x="3315628" y="3257496"/>
              <a:ext cx="3183255" cy="1035685"/>
            </a:xfrm>
            <a:custGeom>
              <a:avLst/>
              <a:gdLst/>
              <a:ahLst/>
              <a:cxnLst/>
              <a:rect l="l" t="t" r="r" b="b"/>
              <a:pathLst>
                <a:path w="3183254" h="1035685">
                  <a:moveTo>
                    <a:pt x="3010390" y="0"/>
                  </a:moveTo>
                  <a:lnTo>
                    <a:pt x="172449" y="0"/>
                  </a:lnTo>
                  <a:lnTo>
                    <a:pt x="126605" y="6164"/>
                  </a:lnTo>
                  <a:lnTo>
                    <a:pt x="85410" y="23560"/>
                  </a:lnTo>
                  <a:lnTo>
                    <a:pt x="50509" y="50543"/>
                  </a:lnTo>
                  <a:lnTo>
                    <a:pt x="23544" y="85468"/>
                  </a:lnTo>
                  <a:lnTo>
                    <a:pt x="6160" y="126690"/>
                  </a:lnTo>
                  <a:lnTo>
                    <a:pt x="0" y="172565"/>
                  </a:lnTo>
                  <a:lnTo>
                    <a:pt x="0" y="862804"/>
                  </a:lnTo>
                  <a:lnTo>
                    <a:pt x="6160" y="908679"/>
                  </a:lnTo>
                  <a:lnTo>
                    <a:pt x="23544" y="949902"/>
                  </a:lnTo>
                  <a:lnTo>
                    <a:pt x="50509" y="984827"/>
                  </a:lnTo>
                  <a:lnTo>
                    <a:pt x="85410" y="1011810"/>
                  </a:lnTo>
                  <a:lnTo>
                    <a:pt x="126605" y="1029207"/>
                  </a:lnTo>
                  <a:lnTo>
                    <a:pt x="172449" y="1035371"/>
                  </a:lnTo>
                  <a:lnTo>
                    <a:pt x="3010390" y="1035371"/>
                  </a:lnTo>
                  <a:lnTo>
                    <a:pt x="3056233" y="1029207"/>
                  </a:lnTo>
                  <a:lnTo>
                    <a:pt x="3097427" y="1011810"/>
                  </a:lnTo>
                  <a:lnTo>
                    <a:pt x="3132329" y="984827"/>
                  </a:lnTo>
                  <a:lnTo>
                    <a:pt x="3159294" y="949902"/>
                  </a:lnTo>
                  <a:lnTo>
                    <a:pt x="3176678" y="908679"/>
                  </a:lnTo>
                  <a:lnTo>
                    <a:pt x="3182838" y="862804"/>
                  </a:lnTo>
                  <a:lnTo>
                    <a:pt x="3182838" y="172565"/>
                  </a:lnTo>
                  <a:lnTo>
                    <a:pt x="3176678" y="126690"/>
                  </a:lnTo>
                  <a:lnTo>
                    <a:pt x="3159294" y="85468"/>
                  </a:lnTo>
                  <a:lnTo>
                    <a:pt x="3132329" y="50543"/>
                  </a:lnTo>
                  <a:lnTo>
                    <a:pt x="3097427" y="23560"/>
                  </a:lnTo>
                  <a:lnTo>
                    <a:pt x="3056233" y="6164"/>
                  </a:lnTo>
                  <a:lnTo>
                    <a:pt x="301039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15628" y="3257496"/>
              <a:ext cx="3183255" cy="1035685"/>
            </a:xfrm>
            <a:custGeom>
              <a:avLst/>
              <a:gdLst/>
              <a:ahLst/>
              <a:cxnLst/>
              <a:rect l="l" t="t" r="r" b="b"/>
              <a:pathLst>
                <a:path w="3183254" h="1035685">
                  <a:moveTo>
                    <a:pt x="0" y="172566"/>
                  </a:moveTo>
                  <a:lnTo>
                    <a:pt x="6160" y="126691"/>
                  </a:lnTo>
                  <a:lnTo>
                    <a:pt x="23544" y="85468"/>
                  </a:lnTo>
                  <a:lnTo>
                    <a:pt x="50509" y="50543"/>
                  </a:lnTo>
                  <a:lnTo>
                    <a:pt x="85410" y="23560"/>
                  </a:lnTo>
                  <a:lnTo>
                    <a:pt x="126605" y="6164"/>
                  </a:lnTo>
                  <a:lnTo>
                    <a:pt x="172448" y="0"/>
                  </a:lnTo>
                  <a:lnTo>
                    <a:pt x="3010389" y="0"/>
                  </a:lnTo>
                  <a:lnTo>
                    <a:pt x="3056233" y="6164"/>
                  </a:lnTo>
                  <a:lnTo>
                    <a:pt x="3097428" y="23560"/>
                  </a:lnTo>
                  <a:lnTo>
                    <a:pt x="3132329" y="50543"/>
                  </a:lnTo>
                  <a:lnTo>
                    <a:pt x="3159294" y="85468"/>
                  </a:lnTo>
                  <a:lnTo>
                    <a:pt x="3176678" y="126691"/>
                  </a:lnTo>
                  <a:lnTo>
                    <a:pt x="3182838" y="172566"/>
                  </a:lnTo>
                  <a:lnTo>
                    <a:pt x="3182838" y="862805"/>
                  </a:lnTo>
                  <a:lnTo>
                    <a:pt x="3176678" y="908680"/>
                  </a:lnTo>
                  <a:lnTo>
                    <a:pt x="3159294" y="949903"/>
                  </a:lnTo>
                  <a:lnTo>
                    <a:pt x="3132329" y="984828"/>
                  </a:lnTo>
                  <a:lnTo>
                    <a:pt x="3097428" y="1011811"/>
                  </a:lnTo>
                  <a:lnTo>
                    <a:pt x="3056233" y="1029207"/>
                  </a:lnTo>
                  <a:lnTo>
                    <a:pt x="3010389" y="1035371"/>
                  </a:lnTo>
                  <a:lnTo>
                    <a:pt x="172448" y="1035371"/>
                  </a:lnTo>
                  <a:lnTo>
                    <a:pt x="126605" y="1029207"/>
                  </a:lnTo>
                  <a:lnTo>
                    <a:pt x="85410" y="1011811"/>
                  </a:lnTo>
                  <a:lnTo>
                    <a:pt x="50509" y="984828"/>
                  </a:lnTo>
                  <a:lnTo>
                    <a:pt x="23544" y="949903"/>
                  </a:lnTo>
                  <a:lnTo>
                    <a:pt x="6160" y="908680"/>
                  </a:lnTo>
                  <a:lnTo>
                    <a:pt x="0" y="862805"/>
                  </a:lnTo>
                  <a:lnTo>
                    <a:pt x="0" y="172566"/>
                  </a:lnTo>
                  <a:close/>
                </a:path>
              </a:pathLst>
            </a:custGeom>
            <a:ln w="32524">
              <a:solidFill>
                <a:srgbClr val="79BF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457432" y="3397533"/>
            <a:ext cx="274764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7100"/>
              </a:lnSpc>
              <a:spcBef>
                <a:spcPts val="100"/>
              </a:spcBef>
            </a:pPr>
            <a:r>
              <a:rPr dirty="0" sz="1400" spc="-20">
                <a:latin typeface="Arial"/>
                <a:cs typeface="Arial"/>
              </a:rPr>
              <a:t>Specify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property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you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want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5">
                <a:latin typeface="Arial"/>
                <a:cs typeface="Arial"/>
              </a:rPr>
              <a:t>to </a:t>
            </a:r>
            <a:r>
              <a:rPr dirty="0" sz="1400" spc="-10">
                <a:latin typeface="Arial"/>
                <a:cs typeface="Arial"/>
              </a:rPr>
              <a:t>predict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and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the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features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for</a:t>
            </a:r>
            <a:r>
              <a:rPr dirty="0" sz="1400" spc="28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making </a:t>
            </a:r>
            <a:r>
              <a:rPr dirty="0" sz="1400">
                <a:latin typeface="Arial"/>
                <a:cs typeface="Arial"/>
              </a:rPr>
              <a:t>that</a:t>
            </a:r>
            <a:r>
              <a:rPr dirty="0" sz="1400" spc="-8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prediction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188" y="3636777"/>
            <a:ext cx="313944" cy="31394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2529713" y="2191041"/>
            <a:ext cx="5210175" cy="65976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900" b="1">
                <a:latin typeface="Arial"/>
                <a:cs typeface="Arial"/>
              </a:rPr>
              <a:t>Node</a:t>
            </a:r>
            <a:r>
              <a:rPr dirty="0" sz="1900" spc="45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classification</a:t>
            </a:r>
            <a:r>
              <a:rPr dirty="0" sz="1900" spc="-10">
                <a:latin typeface="Arial"/>
                <a:cs typeface="Arial"/>
              </a:rPr>
              <a:t>: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900">
                <a:latin typeface="Arial"/>
                <a:cs typeface="Arial"/>
              </a:rPr>
              <a:t>Predicting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a</a:t>
            </a:r>
            <a:r>
              <a:rPr dirty="0" sz="1900" spc="6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node</a:t>
            </a:r>
            <a:r>
              <a:rPr dirty="0" sz="1900" spc="6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label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or</a:t>
            </a:r>
            <a:r>
              <a:rPr dirty="0" sz="1900" spc="45">
                <a:latin typeface="Arial"/>
                <a:cs typeface="Arial"/>
              </a:rPr>
              <a:t> </a:t>
            </a:r>
            <a:r>
              <a:rPr dirty="0" sz="1900">
                <a:latin typeface="Arial"/>
                <a:cs typeface="Arial"/>
              </a:rPr>
              <a:t>(categorical)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property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940423" y="2110144"/>
            <a:ext cx="1376680" cy="1043940"/>
            <a:chOff x="940423" y="2110144"/>
            <a:chExt cx="1376680" cy="1043940"/>
          </a:xfrm>
        </p:grpSpPr>
        <p:sp>
          <p:nvSpPr>
            <p:cNvPr id="17" name="object 17" descr=""/>
            <p:cNvSpPr/>
            <p:nvPr/>
          </p:nvSpPr>
          <p:spPr>
            <a:xfrm>
              <a:off x="2057535" y="2533347"/>
              <a:ext cx="221615" cy="224790"/>
            </a:xfrm>
            <a:custGeom>
              <a:avLst/>
              <a:gdLst/>
              <a:ahLst/>
              <a:cxnLst/>
              <a:rect l="l" t="t" r="r" b="b"/>
              <a:pathLst>
                <a:path w="221614" h="224789">
                  <a:moveTo>
                    <a:pt x="221031" y="0"/>
                  </a:moveTo>
                  <a:lnTo>
                    <a:pt x="0" y="224458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046680" y="2745859"/>
              <a:ext cx="180340" cy="125095"/>
            </a:xfrm>
            <a:custGeom>
              <a:avLst/>
              <a:gdLst/>
              <a:ahLst/>
              <a:cxnLst/>
              <a:rect l="l" t="t" r="r" b="b"/>
              <a:pathLst>
                <a:path w="180339" h="125094">
                  <a:moveTo>
                    <a:pt x="180099" y="124789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370127" y="2339289"/>
              <a:ext cx="353695" cy="151765"/>
            </a:xfrm>
            <a:custGeom>
              <a:avLst/>
              <a:gdLst/>
              <a:ahLst/>
              <a:cxnLst/>
              <a:rect l="l" t="t" r="r" b="b"/>
              <a:pathLst>
                <a:path w="353694" h="151764">
                  <a:moveTo>
                    <a:pt x="353649" y="0"/>
                  </a:moveTo>
                  <a:lnTo>
                    <a:pt x="0" y="151549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993941" y="2745670"/>
              <a:ext cx="57785" cy="320040"/>
            </a:xfrm>
            <a:custGeom>
              <a:avLst/>
              <a:gdLst/>
              <a:ahLst/>
              <a:cxnLst/>
              <a:rect l="l" t="t" r="r" b="b"/>
              <a:pathLst>
                <a:path w="57785" h="320039">
                  <a:moveTo>
                    <a:pt x="0" y="320029"/>
                  </a:moveTo>
                  <a:lnTo>
                    <a:pt x="57303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31593" y="2624160"/>
              <a:ext cx="186690" cy="136525"/>
            </a:xfrm>
            <a:custGeom>
              <a:avLst/>
              <a:gdLst/>
              <a:ahLst/>
              <a:cxnLst/>
              <a:rect l="l" t="t" r="r" b="b"/>
              <a:pathLst>
                <a:path w="186690" h="136525">
                  <a:moveTo>
                    <a:pt x="186102" y="0"/>
                  </a:moveTo>
                  <a:lnTo>
                    <a:pt x="0" y="136257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188119" y="2594583"/>
              <a:ext cx="184785" cy="276225"/>
            </a:xfrm>
            <a:custGeom>
              <a:avLst/>
              <a:gdLst/>
              <a:ahLst/>
              <a:cxnLst/>
              <a:rect l="l" t="t" r="r" b="b"/>
              <a:pathLst>
                <a:path w="184784" h="276225">
                  <a:moveTo>
                    <a:pt x="184737" y="276067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1301306" y="2620975"/>
              <a:ext cx="375285" cy="245110"/>
            </a:xfrm>
            <a:custGeom>
              <a:avLst/>
              <a:gdLst/>
              <a:ahLst/>
              <a:cxnLst/>
              <a:rect l="l" t="t" r="r" b="b"/>
              <a:pathLst>
                <a:path w="375285" h="245110">
                  <a:moveTo>
                    <a:pt x="374934" y="0"/>
                  </a:moveTo>
                  <a:lnTo>
                    <a:pt x="0" y="244937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1544882" y="2664705"/>
              <a:ext cx="581660" cy="83820"/>
            </a:xfrm>
            <a:custGeom>
              <a:avLst/>
              <a:gdLst/>
              <a:ahLst/>
              <a:cxnLst/>
              <a:rect l="l" t="t" r="r" b="b"/>
              <a:pathLst>
                <a:path w="581660" h="83819">
                  <a:moveTo>
                    <a:pt x="581230" y="83557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1572989" y="2409567"/>
              <a:ext cx="438150" cy="323215"/>
            </a:xfrm>
            <a:custGeom>
              <a:avLst/>
              <a:gdLst/>
              <a:ahLst/>
              <a:cxnLst/>
              <a:rect l="l" t="t" r="r" b="b"/>
              <a:pathLst>
                <a:path w="438150" h="323214">
                  <a:moveTo>
                    <a:pt x="437696" y="0"/>
                  </a:moveTo>
                  <a:lnTo>
                    <a:pt x="0" y="322760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598516" y="2298863"/>
              <a:ext cx="166370" cy="410209"/>
            </a:xfrm>
            <a:custGeom>
              <a:avLst/>
              <a:gdLst/>
              <a:ahLst/>
              <a:cxnLst/>
              <a:rect l="l" t="t" r="r" b="b"/>
              <a:pathLst>
                <a:path w="166369" h="410210">
                  <a:moveTo>
                    <a:pt x="166183" y="0"/>
                  </a:moveTo>
                  <a:lnTo>
                    <a:pt x="0" y="410140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0435" y="2756185"/>
              <a:ext cx="171213" cy="17131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2061968" y="221771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5"/>
                  </a:lnTo>
                  <a:lnTo>
                    <a:pt x="45665" y="143759"/>
                  </a:lnTo>
                  <a:lnTo>
                    <a:pt x="74768" y="149639"/>
                  </a:lnTo>
                  <a:lnTo>
                    <a:pt x="103871" y="143759"/>
                  </a:lnTo>
                  <a:lnTo>
                    <a:pt x="127637" y="127725"/>
                  </a:lnTo>
                  <a:lnTo>
                    <a:pt x="143661" y="103942"/>
                  </a:lnTo>
                  <a:lnTo>
                    <a:pt x="149537" y="74819"/>
                  </a:lnTo>
                  <a:lnTo>
                    <a:pt x="143661" y="45696"/>
                  </a:lnTo>
                  <a:lnTo>
                    <a:pt x="127637" y="21914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061968" y="221771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883048" y="238765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3"/>
                  </a:lnTo>
                  <a:lnTo>
                    <a:pt x="5875" y="45695"/>
                  </a:lnTo>
                  <a:lnTo>
                    <a:pt x="0" y="74818"/>
                  </a:lnTo>
                  <a:lnTo>
                    <a:pt x="5875" y="103941"/>
                  </a:lnTo>
                  <a:lnTo>
                    <a:pt x="21899" y="127723"/>
                  </a:lnTo>
                  <a:lnTo>
                    <a:pt x="45665" y="143758"/>
                  </a:lnTo>
                  <a:lnTo>
                    <a:pt x="74768" y="149637"/>
                  </a:lnTo>
                  <a:lnTo>
                    <a:pt x="103872" y="143758"/>
                  </a:lnTo>
                  <a:lnTo>
                    <a:pt x="127638" y="127723"/>
                  </a:lnTo>
                  <a:lnTo>
                    <a:pt x="143661" y="103941"/>
                  </a:lnTo>
                  <a:lnTo>
                    <a:pt x="149537" y="74818"/>
                  </a:lnTo>
                  <a:lnTo>
                    <a:pt x="143661" y="45695"/>
                  </a:lnTo>
                  <a:lnTo>
                    <a:pt x="127638" y="21913"/>
                  </a:lnTo>
                  <a:lnTo>
                    <a:pt x="103872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883048" y="238765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156305" y="280515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3"/>
                  </a:lnTo>
                  <a:lnTo>
                    <a:pt x="45665" y="143758"/>
                  </a:lnTo>
                  <a:lnTo>
                    <a:pt x="74768" y="149637"/>
                  </a:lnTo>
                  <a:lnTo>
                    <a:pt x="103872" y="143758"/>
                  </a:lnTo>
                  <a:lnTo>
                    <a:pt x="127638" y="127723"/>
                  </a:lnTo>
                  <a:lnTo>
                    <a:pt x="143661" y="103942"/>
                  </a:lnTo>
                  <a:lnTo>
                    <a:pt x="149537" y="74819"/>
                  </a:lnTo>
                  <a:lnTo>
                    <a:pt x="143661" y="45696"/>
                  </a:lnTo>
                  <a:lnTo>
                    <a:pt x="127638" y="21914"/>
                  </a:lnTo>
                  <a:lnTo>
                    <a:pt x="103872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156305" y="280515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150927" y="251143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5"/>
                  </a:lnTo>
                  <a:lnTo>
                    <a:pt x="45665" y="143759"/>
                  </a:lnTo>
                  <a:lnTo>
                    <a:pt x="74768" y="149639"/>
                  </a:lnTo>
                  <a:lnTo>
                    <a:pt x="103872" y="143759"/>
                  </a:lnTo>
                  <a:lnTo>
                    <a:pt x="127638" y="127725"/>
                  </a:lnTo>
                  <a:lnTo>
                    <a:pt x="143661" y="103942"/>
                  </a:lnTo>
                  <a:lnTo>
                    <a:pt x="149537" y="74819"/>
                  </a:lnTo>
                  <a:lnTo>
                    <a:pt x="143661" y="45696"/>
                  </a:lnTo>
                  <a:lnTo>
                    <a:pt x="127638" y="21914"/>
                  </a:lnTo>
                  <a:lnTo>
                    <a:pt x="103872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150927" y="251143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409923" y="2120982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5"/>
                  </a:lnTo>
                  <a:lnTo>
                    <a:pt x="45665" y="143759"/>
                  </a:lnTo>
                  <a:lnTo>
                    <a:pt x="74768" y="149639"/>
                  </a:lnTo>
                  <a:lnTo>
                    <a:pt x="103871" y="143759"/>
                  </a:lnTo>
                  <a:lnTo>
                    <a:pt x="127637" y="127725"/>
                  </a:lnTo>
                  <a:lnTo>
                    <a:pt x="143661" y="103942"/>
                  </a:lnTo>
                  <a:lnTo>
                    <a:pt x="149537" y="74819"/>
                  </a:lnTo>
                  <a:lnTo>
                    <a:pt x="143661" y="45696"/>
                  </a:lnTo>
                  <a:lnTo>
                    <a:pt x="127637" y="21914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09923" y="2120982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291344" y="2428400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3"/>
                  </a:lnTo>
                  <a:lnTo>
                    <a:pt x="5875" y="45695"/>
                  </a:lnTo>
                  <a:lnTo>
                    <a:pt x="0" y="74818"/>
                  </a:lnTo>
                  <a:lnTo>
                    <a:pt x="5875" y="103941"/>
                  </a:lnTo>
                  <a:lnTo>
                    <a:pt x="21899" y="127723"/>
                  </a:lnTo>
                  <a:lnTo>
                    <a:pt x="45665" y="143758"/>
                  </a:lnTo>
                  <a:lnTo>
                    <a:pt x="74768" y="149637"/>
                  </a:lnTo>
                  <a:lnTo>
                    <a:pt x="103871" y="143758"/>
                  </a:lnTo>
                  <a:lnTo>
                    <a:pt x="127637" y="127723"/>
                  </a:lnTo>
                  <a:lnTo>
                    <a:pt x="143660" y="103941"/>
                  </a:lnTo>
                  <a:lnTo>
                    <a:pt x="149536" y="74818"/>
                  </a:lnTo>
                  <a:lnTo>
                    <a:pt x="143660" y="45695"/>
                  </a:lnTo>
                  <a:lnTo>
                    <a:pt x="127637" y="21913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291344" y="2428400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645089" y="2276951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4"/>
                  </a:lnTo>
                  <a:lnTo>
                    <a:pt x="45665" y="143759"/>
                  </a:lnTo>
                  <a:lnTo>
                    <a:pt x="74768" y="149639"/>
                  </a:lnTo>
                  <a:lnTo>
                    <a:pt x="103871" y="143759"/>
                  </a:lnTo>
                  <a:lnTo>
                    <a:pt x="127637" y="127724"/>
                  </a:lnTo>
                  <a:lnTo>
                    <a:pt x="143660" y="103942"/>
                  </a:lnTo>
                  <a:lnTo>
                    <a:pt x="149536" y="74819"/>
                  </a:lnTo>
                  <a:lnTo>
                    <a:pt x="143660" y="45696"/>
                  </a:lnTo>
                  <a:lnTo>
                    <a:pt x="127637" y="21914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45089" y="2276951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976577" y="2673442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3"/>
                  </a:lnTo>
                  <a:lnTo>
                    <a:pt x="5875" y="45695"/>
                  </a:lnTo>
                  <a:lnTo>
                    <a:pt x="0" y="74818"/>
                  </a:lnTo>
                  <a:lnTo>
                    <a:pt x="5875" y="103941"/>
                  </a:lnTo>
                  <a:lnTo>
                    <a:pt x="21899" y="127723"/>
                  </a:lnTo>
                  <a:lnTo>
                    <a:pt x="45665" y="143758"/>
                  </a:lnTo>
                  <a:lnTo>
                    <a:pt x="74768" y="149637"/>
                  </a:lnTo>
                  <a:lnTo>
                    <a:pt x="103871" y="143758"/>
                  </a:lnTo>
                  <a:lnTo>
                    <a:pt x="127637" y="127723"/>
                  </a:lnTo>
                  <a:lnTo>
                    <a:pt x="143660" y="103941"/>
                  </a:lnTo>
                  <a:lnTo>
                    <a:pt x="149536" y="74818"/>
                  </a:lnTo>
                  <a:lnTo>
                    <a:pt x="143660" y="45695"/>
                  </a:lnTo>
                  <a:lnTo>
                    <a:pt x="127637" y="21913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976577" y="2673442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1919175" y="299341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7" y="0"/>
                  </a:moveTo>
                  <a:lnTo>
                    <a:pt x="45664" y="5879"/>
                  </a:lnTo>
                  <a:lnTo>
                    <a:pt x="21898" y="21913"/>
                  </a:lnTo>
                  <a:lnTo>
                    <a:pt x="5875" y="45695"/>
                  </a:lnTo>
                  <a:lnTo>
                    <a:pt x="0" y="74818"/>
                  </a:lnTo>
                  <a:lnTo>
                    <a:pt x="5875" y="103941"/>
                  </a:lnTo>
                  <a:lnTo>
                    <a:pt x="21898" y="127723"/>
                  </a:lnTo>
                  <a:lnTo>
                    <a:pt x="45664" y="143758"/>
                  </a:lnTo>
                  <a:lnTo>
                    <a:pt x="74767" y="149637"/>
                  </a:lnTo>
                  <a:lnTo>
                    <a:pt x="103870" y="143758"/>
                  </a:lnTo>
                  <a:lnTo>
                    <a:pt x="127637" y="127723"/>
                  </a:lnTo>
                  <a:lnTo>
                    <a:pt x="143660" y="103941"/>
                  </a:lnTo>
                  <a:lnTo>
                    <a:pt x="149536" y="74818"/>
                  </a:lnTo>
                  <a:lnTo>
                    <a:pt x="143660" y="45695"/>
                  </a:lnTo>
                  <a:lnTo>
                    <a:pt x="127637" y="21913"/>
                  </a:lnTo>
                  <a:lnTo>
                    <a:pt x="103870" y="5879"/>
                  </a:lnTo>
                  <a:lnTo>
                    <a:pt x="74767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919175" y="299341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537644" y="2248621"/>
              <a:ext cx="129539" cy="50800"/>
            </a:xfrm>
            <a:custGeom>
              <a:avLst/>
              <a:gdLst/>
              <a:ahLst/>
              <a:cxnLst/>
              <a:rect l="l" t="t" r="r" b="b"/>
              <a:pathLst>
                <a:path w="129539" h="50800">
                  <a:moveTo>
                    <a:pt x="129343" y="50243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010735" y="2345446"/>
              <a:ext cx="73660" cy="64769"/>
            </a:xfrm>
            <a:custGeom>
              <a:avLst/>
              <a:gdLst/>
              <a:ahLst/>
              <a:cxnLst/>
              <a:rect l="l" t="t" r="r" b="b"/>
              <a:pathLst>
                <a:path w="73660" h="64769">
                  <a:moveTo>
                    <a:pt x="73131" y="0"/>
                  </a:moveTo>
                  <a:lnTo>
                    <a:pt x="0" y="64170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137483" y="255453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3"/>
                  </a:lnTo>
                  <a:lnTo>
                    <a:pt x="45665" y="143758"/>
                  </a:lnTo>
                  <a:lnTo>
                    <a:pt x="74768" y="149637"/>
                  </a:lnTo>
                  <a:lnTo>
                    <a:pt x="103871" y="143758"/>
                  </a:lnTo>
                  <a:lnTo>
                    <a:pt x="127638" y="127723"/>
                  </a:lnTo>
                  <a:lnTo>
                    <a:pt x="143661" y="103942"/>
                  </a:lnTo>
                  <a:lnTo>
                    <a:pt x="149537" y="74819"/>
                  </a:lnTo>
                  <a:lnTo>
                    <a:pt x="143661" y="45696"/>
                  </a:lnTo>
                  <a:lnTo>
                    <a:pt x="127638" y="21914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137483" y="255453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51261" y="269076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3"/>
                  </a:lnTo>
                  <a:lnTo>
                    <a:pt x="5875" y="45695"/>
                  </a:lnTo>
                  <a:lnTo>
                    <a:pt x="0" y="74818"/>
                  </a:lnTo>
                  <a:lnTo>
                    <a:pt x="5875" y="103941"/>
                  </a:lnTo>
                  <a:lnTo>
                    <a:pt x="21899" y="127723"/>
                  </a:lnTo>
                  <a:lnTo>
                    <a:pt x="45665" y="143758"/>
                  </a:lnTo>
                  <a:lnTo>
                    <a:pt x="74768" y="149637"/>
                  </a:lnTo>
                  <a:lnTo>
                    <a:pt x="103871" y="143758"/>
                  </a:lnTo>
                  <a:lnTo>
                    <a:pt x="127637" y="127723"/>
                  </a:lnTo>
                  <a:lnTo>
                    <a:pt x="143661" y="103941"/>
                  </a:lnTo>
                  <a:lnTo>
                    <a:pt x="149536" y="74818"/>
                  </a:lnTo>
                  <a:lnTo>
                    <a:pt x="143661" y="45695"/>
                  </a:lnTo>
                  <a:lnTo>
                    <a:pt x="127637" y="21913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51261" y="269076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159216" y="2120982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5"/>
                  </a:lnTo>
                  <a:lnTo>
                    <a:pt x="45665" y="143759"/>
                  </a:lnTo>
                  <a:lnTo>
                    <a:pt x="74768" y="149639"/>
                  </a:lnTo>
                  <a:lnTo>
                    <a:pt x="103871" y="143759"/>
                  </a:lnTo>
                  <a:lnTo>
                    <a:pt x="127637" y="127725"/>
                  </a:lnTo>
                  <a:lnTo>
                    <a:pt x="143661" y="103942"/>
                  </a:lnTo>
                  <a:lnTo>
                    <a:pt x="149536" y="74819"/>
                  </a:lnTo>
                  <a:lnTo>
                    <a:pt x="143661" y="45696"/>
                  </a:lnTo>
                  <a:lnTo>
                    <a:pt x="127637" y="21914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159216" y="2120982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73043" y="231456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8" y="0"/>
                  </a:moveTo>
                  <a:lnTo>
                    <a:pt x="45665" y="5879"/>
                  </a:lnTo>
                  <a:lnTo>
                    <a:pt x="21899" y="21914"/>
                  </a:lnTo>
                  <a:lnTo>
                    <a:pt x="5875" y="45696"/>
                  </a:lnTo>
                  <a:lnTo>
                    <a:pt x="0" y="74819"/>
                  </a:lnTo>
                  <a:lnTo>
                    <a:pt x="5875" y="103942"/>
                  </a:lnTo>
                  <a:lnTo>
                    <a:pt x="21899" y="127725"/>
                  </a:lnTo>
                  <a:lnTo>
                    <a:pt x="45665" y="143759"/>
                  </a:lnTo>
                  <a:lnTo>
                    <a:pt x="74768" y="149639"/>
                  </a:lnTo>
                  <a:lnTo>
                    <a:pt x="103871" y="143759"/>
                  </a:lnTo>
                  <a:lnTo>
                    <a:pt x="127637" y="127725"/>
                  </a:lnTo>
                  <a:lnTo>
                    <a:pt x="143661" y="103942"/>
                  </a:lnTo>
                  <a:lnTo>
                    <a:pt x="149536" y="74819"/>
                  </a:lnTo>
                  <a:lnTo>
                    <a:pt x="143661" y="45696"/>
                  </a:lnTo>
                  <a:lnTo>
                    <a:pt x="127637" y="21914"/>
                  </a:lnTo>
                  <a:lnTo>
                    <a:pt x="103871" y="5879"/>
                  </a:lnTo>
                  <a:lnTo>
                    <a:pt x="74768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973043" y="231456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9"/>
                  </a:moveTo>
                  <a:lnTo>
                    <a:pt x="5875" y="45696"/>
                  </a:lnTo>
                  <a:lnTo>
                    <a:pt x="21899" y="21914"/>
                  </a:lnTo>
                  <a:lnTo>
                    <a:pt x="45665" y="5879"/>
                  </a:lnTo>
                  <a:lnTo>
                    <a:pt x="74768" y="0"/>
                  </a:lnTo>
                  <a:lnTo>
                    <a:pt x="103871" y="5879"/>
                  </a:lnTo>
                  <a:lnTo>
                    <a:pt x="127637" y="21914"/>
                  </a:lnTo>
                  <a:lnTo>
                    <a:pt x="143661" y="45696"/>
                  </a:lnTo>
                  <a:lnTo>
                    <a:pt x="149536" y="74819"/>
                  </a:lnTo>
                  <a:lnTo>
                    <a:pt x="143661" y="103942"/>
                  </a:lnTo>
                  <a:lnTo>
                    <a:pt x="127637" y="127724"/>
                  </a:lnTo>
                  <a:lnTo>
                    <a:pt x="103871" y="143758"/>
                  </a:lnTo>
                  <a:lnTo>
                    <a:pt x="74768" y="149638"/>
                  </a:lnTo>
                  <a:lnTo>
                    <a:pt x="45665" y="143758"/>
                  </a:lnTo>
                  <a:lnTo>
                    <a:pt x="21899" y="127724"/>
                  </a:lnTo>
                  <a:lnTo>
                    <a:pt x="5875" y="103942"/>
                  </a:lnTo>
                  <a:lnTo>
                    <a:pt x="0" y="74819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308752" y="2195803"/>
              <a:ext cx="101600" cy="0"/>
            </a:xfrm>
            <a:custGeom>
              <a:avLst/>
              <a:gdLst/>
              <a:ahLst/>
              <a:cxnLst/>
              <a:rect l="l" t="t" r="r" b="b"/>
              <a:pathLst>
                <a:path w="101600" h="0">
                  <a:moveTo>
                    <a:pt x="0" y="0"/>
                  </a:moveTo>
                  <a:lnTo>
                    <a:pt x="101237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100616" y="2248707"/>
              <a:ext cx="80645" cy="88265"/>
            </a:xfrm>
            <a:custGeom>
              <a:avLst/>
              <a:gdLst/>
              <a:ahLst/>
              <a:cxnLst/>
              <a:rect l="l" t="t" r="r" b="b"/>
              <a:pathLst>
                <a:path w="80644" h="88264">
                  <a:moveTo>
                    <a:pt x="80498" y="0"/>
                  </a:moveTo>
                  <a:lnTo>
                    <a:pt x="0" y="87653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548447" y="2599815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57" y="0"/>
                  </a:moveTo>
                  <a:lnTo>
                    <a:pt x="45658" y="5878"/>
                  </a:lnTo>
                  <a:lnTo>
                    <a:pt x="21895" y="21910"/>
                  </a:lnTo>
                  <a:lnTo>
                    <a:pt x="5874" y="45689"/>
                  </a:lnTo>
                  <a:lnTo>
                    <a:pt x="0" y="74808"/>
                  </a:lnTo>
                  <a:lnTo>
                    <a:pt x="5874" y="103927"/>
                  </a:lnTo>
                  <a:lnTo>
                    <a:pt x="21895" y="127706"/>
                  </a:lnTo>
                  <a:lnTo>
                    <a:pt x="45658" y="143738"/>
                  </a:lnTo>
                  <a:lnTo>
                    <a:pt x="74757" y="149617"/>
                  </a:lnTo>
                  <a:lnTo>
                    <a:pt x="103856" y="143738"/>
                  </a:lnTo>
                  <a:lnTo>
                    <a:pt x="127619" y="127706"/>
                  </a:lnTo>
                  <a:lnTo>
                    <a:pt x="143640" y="103927"/>
                  </a:lnTo>
                  <a:lnTo>
                    <a:pt x="149515" y="74808"/>
                  </a:lnTo>
                  <a:lnTo>
                    <a:pt x="143640" y="45689"/>
                  </a:lnTo>
                  <a:lnTo>
                    <a:pt x="127619" y="21910"/>
                  </a:lnTo>
                  <a:lnTo>
                    <a:pt x="103856" y="5878"/>
                  </a:lnTo>
                  <a:lnTo>
                    <a:pt x="74757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548447" y="2599815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08"/>
                  </a:moveTo>
                  <a:lnTo>
                    <a:pt x="5874" y="45689"/>
                  </a:lnTo>
                  <a:lnTo>
                    <a:pt x="21896" y="21911"/>
                  </a:lnTo>
                  <a:lnTo>
                    <a:pt x="45658" y="5878"/>
                  </a:lnTo>
                  <a:lnTo>
                    <a:pt x="74758" y="0"/>
                  </a:lnTo>
                  <a:lnTo>
                    <a:pt x="103857" y="5878"/>
                  </a:lnTo>
                  <a:lnTo>
                    <a:pt x="127620" y="21911"/>
                  </a:lnTo>
                  <a:lnTo>
                    <a:pt x="143641" y="45689"/>
                  </a:lnTo>
                  <a:lnTo>
                    <a:pt x="149516" y="74808"/>
                  </a:lnTo>
                  <a:lnTo>
                    <a:pt x="143641" y="103927"/>
                  </a:lnTo>
                  <a:lnTo>
                    <a:pt x="127620" y="127706"/>
                  </a:lnTo>
                  <a:lnTo>
                    <a:pt x="103857" y="143738"/>
                  </a:lnTo>
                  <a:lnTo>
                    <a:pt x="74758" y="149617"/>
                  </a:lnTo>
                  <a:lnTo>
                    <a:pt x="45658" y="143738"/>
                  </a:lnTo>
                  <a:lnTo>
                    <a:pt x="21896" y="127706"/>
                  </a:lnTo>
                  <a:lnTo>
                    <a:pt x="5874" y="103927"/>
                  </a:lnTo>
                  <a:lnTo>
                    <a:pt x="0" y="74808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 descr=""/>
          <p:cNvSpPr/>
          <p:nvPr/>
        </p:nvSpPr>
        <p:spPr>
          <a:xfrm>
            <a:off x="747921" y="4627747"/>
            <a:ext cx="6520180" cy="1550670"/>
          </a:xfrm>
          <a:custGeom>
            <a:avLst/>
            <a:gdLst/>
            <a:ahLst/>
            <a:cxnLst/>
            <a:rect l="l" t="t" r="r" b="b"/>
            <a:pathLst>
              <a:path w="6520180" h="1550670">
                <a:moveTo>
                  <a:pt x="6372539" y="0"/>
                </a:moveTo>
                <a:lnTo>
                  <a:pt x="147382" y="0"/>
                </a:lnTo>
                <a:lnTo>
                  <a:pt x="100798" y="7518"/>
                </a:lnTo>
                <a:lnTo>
                  <a:pt x="60340" y="28455"/>
                </a:lnTo>
                <a:lnTo>
                  <a:pt x="28436" y="60381"/>
                </a:lnTo>
                <a:lnTo>
                  <a:pt x="7513" y="100866"/>
                </a:lnTo>
                <a:lnTo>
                  <a:pt x="0" y="147482"/>
                </a:lnTo>
                <a:lnTo>
                  <a:pt x="0" y="1402841"/>
                </a:lnTo>
                <a:lnTo>
                  <a:pt x="7513" y="1449458"/>
                </a:lnTo>
                <a:lnTo>
                  <a:pt x="28436" y="1489943"/>
                </a:lnTo>
                <a:lnTo>
                  <a:pt x="60340" y="1521869"/>
                </a:lnTo>
                <a:lnTo>
                  <a:pt x="100798" y="1542806"/>
                </a:lnTo>
                <a:lnTo>
                  <a:pt x="147382" y="1550325"/>
                </a:lnTo>
                <a:lnTo>
                  <a:pt x="6372539" y="1550325"/>
                </a:lnTo>
                <a:lnTo>
                  <a:pt x="6419123" y="1542806"/>
                </a:lnTo>
                <a:lnTo>
                  <a:pt x="6459581" y="1521869"/>
                </a:lnTo>
                <a:lnTo>
                  <a:pt x="6491485" y="1489943"/>
                </a:lnTo>
                <a:lnTo>
                  <a:pt x="6512408" y="1449458"/>
                </a:lnTo>
                <a:lnTo>
                  <a:pt x="6519921" y="1402841"/>
                </a:lnTo>
                <a:lnTo>
                  <a:pt x="6519921" y="147482"/>
                </a:lnTo>
                <a:lnTo>
                  <a:pt x="6512408" y="100866"/>
                </a:lnTo>
                <a:lnTo>
                  <a:pt x="6491485" y="60381"/>
                </a:lnTo>
                <a:lnTo>
                  <a:pt x="6459581" y="28455"/>
                </a:lnTo>
                <a:lnTo>
                  <a:pt x="6419123" y="7518"/>
                </a:lnTo>
                <a:lnTo>
                  <a:pt x="6372539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 txBox="1"/>
          <p:nvPr/>
        </p:nvSpPr>
        <p:spPr>
          <a:xfrm>
            <a:off x="882384" y="4676515"/>
            <a:ext cx="330898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Neo4j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Automates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Tricky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Parts: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 descr=""/>
          <p:cNvSpPr txBox="1"/>
          <p:nvPr/>
        </p:nvSpPr>
        <p:spPr>
          <a:xfrm>
            <a:off x="1055739" y="5006877"/>
            <a:ext cx="5063490" cy="1168400"/>
          </a:xfrm>
          <a:prstGeom prst="rect">
            <a:avLst/>
          </a:prstGeom>
        </p:spPr>
        <p:txBody>
          <a:bodyPr wrap="square" lIns="0" tIns="27939" rIns="0" bIns="0" rtlCol="0" vert="horz">
            <a:spAutoFit/>
          </a:bodyPr>
          <a:lstStyle/>
          <a:p>
            <a:pPr marL="358775" indent="-346075">
              <a:lnSpc>
                <a:spcPct val="100000"/>
              </a:lnSpc>
              <a:spcBef>
                <a:spcPts val="219"/>
              </a:spcBef>
              <a:buAutoNum type="arabicPeriod"/>
              <a:tabLst>
                <a:tab pos="358775" algn="l"/>
              </a:tabLst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Splits</a:t>
            </a:r>
            <a:r>
              <a:rPr dirty="0" sz="1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train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  <a:p>
            <a:pPr marL="359410" marR="5080" indent="-346710">
              <a:lnSpc>
                <a:spcPct val="107100"/>
              </a:lnSpc>
              <a:buAutoNum type="arabicPeriod"/>
              <a:tabLst>
                <a:tab pos="359410" algn="l"/>
              </a:tabLst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Builds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logistic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specified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parameters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predict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correct</a:t>
            </a: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endParaRPr sz="1400">
              <a:latin typeface="Arial"/>
              <a:cs typeface="Arial"/>
            </a:endParaRPr>
          </a:p>
          <a:p>
            <a:pPr marL="358775" indent="-34607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358775" algn="l"/>
              </a:tabLst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Evaluates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358775" indent="-34607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358775" algn="l"/>
              </a:tabLst>
            </a:pP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Returns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performing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3" name="object 6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1147" y="4657857"/>
            <a:ext cx="789431" cy="792480"/>
          </a:xfrm>
          <a:prstGeom prst="rect">
            <a:avLst/>
          </a:prstGeom>
        </p:spPr>
      </p:pic>
      <p:grpSp>
        <p:nvGrpSpPr>
          <p:cNvPr id="64" name="object 64" descr=""/>
          <p:cNvGrpSpPr/>
          <p:nvPr/>
        </p:nvGrpSpPr>
        <p:grpSpPr>
          <a:xfrm>
            <a:off x="7477883" y="4627747"/>
            <a:ext cx="2385060" cy="1550670"/>
            <a:chOff x="7477883" y="4627747"/>
            <a:chExt cx="2385060" cy="1550670"/>
          </a:xfrm>
        </p:grpSpPr>
        <p:pic>
          <p:nvPicPr>
            <p:cNvPr id="65" name="object 6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18907" y="5355848"/>
              <a:ext cx="481583" cy="316992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7477883" y="4627747"/>
              <a:ext cx="2385060" cy="1550670"/>
            </a:xfrm>
            <a:custGeom>
              <a:avLst/>
              <a:gdLst/>
              <a:ahLst/>
              <a:cxnLst/>
              <a:rect l="l" t="t" r="r" b="b"/>
              <a:pathLst>
                <a:path w="2385059" h="1550670">
                  <a:moveTo>
                    <a:pt x="2227435" y="0"/>
                  </a:moveTo>
                  <a:lnTo>
                    <a:pt x="157560" y="0"/>
                  </a:lnTo>
                  <a:lnTo>
                    <a:pt x="107758" y="8037"/>
                  </a:lnTo>
                  <a:lnTo>
                    <a:pt x="64506" y="30420"/>
                  </a:lnTo>
                  <a:lnTo>
                    <a:pt x="30399" y="64550"/>
                  </a:lnTo>
                  <a:lnTo>
                    <a:pt x="8032" y="107831"/>
                  </a:lnTo>
                  <a:lnTo>
                    <a:pt x="0" y="157666"/>
                  </a:lnTo>
                  <a:lnTo>
                    <a:pt x="0" y="1392659"/>
                  </a:lnTo>
                  <a:lnTo>
                    <a:pt x="8032" y="1442493"/>
                  </a:lnTo>
                  <a:lnTo>
                    <a:pt x="30399" y="1485774"/>
                  </a:lnTo>
                  <a:lnTo>
                    <a:pt x="64506" y="1519905"/>
                  </a:lnTo>
                  <a:lnTo>
                    <a:pt x="107758" y="1542287"/>
                  </a:lnTo>
                  <a:lnTo>
                    <a:pt x="157560" y="1550325"/>
                  </a:lnTo>
                  <a:lnTo>
                    <a:pt x="2227435" y="1550325"/>
                  </a:lnTo>
                  <a:lnTo>
                    <a:pt x="2277236" y="1542287"/>
                  </a:lnTo>
                  <a:lnTo>
                    <a:pt x="2320488" y="1519905"/>
                  </a:lnTo>
                  <a:lnTo>
                    <a:pt x="2354595" y="1485774"/>
                  </a:lnTo>
                  <a:lnTo>
                    <a:pt x="2376962" y="1442493"/>
                  </a:lnTo>
                  <a:lnTo>
                    <a:pt x="2384995" y="1392659"/>
                  </a:lnTo>
                  <a:lnTo>
                    <a:pt x="2384995" y="157666"/>
                  </a:lnTo>
                  <a:lnTo>
                    <a:pt x="2376962" y="107831"/>
                  </a:lnTo>
                  <a:lnTo>
                    <a:pt x="2354595" y="64550"/>
                  </a:lnTo>
                  <a:lnTo>
                    <a:pt x="2320488" y="30420"/>
                  </a:lnTo>
                  <a:lnTo>
                    <a:pt x="2277236" y="8037"/>
                  </a:lnTo>
                  <a:lnTo>
                    <a:pt x="2227435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 descr=""/>
          <p:cNvSpPr txBox="1"/>
          <p:nvPr/>
        </p:nvSpPr>
        <p:spPr>
          <a:xfrm>
            <a:off x="7615327" y="4817240"/>
            <a:ext cx="1910714" cy="115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predictive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model appears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model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catalog,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ready</a:t>
            </a:r>
            <a:endParaRPr sz="1500">
              <a:latin typeface="Arial"/>
              <a:cs typeface="Arial"/>
            </a:endParaRPr>
          </a:p>
          <a:p>
            <a:pPr algn="just" marL="12700" marR="934085">
              <a:lnSpc>
                <a:spcPts val="1700"/>
              </a:lnSpc>
              <a:spcBef>
                <a:spcPts val="14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68" name="object 68" descr=""/>
          <p:cNvGrpSpPr/>
          <p:nvPr/>
        </p:nvGrpSpPr>
        <p:grpSpPr>
          <a:xfrm>
            <a:off x="8512556" y="4346961"/>
            <a:ext cx="1212215" cy="1744345"/>
            <a:chOff x="8512556" y="4346961"/>
            <a:chExt cx="1212215" cy="1744345"/>
          </a:xfrm>
        </p:grpSpPr>
        <p:sp>
          <p:nvSpPr>
            <p:cNvPr id="69" name="object 69" descr=""/>
            <p:cNvSpPr/>
            <p:nvPr/>
          </p:nvSpPr>
          <p:spPr>
            <a:xfrm>
              <a:off x="8922827" y="5524498"/>
              <a:ext cx="785495" cy="550545"/>
            </a:xfrm>
            <a:custGeom>
              <a:avLst/>
              <a:gdLst/>
              <a:ahLst/>
              <a:cxnLst/>
              <a:rect l="l" t="t" r="r" b="b"/>
              <a:pathLst>
                <a:path w="785495" h="550545">
                  <a:moveTo>
                    <a:pt x="785201" y="0"/>
                  </a:moveTo>
                  <a:lnTo>
                    <a:pt x="731600" y="34815"/>
                  </a:lnTo>
                  <a:lnTo>
                    <a:pt x="692866" y="44442"/>
                  </a:lnTo>
                  <a:lnTo>
                    <a:pt x="645548" y="52756"/>
                  </a:lnTo>
                  <a:lnTo>
                    <a:pt x="590754" y="59562"/>
                  </a:lnTo>
                  <a:lnTo>
                    <a:pt x="529592" y="64664"/>
                  </a:lnTo>
                  <a:lnTo>
                    <a:pt x="463171" y="67868"/>
                  </a:lnTo>
                  <a:lnTo>
                    <a:pt x="392601" y="68980"/>
                  </a:lnTo>
                  <a:lnTo>
                    <a:pt x="322030" y="67868"/>
                  </a:lnTo>
                  <a:lnTo>
                    <a:pt x="255609" y="64664"/>
                  </a:lnTo>
                  <a:lnTo>
                    <a:pt x="194447" y="59562"/>
                  </a:lnTo>
                  <a:lnTo>
                    <a:pt x="139653" y="52756"/>
                  </a:lnTo>
                  <a:lnTo>
                    <a:pt x="92334" y="44442"/>
                  </a:lnTo>
                  <a:lnTo>
                    <a:pt x="53601" y="34815"/>
                  </a:lnTo>
                  <a:lnTo>
                    <a:pt x="6325" y="12399"/>
                  </a:lnTo>
                  <a:lnTo>
                    <a:pt x="0" y="0"/>
                  </a:lnTo>
                  <a:lnTo>
                    <a:pt x="0" y="481194"/>
                  </a:lnTo>
                  <a:lnTo>
                    <a:pt x="53601" y="516009"/>
                  </a:lnTo>
                  <a:lnTo>
                    <a:pt x="92334" y="525636"/>
                  </a:lnTo>
                  <a:lnTo>
                    <a:pt x="139653" y="533950"/>
                  </a:lnTo>
                  <a:lnTo>
                    <a:pt x="194447" y="540756"/>
                  </a:lnTo>
                  <a:lnTo>
                    <a:pt x="255609" y="545858"/>
                  </a:lnTo>
                  <a:lnTo>
                    <a:pt x="322030" y="549062"/>
                  </a:lnTo>
                  <a:lnTo>
                    <a:pt x="392601" y="550174"/>
                  </a:lnTo>
                  <a:lnTo>
                    <a:pt x="463171" y="549062"/>
                  </a:lnTo>
                  <a:lnTo>
                    <a:pt x="529592" y="545858"/>
                  </a:lnTo>
                  <a:lnTo>
                    <a:pt x="590754" y="540756"/>
                  </a:lnTo>
                  <a:lnTo>
                    <a:pt x="645548" y="533950"/>
                  </a:lnTo>
                  <a:lnTo>
                    <a:pt x="692866" y="525636"/>
                  </a:lnTo>
                  <a:lnTo>
                    <a:pt x="731600" y="516009"/>
                  </a:lnTo>
                  <a:lnTo>
                    <a:pt x="778876" y="493593"/>
                  </a:lnTo>
                  <a:lnTo>
                    <a:pt x="785201" y="481194"/>
                  </a:lnTo>
                  <a:lnTo>
                    <a:pt x="785201" y="0"/>
                  </a:lnTo>
                  <a:close/>
                </a:path>
              </a:pathLst>
            </a:custGeom>
            <a:solidFill>
              <a:srgbClr val="6DCC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8922827" y="5455518"/>
              <a:ext cx="785495" cy="138430"/>
            </a:xfrm>
            <a:custGeom>
              <a:avLst/>
              <a:gdLst/>
              <a:ahLst/>
              <a:cxnLst/>
              <a:rect l="l" t="t" r="r" b="b"/>
              <a:pathLst>
                <a:path w="785495" h="138429">
                  <a:moveTo>
                    <a:pt x="392601" y="0"/>
                  </a:moveTo>
                  <a:lnTo>
                    <a:pt x="322030" y="1111"/>
                  </a:lnTo>
                  <a:lnTo>
                    <a:pt x="255609" y="4315"/>
                  </a:lnTo>
                  <a:lnTo>
                    <a:pt x="194447" y="9417"/>
                  </a:lnTo>
                  <a:lnTo>
                    <a:pt x="139653" y="16223"/>
                  </a:lnTo>
                  <a:lnTo>
                    <a:pt x="92334" y="24537"/>
                  </a:lnTo>
                  <a:lnTo>
                    <a:pt x="53601" y="34164"/>
                  </a:lnTo>
                  <a:lnTo>
                    <a:pt x="6325" y="56580"/>
                  </a:lnTo>
                  <a:lnTo>
                    <a:pt x="0" y="68980"/>
                  </a:lnTo>
                  <a:lnTo>
                    <a:pt x="6325" y="81379"/>
                  </a:lnTo>
                  <a:lnTo>
                    <a:pt x="53601" y="103795"/>
                  </a:lnTo>
                  <a:lnTo>
                    <a:pt x="92334" y="113422"/>
                  </a:lnTo>
                  <a:lnTo>
                    <a:pt x="139653" y="121736"/>
                  </a:lnTo>
                  <a:lnTo>
                    <a:pt x="194447" y="128542"/>
                  </a:lnTo>
                  <a:lnTo>
                    <a:pt x="255609" y="133644"/>
                  </a:lnTo>
                  <a:lnTo>
                    <a:pt x="322030" y="136848"/>
                  </a:lnTo>
                  <a:lnTo>
                    <a:pt x="392601" y="137960"/>
                  </a:lnTo>
                  <a:lnTo>
                    <a:pt x="463171" y="136848"/>
                  </a:lnTo>
                  <a:lnTo>
                    <a:pt x="529592" y="133644"/>
                  </a:lnTo>
                  <a:lnTo>
                    <a:pt x="590754" y="128542"/>
                  </a:lnTo>
                  <a:lnTo>
                    <a:pt x="645548" y="121736"/>
                  </a:lnTo>
                  <a:lnTo>
                    <a:pt x="692866" y="113422"/>
                  </a:lnTo>
                  <a:lnTo>
                    <a:pt x="731600" y="103795"/>
                  </a:lnTo>
                  <a:lnTo>
                    <a:pt x="778876" y="81379"/>
                  </a:lnTo>
                  <a:lnTo>
                    <a:pt x="785201" y="68980"/>
                  </a:lnTo>
                  <a:lnTo>
                    <a:pt x="778876" y="56580"/>
                  </a:lnTo>
                  <a:lnTo>
                    <a:pt x="731600" y="34164"/>
                  </a:lnTo>
                  <a:lnTo>
                    <a:pt x="692866" y="24537"/>
                  </a:lnTo>
                  <a:lnTo>
                    <a:pt x="645548" y="16223"/>
                  </a:lnTo>
                  <a:lnTo>
                    <a:pt x="590754" y="9417"/>
                  </a:lnTo>
                  <a:lnTo>
                    <a:pt x="529592" y="4315"/>
                  </a:lnTo>
                  <a:lnTo>
                    <a:pt x="463171" y="1111"/>
                  </a:lnTo>
                  <a:lnTo>
                    <a:pt x="392601" y="0"/>
                  </a:lnTo>
                  <a:close/>
                </a:path>
              </a:pathLst>
            </a:custGeom>
            <a:solidFill>
              <a:srgbClr val="A7E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8922827" y="5455518"/>
              <a:ext cx="785495" cy="619760"/>
            </a:xfrm>
            <a:custGeom>
              <a:avLst/>
              <a:gdLst/>
              <a:ahLst/>
              <a:cxnLst/>
              <a:rect l="l" t="t" r="r" b="b"/>
              <a:pathLst>
                <a:path w="785495" h="619760">
                  <a:moveTo>
                    <a:pt x="785202" y="68979"/>
                  </a:moveTo>
                  <a:lnTo>
                    <a:pt x="731601" y="103794"/>
                  </a:lnTo>
                  <a:lnTo>
                    <a:pt x="692867" y="113422"/>
                  </a:lnTo>
                  <a:lnTo>
                    <a:pt x="645549" y="121736"/>
                  </a:lnTo>
                  <a:lnTo>
                    <a:pt x="590754" y="128541"/>
                  </a:lnTo>
                  <a:lnTo>
                    <a:pt x="529592" y="133643"/>
                  </a:lnTo>
                  <a:lnTo>
                    <a:pt x="463171" y="136847"/>
                  </a:lnTo>
                  <a:lnTo>
                    <a:pt x="392601" y="137959"/>
                  </a:lnTo>
                  <a:lnTo>
                    <a:pt x="322030" y="136847"/>
                  </a:lnTo>
                  <a:lnTo>
                    <a:pt x="255609" y="133643"/>
                  </a:lnTo>
                  <a:lnTo>
                    <a:pt x="194447" y="128541"/>
                  </a:lnTo>
                  <a:lnTo>
                    <a:pt x="139653" y="121736"/>
                  </a:lnTo>
                  <a:lnTo>
                    <a:pt x="92334" y="113422"/>
                  </a:lnTo>
                  <a:lnTo>
                    <a:pt x="53601" y="103794"/>
                  </a:lnTo>
                  <a:lnTo>
                    <a:pt x="6325" y="81378"/>
                  </a:lnTo>
                  <a:lnTo>
                    <a:pt x="0" y="68979"/>
                  </a:lnTo>
                  <a:lnTo>
                    <a:pt x="6325" y="56580"/>
                  </a:lnTo>
                  <a:lnTo>
                    <a:pt x="53601" y="34164"/>
                  </a:lnTo>
                  <a:lnTo>
                    <a:pt x="92334" y="24536"/>
                  </a:lnTo>
                  <a:lnTo>
                    <a:pt x="139653" y="16223"/>
                  </a:lnTo>
                  <a:lnTo>
                    <a:pt x="194447" y="9417"/>
                  </a:lnTo>
                  <a:lnTo>
                    <a:pt x="255609" y="4315"/>
                  </a:lnTo>
                  <a:lnTo>
                    <a:pt x="322030" y="1111"/>
                  </a:lnTo>
                  <a:lnTo>
                    <a:pt x="392601" y="0"/>
                  </a:lnTo>
                  <a:lnTo>
                    <a:pt x="463171" y="1111"/>
                  </a:lnTo>
                  <a:lnTo>
                    <a:pt x="529592" y="4315"/>
                  </a:lnTo>
                  <a:lnTo>
                    <a:pt x="590754" y="9417"/>
                  </a:lnTo>
                  <a:lnTo>
                    <a:pt x="645549" y="16223"/>
                  </a:lnTo>
                  <a:lnTo>
                    <a:pt x="692867" y="24536"/>
                  </a:lnTo>
                  <a:lnTo>
                    <a:pt x="731601" y="34164"/>
                  </a:lnTo>
                  <a:lnTo>
                    <a:pt x="778877" y="56580"/>
                  </a:lnTo>
                  <a:lnTo>
                    <a:pt x="785202" y="68979"/>
                  </a:lnTo>
                  <a:lnTo>
                    <a:pt x="785202" y="550174"/>
                  </a:lnTo>
                  <a:lnTo>
                    <a:pt x="731601" y="584989"/>
                  </a:lnTo>
                  <a:lnTo>
                    <a:pt x="692867" y="594616"/>
                  </a:lnTo>
                  <a:lnTo>
                    <a:pt x="645549" y="602930"/>
                  </a:lnTo>
                  <a:lnTo>
                    <a:pt x="590754" y="609735"/>
                  </a:lnTo>
                  <a:lnTo>
                    <a:pt x="529592" y="614838"/>
                  </a:lnTo>
                  <a:lnTo>
                    <a:pt x="463171" y="618042"/>
                  </a:lnTo>
                  <a:lnTo>
                    <a:pt x="392601" y="619153"/>
                  </a:lnTo>
                  <a:lnTo>
                    <a:pt x="322030" y="618042"/>
                  </a:lnTo>
                  <a:lnTo>
                    <a:pt x="255609" y="614838"/>
                  </a:lnTo>
                  <a:lnTo>
                    <a:pt x="194447" y="609735"/>
                  </a:lnTo>
                  <a:lnTo>
                    <a:pt x="139653" y="602930"/>
                  </a:lnTo>
                  <a:lnTo>
                    <a:pt x="92334" y="594616"/>
                  </a:lnTo>
                  <a:lnTo>
                    <a:pt x="53601" y="584989"/>
                  </a:lnTo>
                  <a:lnTo>
                    <a:pt x="6325" y="562573"/>
                  </a:lnTo>
                  <a:lnTo>
                    <a:pt x="0" y="550174"/>
                  </a:lnTo>
                  <a:lnTo>
                    <a:pt x="0" y="68979"/>
                  </a:lnTo>
                </a:path>
              </a:pathLst>
            </a:custGeom>
            <a:ln w="3251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62364" y="5672841"/>
              <a:ext cx="326135" cy="329183"/>
            </a:xfrm>
            <a:prstGeom prst="rect">
              <a:avLst/>
            </a:prstGeom>
          </p:spPr>
        </p:pic>
        <p:pic>
          <p:nvPicPr>
            <p:cNvPr id="73" name="object 7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27668" y="5621025"/>
              <a:ext cx="429768" cy="432816"/>
            </a:xfrm>
            <a:prstGeom prst="rect">
              <a:avLst/>
            </a:prstGeom>
          </p:spPr>
        </p:pic>
        <p:pic>
          <p:nvPicPr>
            <p:cNvPr id="74" name="object 7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2556" y="4346961"/>
              <a:ext cx="316992" cy="313944"/>
            </a:xfrm>
            <a:prstGeom prst="rect">
              <a:avLst/>
            </a:prstGeom>
          </p:spPr>
        </p:pic>
      </p:grpSp>
      <p:pic>
        <p:nvPicPr>
          <p:cNvPr id="75" name="object 7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25259" y="3618489"/>
            <a:ext cx="316992" cy="313943"/>
          </a:xfrm>
          <a:prstGeom prst="rect">
            <a:avLst/>
          </a:prstGeom>
        </p:spPr>
      </p:pic>
      <p:sp>
        <p:nvSpPr>
          <p:cNvPr id="76" name="object 7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77" name="object 7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Link</a:t>
            </a:r>
            <a:r>
              <a:rPr dirty="0" spc="-20"/>
              <a:t> </a:t>
            </a:r>
            <a:r>
              <a:rPr dirty="0"/>
              <a:t>Prediction</a:t>
            </a:r>
            <a:r>
              <a:rPr dirty="0" spc="10"/>
              <a:t> </a:t>
            </a:r>
            <a:r>
              <a:rPr dirty="0"/>
              <a:t>-</a:t>
            </a:r>
            <a:r>
              <a:rPr dirty="0" spc="-10"/>
              <a:t> </a:t>
            </a:r>
            <a:r>
              <a:rPr dirty="0"/>
              <a:t>in </a:t>
            </a:r>
            <a:r>
              <a:rPr dirty="0" spc="-10"/>
              <a:t>Neo4j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691245" y="3273403"/>
            <a:ext cx="2109470" cy="1041400"/>
          </a:xfrm>
          <a:custGeom>
            <a:avLst/>
            <a:gdLst/>
            <a:ahLst/>
            <a:cxnLst/>
            <a:rect l="l" t="t" r="r" b="b"/>
            <a:pathLst>
              <a:path w="2109470" h="1041400">
                <a:moveTo>
                  <a:pt x="1935565" y="0"/>
                </a:moveTo>
                <a:lnTo>
                  <a:pt x="173359" y="0"/>
                </a:lnTo>
                <a:lnTo>
                  <a:pt x="127273" y="6196"/>
                </a:lnTo>
                <a:lnTo>
                  <a:pt x="85861" y="23684"/>
                </a:lnTo>
                <a:lnTo>
                  <a:pt x="50775" y="50810"/>
                </a:lnTo>
                <a:lnTo>
                  <a:pt x="23668" y="85919"/>
                </a:lnTo>
                <a:lnTo>
                  <a:pt x="6192" y="127359"/>
                </a:lnTo>
                <a:lnTo>
                  <a:pt x="0" y="173476"/>
                </a:lnTo>
                <a:lnTo>
                  <a:pt x="0" y="867359"/>
                </a:lnTo>
                <a:lnTo>
                  <a:pt x="6192" y="913475"/>
                </a:lnTo>
                <a:lnTo>
                  <a:pt x="23668" y="954915"/>
                </a:lnTo>
                <a:lnTo>
                  <a:pt x="50775" y="990025"/>
                </a:lnTo>
                <a:lnTo>
                  <a:pt x="85861" y="1017151"/>
                </a:lnTo>
                <a:lnTo>
                  <a:pt x="127273" y="1034639"/>
                </a:lnTo>
                <a:lnTo>
                  <a:pt x="173359" y="1040836"/>
                </a:lnTo>
                <a:lnTo>
                  <a:pt x="1935565" y="1040836"/>
                </a:lnTo>
                <a:lnTo>
                  <a:pt x="1981651" y="1034639"/>
                </a:lnTo>
                <a:lnTo>
                  <a:pt x="2023063" y="1017151"/>
                </a:lnTo>
                <a:lnTo>
                  <a:pt x="2058149" y="990025"/>
                </a:lnTo>
                <a:lnTo>
                  <a:pt x="2085255" y="954915"/>
                </a:lnTo>
                <a:lnTo>
                  <a:pt x="2102731" y="913475"/>
                </a:lnTo>
                <a:lnTo>
                  <a:pt x="2108924" y="867359"/>
                </a:lnTo>
                <a:lnTo>
                  <a:pt x="2108924" y="173476"/>
                </a:lnTo>
                <a:lnTo>
                  <a:pt x="2102731" y="127359"/>
                </a:lnTo>
                <a:lnTo>
                  <a:pt x="2085255" y="85919"/>
                </a:lnTo>
                <a:lnTo>
                  <a:pt x="2058149" y="50810"/>
                </a:lnTo>
                <a:lnTo>
                  <a:pt x="2023063" y="23684"/>
                </a:lnTo>
                <a:lnTo>
                  <a:pt x="1981651" y="6196"/>
                </a:lnTo>
                <a:lnTo>
                  <a:pt x="1935565" y="0"/>
                </a:lnTo>
                <a:close/>
              </a:path>
            </a:pathLst>
          </a:custGeom>
          <a:solidFill>
            <a:srgbClr val="79BF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833315" y="3378738"/>
            <a:ext cx="1859914" cy="772160"/>
          </a:xfrm>
          <a:prstGeom prst="rect">
            <a:avLst/>
          </a:prstGeom>
        </p:spPr>
        <p:txBody>
          <a:bodyPr wrap="square" lIns="0" tIns="18415" rIns="0" bIns="0" rtlCol="0" vert="horz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45"/>
              </a:spcBef>
            </a:pPr>
            <a:r>
              <a:rPr dirty="0" sz="1500">
                <a:latin typeface="Arial"/>
                <a:cs typeface="Arial"/>
              </a:rPr>
              <a:t>Load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your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in-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memory </a:t>
            </a:r>
            <a:r>
              <a:rPr dirty="0" sz="1500">
                <a:latin typeface="Arial"/>
                <a:cs typeface="Arial"/>
              </a:rPr>
              <a:t>graph</a:t>
            </a:r>
            <a:r>
              <a:rPr dirty="0" sz="1500" spc="-7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with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labels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50">
                <a:latin typeface="Arial"/>
                <a:cs typeface="Arial"/>
              </a:rPr>
              <a:t>&amp; </a:t>
            </a:r>
            <a:r>
              <a:rPr dirty="0" sz="1500" spc="-10">
                <a:latin typeface="Arial"/>
                <a:cs typeface="Arial"/>
              </a:rPr>
              <a:t>features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921572" y="3238111"/>
            <a:ext cx="2958465" cy="1074420"/>
            <a:chOff x="6921572" y="3238111"/>
            <a:chExt cx="2958465" cy="1074420"/>
          </a:xfrm>
        </p:grpSpPr>
        <p:sp>
          <p:nvSpPr>
            <p:cNvPr id="6" name="object 6" descr=""/>
            <p:cNvSpPr/>
            <p:nvPr/>
          </p:nvSpPr>
          <p:spPr>
            <a:xfrm>
              <a:off x="6938082" y="3254621"/>
              <a:ext cx="2925445" cy="1041400"/>
            </a:xfrm>
            <a:custGeom>
              <a:avLst/>
              <a:gdLst/>
              <a:ahLst/>
              <a:cxnLst/>
              <a:rect l="l" t="t" r="r" b="b"/>
              <a:pathLst>
                <a:path w="2925445" h="1041400">
                  <a:moveTo>
                    <a:pt x="2751495" y="0"/>
                  </a:moveTo>
                  <a:lnTo>
                    <a:pt x="173357" y="0"/>
                  </a:lnTo>
                  <a:lnTo>
                    <a:pt x="127272" y="6196"/>
                  </a:lnTo>
                  <a:lnTo>
                    <a:pt x="85860" y="23684"/>
                  </a:lnTo>
                  <a:lnTo>
                    <a:pt x="50775" y="50810"/>
                  </a:lnTo>
                  <a:lnTo>
                    <a:pt x="23668" y="85919"/>
                  </a:lnTo>
                  <a:lnTo>
                    <a:pt x="6192" y="127359"/>
                  </a:lnTo>
                  <a:lnTo>
                    <a:pt x="0" y="173476"/>
                  </a:lnTo>
                  <a:lnTo>
                    <a:pt x="0" y="867360"/>
                  </a:lnTo>
                  <a:lnTo>
                    <a:pt x="6192" y="913477"/>
                  </a:lnTo>
                  <a:lnTo>
                    <a:pt x="23668" y="954916"/>
                  </a:lnTo>
                  <a:lnTo>
                    <a:pt x="50775" y="990026"/>
                  </a:lnTo>
                  <a:lnTo>
                    <a:pt x="85860" y="1017151"/>
                  </a:lnTo>
                  <a:lnTo>
                    <a:pt x="127272" y="1034639"/>
                  </a:lnTo>
                  <a:lnTo>
                    <a:pt x="173357" y="1040836"/>
                  </a:lnTo>
                  <a:lnTo>
                    <a:pt x="2751495" y="1040836"/>
                  </a:lnTo>
                  <a:lnTo>
                    <a:pt x="2797580" y="1034639"/>
                  </a:lnTo>
                  <a:lnTo>
                    <a:pt x="2838992" y="1017151"/>
                  </a:lnTo>
                  <a:lnTo>
                    <a:pt x="2874077" y="990026"/>
                  </a:lnTo>
                  <a:lnTo>
                    <a:pt x="2901184" y="954916"/>
                  </a:lnTo>
                  <a:lnTo>
                    <a:pt x="2918660" y="913477"/>
                  </a:lnTo>
                  <a:lnTo>
                    <a:pt x="2924853" y="867360"/>
                  </a:lnTo>
                  <a:lnTo>
                    <a:pt x="2924853" y="173476"/>
                  </a:lnTo>
                  <a:lnTo>
                    <a:pt x="2918660" y="127359"/>
                  </a:lnTo>
                  <a:lnTo>
                    <a:pt x="2901184" y="85919"/>
                  </a:lnTo>
                  <a:lnTo>
                    <a:pt x="2874077" y="50810"/>
                  </a:lnTo>
                  <a:lnTo>
                    <a:pt x="2838992" y="23684"/>
                  </a:lnTo>
                  <a:lnTo>
                    <a:pt x="2797580" y="6196"/>
                  </a:lnTo>
                  <a:lnTo>
                    <a:pt x="2751495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938082" y="3254621"/>
              <a:ext cx="2925445" cy="1041400"/>
            </a:xfrm>
            <a:custGeom>
              <a:avLst/>
              <a:gdLst/>
              <a:ahLst/>
              <a:cxnLst/>
              <a:rect l="l" t="t" r="r" b="b"/>
              <a:pathLst>
                <a:path w="2925445" h="1041400">
                  <a:moveTo>
                    <a:pt x="0" y="173475"/>
                  </a:moveTo>
                  <a:lnTo>
                    <a:pt x="6192" y="127359"/>
                  </a:lnTo>
                  <a:lnTo>
                    <a:pt x="23668" y="85919"/>
                  </a:lnTo>
                  <a:lnTo>
                    <a:pt x="50775" y="50809"/>
                  </a:lnTo>
                  <a:lnTo>
                    <a:pt x="85860" y="23684"/>
                  </a:lnTo>
                  <a:lnTo>
                    <a:pt x="127272" y="6196"/>
                  </a:lnTo>
                  <a:lnTo>
                    <a:pt x="173357" y="0"/>
                  </a:lnTo>
                  <a:lnTo>
                    <a:pt x="2751496" y="0"/>
                  </a:lnTo>
                  <a:lnTo>
                    <a:pt x="2797581" y="6196"/>
                  </a:lnTo>
                  <a:lnTo>
                    <a:pt x="2838993" y="23684"/>
                  </a:lnTo>
                  <a:lnTo>
                    <a:pt x="2874078" y="50809"/>
                  </a:lnTo>
                  <a:lnTo>
                    <a:pt x="2901185" y="85919"/>
                  </a:lnTo>
                  <a:lnTo>
                    <a:pt x="2918661" y="127359"/>
                  </a:lnTo>
                  <a:lnTo>
                    <a:pt x="2924853" y="173475"/>
                  </a:lnTo>
                  <a:lnTo>
                    <a:pt x="2924853" y="867359"/>
                  </a:lnTo>
                  <a:lnTo>
                    <a:pt x="2918661" y="913476"/>
                  </a:lnTo>
                  <a:lnTo>
                    <a:pt x="2901185" y="954916"/>
                  </a:lnTo>
                  <a:lnTo>
                    <a:pt x="2874078" y="990025"/>
                  </a:lnTo>
                  <a:lnTo>
                    <a:pt x="2838993" y="1017150"/>
                  </a:lnTo>
                  <a:lnTo>
                    <a:pt x="2797581" y="1034638"/>
                  </a:lnTo>
                  <a:lnTo>
                    <a:pt x="2751496" y="1040835"/>
                  </a:lnTo>
                  <a:lnTo>
                    <a:pt x="173357" y="1040835"/>
                  </a:lnTo>
                  <a:lnTo>
                    <a:pt x="127272" y="1034638"/>
                  </a:lnTo>
                  <a:lnTo>
                    <a:pt x="85860" y="1017150"/>
                  </a:lnTo>
                  <a:lnTo>
                    <a:pt x="50775" y="990025"/>
                  </a:lnTo>
                  <a:lnTo>
                    <a:pt x="23668" y="954916"/>
                  </a:lnTo>
                  <a:lnTo>
                    <a:pt x="6192" y="913476"/>
                  </a:lnTo>
                  <a:lnTo>
                    <a:pt x="0" y="867359"/>
                  </a:lnTo>
                  <a:lnTo>
                    <a:pt x="0" y="173475"/>
                  </a:lnTo>
                  <a:close/>
                </a:path>
              </a:pathLst>
            </a:custGeom>
            <a:ln w="32523">
              <a:solidFill>
                <a:srgbClr val="79BF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7080153" y="3525404"/>
            <a:ext cx="3359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latin typeface="Arial"/>
                <a:cs typeface="Arial"/>
              </a:rPr>
              <a:t>Use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92853" y="3755059"/>
            <a:ext cx="2097405" cy="241935"/>
          </a:xfrm>
          <a:prstGeom prst="rect">
            <a:avLst/>
          </a:prstGeom>
          <a:solidFill>
            <a:srgbClr val="EFEFEF"/>
          </a:solidFill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00" spc="-20" b="1">
                <a:latin typeface="Courier New"/>
                <a:cs typeface="Courier New"/>
              </a:rPr>
              <a:t>linkPrediction.train</a:t>
            </a:r>
            <a:endParaRPr sz="1400">
              <a:latin typeface="Courier New"/>
              <a:cs typeface="Courier New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3299118" y="3240986"/>
            <a:ext cx="3216275" cy="1068705"/>
            <a:chOff x="3299118" y="3240986"/>
            <a:chExt cx="3216275" cy="1068705"/>
          </a:xfrm>
        </p:grpSpPr>
        <p:sp>
          <p:nvSpPr>
            <p:cNvPr id="11" name="object 11" descr=""/>
            <p:cNvSpPr/>
            <p:nvPr/>
          </p:nvSpPr>
          <p:spPr>
            <a:xfrm>
              <a:off x="3315628" y="3257496"/>
              <a:ext cx="3183255" cy="1035685"/>
            </a:xfrm>
            <a:custGeom>
              <a:avLst/>
              <a:gdLst/>
              <a:ahLst/>
              <a:cxnLst/>
              <a:rect l="l" t="t" r="r" b="b"/>
              <a:pathLst>
                <a:path w="3183254" h="1035685">
                  <a:moveTo>
                    <a:pt x="3010390" y="0"/>
                  </a:moveTo>
                  <a:lnTo>
                    <a:pt x="172449" y="0"/>
                  </a:lnTo>
                  <a:lnTo>
                    <a:pt x="126605" y="6164"/>
                  </a:lnTo>
                  <a:lnTo>
                    <a:pt x="85410" y="23560"/>
                  </a:lnTo>
                  <a:lnTo>
                    <a:pt x="50509" y="50543"/>
                  </a:lnTo>
                  <a:lnTo>
                    <a:pt x="23544" y="85468"/>
                  </a:lnTo>
                  <a:lnTo>
                    <a:pt x="6160" y="126690"/>
                  </a:lnTo>
                  <a:lnTo>
                    <a:pt x="0" y="172565"/>
                  </a:lnTo>
                  <a:lnTo>
                    <a:pt x="0" y="862804"/>
                  </a:lnTo>
                  <a:lnTo>
                    <a:pt x="6160" y="908679"/>
                  </a:lnTo>
                  <a:lnTo>
                    <a:pt x="23544" y="949902"/>
                  </a:lnTo>
                  <a:lnTo>
                    <a:pt x="50509" y="984827"/>
                  </a:lnTo>
                  <a:lnTo>
                    <a:pt x="85410" y="1011810"/>
                  </a:lnTo>
                  <a:lnTo>
                    <a:pt x="126605" y="1029207"/>
                  </a:lnTo>
                  <a:lnTo>
                    <a:pt x="172449" y="1035371"/>
                  </a:lnTo>
                  <a:lnTo>
                    <a:pt x="3010390" y="1035371"/>
                  </a:lnTo>
                  <a:lnTo>
                    <a:pt x="3056233" y="1029207"/>
                  </a:lnTo>
                  <a:lnTo>
                    <a:pt x="3097427" y="1011810"/>
                  </a:lnTo>
                  <a:lnTo>
                    <a:pt x="3132329" y="984827"/>
                  </a:lnTo>
                  <a:lnTo>
                    <a:pt x="3159294" y="949902"/>
                  </a:lnTo>
                  <a:lnTo>
                    <a:pt x="3176678" y="908679"/>
                  </a:lnTo>
                  <a:lnTo>
                    <a:pt x="3182838" y="862804"/>
                  </a:lnTo>
                  <a:lnTo>
                    <a:pt x="3182838" y="172565"/>
                  </a:lnTo>
                  <a:lnTo>
                    <a:pt x="3176678" y="126690"/>
                  </a:lnTo>
                  <a:lnTo>
                    <a:pt x="3159294" y="85468"/>
                  </a:lnTo>
                  <a:lnTo>
                    <a:pt x="3132329" y="50543"/>
                  </a:lnTo>
                  <a:lnTo>
                    <a:pt x="3097427" y="23560"/>
                  </a:lnTo>
                  <a:lnTo>
                    <a:pt x="3056233" y="6164"/>
                  </a:lnTo>
                  <a:lnTo>
                    <a:pt x="3010390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315628" y="3257496"/>
              <a:ext cx="3183255" cy="1035685"/>
            </a:xfrm>
            <a:custGeom>
              <a:avLst/>
              <a:gdLst/>
              <a:ahLst/>
              <a:cxnLst/>
              <a:rect l="l" t="t" r="r" b="b"/>
              <a:pathLst>
                <a:path w="3183254" h="1035685">
                  <a:moveTo>
                    <a:pt x="0" y="172566"/>
                  </a:moveTo>
                  <a:lnTo>
                    <a:pt x="6160" y="126691"/>
                  </a:lnTo>
                  <a:lnTo>
                    <a:pt x="23544" y="85468"/>
                  </a:lnTo>
                  <a:lnTo>
                    <a:pt x="50509" y="50543"/>
                  </a:lnTo>
                  <a:lnTo>
                    <a:pt x="85410" y="23560"/>
                  </a:lnTo>
                  <a:lnTo>
                    <a:pt x="126605" y="6164"/>
                  </a:lnTo>
                  <a:lnTo>
                    <a:pt x="172448" y="0"/>
                  </a:lnTo>
                  <a:lnTo>
                    <a:pt x="3010389" y="0"/>
                  </a:lnTo>
                  <a:lnTo>
                    <a:pt x="3056233" y="6164"/>
                  </a:lnTo>
                  <a:lnTo>
                    <a:pt x="3097428" y="23560"/>
                  </a:lnTo>
                  <a:lnTo>
                    <a:pt x="3132329" y="50543"/>
                  </a:lnTo>
                  <a:lnTo>
                    <a:pt x="3159294" y="85468"/>
                  </a:lnTo>
                  <a:lnTo>
                    <a:pt x="3176678" y="126691"/>
                  </a:lnTo>
                  <a:lnTo>
                    <a:pt x="3182838" y="172566"/>
                  </a:lnTo>
                  <a:lnTo>
                    <a:pt x="3182838" y="862805"/>
                  </a:lnTo>
                  <a:lnTo>
                    <a:pt x="3176678" y="908680"/>
                  </a:lnTo>
                  <a:lnTo>
                    <a:pt x="3159294" y="949903"/>
                  </a:lnTo>
                  <a:lnTo>
                    <a:pt x="3132329" y="984828"/>
                  </a:lnTo>
                  <a:lnTo>
                    <a:pt x="3097428" y="1011811"/>
                  </a:lnTo>
                  <a:lnTo>
                    <a:pt x="3056233" y="1029207"/>
                  </a:lnTo>
                  <a:lnTo>
                    <a:pt x="3010389" y="1035371"/>
                  </a:lnTo>
                  <a:lnTo>
                    <a:pt x="172448" y="1035371"/>
                  </a:lnTo>
                  <a:lnTo>
                    <a:pt x="126605" y="1029207"/>
                  </a:lnTo>
                  <a:lnTo>
                    <a:pt x="85410" y="1011811"/>
                  </a:lnTo>
                  <a:lnTo>
                    <a:pt x="50509" y="984828"/>
                  </a:lnTo>
                  <a:lnTo>
                    <a:pt x="23544" y="949903"/>
                  </a:lnTo>
                  <a:lnTo>
                    <a:pt x="6160" y="908680"/>
                  </a:lnTo>
                  <a:lnTo>
                    <a:pt x="0" y="862805"/>
                  </a:lnTo>
                  <a:lnTo>
                    <a:pt x="0" y="172566"/>
                  </a:lnTo>
                  <a:close/>
                </a:path>
              </a:pathLst>
            </a:custGeom>
            <a:ln w="32524">
              <a:solidFill>
                <a:srgbClr val="79BFF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457432" y="3525404"/>
            <a:ext cx="24396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Arial"/>
                <a:cs typeface="Arial"/>
              </a:rPr>
              <a:t>Split</a:t>
            </a:r>
            <a:r>
              <a:rPr dirty="0" sz="1400" spc="-5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your</a:t>
            </a:r>
            <a:r>
              <a:rPr dirty="0" sz="1400" spc="-5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graph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into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train</a:t>
            </a:r>
            <a:r>
              <a:rPr dirty="0" sz="1400" spc="-7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&amp;</a:t>
            </a:r>
            <a:r>
              <a:rPr dirty="0" sz="1400" spc="-65">
                <a:latin typeface="Arial"/>
                <a:cs typeface="Arial"/>
              </a:rPr>
              <a:t> </a:t>
            </a:r>
            <a:r>
              <a:rPr dirty="0" sz="1400" spc="-20">
                <a:latin typeface="Arial"/>
                <a:cs typeface="Arial"/>
              </a:rPr>
              <a:t>test</a:t>
            </a:r>
            <a:endParaRPr sz="14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470132" y="3755202"/>
            <a:ext cx="2621915" cy="241935"/>
          </a:xfrm>
          <a:prstGeom prst="rect">
            <a:avLst/>
          </a:prstGeom>
          <a:solidFill>
            <a:srgbClr val="EFEFEF"/>
          </a:solidFill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dirty="0" sz="1400" spc="-20" b="1">
                <a:latin typeface="Courier New"/>
                <a:cs typeface="Courier New"/>
              </a:rPr>
              <a:t>splitRelationships.mutate</a:t>
            </a:r>
            <a:endParaRPr sz="1400">
              <a:latin typeface="Courier New"/>
              <a:cs typeface="Courier New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188" y="3636777"/>
            <a:ext cx="313944" cy="313944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2529713" y="2188983"/>
            <a:ext cx="7299325" cy="64706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1900" b="1">
                <a:latin typeface="Arial"/>
                <a:cs typeface="Arial"/>
              </a:rPr>
              <a:t>Link</a:t>
            </a:r>
            <a:r>
              <a:rPr dirty="0" sz="1900" spc="50" b="1">
                <a:latin typeface="Arial"/>
                <a:cs typeface="Arial"/>
              </a:rPr>
              <a:t> </a:t>
            </a:r>
            <a:r>
              <a:rPr dirty="0" sz="1900" spc="-10" b="1">
                <a:latin typeface="Arial"/>
                <a:cs typeface="Arial"/>
              </a:rPr>
              <a:t>Prediction</a:t>
            </a:r>
            <a:r>
              <a:rPr dirty="0" sz="1900" spc="-10">
                <a:latin typeface="Arial"/>
                <a:cs typeface="Arial"/>
              </a:rPr>
              <a:t>:</a:t>
            </a:r>
            <a:endParaRPr sz="1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dirty="0" sz="1800">
                <a:latin typeface="Arial"/>
                <a:cs typeface="Arial"/>
              </a:rPr>
              <a:t>Predicting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unobserved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edges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or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relationships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that</a:t>
            </a:r>
            <a:r>
              <a:rPr dirty="0" sz="1800" spc="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will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form</a:t>
            </a:r>
            <a:r>
              <a:rPr dirty="0" sz="1800" spc="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future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747921" y="4627747"/>
            <a:ext cx="6520180" cy="1550670"/>
          </a:xfrm>
          <a:custGeom>
            <a:avLst/>
            <a:gdLst/>
            <a:ahLst/>
            <a:cxnLst/>
            <a:rect l="l" t="t" r="r" b="b"/>
            <a:pathLst>
              <a:path w="6520180" h="1550670">
                <a:moveTo>
                  <a:pt x="6372539" y="0"/>
                </a:moveTo>
                <a:lnTo>
                  <a:pt x="147382" y="0"/>
                </a:lnTo>
                <a:lnTo>
                  <a:pt x="100798" y="7518"/>
                </a:lnTo>
                <a:lnTo>
                  <a:pt x="60340" y="28455"/>
                </a:lnTo>
                <a:lnTo>
                  <a:pt x="28436" y="60381"/>
                </a:lnTo>
                <a:lnTo>
                  <a:pt x="7513" y="100866"/>
                </a:lnTo>
                <a:lnTo>
                  <a:pt x="0" y="147482"/>
                </a:lnTo>
                <a:lnTo>
                  <a:pt x="0" y="1402841"/>
                </a:lnTo>
                <a:lnTo>
                  <a:pt x="7513" y="1449458"/>
                </a:lnTo>
                <a:lnTo>
                  <a:pt x="28436" y="1489943"/>
                </a:lnTo>
                <a:lnTo>
                  <a:pt x="60340" y="1521869"/>
                </a:lnTo>
                <a:lnTo>
                  <a:pt x="100798" y="1542806"/>
                </a:lnTo>
                <a:lnTo>
                  <a:pt x="147382" y="1550325"/>
                </a:lnTo>
                <a:lnTo>
                  <a:pt x="6372539" y="1550325"/>
                </a:lnTo>
                <a:lnTo>
                  <a:pt x="6419123" y="1542806"/>
                </a:lnTo>
                <a:lnTo>
                  <a:pt x="6459581" y="1521869"/>
                </a:lnTo>
                <a:lnTo>
                  <a:pt x="6491485" y="1489943"/>
                </a:lnTo>
                <a:lnTo>
                  <a:pt x="6512408" y="1449458"/>
                </a:lnTo>
                <a:lnTo>
                  <a:pt x="6519921" y="1402841"/>
                </a:lnTo>
                <a:lnTo>
                  <a:pt x="6519921" y="147482"/>
                </a:lnTo>
                <a:lnTo>
                  <a:pt x="6512408" y="100866"/>
                </a:lnTo>
                <a:lnTo>
                  <a:pt x="6491485" y="60381"/>
                </a:lnTo>
                <a:lnTo>
                  <a:pt x="6459581" y="28455"/>
                </a:lnTo>
                <a:lnTo>
                  <a:pt x="6419123" y="7518"/>
                </a:lnTo>
                <a:lnTo>
                  <a:pt x="6372539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882384" y="4792339"/>
            <a:ext cx="330898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Neo4j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Automates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Tricky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Parts: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55739" y="5119653"/>
            <a:ext cx="50634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9410" marR="5080" indent="-346710">
              <a:lnSpc>
                <a:spcPct val="107100"/>
              </a:lnSpc>
              <a:spcBef>
                <a:spcPts val="100"/>
              </a:spcBef>
              <a:buAutoNum type="arabicPeriod"/>
              <a:tabLst>
                <a:tab pos="359410" algn="l"/>
              </a:tabLst>
            </a:pP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Builds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logistic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regression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training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specified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parameters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predict</a:t>
            </a:r>
            <a:r>
              <a:rPr dirty="0" sz="14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correct</a:t>
            </a:r>
            <a:r>
              <a:rPr dirty="0" sz="14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label</a:t>
            </a:r>
            <a:endParaRPr sz="1400">
              <a:latin typeface="Arial"/>
              <a:cs typeface="Arial"/>
            </a:endParaRPr>
          </a:p>
          <a:p>
            <a:pPr marL="358775" indent="-34607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358775" algn="l"/>
              </a:tabLst>
            </a:pP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Evaluates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accuracy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1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 b="1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test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400">
              <a:latin typeface="Arial"/>
              <a:cs typeface="Arial"/>
            </a:endParaRPr>
          </a:p>
          <a:p>
            <a:pPr marL="358775" indent="-346075">
              <a:lnSpc>
                <a:spcPct val="100000"/>
              </a:lnSpc>
              <a:spcBef>
                <a:spcPts val="120"/>
              </a:spcBef>
              <a:buAutoNum type="arabicPeriod"/>
              <a:tabLst>
                <a:tab pos="358775" algn="l"/>
              </a:tabLst>
            </a:pP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Returns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best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 b="1">
                <a:solidFill>
                  <a:srgbClr val="FFFFFF"/>
                </a:solidFill>
                <a:latin typeface="Arial"/>
                <a:cs typeface="Arial"/>
              </a:rPr>
              <a:t>performing</a:t>
            </a:r>
            <a:r>
              <a:rPr dirty="0" sz="14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0" b="1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91147" y="4657857"/>
            <a:ext cx="789431" cy="792480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7477883" y="4627747"/>
            <a:ext cx="2385060" cy="1550670"/>
          </a:xfrm>
          <a:custGeom>
            <a:avLst/>
            <a:gdLst/>
            <a:ahLst/>
            <a:cxnLst/>
            <a:rect l="l" t="t" r="r" b="b"/>
            <a:pathLst>
              <a:path w="2385059" h="1550670">
                <a:moveTo>
                  <a:pt x="2227435" y="0"/>
                </a:moveTo>
                <a:lnTo>
                  <a:pt x="157560" y="0"/>
                </a:lnTo>
                <a:lnTo>
                  <a:pt x="107758" y="8037"/>
                </a:lnTo>
                <a:lnTo>
                  <a:pt x="64506" y="30420"/>
                </a:lnTo>
                <a:lnTo>
                  <a:pt x="30399" y="64550"/>
                </a:lnTo>
                <a:lnTo>
                  <a:pt x="8032" y="107831"/>
                </a:lnTo>
                <a:lnTo>
                  <a:pt x="0" y="157666"/>
                </a:lnTo>
                <a:lnTo>
                  <a:pt x="0" y="1392659"/>
                </a:lnTo>
                <a:lnTo>
                  <a:pt x="8032" y="1442493"/>
                </a:lnTo>
                <a:lnTo>
                  <a:pt x="30399" y="1485774"/>
                </a:lnTo>
                <a:lnTo>
                  <a:pt x="64506" y="1519905"/>
                </a:lnTo>
                <a:lnTo>
                  <a:pt x="107758" y="1542287"/>
                </a:lnTo>
                <a:lnTo>
                  <a:pt x="157560" y="1550325"/>
                </a:lnTo>
                <a:lnTo>
                  <a:pt x="2227435" y="1550325"/>
                </a:lnTo>
                <a:lnTo>
                  <a:pt x="2277236" y="1542287"/>
                </a:lnTo>
                <a:lnTo>
                  <a:pt x="2320488" y="1519905"/>
                </a:lnTo>
                <a:lnTo>
                  <a:pt x="2354595" y="1485774"/>
                </a:lnTo>
                <a:lnTo>
                  <a:pt x="2376962" y="1442493"/>
                </a:lnTo>
                <a:lnTo>
                  <a:pt x="2384995" y="1392659"/>
                </a:lnTo>
                <a:lnTo>
                  <a:pt x="2384995" y="157666"/>
                </a:lnTo>
                <a:lnTo>
                  <a:pt x="2376962" y="107831"/>
                </a:lnTo>
                <a:lnTo>
                  <a:pt x="2354595" y="64550"/>
                </a:lnTo>
                <a:lnTo>
                  <a:pt x="2320488" y="30420"/>
                </a:lnTo>
                <a:lnTo>
                  <a:pt x="2277236" y="8037"/>
                </a:lnTo>
                <a:lnTo>
                  <a:pt x="2227435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7615327" y="4817240"/>
            <a:ext cx="1910714" cy="115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predictive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model appears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500" spc="-3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Arial"/>
                <a:cs typeface="Arial"/>
              </a:rPr>
              <a:t>model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catalog,</a:t>
            </a:r>
            <a:r>
              <a:rPr dirty="0" sz="150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ready</a:t>
            </a:r>
            <a:endParaRPr sz="1500">
              <a:latin typeface="Arial"/>
              <a:cs typeface="Arial"/>
            </a:endParaRPr>
          </a:p>
          <a:p>
            <a:pPr algn="just" marL="12700" marR="934085">
              <a:lnSpc>
                <a:spcPts val="1700"/>
              </a:lnSpc>
              <a:spcBef>
                <a:spcPts val="140"/>
              </a:spcBef>
            </a:pP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5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500" b="1">
                <a:solidFill>
                  <a:srgbClr val="FFFFFF"/>
                </a:solidFill>
                <a:latin typeface="Arial"/>
                <a:cs typeface="Arial"/>
              </a:rPr>
              <a:t>new</a:t>
            </a:r>
            <a:r>
              <a:rPr dirty="0" sz="15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25259" y="3618489"/>
            <a:ext cx="316992" cy="313943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12556" y="4346961"/>
            <a:ext cx="316992" cy="313944"/>
          </a:xfrm>
          <a:prstGeom prst="rect">
            <a:avLst/>
          </a:prstGeom>
        </p:spPr>
      </p:pic>
      <p:grpSp>
        <p:nvGrpSpPr>
          <p:cNvPr id="25" name="object 25" descr=""/>
          <p:cNvGrpSpPr/>
          <p:nvPr/>
        </p:nvGrpSpPr>
        <p:grpSpPr>
          <a:xfrm>
            <a:off x="930633" y="2110490"/>
            <a:ext cx="1376680" cy="1043940"/>
            <a:chOff x="930633" y="2110490"/>
            <a:chExt cx="1376680" cy="1043940"/>
          </a:xfrm>
        </p:grpSpPr>
        <p:sp>
          <p:nvSpPr>
            <p:cNvPr id="26" name="object 26" descr=""/>
            <p:cNvSpPr/>
            <p:nvPr/>
          </p:nvSpPr>
          <p:spPr>
            <a:xfrm>
              <a:off x="1281524" y="2503530"/>
              <a:ext cx="257175" cy="171450"/>
            </a:xfrm>
            <a:custGeom>
              <a:avLst/>
              <a:gdLst/>
              <a:ahLst/>
              <a:cxnLst/>
              <a:rect l="l" t="t" r="r" b="b"/>
              <a:pathLst>
                <a:path w="257175" h="171450">
                  <a:moveTo>
                    <a:pt x="0" y="0"/>
                  </a:moveTo>
                  <a:lnTo>
                    <a:pt x="256996" y="171389"/>
                  </a:lnTo>
                </a:path>
              </a:pathLst>
            </a:custGeom>
            <a:ln w="21679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993370" y="2736352"/>
              <a:ext cx="407670" cy="106045"/>
            </a:xfrm>
            <a:custGeom>
              <a:avLst/>
              <a:gdLst/>
              <a:ahLst/>
              <a:cxnLst/>
              <a:rect l="l" t="t" r="r" b="b"/>
              <a:pathLst>
                <a:path w="407669" h="106044">
                  <a:moveTo>
                    <a:pt x="0" y="0"/>
                  </a:moveTo>
                  <a:lnTo>
                    <a:pt x="407607" y="105772"/>
                  </a:lnTo>
                </a:path>
              </a:pathLst>
            </a:custGeom>
            <a:ln w="21683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2047645" y="2533657"/>
              <a:ext cx="221615" cy="224790"/>
            </a:xfrm>
            <a:custGeom>
              <a:avLst/>
              <a:gdLst/>
              <a:ahLst/>
              <a:cxnLst/>
              <a:rect l="l" t="t" r="r" b="b"/>
              <a:pathLst>
                <a:path w="221614" h="224789">
                  <a:moveTo>
                    <a:pt x="221011" y="0"/>
                  </a:moveTo>
                  <a:lnTo>
                    <a:pt x="0" y="224437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036793" y="2746150"/>
              <a:ext cx="180340" cy="125095"/>
            </a:xfrm>
            <a:custGeom>
              <a:avLst/>
              <a:gdLst/>
              <a:ahLst/>
              <a:cxnLst/>
              <a:rect l="l" t="t" r="r" b="b"/>
              <a:pathLst>
                <a:path w="180339" h="125094">
                  <a:moveTo>
                    <a:pt x="180083" y="124778"/>
                  </a:moveTo>
                  <a:lnTo>
                    <a:pt x="0" y="0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347776" y="2206877"/>
              <a:ext cx="118745" cy="307975"/>
            </a:xfrm>
            <a:custGeom>
              <a:avLst/>
              <a:gdLst/>
              <a:ahLst/>
              <a:cxnLst/>
              <a:rect l="l" t="t" r="r" b="b"/>
              <a:pathLst>
                <a:path w="118744" h="307975">
                  <a:moveTo>
                    <a:pt x="118691" y="0"/>
                  </a:moveTo>
                  <a:lnTo>
                    <a:pt x="0" y="307441"/>
                  </a:lnTo>
                </a:path>
              </a:pathLst>
            </a:custGeom>
            <a:ln w="21671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360300" y="2339615"/>
              <a:ext cx="353695" cy="151765"/>
            </a:xfrm>
            <a:custGeom>
              <a:avLst/>
              <a:gdLst/>
              <a:ahLst/>
              <a:cxnLst/>
              <a:rect l="l" t="t" r="r" b="b"/>
              <a:pathLst>
                <a:path w="353694" h="151764">
                  <a:moveTo>
                    <a:pt x="353618" y="0"/>
                  </a:moveTo>
                  <a:lnTo>
                    <a:pt x="0" y="151536"/>
                  </a:lnTo>
                </a:path>
              </a:pathLst>
            </a:custGeom>
            <a:ln w="2168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1984060" y="2745960"/>
              <a:ext cx="57785" cy="320040"/>
            </a:xfrm>
            <a:custGeom>
              <a:avLst/>
              <a:gdLst/>
              <a:ahLst/>
              <a:cxnLst/>
              <a:rect l="l" t="t" r="r" b="b"/>
              <a:pathLst>
                <a:path w="57785" h="320039">
                  <a:moveTo>
                    <a:pt x="0" y="320001"/>
                  </a:moveTo>
                  <a:lnTo>
                    <a:pt x="57299" y="0"/>
                  </a:lnTo>
                </a:path>
              </a:pathLst>
            </a:custGeom>
            <a:ln w="2166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21796" y="2624461"/>
              <a:ext cx="186690" cy="136525"/>
            </a:xfrm>
            <a:custGeom>
              <a:avLst/>
              <a:gdLst/>
              <a:ahLst/>
              <a:cxnLst/>
              <a:rect l="l" t="t" r="r" b="b"/>
              <a:pathLst>
                <a:path w="186690" h="136525">
                  <a:moveTo>
                    <a:pt x="186085" y="0"/>
                  </a:moveTo>
                  <a:lnTo>
                    <a:pt x="0" y="136246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178308" y="2594888"/>
              <a:ext cx="184785" cy="276225"/>
            </a:xfrm>
            <a:custGeom>
              <a:avLst/>
              <a:gdLst/>
              <a:ahLst/>
              <a:cxnLst/>
              <a:rect l="l" t="t" r="r" b="b"/>
              <a:pathLst>
                <a:path w="184784" h="276225">
                  <a:moveTo>
                    <a:pt x="184722" y="276042"/>
                  </a:moveTo>
                  <a:lnTo>
                    <a:pt x="0" y="0"/>
                  </a:lnTo>
                </a:path>
              </a:pathLst>
            </a:custGeom>
            <a:ln w="216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1291485" y="2621276"/>
              <a:ext cx="375285" cy="245110"/>
            </a:xfrm>
            <a:custGeom>
              <a:avLst/>
              <a:gdLst/>
              <a:ahLst/>
              <a:cxnLst/>
              <a:rect l="l" t="t" r="r" b="b"/>
              <a:pathLst>
                <a:path w="375285" h="245110">
                  <a:moveTo>
                    <a:pt x="374900" y="0"/>
                  </a:moveTo>
                  <a:lnTo>
                    <a:pt x="0" y="244916"/>
                  </a:lnTo>
                </a:path>
              </a:pathLst>
            </a:custGeom>
            <a:ln w="2167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535040" y="2665001"/>
              <a:ext cx="581660" cy="83820"/>
            </a:xfrm>
            <a:custGeom>
              <a:avLst/>
              <a:gdLst/>
              <a:ahLst/>
              <a:cxnLst/>
              <a:rect l="l" t="t" r="r" b="b"/>
              <a:pathLst>
                <a:path w="581660" h="83819">
                  <a:moveTo>
                    <a:pt x="581178" y="83550"/>
                  </a:moveTo>
                  <a:lnTo>
                    <a:pt x="0" y="0"/>
                  </a:lnTo>
                </a:path>
              </a:pathLst>
            </a:custGeom>
            <a:ln w="2168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563144" y="2409888"/>
              <a:ext cx="438150" cy="323215"/>
            </a:xfrm>
            <a:custGeom>
              <a:avLst/>
              <a:gdLst/>
              <a:ahLst/>
              <a:cxnLst/>
              <a:rect l="l" t="t" r="r" b="b"/>
              <a:pathLst>
                <a:path w="438150" h="323214">
                  <a:moveTo>
                    <a:pt x="437657" y="0"/>
                  </a:moveTo>
                  <a:lnTo>
                    <a:pt x="0" y="322731"/>
                  </a:lnTo>
                </a:path>
              </a:pathLst>
            </a:custGeom>
            <a:ln w="2167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1588668" y="2299194"/>
              <a:ext cx="166370" cy="410209"/>
            </a:xfrm>
            <a:custGeom>
              <a:avLst/>
              <a:gdLst/>
              <a:ahLst/>
              <a:cxnLst/>
              <a:rect l="l" t="t" r="r" b="b"/>
              <a:pathLst>
                <a:path w="166369" h="410210">
                  <a:moveTo>
                    <a:pt x="166168" y="0"/>
                  </a:moveTo>
                  <a:lnTo>
                    <a:pt x="0" y="410104"/>
                  </a:lnTo>
                </a:path>
              </a:pathLst>
            </a:custGeom>
            <a:ln w="2167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0617" y="2756475"/>
              <a:ext cx="171201" cy="171302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2052078" y="2218057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2"/>
                  </a:lnTo>
                  <a:lnTo>
                    <a:pt x="45661" y="143745"/>
                  </a:lnTo>
                  <a:lnTo>
                    <a:pt x="74762" y="149625"/>
                  </a:lnTo>
                  <a:lnTo>
                    <a:pt x="103863" y="143745"/>
                  </a:lnTo>
                  <a:lnTo>
                    <a:pt x="127627" y="127712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7" y="21912"/>
                  </a:lnTo>
                  <a:lnTo>
                    <a:pt x="103863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2052078" y="2218057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1873175" y="238797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4"/>
                  </a:lnTo>
                  <a:lnTo>
                    <a:pt x="45661" y="143747"/>
                  </a:lnTo>
                  <a:lnTo>
                    <a:pt x="74762" y="149626"/>
                  </a:lnTo>
                  <a:lnTo>
                    <a:pt x="103862" y="143747"/>
                  </a:lnTo>
                  <a:lnTo>
                    <a:pt x="127626" y="127714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6" y="21912"/>
                  </a:lnTo>
                  <a:lnTo>
                    <a:pt x="103862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1873175" y="238797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2146406" y="280544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4"/>
                  </a:lnTo>
                  <a:lnTo>
                    <a:pt x="45661" y="143747"/>
                  </a:lnTo>
                  <a:lnTo>
                    <a:pt x="74762" y="149626"/>
                  </a:lnTo>
                  <a:lnTo>
                    <a:pt x="103863" y="143747"/>
                  </a:lnTo>
                  <a:lnTo>
                    <a:pt x="127627" y="127714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7" y="21912"/>
                  </a:lnTo>
                  <a:lnTo>
                    <a:pt x="103863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2146406" y="280544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141030" y="2511745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4"/>
                  </a:lnTo>
                  <a:lnTo>
                    <a:pt x="45661" y="143747"/>
                  </a:lnTo>
                  <a:lnTo>
                    <a:pt x="74762" y="149626"/>
                  </a:lnTo>
                  <a:lnTo>
                    <a:pt x="103863" y="143747"/>
                  </a:lnTo>
                  <a:lnTo>
                    <a:pt x="127627" y="127714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7" y="21912"/>
                  </a:lnTo>
                  <a:lnTo>
                    <a:pt x="103863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141030" y="2511745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1400092" y="212132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3"/>
                  </a:lnTo>
                  <a:lnTo>
                    <a:pt x="45661" y="143746"/>
                  </a:lnTo>
                  <a:lnTo>
                    <a:pt x="74762" y="149625"/>
                  </a:lnTo>
                  <a:lnTo>
                    <a:pt x="103862" y="143746"/>
                  </a:lnTo>
                  <a:lnTo>
                    <a:pt x="127626" y="127713"/>
                  </a:lnTo>
                  <a:lnTo>
                    <a:pt x="143648" y="103933"/>
                  </a:lnTo>
                  <a:lnTo>
                    <a:pt x="149523" y="74813"/>
                  </a:lnTo>
                  <a:lnTo>
                    <a:pt x="143648" y="45692"/>
                  </a:lnTo>
                  <a:lnTo>
                    <a:pt x="127626" y="21912"/>
                  </a:lnTo>
                  <a:lnTo>
                    <a:pt x="103862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400092" y="212132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1281524" y="242871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1"/>
                  </a:lnTo>
                  <a:lnTo>
                    <a:pt x="0" y="74811"/>
                  </a:lnTo>
                  <a:lnTo>
                    <a:pt x="5875" y="103932"/>
                  </a:lnTo>
                  <a:lnTo>
                    <a:pt x="21897" y="127712"/>
                  </a:lnTo>
                  <a:lnTo>
                    <a:pt x="45661" y="143745"/>
                  </a:lnTo>
                  <a:lnTo>
                    <a:pt x="74762" y="149625"/>
                  </a:lnTo>
                  <a:lnTo>
                    <a:pt x="103862" y="143745"/>
                  </a:lnTo>
                  <a:lnTo>
                    <a:pt x="127626" y="127712"/>
                  </a:lnTo>
                  <a:lnTo>
                    <a:pt x="143648" y="103932"/>
                  </a:lnTo>
                  <a:lnTo>
                    <a:pt x="149523" y="74811"/>
                  </a:lnTo>
                  <a:lnTo>
                    <a:pt x="143648" y="45691"/>
                  </a:lnTo>
                  <a:lnTo>
                    <a:pt x="127626" y="21912"/>
                  </a:lnTo>
                  <a:lnTo>
                    <a:pt x="103862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1281524" y="242871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1635236" y="227728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3"/>
                  </a:lnTo>
                  <a:lnTo>
                    <a:pt x="45661" y="143746"/>
                  </a:lnTo>
                  <a:lnTo>
                    <a:pt x="74762" y="149625"/>
                  </a:lnTo>
                  <a:lnTo>
                    <a:pt x="103863" y="143746"/>
                  </a:lnTo>
                  <a:lnTo>
                    <a:pt x="127627" y="127713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7" y="21912"/>
                  </a:lnTo>
                  <a:lnTo>
                    <a:pt x="103863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635236" y="2277284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966694" y="267373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4"/>
                  </a:lnTo>
                  <a:lnTo>
                    <a:pt x="45661" y="143747"/>
                  </a:lnTo>
                  <a:lnTo>
                    <a:pt x="74762" y="149626"/>
                  </a:lnTo>
                  <a:lnTo>
                    <a:pt x="103863" y="143747"/>
                  </a:lnTo>
                  <a:lnTo>
                    <a:pt x="127627" y="127714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7" y="21912"/>
                  </a:lnTo>
                  <a:lnTo>
                    <a:pt x="103863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1966694" y="267373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909300" y="2993680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61" y="0"/>
                  </a:moveTo>
                  <a:lnTo>
                    <a:pt x="45660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4"/>
                  </a:lnTo>
                  <a:lnTo>
                    <a:pt x="45660" y="143747"/>
                  </a:lnTo>
                  <a:lnTo>
                    <a:pt x="74761" y="149626"/>
                  </a:lnTo>
                  <a:lnTo>
                    <a:pt x="103862" y="143747"/>
                  </a:lnTo>
                  <a:lnTo>
                    <a:pt x="127626" y="127714"/>
                  </a:lnTo>
                  <a:lnTo>
                    <a:pt x="143648" y="103933"/>
                  </a:lnTo>
                  <a:lnTo>
                    <a:pt x="149523" y="74813"/>
                  </a:lnTo>
                  <a:lnTo>
                    <a:pt x="143648" y="45692"/>
                  </a:lnTo>
                  <a:lnTo>
                    <a:pt x="127626" y="21912"/>
                  </a:lnTo>
                  <a:lnTo>
                    <a:pt x="103862" y="5879"/>
                  </a:lnTo>
                  <a:lnTo>
                    <a:pt x="74761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909300" y="2993680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527801" y="2248956"/>
              <a:ext cx="129539" cy="50800"/>
            </a:xfrm>
            <a:custGeom>
              <a:avLst/>
              <a:gdLst/>
              <a:ahLst/>
              <a:cxnLst/>
              <a:rect l="l" t="t" r="r" b="b"/>
              <a:pathLst>
                <a:path w="129539" h="50800">
                  <a:moveTo>
                    <a:pt x="129332" y="50238"/>
                  </a:moveTo>
                  <a:lnTo>
                    <a:pt x="0" y="0"/>
                  </a:lnTo>
                </a:path>
              </a:pathLst>
            </a:custGeom>
            <a:ln w="2168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2000851" y="2345771"/>
              <a:ext cx="73660" cy="64769"/>
            </a:xfrm>
            <a:custGeom>
              <a:avLst/>
              <a:gdLst/>
              <a:ahLst/>
              <a:cxnLst/>
              <a:rect l="l" t="t" r="r" b="b"/>
              <a:pathLst>
                <a:path w="73660" h="64769">
                  <a:moveTo>
                    <a:pt x="73125" y="0"/>
                  </a:moveTo>
                  <a:lnTo>
                    <a:pt x="0" y="64164"/>
                  </a:lnTo>
                </a:path>
              </a:pathLst>
            </a:custGeom>
            <a:ln w="216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037062" y="2933156"/>
              <a:ext cx="131445" cy="82550"/>
            </a:xfrm>
            <a:custGeom>
              <a:avLst/>
              <a:gdLst/>
              <a:ahLst/>
              <a:cxnLst/>
              <a:rect l="l" t="t" r="r" b="b"/>
              <a:pathLst>
                <a:path w="131444" h="82550">
                  <a:moveTo>
                    <a:pt x="131242" y="0"/>
                  </a:moveTo>
                  <a:lnTo>
                    <a:pt x="0" y="82457"/>
                  </a:lnTo>
                </a:path>
              </a:pathLst>
            </a:custGeom>
            <a:ln w="21679">
              <a:solidFill>
                <a:srgbClr val="98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127675" y="2554841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2"/>
                  </a:lnTo>
                  <a:lnTo>
                    <a:pt x="45661" y="143745"/>
                  </a:lnTo>
                  <a:lnTo>
                    <a:pt x="74762" y="149625"/>
                  </a:lnTo>
                  <a:lnTo>
                    <a:pt x="103862" y="143745"/>
                  </a:lnTo>
                  <a:lnTo>
                    <a:pt x="127626" y="127712"/>
                  </a:lnTo>
                  <a:lnTo>
                    <a:pt x="143648" y="103933"/>
                  </a:lnTo>
                  <a:lnTo>
                    <a:pt x="149524" y="74813"/>
                  </a:lnTo>
                  <a:lnTo>
                    <a:pt x="143648" y="45692"/>
                  </a:lnTo>
                  <a:lnTo>
                    <a:pt x="127626" y="21912"/>
                  </a:lnTo>
                  <a:lnTo>
                    <a:pt x="103862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127675" y="2554841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941471" y="269106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3"/>
                  </a:lnTo>
                  <a:lnTo>
                    <a:pt x="45661" y="143746"/>
                  </a:lnTo>
                  <a:lnTo>
                    <a:pt x="74762" y="149625"/>
                  </a:lnTo>
                  <a:lnTo>
                    <a:pt x="103862" y="143746"/>
                  </a:lnTo>
                  <a:lnTo>
                    <a:pt x="127627" y="127713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7" y="21912"/>
                  </a:lnTo>
                  <a:lnTo>
                    <a:pt x="103862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941471" y="2691063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149406" y="212132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3"/>
                  </a:lnTo>
                  <a:lnTo>
                    <a:pt x="45661" y="143746"/>
                  </a:lnTo>
                  <a:lnTo>
                    <a:pt x="74762" y="149625"/>
                  </a:lnTo>
                  <a:lnTo>
                    <a:pt x="103863" y="143746"/>
                  </a:lnTo>
                  <a:lnTo>
                    <a:pt x="127626" y="127713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6" y="21912"/>
                  </a:lnTo>
                  <a:lnTo>
                    <a:pt x="103863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B7B7B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149406" y="2121329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963251" y="2314897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74762" y="0"/>
                  </a:moveTo>
                  <a:lnTo>
                    <a:pt x="45661" y="5879"/>
                  </a:lnTo>
                  <a:lnTo>
                    <a:pt x="21897" y="21912"/>
                  </a:lnTo>
                  <a:lnTo>
                    <a:pt x="5875" y="45692"/>
                  </a:lnTo>
                  <a:lnTo>
                    <a:pt x="0" y="74813"/>
                  </a:lnTo>
                  <a:lnTo>
                    <a:pt x="5875" y="103933"/>
                  </a:lnTo>
                  <a:lnTo>
                    <a:pt x="21897" y="127714"/>
                  </a:lnTo>
                  <a:lnTo>
                    <a:pt x="45661" y="143747"/>
                  </a:lnTo>
                  <a:lnTo>
                    <a:pt x="74762" y="149626"/>
                  </a:lnTo>
                  <a:lnTo>
                    <a:pt x="103863" y="143747"/>
                  </a:lnTo>
                  <a:lnTo>
                    <a:pt x="127627" y="127714"/>
                  </a:lnTo>
                  <a:lnTo>
                    <a:pt x="143649" y="103933"/>
                  </a:lnTo>
                  <a:lnTo>
                    <a:pt x="149524" y="74813"/>
                  </a:lnTo>
                  <a:lnTo>
                    <a:pt x="143649" y="45692"/>
                  </a:lnTo>
                  <a:lnTo>
                    <a:pt x="127627" y="21912"/>
                  </a:lnTo>
                  <a:lnTo>
                    <a:pt x="103863" y="5879"/>
                  </a:lnTo>
                  <a:lnTo>
                    <a:pt x="74762" y="0"/>
                  </a:lnTo>
                  <a:close/>
                </a:path>
              </a:pathLst>
            </a:custGeom>
            <a:solidFill>
              <a:srgbClr val="62C5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963251" y="2314897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59" h="149860">
                  <a:moveTo>
                    <a:pt x="0" y="74812"/>
                  </a:moveTo>
                  <a:lnTo>
                    <a:pt x="5875" y="45692"/>
                  </a:lnTo>
                  <a:lnTo>
                    <a:pt x="21897" y="21912"/>
                  </a:lnTo>
                  <a:lnTo>
                    <a:pt x="45661" y="5879"/>
                  </a:lnTo>
                  <a:lnTo>
                    <a:pt x="74762" y="0"/>
                  </a:lnTo>
                  <a:lnTo>
                    <a:pt x="103862" y="5879"/>
                  </a:lnTo>
                  <a:lnTo>
                    <a:pt x="127627" y="21912"/>
                  </a:lnTo>
                  <a:lnTo>
                    <a:pt x="143649" y="45692"/>
                  </a:lnTo>
                  <a:lnTo>
                    <a:pt x="149524" y="74812"/>
                  </a:lnTo>
                  <a:lnTo>
                    <a:pt x="143649" y="103933"/>
                  </a:lnTo>
                  <a:lnTo>
                    <a:pt x="127627" y="127713"/>
                  </a:lnTo>
                  <a:lnTo>
                    <a:pt x="103862" y="143746"/>
                  </a:lnTo>
                  <a:lnTo>
                    <a:pt x="74762" y="149625"/>
                  </a:lnTo>
                  <a:lnTo>
                    <a:pt x="45661" y="143746"/>
                  </a:lnTo>
                  <a:lnTo>
                    <a:pt x="21897" y="127713"/>
                  </a:lnTo>
                  <a:lnTo>
                    <a:pt x="5875" y="103933"/>
                  </a:lnTo>
                  <a:lnTo>
                    <a:pt x="0" y="7481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298930" y="2196142"/>
              <a:ext cx="101600" cy="0"/>
            </a:xfrm>
            <a:custGeom>
              <a:avLst/>
              <a:gdLst/>
              <a:ahLst/>
              <a:cxnLst/>
              <a:rect l="l" t="t" r="r" b="b"/>
              <a:pathLst>
                <a:path w="101600" h="0">
                  <a:moveTo>
                    <a:pt x="0" y="0"/>
                  </a:moveTo>
                  <a:lnTo>
                    <a:pt x="101228" y="1"/>
                  </a:lnTo>
                </a:path>
              </a:pathLst>
            </a:custGeom>
            <a:ln w="2168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090812" y="2249041"/>
              <a:ext cx="80645" cy="88265"/>
            </a:xfrm>
            <a:custGeom>
              <a:avLst/>
              <a:gdLst/>
              <a:ahLst/>
              <a:cxnLst/>
              <a:rect l="l" t="t" r="r" b="b"/>
              <a:pathLst>
                <a:path w="80644" h="88264">
                  <a:moveTo>
                    <a:pt x="80491" y="0"/>
                  </a:moveTo>
                  <a:lnTo>
                    <a:pt x="0" y="87645"/>
                  </a:lnTo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538603" y="260011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74750" y="0"/>
                  </a:moveTo>
                  <a:lnTo>
                    <a:pt x="45654" y="5878"/>
                  </a:lnTo>
                  <a:lnTo>
                    <a:pt x="21894" y="21908"/>
                  </a:lnTo>
                  <a:lnTo>
                    <a:pt x="5874" y="45685"/>
                  </a:lnTo>
                  <a:lnTo>
                    <a:pt x="0" y="74801"/>
                  </a:lnTo>
                  <a:lnTo>
                    <a:pt x="5874" y="103918"/>
                  </a:lnTo>
                  <a:lnTo>
                    <a:pt x="21894" y="127695"/>
                  </a:lnTo>
                  <a:lnTo>
                    <a:pt x="45654" y="143726"/>
                  </a:lnTo>
                  <a:lnTo>
                    <a:pt x="74750" y="149604"/>
                  </a:lnTo>
                  <a:lnTo>
                    <a:pt x="103847" y="143726"/>
                  </a:lnTo>
                  <a:lnTo>
                    <a:pt x="127607" y="127695"/>
                  </a:lnTo>
                  <a:lnTo>
                    <a:pt x="143627" y="103918"/>
                  </a:lnTo>
                  <a:lnTo>
                    <a:pt x="149501" y="74801"/>
                  </a:lnTo>
                  <a:lnTo>
                    <a:pt x="143627" y="45685"/>
                  </a:lnTo>
                  <a:lnTo>
                    <a:pt x="127607" y="21908"/>
                  </a:lnTo>
                  <a:lnTo>
                    <a:pt x="103847" y="5878"/>
                  </a:lnTo>
                  <a:lnTo>
                    <a:pt x="74750" y="0"/>
                  </a:lnTo>
                  <a:close/>
                </a:path>
              </a:pathLst>
            </a:custGeom>
            <a:solidFill>
              <a:srgbClr val="1796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538603" y="2600118"/>
              <a:ext cx="149860" cy="149860"/>
            </a:xfrm>
            <a:custGeom>
              <a:avLst/>
              <a:gdLst/>
              <a:ahLst/>
              <a:cxnLst/>
              <a:rect l="l" t="t" r="r" b="b"/>
              <a:pathLst>
                <a:path w="149860" h="149860">
                  <a:moveTo>
                    <a:pt x="0" y="74802"/>
                  </a:moveTo>
                  <a:lnTo>
                    <a:pt x="5874" y="45685"/>
                  </a:lnTo>
                  <a:lnTo>
                    <a:pt x="21894" y="21909"/>
                  </a:lnTo>
                  <a:lnTo>
                    <a:pt x="45654" y="5878"/>
                  </a:lnTo>
                  <a:lnTo>
                    <a:pt x="74751" y="0"/>
                  </a:lnTo>
                  <a:lnTo>
                    <a:pt x="103848" y="5878"/>
                  </a:lnTo>
                  <a:lnTo>
                    <a:pt x="127608" y="21909"/>
                  </a:lnTo>
                  <a:lnTo>
                    <a:pt x="143628" y="45685"/>
                  </a:lnTo>
                  <a:lnTo>
                    <a:pt x="149502" y="74802"/>
                  </a:lnTo>
                  <a:lnTo>
                    <a:pt x="143628" y="103918"/>
                  </a:lnTo>
                  <a:lnTo>
                    <a:pt x="127608" y="127695"/>
                  </a:lnTo>
                  <a:lnTo>
                    <a:pt x="103848" y="143725"/>
                  </a:lnTo>
                  <a:lnTo>
                    <a:pt x="74751" y="149604"/>
                  </a:lnTo>
                  <a:lnTo>
                    <a:pt x="45654" y="143725"/>
                  </a:lnTo>
                  <a:lnTo>
                    <a:pt x="21894" y="127695"/>
                  </a:lnTo>
                  <a:lnTo>
                    <a:pt x="5874" y="103918"/>
                  </a:lnTo>
                  <a:lnTo>
                    <a:pt x="0" y="74802"/>
                  </a:lnTo>
                  <a:close/>
                </a:path>
              </a:pathLst>
            </a:custGeom>
            <a:ln w="2167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74" name="object 7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dirty="0" spc="-15"/>
              <a:t> </a:t>
            </a:r>
            <a:r>
              <a:rPr dirty="0"/>
              <a:t>Learning</a:t>
            </a:r>
            <a:r>
              <a:rPr dirty="0" spc="10"/>
              <a:t> </a:t>
            </a:r>
            <a:r>
              <a:rPr dirty="0"/>
              <a:t>Models</a:t>
            </a:r>
            <a:r>
              <a:rPr dirty="0" spc="-5"/>
              <a:t> </a:t>
            </a:r>
            <a:r>
              <a:rPr dirty="0"/>
              <a:t>in</a:t>
            </a:r>
            <a:r>
              <a:rPr dirty="0" spc="15"/>
              <a:t> </a:t>
            </a:r>
            <a:r>
              <a:rPr dirty="0" spc="-10"/>
              <a:t>Neo4j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36757" y="2127550"/>
            <a:ext cx="8940165" cy="230759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434"/>
              </a:spcBef>
            </a:pPr>
            <a:r>
              <a:rPr dirty="0" sz="2400">
                <a:latin typeface="Arial"/>
                <a:cs typeface="Arial"/>
              </a:rPr>
              <a:t>Train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model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using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your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graph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and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apply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it</a:t>
            </a:r>
            <a:r>
              <a:rPr dirty="0" sz="2400" spc="-7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new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or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unseen</a:t>
            </a:r>
            <a:r>
              <a:rPr dirty="0" sz="2400" spc="-8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360680">
              <a:lnSpc>
                <a:spcPct val="100000"/>
              </a:lnSpc>
              <a:spcBef>
                <a:spcPts val="335"/>
              </a:spcBef>
            </a:pPr>
            <a:r>
              <a:rPr dirty="0" sz="2400" b="1" i="1">
                <a:solidFill>
                  <a:srgbClr val="018BFF"/>
                </a:solidFill>
                <a:latin typeface="Arial"/>
                <a:cs typeface="Arial"/>
              </a:rPr>
              <a:t>Not</a:t>
            </a:r>
            <a:r>
              <a:rPr dirty="0" sz="2400" spc="-55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18BFF"/>
                </a:solidFill>
                <a:latin typeface="Arial"/>
                <a:cs typeface="Arial"/>
              </a:rPr>
              <a:t>a</a:t>
            </a:r>
            <a:r>
              <a:rPr dirty="0" sz="2400" spc="-6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18BFF"/>
                </a:solidFill>
                <a:latin typeface="Arial"/>
                <a:cs typeface="Arial"/>
              </a:rPr>
              <a:t>data</a:t>
            </a:r>
            <a:r>
              <a:rPr dirty="0" sz="2400" spc="-55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18BFF"/>
                </a:solidFill>
                <a:latin typeface="Arial"/>
                <a:cs typeface="Arial"/>
              </a:rPr>
              <a:t>model</a:t>
            </a:r>
            <a:r>
              <a:rPr dirty="0" sz="2400" spc="-5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18BFF"/>
                </a:solidFill>
                <a:latin typeface="Arial"/>
                <a:cs typeface="Arial"/>
              </a:rPr>
              <a:t>—</a:t>
            </a:r>
            <a:r>
              <a:rPr dirty="0" sz="2400" spc="-55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18BFF"/>
                </a:solidFill>
                <a:latin typeface="Arial"/>
                <a:cs typeface="Arial"/>
              </a:rPr>
              <a:t>a</a:t>
            </a:r>
            <a:r>
              <a:rPr dirty="0" sz="2400" spc="-6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400" b="1" i="1">
                <a:solidFill>
                  <a:srgbClr val="018BFF"/>
                </a:solidFill>
                <a:latin typeface="Arial"/>
                <a:cs typeface="Arial"/>
              </a:rPr>
              <a:t>predictive</a:t>
            </a:r>
            <a:r>
              <a:rPr dirty="0" sz="2400" spc="-60" b="1" i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2400" spc="-10" b="1" i="1">
                <a:solidFill>
                  <a:srgbClr val="018BFF"/>
                </a:solidFill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30"/>
              </a:spcBef>
            </a:pPr>
            <a:r>
              <a:rPr dirty="0" sz="2400">
                <a:latin typeface="Arial"/>
                <a:cs typeface="Arial"/>
              </a:rPr>
              <a:t>Models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live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the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Neo4j</a:t>
            </a:r>
            <a:r>
              <a:rPr dirty="0" sz="2400" spc="-7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in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25">
                <a:latin typeface="Arial"/>
                <a:cs typeface="Arial"/>
              </a:rPr>
              <a:t>the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2400" b="1">
                <a:solidFill>
                  <a:srgbClr val="0B0B66"/>
                </a:solidFill>
                <a:latin typeface="Arial"/>
                <a:cs typeface="Arial"/>
              </a:rPr>
              <a:t>model</a:t>
            </a:r>
            <a:r>
              <a:rPr dirty="0" sz="2400" spc="-55" b="1">
                <a:solidFill>
                  <a:srgbClr val="0B0B66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0B0B66"/>
                </a:solidFill>
                <a:latin typeface="Arial"/>
                <a:cs typeface="Arial"/>
              </a:rPr>
              <a:t>catalog</a:t>
            </a:r>
            <a:endParaRPr sz="2400">
              <a:latin typeface="Arial"/>
              <a:cs typeface="Arial"/>
            </a:endParaRPr>
          </a:p>
          <a:p>
            <a:pPr marL="404495" indent="-194945">
              <a:lnSpc>
                <a:spcPct val="100000"/>
              </a:lnSpc>
              <a:spcBef>
                <a:spcPts val="805"/>
              </a:spcBef>
              <a:buChar char="•"/>
              <a:tabLst>
                <a:tab pos="404495" algn="l"/>
              </a:tabLst>
            </a:pPr>
            <a:r>
              <a:rPr dirty="0" sz="2000">
                <a:latin typeface="Arial"/>
                <a:cs typeface="Arial"/>
              </a:rPr>
              <a:t>Contains</a:t>
            </a:r>
            <a:r>
              <a:rPr dirty="0" sz="2000" spc="10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versioning</a:t>
            </a:r>
            <a:r>
              <a:rPr dirty="0" sz="2000" spc="11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information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94062" y="4501229"/>
            <a:ext cx="1886585" cy="897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970" indent="-382270">
              <a:lnSpc>
                <a:spcPct val="100000"/>
              </a:lnSpc>
              <a:spcBef>
                <a:spcPts val="100"/>
              </a:spcBef>
              <a:buChar char="•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Input</a:t>
            </a:r>
            <a:r>
              <a:rPr dirty="0" sz="1900" spc="55">
                <a:latin typeface="Arial"/>
                <a:cs typeface="Arial"/>
              </a:rPr>
              <a:t> </a:t>
            </a:r>
            <a:r>
              <a:rPr dirty="0" sz="1900" spc="-20">
                <a:latin typeface="Arial"/>
                <a:cs typeface="Arial"/>
              </a:rPr>
              <a:t>data</a:t>
            </a:r>
            <a:endParaRPr sz="1900">
              <a:latin typeface="Arial"/>
              <a:cs typeface="Arial"/>
            </a:endParaRPr>
          </a:p>
          <a:p>
            <a:pPr marL="394970" indent="-382270">
              <a:lnSpc>
                <a:spcPct val="100000"/>
              </a:lnSpc>
              <a:buChar char="•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Time</a:t>
            </a:r>
            <a:r>
              <a:rPr dirty="0" sz="1900" spc="25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stamps</a:t>
            </a:r>
            <a:endParaRPr sz="1900">
              <a:latin typeface="Arial"/>
              <a:cs typeface="Arial"/>
            </a:endParaRPr>
          </a:p>
          <a:p>
            <a:pPr marL="394970" indent="-382270">
              <a:lnSpc>
                <a:spcPct val="100000"/>
              </a:lnSpc>
              <a:spcBef>
                <a:spcPts val="25"/>
              </a:spcBef>
              <a:buChar char="•"/>
              <a:tabLst>
                <a:tab pos="394970" algn="l"/>
              </a:tabLst>
            </a:pPr>
            <a:r>
              <a:rPr dirty="0" sz="1900">
                <a:latin typeface="Arial"/>
                <a:cs typeface="Arial"/>
              </a:rPr>
              <a:t>Model</a:t>
            </a:r>
            <a:r>
              <a:rPr dirty="0" sz="1900" spc="40">
                <a:latin typeface="Arial"/>
                <a:cs typeface="Arial"/>
              </a:rPr>
              <a:t> </a:t>
            </a:r>
            <a:r>
              <a:rPr dirty="0" sz="1900" spc="-10">
                <a:latin typeface="Arial"/>
                <a:cs typeface="Arial"/>
              </a:rPr>
              <a:t>names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3949" y="5527888"/>
            <a:ext cx="4812665" cy="635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7010" marR="5080" indent="-194945">
              <a:lnSpc>
                <a:spcPct val="100000"/>
              </a:lnSpc>
              <a:spcBef>
                <a:spcPts val="100"/>
              </a:spcBef>
              <a:buChar char="•"/>
              <a:tabLst>
                <a:tab pos="208915" algn="l"/>
              </a:tabLst>
            </a:pPr>
            <a:r>
              <a:rPr dirty="0" sz="2000">
                <a:latin typeface="Arial"/>
                <a:cs typeface="Arial"/>
              </a:rPr>
              <a:t>Trained</a:t>
            </a:r>
            <a:r>
              <a:rPr dirty="0" sz="2000" spc="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models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can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be</a:t>
            </a:r>
            <a:r>
              <a:rPr dirty="0" sz="2000" spc="7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persisted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to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 spc="-20">
                <a:latin typeface="Arial"/>
                <a:cs typeface="Arial"/>
              </a:rPr>
              <a:t>disk </a:t>
            </a:r>
            <a:r>
              <a:rPr dirty="0" sz="2000" spc="-20">
                <a:latin typeface="Arial"/>
                <a:cs typeface="Arial"/>
              </a:rPr>
              <a:t>	</a:t>
            </a:r>
            <a:r>
              <a:rPr dirty="0" sz="2000">
                <a:latin typeface="Arial"/>
                <a:cs typeface="Arial"/>
              </a:rPr>
              <a:t>and</a:t>
            </a:r>
            <a:r>
              <a:rPr dirty="0" sz="2000" spc="7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shared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with</a:t>
            </a:r>
            <a:r>
              <a:rPr dirty="0" sz="2000" spc="8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colleagues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857747" y="4322716"/>
            <a:ext cx="4549140" cy="1943735"/>
            <a:chOff x="5857747" y="4322716"/>
            <a:chExt cx="4549140" cy="194373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18323" y="4365249"/>
              <a:ext cx="2947416" cy="69189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7420420" y="4366214"/>
              <a:ext cx="2943225" cy="690880"/>
            </a:xfrm>
            <a:custGeom>
              <a:avLst/>
              <a:gdLst/>
              <a:ahLst/>
              <a:cxnLst/>
              <a:rect l="l" t="t" r="r" b="b"/>
              <a:pathLst>
                <a:path w="2943225" h="690879">
                  <a:moveTo>
                    <a:pt x="0" y="345408"/>
                  </a:moveTo>
                  <a:lnTo>
                    <a:pt x="1471299" y="0"/>
                  </a:lnTo>
                  <a:lnTo>
                    <a:pt x="2942598" y="345408"/>
                  </a:lnTo>
                  <a:lnTo>
                    <a:pt x="1471299" y="690817"/>
                  </a:lnTo>
                  <a:lnTo>
                    <a:pt x="0" y="345408"/>
                  </a:lnTo>
                  <a:close/>
                </a:path>
              </a:pathLst>
            </a:custGeom>
            <a:ln w="86733">
              <a:solidFill>
                <a:srgbClr val="E1E1E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57747" y="4548129"/>
              <a:ext cx="3011424" cy="139293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1628" y="5549118"/>
              <a:ext cx="787604" cy="717110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4051" y="4590801"/>
              <a:ext cx="2718816" cy="64008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004722" y="4592280"/>
              <a:ext cx="2715895" cy="637540"/>
            </a:xfrm>
            <a:custGeom>
              <a:avLst/>
              <a:gdLst/>
              <a:ahLst/>
              <a:cxnLst/>
              <a:rect l="l" t="t" r="r" b="b"/>
              <a:pathLst>
                <a:path w="2715895" h="637539">
                  <a:moveTo>
                    <a:pt x="0" y="318772"/>
                  </a:moveTo>
                  <a:lnTo>
                    <a:pt x="1357833" y="0"/>
                  </a:lnTo>
                  <a:lnTo>
                    <a:pt x="2715667" y="318772"/>
                  </a:lnTo>
                  <a:lnTo>
                    <a:pt x="1357833" y="637545"/>
                  </a:lnTo>
                  <a:lnTo>
                    <a:pt x="0" y="318772"/>
                  </a:lnTo>
                  <a:close/>
                </a:path>
              </a:pathLst>
            </a:custGeom>
            <a:ln w="86733">
              <a:solidFill>
                <a:srgbClr val="E1E1E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8441625" y="5186564"/>
            <a:ext cx="1678939" cy="44323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129539">
              <a:lnSpc>
                <a:spcPts val="1610"/>
              </a:lnSpc>
              <a:spcBef>
                <a:spcPts val="210"/>
              </a:spcBef>
            </a:pPr>
            <a:r>
              <a:rPr dirty="0" sz="1400">
                <a:solidFill>
                  <a:srgbClr val="53585F"/>
                </a:solidFill>
                <a:latin typeface="Lucida Sans Unicode"/>
                <a:cs typeface="Lucida Sans Unicode"/>
              </a:rPr>
              <a:t>ML</a:t>
            </a:r>
            <a:r>
              <a:rPr dirty="0" sz="1400" spc="-80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40">
                <a:solidFill>
                  <a:srgbClr val="53585F"/>
                </a:solidFill>
                <a:latin typeface="Lucida Sans Unicode"/>
                <a:cs typeface="Lucida Sans Unicode"/>
              </a:rPr>
              <a:t>Models</a:t>
            </a:r>
            <a:r>
              <a:rPr dirty="0" sz="1400" spc="-7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50">
                <a:solidFill>
                  <a:srgbClr val="53585F"/>
                </a:solidFill>
                <a:latin typeface="Lucida Sans Unicode"/>
                <a:cs typeface="Lucida Sans Unicode"/>
              </a:rPr>
              <a:t>in</a:t>
            </a:r>
            <a:r>
              <a:rPr dirty="0" sz="1400" spc="-8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25">
                <a:solidFill>
                  <a:srgbClr val="53585F"/>
                </a:solidFill>
                <a:latin typeface="Lucida Sans Unicode"/>
                <a:cs typeface="Lucida Sans Unicode"/>
              </a:rPr>
              <a:t>the </a:t>
            </a:r>
            <a:r>
              <a:rPr dirty="0" sz="1400" spc="-65">
                <a:solidFill>
                  <a:srgbClr val="53585F"/>
                </a:solidFill>
                <a:latin typeface="Lucida Sans Unicode"/>
                <a:cs typeface="Lucida Sans Unicode"/>
              </a:rPr>
              <a:t>Analytics</a:t>
            </a:r>
            <a:r>
              <a:rPr dirty="0" sz="1400" spc="-45">
                <a:solidFill>
                  <a:srgbClr val="53585F"/>
                </a:solidFill>
                <a:latin typeface="Lucida Sans Unicode"/>
                <a:cs typeface="Lucida Sans Unicode"/>
              </a:rPr>
              <a:t> </a:t>
            </a:r>
            <a:r>
              <a:rPr dirty="0" sz="1400" spc="-35">
                <a:solidFill>
                  <a:srgbClr val="53585F"/>
                </a:solidFill>
                <a:latin typeface="Lucida Sans Unicode"/>
                <a:cs typeface="Lucida Sans Unicode"/>
              </a:rPr>
              <a:t>Workspace</a:t>
            </a:r>
            <a:endParaRPr sz="1400">
              <a:latin typeface="Lucida Sans Unicode"/>
              <a:cs typeface="Lucida Sans Unicode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650304" y="3200913"/>
            <a:ext cx="3459479" cy="1943735"/>
            <a:chOff x="6650304" y="3200913"/>
            <a:chExt cx="3459479" cy="194373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454644" y="3816609"/>
              <a:ext cx="1054607" cy="1054608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35188" y="3200913"/>
              <a:ext cx="618744" cy="618743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45827" y="4307337"/>
              <a:ext cx="563879" cy="56387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542780" y="3804417"/>
              <a:ext cx="396240" cy="39623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015476" y="3292353"/>
              <a:ext cx="563879" cy="56387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50304" y="3496274"/>
              <a:ext cx="1394007" cy="1648233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Neo4j:</a:t>
            </a:r>
            <a:r>
              <a:rPr dirty="0" sz="2700" spc="30"/>
              <a:t> </a:t>
            </a:r>
            <a:r>
              <a:rPr dirty="0" sz="2700"/>
              <a:t>The</a:t>
            </a:r>
            <a:r>
              <a:rPr dirty="0" sz="2700" spc="40"/>
              <a:t> </a:t>
            </a:r>
            <a:r>
              <a:rPr dirty="0" sz="2700"/>
              <a:t>Only</a:t>
            </a:r>
            <a:r>
              <a:rPr dirty="0" sz="2700" spc="40"/>
              <a:t> </a:t>
            </a:r>
            <a:r>
              <a:rPr dirty="0" sz="2700"/>
              <a:t>Completely</a:t>
            </a:r>
            <a:r>
              <a:rPr dirty="0" sz="2700" spc="40"/>
              <a:t> </a:t>
            </a:r>
            <a:r>
              <a:rPr dirty="0" sz="2700"/>
              <a:t>In-Graph,</a:t>
            </a:r>
            <a:r>
              <a:rPr dirty="0" sz="2700" spc="20"/>
              <a:t> </a:t>
            </a:r>
            <a:r>
              <a:rPr dirty="0" sz="2700"/>
              <a:t>ML</a:t>
            </a:r>
            <a:r>
              <a:rPr dirty="0" sz="2700" spc="35"/>
              <a:t> </a:t>
            </a:r>
            <a:r>
              <a:rPr dirty="0" sz="2700" spc="-10"/>
              <a:t>Workflow</a:t>
            </a:r>
            <a:endParaRPr sz="2700"/>
          </a:p>
        </p:txBody>
      </p:sp>
      <p:grpSp>
        <p:nvGrpSpPr>
          <p:cNvPr id="3" name="object 3" descr=""/>
          <p:cNvGrpSpPr/>
          <p:nvPr/>
        </p:nvGrpSpPr>
        <p:grpSpPr>
          <a:xfrm>
            <a:off x="1069862" y="2842079"/>
            <a:ext cx="3799204" cy="2418080"/>
            <a:chOff x="1069862" y="2842079"/>
            <a:chExt cx="3799204" cy="2418080"/>
          </a:xfrm>
        </p:grpSpPr>
        <p:sp>
          <p:nvSpPr>
            <p:cNvPr id="4" name="object 4" descr=""/>
            <p:cNvSpPr/>
            <p:nvPr/>
          </p:nvSpPr>
          <p:spPr>
            <a:xfrm>
              <a:off x="1075321" y="3640467"/>
              <a:ext cx="3794125" cy="1619885"/>
            </a:xfrm>
            <a:custGeom>
              <a:avLst/>
              <a:gdLst/>
              <a:ahLst/>
              <a:cxnLst/>
              <a:rect l="l" t="t" r="r" b="b"/>
              <a:pathLst>
                <a:path w="3794125" h="1619885">
                  <a:moveTo>
                    <a:pt x="1820227" y="0"/>
                  </a:moveTo>
                  <a:lnTo>
                    <a:pt x="0" y="0"/>
                  </a:lnTo>
                  <a:lnTo>
                    <a:pt x="0" y="1619542"/>
                  </a:lnTo>
                  <a:lnTo>
                    <a:pt x="1820227" y="1619542"/>
                  </a:lnTo>
                  <a:lnTo>
                    <a:pt x="1820227" y="0"/>
                  </a:lnTo>
                  <a:close/>
                </a:path>
                <a:path w="3794125" h="1619885">
                  <a:moveTo>
                    <a:pt x="3793617" y="25"/>
                  </a:moveTo>
                  <a:lnTo>
                    <a:pt x="1973389" y="25"/>
                  </a:lnTo>
                  <a:lnTo>
                    <a:pt x="1973389" y="1613865"/>
                  </a:lnTo>
                  <a:lnTo>
                    <a:pt x="3793617" y="1613865"/>
                  </a:lnTo>
                  <a:lnTo>
                    <a:pt x="3793617" y="25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069862" y="2842079"/>
              <a:ext cx="1820545" cy="798830"/>
            </a:xfrm>
            <a:custGeom>
              <a:avLst/>
              <a:gdLst/>
              <a:ahLst/>
              <a:cxnLst/>
              <a:rect l="l" t="t" r="r" b="b"/>
              <a:pathLst>
                <a:path w="1820545" h="798829">
                  <a:moveTo>
                    <a:pt x="1820227" y="0"/>
                  </a:moveTo>
                  <a:lnTo>
                    <a:pt x="0" y="0"/>
                  </a:lnTo>
                  <a:lnTo>
                    <a:pt x="0" y="798382"/>
                  </a:lnTo>
                  <a:lnTo>
                    <a:pt x="1820227" y="798382"/>
                  </a:lnTo>
                  <a:lnTo>
                    <a:pt x="1820227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075327" y="2853811"/>
            <a:ext cx="1820545" cy="7512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274955" marR="278130">
              <a:lnSpc>
                <a:spcPts val="1900"/>
              </a:lnSpc>
              <a:spcBef>
                <a:spcPts val="180"/>
              </a:spcBef>
            </a:pPr>
            <a:r>
              <a:rPr dirty="0" sz="1600" spc="-85">
                <a:solidFill>
                  <a:srgbClr val="FFFFFF"/>
                </a:solidFill>
                <a:latin typeface="Lucida Sans Unicode"/>
                <a:cs typeface="Lucida Sans Unicode"/>
              </a:rPr>
              <a:t>Graph-</a:t>
            </a:r>
            <a:r>
              <a:rPr dirty="0" sz="1600" spc="-25">
                <a:solidFill>
                  <a:srgbClr val="FFFFFF"/>
                </a:solidFill>
                <a:latin typeface="Lucida Sans Unicode"/>
                <a:cs typeface="Lucida Sans Unicode"/>
              </a:rPr>
              <a:t>Native </a:t>
            </a: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Feature Engineering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051004" y="2842098"/>
            <a:ext cx="1820545" cy="798830"/>
          </a:xfrm>
          <a:custGeom>
            <a:avLst/>
            <a:gdLst/>
            <a:ahLst/>
            <a:cxnLst/>
            <a:rect l="l" t="t" r="r" b="b"/>
            <a:pathLst>
              <a:path w="1820545" h="798829">
                <a:moveTo>
                  <a:pt x="1820227" y="0"/>
                </a:moveTo>
                <a:lnTo>
                  <a:pt x="0" y="0"/>
                </a:lnTo>
                <a:lnTo>
                  <a:pt x="0" y="798382"/>
                </a:lnTo>
                <a:lnTo>
                  <a:pt x="1820227" y="798382"/>
                </a:lnTo>
                <a:lnTo>
                  <a:pt x="1820227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3048713" y="2975731"/>
            <a:ext cx="182054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5730" marR="112395" indent="54483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solidFill>
                  <a:srgbClr val="FFFFFF"/>
                </a:solidFill>
                <a:latin typeface="Lucida Sans Unicode"/>
                <a:cs typeface="Lucida Sans Unicode"/>
              </a:rPr>
              <a:t>Train </a:t>
            </a:r>
            <a:r>
              <a:rPr dirty="0" sz="1600" spc="-30">
                <a:solidFill>
                  <a:srgbClr val="FFFFFF"/>
                </a:solidFill>
                <a:latin typeface="Lucida Sans Unicode"/>
                <a:cs typeface="Lucida Sans Unicode"/>
              </a:rPr>
              <a:t>Predictive</a:t>
            </a:r>
            <a:r>
              <a:rPr dirty="0" sz="1600" spc="-55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Lucida Sans Unicode"/>
                <a:cs typeface="Lucida Sans Unicode"/>
              </a:rPr>
              <a:t>Model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075327" y="3701672"/>
            <a:ext cx="1820545" cy="68707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algn="ctr" marL="367665" marR="356870" indent="-2540">
              <a:lnSpc>
                <a:spcPts val="1700"/>
              </a:lnSpc>
              <a:spcBef>
                <a:spcPts val="240"/>
              </a:spcBef>
            </a:pPr>
            <a:r>
              <a:rPr dirty="0" sz="1500" spc="-10">
                <a:latin typeface="Lucida Sans Unicode"/>
                <a:cs typeface="Lucida Sans Unicode"/>
              </a:rPr>
              <a:t>Queries Algorithms </a:t>
            </a:r>
            <a:r>
              <a:rPr dirty="0" sz="1500" spc="-50">
                <a:latin typeface="Lucida Sans Unicode"/>
                <a:cs typeface="Lucida Sans Unicode"/>
              </a:rPr>
              <a:t>Embeddings</a:t>
            </a:r>
            <a:endParaRPr sz="1500">
              <a:latin typeface="Lucida Sans Unicode"/>
              <a:cs typeface="Lucida Sans Unicode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3048713" y="3680335"/>
            <a:ext cx="1820545" cy="1324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5940" indent="-353695">
              <a:lnSpc>
                <a:spcPts val="1750"/>
              </a:lnSpc>
              <a:spcBef>
                <a:spcPts val="100"/>
              </a:spcBef>
              <a:buAutoNum type="arabicPeriod"/>
              <a:tabLst>
                <a:tab pos="535940" algn="l"/>
              </a:tabLst>
            </a:pPr>
            <a:r>
              <a:rPr dirty="0" sz="1500" spc="-30">
                <a:latin typeface="Lucida Sans Unicode"/>
                <a:cs typeface="Lucida Sans Unicode"/>
              </a:rPr>
              <a:t>Model</a:t>
            </a:r>
            <a:r>
              <a:rPr dirty="0" sz="1500" spc="-70">
                <a:latin typeface="Lucida Sans Unicode"/>
                <a:cs typeface="Lucida Sans Unicode"/>
              </a:rPr>
              <a:t> </a:t>
            </a:r>
            <a:r>
              <a:rPr dirty="0" sz="1500" spc="-20">
                <a:latin typeface="Lucida Sans Unicode"/>
                <a:cs typeface="Lucida Sans Unicode"/>
              </a:rPr>
              <a:t>Type</a:t>
            </a:r>
            <a:endParaRPr sz="1500">
              <a:latin typeface="Lucida Sans Unicode"/>
              <a:cs typeface="Lucida Sans Unicode"/>
            </a:endParaRPr>
          </a:p>
          <a:p>
            <a:pPr marL="535940" indent="-353695">
              <a:lnSpc>
                <a:spcPts val="1705"/>
              </a:lnSpc>
              <a:buAutoNum type="arabicPeriod"/>
              <a:tabLst>
                <a:tab pos="535940" algn="l"/>
              </a:tabLst>
            </a:pPr>
            <a:r>
              <a:rPr dirty="0" sz="1500" spc="-10">
                <a:latin typeface="Lucida Sans Unicode"/>
                <a:cs typeface="Lucida Sans Unicode"/>
              </a:rPr>
              <a:t>Property</a:t>
            </a:r>
            <a:endParaRPr sz="1500">
              <a:latin typeface="Lucida Sans Unicode"/>
              <a:cs typeface="Lucida Sans Unicode"/>
            </a:endParaRPr>
          </a:p>
          <a:p>
            <a:pPr marL="535940">
              <a:lnSpc>
                <a:spcPts val="1705"/>
              </a:lnSpc>
            </a:pPr>
            <a:r>
              <a:rPr dirty="0" sz="1500" spc="-10">
                <a:latin typeface="Lucida Sans Unicode"/>
                <a:cs typeface="Lucida Sans Unicode"/>
              </a:rPr>
              <a:t>Selection</a:t>
            </a:r>
            <a:endParaRPr sz="1500">
              <a:latin typeface="Lucida Sans Unicode"/>
              <a:cs typeface="Lucida Sans Unicode"/>
            </a:endParaRPr>
          </a:p>
          <a:p>
            <a:pPr marL="535940" indent="-353695">
              <a:lnSpc>
                <a:spcPts val="1705"/>
              </a:lnSpc>
              <a:buAutoNum type="arabicPeriod" startAt="3"/>
              <a:tabLst>
                <a:tab pos="535940" algn="l"/>
              </a:tabLst>
            </a:pPr>
            <a:r>
              <a:rPr dirty="0" sz="1500" spc="-50">
                <a:latin typeface="Lucida Sans Unicode"/>
                <a:cs typeface="Lucida Sans Unicode"/>
              </a:rPr>
              <a:t>Train</a:t>
            </a:r>
            <a:r>
              <a:rPr dirty="0" sz="1500" spc="-80">
                <a:latin typeface="Lucida Sans Unicode"/>
                <a:cs typeface="Lucida Sans Unicode"/>
              </a:rPr>
              <a:t> </a:t>
            </a:r>
            <a:r>
              <a:rPr dirty="0" sz="1500">
                <a:latin typeface="Lucida Sans Unicode"/>
                <a:cs typeface="Lucida Sans Unicode"/>
              </a:rPr>
              <a:t>&amp;</a:t>
            </a:r>
            <a:r>
              <a:rPr dirty="0" sz="1500" spc="-80">
                <a:latin typeface="Lucida Sans Unicode"/>
                <a:cs typeface="Lucida Sans Unicode"/>
              </a:rPr>
              <a:t> </a:t>
            </a:r>
            <a:r>
              <a:rPr dirty="0" sz="1500" spc="-20">
                <a:latin typeface="Lucida Sans Unicode"/>
                <a:cs typeface="Lucida Sans Unicode"/>
              </a:rPr>
              <a:t>Test</a:t>
            </a:r>
            <a:endParaRPr sz="1500">
              <a:latin typeface="Lucida Sans Unicode"/>
              <a:cs typeface="Lucida Sans Unicode"/>
            </a:endParaRPr>
          </a:p>
          <a:p>
            <a:pPr marL="535940" marR="481965" indent="-354330">
              <a:lnSpc>
                <a:spcPts val="1610"/>
              </a:lnSpc>
              <a:spcBef>
                <a:spcPts val="165"/>
              </a:spcBef>
              <a:buAutoNum type="arabicPeriod" startAt="3"/>
              <a:tabLst>
                <a:tab pos="535940" algn="l"/>
              </a:tabLst>
            </a:pPr>
            <a:r>
              <a:rPr dirty="0" sz="1500" spc="-10">
                <a:latin typeface="Lucida Sans Unicode"/>
                <a:cs typeface="Lucida Sans Unicode"/>
              </a:rPr>
              <a:t>Model </a:t>
            </a:r>
            <a:r>
              <a:rPr dirty="0" sz="1500" spc="-45">
                <a:latin typeface="Lucida Sans Unicode"/>
                <a:cs typeface="Lucida Sans Unicode"/>
              </a:rPr>
              <a:t>Selection</a:t>
            </a:r>
            <a:endParaRPr sz="1500">
              <a:latin typeface="Lucida Sans Unicode"/>
              <a:cs typeface="Lucida Sans Unicode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2727451" y="2842112"/>
            <a:ext cx="4179570" cy="802005"/>
            <a:chOff x="2727451" y="2842112"/>
            <a:chExt cx="4179570" cy="802005"/>
          </a:xfrm>
        </p:grpSpPr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27451" y="3002793"/>
              <a:ext cx="576072" cy="63093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91459" y="3045465"/>
              <a:ext cx="448056" cy="499872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086531" y="2842112"/>
              <a:ext cx="1820545" cy="802005"/>
            </a:xfrm>
            <a:custGeom>
              <a:avLst/>
              <a:gdLst/>
              <a:ahLst/>
              <a:cxnLst/>
              <a:rect l="l" t="t" r="r" b="b"/>
              <a:pathLst>
                <a:path w="1820545" h="802004">
                  <a:moveTo>
                    <a:pt x="1820227" y="0"/>
                  </a:moveTo>
                  <a:lnTo>
                    <a:pt x="0" y="0"/>
                  </a:lnTo>
                  <a:lnTo>
                    <a:pt x="0" y="801456"/>
                  </a:lnTo>
                  <a:lnTo>
                    <a:pt x="1820227" y="801456"/>
                  </a:lnTo>
                  <a:lnTo>
                    <a:pt x="1820227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 descr=""/>
          <p:cNvSpPr txBox="1"/>
          <p:nvPr/>
        </p:nvSpPr>
        <p:spPr>
          <a:xfrm>
            <a:off x="5316708" y="2866003"/>
            <a:ext cx="1360805" cy="7543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Apply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New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3471164" y="2298005"/>
            <a:ext cx="5461000" cy="3637279"/>
            <a:chOff x="3471164" y="2298005"/>
            <a:chExt cx="5461000" cy="3637279"/>
          </a:xfrm>
        </p:grpSpPr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1164" y="5099817"/>
              <a:ext cx="829056" cy="83515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7111480" y="2298005"/>
              <a:ext cx="1820545" cy="802005"/>
            </a:xfrm>
            <a:custGeom>
              <a:avLst/>
              <a:gdLst/>
              <a:ahLst/>
              <a:cxnLst/>
              <a:rect l="l" t="t" r="r" b="b"/>
              <a:pathLst>
                <a:path w="1820545" h="802005">
                  <a:moveTo>
                    <a:pt x="1820227" y="0"/>
                  </a:moveTo>
                  <a:lnTo>
                    <a:pt x="0" y="0"/>
                  </a:lnTo>
                  <a:lnTo>
                    <a:pt x="0" y="801456"/>
                  </a:lnTo>
                  <a:lnTo>
                    <a:pt x="1820227" y="801456"/>
                  </a:lnTo>
                  <a:lnTo>
                    <a:pt x="1820227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301931" y="2445379"/>
            <a:ext cx="144018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35890" marR="5080" indent="-123825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Predictions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Decisions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7111480" y="3209646"/>
            <a:ext cx="1820545" cy="802005"/>
          </a:xfrm>
          <a:custGeom>
            <a:avLst/>
            <a:gdLst/>
            <a:ahLst/>
            <a:cxnLst/>
            <a:rect l="l" t="t" r="r" b="b"/>
            <a:pathLst>
              <a:path w="1820545" h="802004">
                <a:moveTo>
                  <a:pt x="1820227" y="0"/>
                </a:moveTo>
                <a:lnTo>
                  <a:pt x="0" y="0"/>
                </a:lnTo>
                <a:lnTo>
                  <a:pt x="0" y="801456"/>
                </a:lnTo>
                <a:lnTo>
                  <a:pt x="1820227" y="801456"/>
                </a:lnTo>
                <a:lnTo>
                  <a:pt x="1820227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 txBox="1"/>
          <p:nvPr/>
        </p:nvSpPr>
        <p:spPr>
          <a:xfrm>
            <a:off x="7301931" y="3234811"/>
            <a:ext cx="1440180" cy="7512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08915" marR="5080" indent="-196850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Predictions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Enhance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 descr=""/>
          <p:cNvSpPr/>
          <p:nvPr/>
        </p:nvSpPr>
        <p:spPr>
          <a:xfrm>
            <a:off x="7124363" y="4474408"/>
            <a:ext cx="1820545" cy="802005"/>
          </a:xfrm>
          <a:custGeom>
            <a:avLst/>
            <a:gdLst/>
            <a:ahLst/>
            <a:cxnLst/>
            <a:rect l="l" t="t" r="r" b="b"/>
            <a:pathLst>
              <a:path w="1820545" h="802004">
                <a:moveTo>
                  <a:pt x="1820227" y="0"/>
                </a:moveTo>
                <a:lnTo>
                  <a:pt x="0" y="0"/>
                </a:lnTo>
                <a:lnTo>
                  <a:pt x="0" y="801457"/>
                </a:lnTo>
                <a:lnTo>
                  <a:pt x="1820227" y="801457"/>
                </a:lnTo>
                <a:lnTo>
                  <a:pt x="1820227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 txBox="1"/>
          <p:nvPr/>
        </p:nvSpPr>
        <p:spPr>
          <a:xfrm>
            <a:off x="7297657" y="4743571"/>
            <a:ext cx="147447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Publish</a:t>
            </a:r>
            <a:r>
              <a:rPr dirty="0" sz="16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6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Share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361947" y="2566929"/>
            <a:ext cx="7184390" cy="3453765"/>
            <a:chOff x="1361947" y="2566929"/>
            <a:chExt cx="7184390" cy="3453765"/>
          </a:xfrm>
        </p:grpSpPr>
        <p:pic>
          <p:nvPicPr>
            <p:cNvPr id="25" name="object 2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62932" y="3002793"/>
              <a:ext cx="576072" cy="630936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26939" y="3045465"/>
              <a:ext cx="448056" cy="499872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31683" y="5078481"/>
              <a:ext cx="914400" cy="798576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61947" y="4910841"/>
              <a:ext cx="1234440" cy="110947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27268" y="3389889"/>
              <a:ext cx="944880" cy="847343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37707" y="3624585"/>
              <a:ext cx="566927" cy="573024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8619" y="2566929"/>
              <a:ext cx="579120" cy="633984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05676" y="2609601"/>
              <a:ext cx="445007" cy="502920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38619" y="3325881"/>
              <a:ext cx="579120" cy="633984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805676" y="3368553"/>
              <a:ext cx="445007" cy="502920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68315" y="3432561"/>
              <a:ext cx="374903" cy="1130808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135486" y="3476471"/>
              <a:ext cx="241300" cy="998219"/>
            </a:xfrm>
            <a:custGeom>
              <a:avLst/>
              <a:gdLst/>
              <a:ahLst/>
              <a:cxnLst/>
              <a:rect l="l" t="t" r="r" b="b"/>
              <a:pathLst>
                <a:path w="241300" h="998220">
                  <a:moveTo>
                    <a:pt x="120462" y="0"/>
                  </a:moveTo>
                  <a:lnTo>
                    <a:pt x="0" y="120543"/>
                  </a:lnTo>
                  <a:lnTo>
                    <a:pt x="80933" y="120543"/>
                  </a:lnTo>
                  <a:lnTo>
                    <a:pt x="80933" y="997808"/>
                  </a:lnTo>
                  <a:lnTo>
                    <a:pt x="159989" y="997808"/>
                  </a:lnTo>
                  <a:lnTo>
                    <a:pt x="159989" y="120543"/>
                  </a:lnTo>
                  <a:lnTo>
                    <a:pt x="240922" y="120543"/>
                  </a:lnTo>
                  <a:lnTo>
                    <a:pt x="120462" y="0"/>
                  </a:lnTo>
                  <a:close/>
                </a:path>
              </a:pathLst>
            </a:custGeom>
            <a:solidFill>
              <a:srgbClr val="E5E8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086531" y="4474422"/>
              <a:ext cx="1820545" cy="802005"/>
            </a:xfrm>
            <a:custGeom>
              <a:avLst/>
              <a:gdLst/>
              <a:ahLst/>
              <a:cxnLst/>
              <a:rect l="l" t="t" r="r" b="b"/>
              <a:pathLst>
                <a:path w="1820545" h="802004">
                  <a:moveTo>
                    <a:pt x="1820227" y="0"/>
                  </a:moveTo>
                  <a:lnTo>
                    <a:pt x="0" y="0"/>
                  </a:lnTo>
                  <a:lnTo>
                    <a:pt x="0" y="801457"/>
                  </a:lnTo>
                  <a:lnTo>
                    <a:pt x="1820227" y="801457"/>
                  </a:lnTo>
                  <a:lnTo>
                    <a:pt x="1820227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" name="object 38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134347" y="2356617"/>
            <a:ext cx="661416" cy="765048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8994492" y="3336651"/>
            <a:ext cx="857250" cy="629920"/>
            <a:chOff x="8994492" y="3336651"/>
            <a:chExt cx="857250" cy="629920"/>
          </a:xfrm>
        </p:grpSpPr>
        <p:sp>
          <p:nvSpPr>
            <p:cNvPr id="40" name="object 40" descr=""/>
            <p:cNvSpPr/>
            <p:nvPr/>
          </p:nvSpPr>
          <p:spPr>
            <a:xfrm>
              <a:off x="9358967" y="3419543"/>
              <a:ext cx="291465" cy="114935"/>
            </a:xfrm>
            <a:custGeom>
              <a:avLst/>
              <a:gdLst/>
              <a:ahLst/>
              <a:cxnLst/>
              <a:rect l="l" t="t" r="r" b="b"/>
              <a:pathLst>
                <a:path w="291465" h="114935">
                  <a:moveTo>
                    <a:pt x="0" y="0"/>
                  </a:moveTo>
                  <a:lnTo>
                    <a:pt x="290954" y="114646"/>
                  </a:lnTo>
                </a:path>
              </a:pathLst>
            </a:custGeom>
            <a:ln w="21682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720616" y="3534695"/>
              <a:ext cx="52069" cy="216535"/>
            </a:xfrm>
            <a:custGeom>
              <a:avLst/>
              <a:gdLst/>
              <a:ahLst/>
              <a:cxnLst/>
              <a:rect l="l" t="t" r="r" b="b"/>
              <a:pathLst>
                <a:path w="52070" h="216535">
                  <a:moveTo>
                    <a:pt x="0" y="0"/>
                  </a:moveTo>
                  <a:lnTo>
                    <a:pt x="51943" y="216177"/>
                  </a:lnTo>
                </a:path>
              </a:pathLst>
            </a:custGeom>
            <a:ln w="3250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9566033" y="3756548"/>
              <a:ext cx="180340" cy="114300"/>
            </a:xfrm>
            <a:custGeom>
              <a:avLst/>
              <a:gdLst/>
              <a:ahLst/>
              <a:cxnLst/>
              <a:rect l="l" t="t" r="r" b="b"/>
              <a:pathLst>
                <a:path w="180340" h="114300">
                  <a:moveTo>
                    <a:pt x="180268" y="0"/>
                  </a:moveTo>
                  <a:lnTo>
                    <a:pt x="0" y="113674"/>
                  </a:lnTo>
                </a:path>
              </a:pathLst>
            </a:custGeom>
            <a:ln w="32519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9649882" y="3467483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588" y="0"/>
                  </a:moveTo>
                  <a:lnTo>
                    <a:pt x="40669" y="5236"/>
                  </a:lnTo>
                  <a:lnTo>
                    <a:pt x="19503" y="19516"/>
                  </a:lnTo>
                  <a:lnTo>
                    <a:pt x="5232" y="40697"/>
                  </a:lnTo>
                  <a:lnTo>
                    <a:pt x="0" y="66634"/>
                  </a:lnTo>
                  <a:lnTo>
                    <a:pt x="5232" y="92571"/>
                  </a:lnTo>
                  <a:lnTo>
                    <a:pt x="19503" y="113751"/>
                  </a:lnTo>
                  <a:lnTo>
                    <a:pt x="40669" y="128032"/>
                  </a:lnTo>
                  <a:lnTo>
                    <a:pt x="66588" y="133268"/>
                  </a:lnTo>
                  <a:lnTo>
                    <a:pt x="92508" y="128032"/>
                  </a:lnTo>
                  <a:lnTo>
                    <a:pt x="113674" y="113751"/>
                  </a:lnTo>
                  <a:lnTo>
                    <a:pt x="127945" y="92571"/>
                  </a:lnTo>
                  <a:lnTo>
                    <a:pt x="133178" y="66634"/>
                  </a:lnTo>
                  <a:lnTo>
                    <a:pt x="127945" y="40697"/>
                  </a:lnTo>
                  <a:lnTo>
                    <a:pt x="113674" y="19516"/>
                  </a:lnTo>
                  <a:lnTo>
                    <a:pt x="92508" y="5236"/>
                  </a:lnTo>
                  <a:lnTo>
                    <a:pt x="66588" y="0"/>
                  </a:lnTo>
                  <a:close/>
                </a:path>
              </a:pathLst>
            </a:custGeom>
            <a:solidFill>
              <a:srgbClr val="4DC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9649882" y="3467483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66634"/>
                  </a:moveTo>
                  <a:lnTo>
                    <a:pt x="5232" y="40697"/>
                  </a:lnTo>
                  <a:lnTo>
                    <a:pt x="19503" y="19516"/>
                  </a:lnTo>
                  <a:lnTo>
                    <a:pt x="40669" y="5236"/>
                  </a:lnTo>
                  <a:lnTo>
                    <a:pt x="66589" y="0"/>
                  </a:lnTo>
                  <a:lnTo>
                    <a:pt x="92508" y="5236"/>
                  </a:lnTo>
                  <a:lnTo>
                    <a:pt x="113674" y="19516"/>
                  </a:lnTo>
                  <a:lnTo>
                    <a:pt x="127945" y="40697"/>
                  </a:lnTo>
                  <a:lnTo>
                    <a:pt x="133178" y="66634"/>
                  </a:lnTo>
                  <a:lnTo>
                    <a:pt x="127945" y="92571"/>
                  </a:lnTo>
                  <a:lnTo>
                    <a:pt x="113674" y="113752"/>
                  </a:lnTo>
                  <a:lnTo>
                    <a:pt x="92508" y="128032"/>
                  </a:lnTo>
                  <a:lnTo>
                    <a:pt x="66589" y="133268"/>
                  </a:lnTo>
                  <a:lnTo>
                    <a:pt x="40669" y="128032"/>
                  </a:lnTo>
                  <a:lnTo>
                    <a:pt x="19503" y="113752"/>
                  </a:lnTo>
                  <a:lnTo>
                    <a:pt x="5232" y="92571"/>
                  </a:lnTo>
                  <a:lnTo>
                    <a:pt x="0" y="66634"/>
                  </a:lnTo>
                  <a:close/>
                </a:path>
              </a:pathLst>
            </a:custGeom>
            <a:ln w="325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9701858" y="3683524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589" y="0"/>
                  </a:moveTo>
                  <a:lnTo>
                    <a:pt x="40670" y="5236"/>
                  </a:lnTo>
                  <a:lnTo>
                    <a:pt x="19503" y="19516"/>
                  </a:lnTo>
                  <a:lnTo>
                    <a:pt x="5232" y="40697"/>
                  </a:lnTo>
                  <a:lnTo>
                    <a:pt x="0" y="66634"/>
                  </a:lnTo>
                  <a:lnTo>
                    <a:pt x="5232" y="92571"/>
                  </a:lnTo>
                  <a:lnTo>
                    <a:pt x="19503" y="113752"/>
                  </a:lnTo>
                  <a:lnTo>
                    <a:pt x="40670" y="128032"/>
                  </a:lnTo>
                  <a:lnTo>
                    <a:pt x="66589" y="133268"/>
                  </a:lnTo>
                  <a:lnTo>
                    <a:pt x="92509" y="128032"/>
                  </a:lnTo>
                  <a:lnTo>
                    <a:pt x="113675" y="113752"/>
                  </a:lnTo>
                  <a:lnTo>
                    <a:pt x="127945" y="92571"/>
                  </a:lnTo>
                  <a:lnTo>
                    <a:pt x="133178" y="66634"/>
                  </a:lnTo>
                  <a:lnTo>
                    <a:pt x="127945" y="40697"/>
                  </a:lnTo>
                  <a:lnTo>
                    <a:pt x="113675" y="19516"/>
                  </a:lnTo>
                  <a:lnTo>
                    <a:pt x="92509" y="5236"/>
                  </a:lnTo>
                  <a:lnTo>
                    <a:pt x="66589" y="0"/>
                  </a:lnTo>
                  <a:close/>
                </a:path>
              </a:pathLst>
            </a:custGeom>
            <a:solidFill>
              <a:srgbClr val="4DC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9701858" y="3683524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66634"/>
                  </a:moveTo>
                  <a:lnTo>
                    <a:pt x="5232" y="40697"/>
                  </a:lnTo>
                  <a:lnTo>
                    <a:pt x="19503" y="19516"/>
                  </a:lnTo>
                  <a:lnTo>
                    <a:pt x="40669" y="5236"/>
                  </a:lnTo>
                  <a:lnTo>
                    <a:pt x="66589" y="0"/>
                  </a:lnTo>
                  <a:lnTo>
                    <a:pt x="92508" y="5236"/>
                  </a:lnTo>
                  <a:lnTo>
                    <a:pt x="113674" y="19516"/>
                  </a:lnTo>
                  <a:lnTo>
                    <a:pt x="127945" y="40697"/>
                  </a:lnTo>
                  <a:lnTo>
                    <a:pt x="133178" y="66634"/>
                  </a:lnTo>
                  <a:lnTo>
                    <a:pt x="127945" y="92571"/>
                  </a:lnTo>
                  <a:lnTo>
                    <a:pt x="113674" y="113752"/>
                  </a:lnTo>
                  <a:lnTo>
                    <a:pt x="92508" y="128032"/>
                  </a:lnTo>
                  <a:lnTo>
                    <a:pt x="66589" y="133268"/>
                  </a:lnTo>
                  <a:lnTo>
                    <a:pt x="40669" y="128032"/>
                  </a:lnTo>
                  <a:lnTo>
                    <a:pt x="19503" y="113752"/>
                  </a:lnTo>
                  <a:lnTo>
                    <a:pt x="5232" y="92571"/>
                  </a:lnTo>
                  <a:lnTo>
                    <a:pt x="0" y="66634"/>
                  </a:lnTo>
                  <a:close/>
                </a:path>
              </a:pathLst>
            </a:custGeom>
            <a:ln w="325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9474676" y="3816624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66589" y="0"/>
                  </a:moveTo>
                  <a:lnTo>
                    <a:pt x="40670" y="5236"/>
                  </a:lnTo>
                  <a:lnTo>
                    <a:pt x="19503" y="19516"/>
                  </a:lnTo>
                  <a:lnTo>
                    <a:pt x="5232" y="40697"/>
                  </a:lnTo>
                  <a:lnTo>
                    <a:pt x="0" y="66634"/>
                  </a:lnTo>
                  <a:lnTo>
                    <a:pt x="5232" y="92571"/>
                  </a:lnTo>
                  <a:lnTo>
                    <a:pt x="19503" y="113751"/>
                  </a:lnTo>
                  <a:lnTo>
                    <a:pt x="40670" y="128032"/>
                  </a:lnTo>
                  <a:lnTo>
                    <a:pt x="66589" y="133268"/>
                  </a:lnTo>
                  <a:lnTo>
                    <a:pt x="92509" y="128032"/>
                  </a:lnTo>
                  <a:lnTo>
                    <a:pt x="113675" y="113751"/>
                  </a:lnTo>
                  <a:lnTo>
                    <a:pt x="127945" y="92571"/>
                  </a:lnTo>
                  <a:lnTo>
                    <a:pt x="133178" y="66634"/>
                  </a:lnTo>
                  <a:lnTo>
                    <a:pt x="127945" y="40697"/>
                  </a:lnTo>
                  <a:lnTo>
                    <a:pt x="113675" y="19516"/>
                  </a:lnTo>
                  <a:lnTo>
                    <a:pt x="92509" y="5236"/>
                  </a:lnTo>
                  <a:lnTo>
                    <a:pt x="66589" y="0"/>
                  </a:lnTo>
                  <a:close/>
                </a:path>
              </a:pathLst>
            </a:custGeom>
            <a:solidFill>
              <a:srgbClr val="4DC4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9474676" y="3816624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66634"/>
                  </a:moveTo>
                  <a:lnTo>
                    <a:pt x="5232" y="40697"/>
                  </a:lnTo>
                  <a:lnTo>
                    <a:pt x="19503" y="19516"/>
                  </a:lnTo>
                  <a:lnTo>
                    <a:pt x="40669" y="5236"/>
                  </a:lnTo>
                  <a:lnTo>
                    <a:pt x="66589" y="0"/>
                  </a:lnTo>
                  <a:lnTo>
                    <a:pt x="92508" y="5236"/>
                  </a:lnTo>
                  <a:lnTo>
                    <a:pt x="113674" y="19516"/>
                  </a:lnTo>
                  <a:lnTo>
                    <a:pt x="127945" y="40697"/>
                  </a:lnTo>
                  <a:lnTo>
                    <a:pt x="133178" y="66634"/>
                  </a:lnTo>
                  <a:lnTo>
                    <a:pt x="127945" y="92571"/>
                  </a:lnTo>
                  <a:lnTo>
                    <a:pt x="113674" y="113752"/>
                  </a:lnTo>
                  <a:lnTo>
                    <a:pt x="92508" y="128032"/>
                  </a:lnTo>
                  <a:lnTo>
                    <a:pt x="66589" y="133268"/>
                  </a:lnTo>
                  <a:lnTo>
                    <a:pt x="40669" y="128032"/>
                  </a:lnTo>
                  <a:lnTo>
                    <a:pt x="19503" y="113752"/>
                  </a:lnTo>
                  <a:lnTo>
                    <a:pt x="5232" y="92571"/>
                  </a:lnTo>
                  <a:lnTo>
                    <a:pt x="0" y="66634"/>
                  </a:lnTo>
                  <a:close/>
                </a:path>
              </a:pathLst>
            </a:custGeom>
            <a:ln w="32515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9143928" y="3411693"/>
              <a:ext cx="147955" cy="122555"/>
            </a:xfrm>
            <a:custGeom>
              <a:avLst/>
              <a:gdLst/>
              <a:ahLst/>
              <a:cxnLst/>
              <a:rect l="l" t="t" r="r" b="b"/>
              <a:pathLst>
                <a:path w="147954" h="122554">
                  <a:moveTo>
                    <a:pt x="147741" y="0"/>
                  </a:moveTo>
                  <a:lnTo>
                    <a:pt x="0" y="122257"/>
                  </a:lnTo>
                </a:path>
              </a:pathLst>
            </a:custGeom>
            <a:ln w="3251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9278239" y="3419302"/>
              <a:ext cx="17145" cy="229870"/>
            </a:xfrm>
            <a:custGeom>
              <a:avLst/>
              <a:gdLst/>
              <a:ahLst/>
              <a:cxnLst/>
              <a:rect l="l" t="t" r="r" b="b"/>
              <a:pathLst>
                <a:path w="17145" h="229870">
                  <a:moveTo>
                    <a:pt x="0" y="229293"/>
                  </a:moveTo>
                  <a:lnTo>
                    <a:pt x="16829" y="0"/>
                  </a:lnTo>
                </a:path>
              </a:pathLst>
            </a:custGeom>
            <a:ln w="32504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09531" y="3336651"/>
              <a:ext cx="165693" cy="165783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192804" y="3565788"/>
              <a:ext cx="165693" cy="165783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994492" y="3451058"/>
              <a:ext cx="165693" cy="165783"/>
            </a:xfrm>
            <a:prstGeom prst="rect">
              <a:avLst/>
            </a:prstGeom>
          </p:spPr>
        </p:pic>
      </p:grpSp>
      <p:sp>
        <p:nvSpPr>
          <p:cNvPr id="54" name="object 54" descr=""/>
          <p:cNvSpPr txBox="1"/>
          <p:nvPr/>
        </p:nvSpPr>
        <p:spPr>
          <a:xfrm>
            <a:off x="5333863" y="4621651"/>
            <a:ext cx="132651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31140" marR="5080" indent="-219075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Store</a:t>
            </a:r>
            <a:r>
              <a:rPr dirty="0" sz="16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5" name="object 55" descr=""/>
          <p:cNvGrpSpPr/>
          <p:nvPr/>
        </p:nvGrpSpPr>
        <p:grpSpPr>
          <a:xfrm>
            <a:off x="4662932" y="4542033"/>
            <a:ext cx="2667000" cy="1349375"/>
            <a:chOff x="4662932" y="4542033"/>
            <a:chExt cx="2667000" cy="1349375"/>
          </a:xfrm>
        </p:grpSpPr>
        <p:sp>
          <p:nvSpPr>
            <p:cNvPr id="56" name="object 56" descr=""/>
            <p:cNvSpPr/>
            <p:nvPr/>
          </p:nvSpPr>
          <p:spPr>
            <a:xfrm>
              <a:off x="5553288" y="5237932"/>
              <a:ext cx="909955" cy="637540"/>
            </a:xfrm>
            <a:custGeom>
              <a:avLst/>
              <a:gdLst/>
              <a:ahLst/>
              <a:cxnLst/>
              <a:rect l="l" t="t" r="r" b="b"/>
              <a:pathLst>
                <a:path w="909954" h="637539">
                  <a:moveTo>
                    <a:pt x="909431" y="0"/>
                  </a:moveTo>
                  <a:lnTo>
                    <a:pt x="858677" y="36715"/>
                  </a:lnTo>
                  <a:lnTo>
                    <a:pt x="821697" y="47183"/>
                  </a:lnTo>
                  <a:lnTo>
                    <a:pt x="776248" y="56492"/>
                  </a:lnTo>
                  <a:lnTo>
                    <a:pt x="723265" y="64478"/>
                  </a:lnTo>
                  <a:lnTo>
                    <a:pt x="663683" y="70975"/>
                  </a:lnTo>
                  <a:lnTo>
                    <a:pt x="598441" y="75820"/>
                  </a:lnTo>
                  <a:lnTo>
                    <a:pt x="528473" y="78847"/>
                  </a:lnTo>
                  <a:lnTo>
                    <a:pt x="454715" y="79893"/>
                  </a:lnTo>
                  <a:lnTo>
                    <a:pt x="380958" y="78847"/>
                  </a:lnTo>
                  <a:lnTo>
                    <a:pt x="310990" y="75820"/>
                  </a:lnTo>
                  <a:lnTo>
                    <a:pt x="245747" y="70975"/>
                  </a:lnTo>
                  <a:lnTo>
                    <a:pt x="186166" y="64478"/>
                  </a:lnTo>
                  <a:lnTo>
                    <a:pt x="133183" y="56492"/>
                  </a:lnTo>
                  <a:lnTo>
                    <a:pt x="87733" y="47183"/>
                  </a:lnTo>
                  <a:lnTo>
                    <a:pt x="50754" y="36715"/>
                  </a:lnTo>
                  <a:lnTo>
                    <a:pt x="5951" y="12959"/>
                  </a:lnTo>
                  <a:lnTo>
                    <a:pt x="0" y="0"/>
                  </a:lnTo>
                  <a:lnTo>
                    <a:pt x="0" y="557325"/>
                  </a:lnTo>
                  <a:lnTo>
                    <a:pt x="50754" y="594040"/>
                  </a:lnTo>
                  <a:lnTo>
                    <a:pt x="87733" y="604509"/>
                  </a:lnTo>
                  <a:lnTo>
                    <a:pt x="133183" y="613818"/>
                  </a:lnTo>
                  <a:lnTo>
                    <a:pt x="186166" y="621803"/>
                  </a:lnTo>
                  <a:lnTo>
                    <a:pt x="245747" y="628301"/>
                  </a:lnTo>
                  <a:lnTo>
                    <a:pt x="310990" y="633145"/>
                  </a:lnTo>
                  <a:lnTo>
                    <a:pt x="380958" y="636173"/>
                  </a:lnTo>
                  <a:lnTo>
                    <a:pt x="454715" y="637218"/>
                  </a:lnTo>
                  <a:lnTo>
                    <a:pt x="528473" y="636173"/>
                  </a:lnTo>
                  <a:lnTo>
                    <a:pt x="598441" y="633145"/>
                  </a:lnTo>
                  <a:lnTo>
                    <a:pt x="663683" y="628301"/>
                  </a:lnTo>
                  <a:lnTo>
                    <a:pt x="723265" y="621803"/>
                  </a:lnTo>
                  <a:lnTo>
                    <a:pt x="776248" y="613818"/>
                  </a:lnTo>
                  <a:lnTo>
                    <a:pt x="821697" y="604509"/>
                  </a:lnTo>
                  <a:lnTo>
                    <a:pt x="858677" y="594040"/>
                  </a:lnTo>
                  <a:lnTo>
                    <a:pt x="903480" y="570284"/>
                  </a:lnTo>
                  <a:lnTo>
                    <a:pt x="909431" y="557325"/>
                  </a:lnTo>
                  <a:lnTo>
                    <a:pt x="909431" y="0"/>
                  </a:lnTo>
                  <a:close/>
                </a:path>
              </a:pathLst>
            </a:custGeom>
            <a:solidFill>
              <a:srgbClr val="6DCCB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553288" y="5158040"/>
              <a:ext cx="909955" cy="160020"/>
            </a:xfrm>
            <a:custGeom>
              <a:avLst/>
              <a:gdLst/>
              <a:ahLst/>
              <a:cxnLst/>
              <a:rect l="l" t="t" r="r" b="b"/>
              <a:pathLst>
                <a:path w="909954" h="160020">
                  <a:moveTo>
                    <a:pt x="454715" y="0"/>
                  </a:moveTo>
                  <a:lnTo>
                    <a:pt x="380958" y="1045"/>
                  </a:lnTo>
                  <a:lnTo>
                    <a:pt x="310990" y="4072"/>
                  </a:lnTo>
                  <a:lnTo>
                    <a:pt x="245747" y="8917"/>
                  </a:lnTo>
                  <a:lnTo>
                    <a:pt x="186166" y="15414"/>
                  </a:lnTo>
                  <a:lnTo>
                    <a:pt x="133183" y="23399"/>
                  </a:lnTo>
                  <a:lnTo>
                    <a:pt x="87733" y="32708"/>
                  </a:lnTo>
                  <a:lnTo>
                    <a:pt x="50754" y="43176"/>
                  </a:lnTo>
                  <a:lnTo>
                    <a:pt x="5951" y="66932"/>
                  </a:lnTo>
                  <a:lnTo>
                    <a:pt x="0" y="79891"/>
                  </a:lnTo>
                  <a:lnTo>
                    <a:pt x="5951" y="92850"/>
                  </a:lnTo>
                  <a:lnTo>
                    <a:pt x="50754" y="116607"/>
                  </a:lnTo>
                  <a:lnTo>
                    <a:pt x="87733" y="127075"/>
                  </a:lnTo>
                  <a:lnTo>
                    <a:pt x="133183" y="136384"/>
                  </a:lnTo>
                  <a:lnTo>
                    <a:pt x="186166" y="144370"/>
                  </a:lnTo>
                  <a:lnTo>
                    <a:pt x="245747" y="150867"/>
                  </a:lnTo>
                  <a:lnTo>
                    <a:pt x="310990" y="155712"/>
                  </a:lnTo>
                  <a:lnTo>
                    <a:pt x="380958" y="158739"/>
                  </a:lnTo>
                  <a:lnTo>
                    <a:pt x="454715" y="159785"/>
                  </a:lnTo>
                  <a:lnTo>
                    <a:pt x="528473" y="158739"/>
                  </a:lnTo>
                  <a:lnTo>
                    <a:pt x="598441" y="155712"/>
                  </a:lnTo>
                  <a:lnTo>
                    <a:pt x="663683" y="150867"/>
                  </a:lnTo>
                  <a:lnTo>
                    <a:pt x="723265" y="144370"/>
                  </a:lnTo>
                  <a:lnTo>
                    <a:pt x="776248" y="136384"/>
                  </a:lnTo>
                  <a:lnTo>
                    <a:pt x="821697" y="127075"/>
                  </a:lnTo>
                  <a:lnTo>
                    <a:pt x="858677" y="116607"/>
                  </a:lnTo>
                  <a:lnTo>
                    <a:pt x="903480" y="92850"/>
                  </a:lnTo>
                  <a:lnTo>
                    <a:pt x="909431" y="79891"/>
                  </a:lnTo>
                  <a:lnTo>
                    <a:pt x="903480" y="66932"/>
                  </a:lnTo>
                  <a:lnTo>
                    <a:pt x="858677" y="43176"/>
                  </a:lnTo>
                  <a:lnTo>
                    <a:pt x="821697" y="32708"/>
                  </a:lnTo>
                  <a:lnTo>
                    <a:pt x="776248" y="23399"/>
                  </a:lnTo>
                  <a:lnTo>
                    <a:pt x="723265" y="15414"/>
                  </a:lnTo>
                  <a:lnTo>
                    <a:pt x="663683" y="8917"/>
                  </a:lnTo>
                  <a:lnTo>
                    <a:pt x="598441" y="4072"/>
                  </a:lnTo>
                  <a:lnTo>
                    <a:pt x="528473" y="1045"/>
                  </a:lnTo>
                  <a:lnTo>
                    <a:pt x="454715" y="0"/>
                  </a:lnTo>
                  <a:close/>
                </a:path>
              </a:pathLst>
            </a:custGeom>
            <a:solidFill>
              <a:srgbClr val="A7E0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5553288" y="5158040"/>
              <a:ext cx="909955" cy="717550"/>
            </a:xfrm>
            <a:custGeom>
              <a:avLst/>
              <a:gdLst/>
              <a:ahLst/>
              <a:cxnLst/>
              <a:rect l="l" t="t" r="r" b="b"/>
              <a:pathLst>
                <a:path w="909954" h="717550">
                  <a:moveTo>
                    <a:pt x="909431" y="79892"/>
                  </a:moveTo>
                  <a:lnTo>
                    <a:pt x="858676" y="116608"/>
                  </a:lnTo>
                  <a:lnTo>
                    <a:pt x="821697" y="127076"/>
                  </a:lnTo>
                  <a:lnTo>
                    <a:pt x="776248" y="136385"/>
                  </a:lnTo>
                  <a:lnTo>
                    <a:pt x="723264" y="144371"/>
                  </a:lnTo>
                  <a:lnTo>
                    <a:pt x="663683" y="150868"/>
                  </a:lnTo>
                  <a:lnTo>
                    <a:pt x="598440" y="155713"/>
                  </a:lnTo>
                  <a:lnTo>
                    <a:pt x="528472" y="158740"/>
                  </a:lnTo>
                  <a:lnTo>
                    <a:pt x="454715" y="159786"/>
                  </a:lnTo>
                  <a:lnTo>
                    <a:pt x="380958" y="158740"/>
                  </a:lnTo>
                  <a:lnTo>
                    <a:pt x="310990" y="155713"/>
                  </a:lnTo>
                  <a:lnTo>
                    <a:pt x="245747" y="150868"/>
                  </a:lnTo>
                  <a:lnTo>
                    <a:pt x="186166" y="144371"/>
                  </a:lnTo>
                  <a:lnTo>
                    <a:pt x="133183" y="136385"/>
                  </a:lnTo>
                  <a:lnTo>
                    <a:pt x="87733" y="127076"/>
                  </a:lnTo>
                  <a:lnTo>
                    <a:pt x="50754" y="116608"/>
                  </a:lnTo>
                  <a:lnTo>
                    <a:pt x="5951" y="92852"/>
                  </a:lnTo>
                  <a:lnTo>
                    <a:pt x="0" y="79892"/>
                  </a:lnTo>
                  <a:lnTo>
                    <a:pt x="5951" y="66933"/>
                  </a:lnTo>
                  <a:lnTo>
                    <a:pt x="50754" y="43177"/>
                  </a:lnTo>
                  <a:lnTo>
                    <a:pt x="87733" y="32709"/>
                  </a:lnTo>
                  <a:lnTo>
                    <a:pt x="133183" y="23400"/>
                  </a:lnTo>
                  <a:lnTo>
                    <a:pt x="186166" y="15414"/>
                  </a:lnTo>
                  <a:lnTo>
                    <a:pt x="245747" y="8917"/>
                  </a:lnTo>
                  <a:lnTo>
                    <a:pt x="310990" y="4072"/>
                  </a:lnTo>
                  <a:lnTo>
                    <a:pt x="380958" y="1045"/>
                  </a:lnTo>
                  <a:lnTo>
                    <a:pt x="454715" y="0"/>
                  </a:lnTo>
                  <a:lnTo>
                    <a:pt x="528472" y="1045"/>
                  </a:lnTo>
                  <a:lnTo>
                    <a:pt x="598440" y="4072"/>
                  </a:lnTo>
                  <a:lnTo>
                    <a:pt x="663683" y="8917"/>
                  </a:lnTo>
                  <a:lnTo>
                    <a:pt x="723264" y="15414"/>
                  </a:lnTo>
                  <a:lnTo>
                    <a:pt x="776248" y="23400"/>
                  </a:lnTo>
                  <a:lnTo>
                    <a:pt x="821697" y="32709"/>
                  </a:lnTo>
                  <a:lnTo>
                    <a:pt x="858676" y="43177"/>
                  </a:lnTo>
                  <a:lnTo>
                    <a:pt x="903479" y="66933"/>
                  </a:lnTo>
                  <a:lnTo>
                    <a:pt x="909431" y="79892"/>
                  </a:lnTo>
                  <a:lnTo>
                    <a:pt x="909431" y="637218"/>
                  </a:lnTo>
                  <a:lnTo>
                    <a:pt x="858676" y="673933"/>
                  </a:lnTo>
                  <a:lnTo>
                    <a:pt x="821697" y="684401"/>
                  </a:lnTo>
                  <a:lnTo>
                    <a:pt x="776248" y="693710"/>
                  </a:lnTo>
                  <a:lnTo>
                    <a:pt x="723264" y="701696"/>
                  </a:lnTo>
                  <a:lnTo>
                    <a:pt x="663683" y="708193"/>
                  </a:lnTo>
                  <a:lnTo>
                    <a:pt x="598440" y="713038"/>
                  </a:lnTo>
                  <a:lnTo>
                    <a:pt x="528472" y="716065"/>
                  </a:lnTo>
                  <a:lnTo>
                    <a:pt x="454715" y="717111"/>
                  </a:lnTo>
                  <a:lnTo>
                    <a:pt x="380958" y="716065"/>
                  </a:lnTo>
                  <a:lnTo>
                    <a:pt x="310990" y="713038"/>
                  </a:lnTo>
                  <a:lnTo>
                    <a:pt x="245747" y="708193"/>
                  </a:lnTo>
                  <a:lnTo>
                    <a:pt x="186166" y="701696"/>
                  </a:lnTo>
                  <a:lnTo>
                    <a:pt x="133183" y="693710"/>
                  </a:lnTo>
                  <a:lnTo>
                    <a:pt x="87733" y="684401"/>
                  </a:lnTo>
                  <a:lnTo>
                    <a:pt x="50754" y="673933"/>
                  </a:lnTo>
                  <a:lnTo>
                    <a:pt x="5951" y="650177"/>
                  </a:lnTo>
                  <a:lnTo>
                    <a:pt x="0" y="637218"/>
                  </a:lnTo>
                  <a:lnTo>
                    <a:pt x="0" y="79892"/>
                  </a:lnTo>
                </a:path>
              </a:pathLst>
            </a:custGeom>
            <a:ln w="32517">
              <a:solidFill>
                <a:srgbClr val="66666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46140" y="5410713"/>
              <a:ext cx="377951" cy="381000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674868" y="5349753"/>
              <a:ext cx="499872" cy="499871"/>
            </a:xfrm>
            <a:prstGeom prst="rect">
              <a:avLst/>
            </a:prstGeom>
          </p:spPr>
        </p:pic>
        <p:pic>
          <p:nvPicPr>
            <p:cNvPr id="61" name="object 61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662932" y="4542033"/>
              <a:ext cx="576072" cy="630936"/>
            </a:xfrm>
            <a:prstGeom prst="rect">
              <a:avLst/>
            </a:prstGeom>
          </p:spPr>
        </p:pic>
        <p:pic>
          <p:nvPicPr>
            <p:cNvPr id="62" name="object 6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726940" y="4584705"/>
              <a:ext cx="448056" cy="502919"/>
            </a:xfrm>
            <a:prstGeom prst="rect">
              <a:avLst/>
            </a:prstGeom>
          </p:spPr>
        </p:pic>
        <p:pic>
          <p:nvPicPr>
            <p:cNvPr id="63" name="object 6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753860" y="4590801"/>
              <a:ext cx="576072" cy="630936"/>
            </a:xfrm>
            <a:prstGeom prst="rect">
              <a:avLst/>
            </a:prstGeom>
          </p:spPr>
        </p:pic>
        <p:pic>
          <p:nvPicPr>
            <p:cNvPr id="64" name="object 64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17867" y="4633473"/>
              <a:ext cx="448055" cy="502919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66" name="object 66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4977" y="6412907"/>
            <a:ext cx="1019810" cy="113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</a:pP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re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33773" y="6412907"/>
            <a:ext cx="107314" cy="113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</a:pPr>
            <a:r>
              <a:rPr dirty="0" sz="800" spc="-35">
                <a:latin typeface="Arial"/>
                <a:cs typeface="Arial"/>
              </a:rPr>
              <a:t>se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140331" y="6412907"/>
            <a:ext cx="450850" cy="113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</a:pPr>
            <a:r>
              <a:rPr dirty="0" sz="800">
                <a:latin typeface="Arial"/>
                <a:cs typeface="Arial"/>
              </a:rPr>
              <a:t>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grpSp>
        <p:nvGrpSpPr>
          <p:cNvPr id="6" name="object 6" descr=""/>
          <p:cNvGrpSpPr/>
          <p:nvPr/>
        </p:nvGrpSpPr>
        <p:grpSpPr>
          <a:xfrm>
            <a:off x="8634962" y="5378425"/>
            <a:ext cx="1740535" cy="1200150"/>
            <a:chOff x="8634962" y="5378425"/>
            <a:chExt cx="1740535" cy="1200150"/>
          </a:xfrm>
        </p:grpSpPr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6995" y="6340353"/>
              <a:ext cx="627888" cy="23774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8634962" y="5378425"/>
              <a:ext cx="1738630" cy="1174750"/>
            </a:xfrm>
            <a:custGeom>
              <a:avLst/>
              <a:gdLst/>
              <a:ahLst/>
              <a:cxnLst/>
              <a:rect l="l" t="t" r="r" b="b"/>
              <a:pathLst>
                <a:path w="1738629" h="1174750">
                  <a:moveTo>
                    <a:pt x="1738327" y="0"/>
                  </a:moveTo>
                  <a:lnTo>
                    <a:pt x="0" y="0"/>
                  </a:lnTo>
                  <a:lnTo>
                    <a:pt x="0" y="1174696"/>
                  </a:lnTo>
                  <a:lnTo>
                    <a:pt x="1738327" y="1174696"/>
                  </a:lnTo>
                  <a:lnTo>
                    <a:pt x="1738327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139728" y="850876"/>
            <a:ext cx="396875" cy="5854700"/>
          </a:xfrm>
          <a:prstGeom prst="rect">
            <a:avLst/>
          </a:prstGeom>
          <a:solidFill>
            <a:srgbClr val="018B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29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Neo4j</a:t>
            </a:r>
            <a:r>
              <a:rPr dirty="0" spc="5"/>
              <a:t> </a:t>
            </a:r>
            <a:r>
              <a:rPr dirty="0"/>
              <a:t>is</a:t>
            </a:r>
            <a:r>
              <a:rPr dirty="0" spc="5"/>
              <a:t> </a:t>
            </a:r>
            <a:r>
              <a:rPr dirty="0"/>
              <a:t>part</a:t>
            </a:r>
            <a:r>
              <a:rPr dirty="0" spc="5"/>
              <a:t> </a:t>
            </a:r>
            <a:r>
              <a:rPr dirty="0"/>
              <a:t>of your data</a:t>
            </a:r>
            <a:r>
              <a:rPr dirty="0" spc="5"/>
              <a:t> </a:t>
            </a:r>
            <a:r>
              <a:rPr dirty="0" spc="-10"/>
              <a:t>ecosystem</a:t>
            </a:r>
          </a:p>
        </p:txBody>
      </p:sp>
      <p:grpSp>
        <p:nvGrpSpPr>
          <p:cNvPr id="11" name="object 11" descr=""/>
          <p:cNvGrpSpPr/>
          <p:nvPr/>
        </p:nvGrpSpPr>
        <p:grpSpPr>
          <a:xfrm>
            <a:off x="726488" y="2020537"/>
            <a:ext cx="2925445" cy="4590415"/>
            <a:chOff x="726488" y="2020537"/>
            <a:chExt cx="2925445" cy="4590415"/>
          </a:xfrm>
        </p:grpSpPr>
        <p:sp>
          <p:nvSpPr>
            <p:cNvPr id="12" name="object 12" descr=""/>
            <p:cNvSpPr/>
            <p:nvPr/>
          </p:nvSpPr>
          <p:spPr>
            <a:xfrm>
              <a:off x="726488" y="2020537"/>
              <a:ext cx="1333500" cy="4574540"/>
            </a:xfrm>
            <a:custGeom>
              <a:avLst/>
              <a:gdLst/>
              <a:ahLst/>
              <a:cxnLst/>
              <a:rect l="l" t="t" r="r" b="b"/>
              <a:pathLst>
                <a:path w="1333500" h="4574540">
                  <a:moveTo>
                    <a:pt x="1333263" y="0"/>
                  </a:moveTo>
                  <a:lnTo>
                    <a:pt x="0" y="0"/>
                  </a:lnTo>
                  <a:lnTo>
                    <a:pt x="0" y="4574145"/>
                  </a:lnTo>
                  <a:lnTo>
                    <a:pt x="1333263" y="4574145"/>
                  </a:lnTo>
                  <a:lnTo>
                    <a:pt x="1333263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20650" y="6136570"/>
              <a:ext cx="1114425" cy="389255"/>
            </a:xfrm>
            <a:custGeom>
              <a:avLst/>
              <a:gdLst/>
              <a:ahLst/>
              <a:cxnLst/>
              <a:rect l="l" t="t" r="r" b="b"/>
              <a:pathLst>
                <a:path w="1114425" h="389254">
                  <a:moveTo>
                    <a:pt x="1113839" y="0"/>
                  </a:moveTo>
                  <a:lnTo>
                    <a:pt x="0" y="0"/>
                  </a:lnTo>
                  <a:lnTo>
                    <a:pt x="0" y="388946"/>
                  </a:lnTo>
                  <a:lnTo>
                    <a:pt x="1113839" y="388946"/>
                  </a:lnTo>
                  <a:lnTo>
                    <a:pt x="11138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129896" y="2036308"/>
              <a:ext cx="1522095" cy="4574540"/>
            </a:xfrm>
            <a:custGeom>
              <a:avLst/>
              <a:gdLst/>
              <a:ahLst/>
              <a:cxnLst/>
              <a:rect l="l" t="t" r="r" b="b"/>
              <a:pathLst>
                <a:path w="1522095" h="4574540">
                  <a:moveTo>
                    <a:pt x="1521632" y="0"/>
                  </a:moveTo>
                  <a:lnTo>
                    <a:pt x="0" y="0"/>
                  </a:lnTo>
                  <a:lnTo>
                    <a:pt x="0" y="4574145"/>
                  </a:lnTo>
                  <a:lnTo>
                    <a:pt x="1521632" y="4574145"/>
                  </a:lnTo>
                  <a:lnTo>
                    <a:pt x="1521632" y="0"/>
                  </a:lnTo>
                  <a:close/>
                </a:path>
              </a:pathLst>
            </a:custGeom>
            <a:solidFill>
              <a:srgbClr val="F7F7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97100" y="2469393"/>
              <a:ext cx="1362455" cy="4066032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2270121" y="2519921"/>
              <a:ext cx="1218565" cy="3921760"/>
            </a:xfrm>
            <a:custGeom>
              <a:avLst/>
              <a:gdLst/>
              <a:ahLst/>
              <a:cxnLst/>
              <a:rect l="l" t="t" r="r" b="b"/>
              <a:pathLst>
                <a:path w="1218564" h="3921760">
                  <a:moveTo>
                    <a:pt x="1015215" y="0"/>
                  </a:moveTo>
                  <a:lnTo>
                    <a:pt x="203047" y="0"/>
                  </a:lnTo>
                  <a:lnTo>
                    <a:pt x="156490" y="5366"/>
                  </a:lnTo>
                  <a:lnTo>
                    <a:pt x="113752" y="20651"/>
                  </a:lnTo>
                  <a:lnTo>
                    <a:pt x="76051" y="44637"/>
                  </a:lnTo>
                  <a:lnTo>
                    <a:pt x="44607" y="76103"/>
                  </a:lnTo>
                  <a:lnTo>
                    <a:pt x="20638" y="113829"/>
                  </a:lnTo>
                  <a:lnTo>
                    <a:pt x="5362" y="156596"/>
                  </a:lnTo>
                  <a:lnTo>
                    <a:pt x="0" y="203184"/>
                  </a:lnTo>
                  <a:lnTo>
                    <a:pt x="0" y="3718388"/>
                  </a:lnTo>
                  <a:lnTo>
                    <a:pt x="5362" y="3764976"/>
                  </a:lnTo>
                  <a:lnTo>
                    <a:pt x="20638" y="3807743"/>
                  </a:lnTo>
                  <a:lnTo>
                    <a:pt x="44607" y="3845470"/>
                  </a:lnTo>
                  <a:lnTo>
                    <a:pt x="76051" y="3876935"/>
                  </a:lnTo>
                  <a:lnTo>
                    <a:pt x="113752" y="3900921"/>
                  </a:lnTo>
                  <a:lnTo>
                    <a:pt x="156490" y="3916206"/>
                  </a:lnTo>
                  <a:lnTo>
                    <a:pt x="203047" y="3921573"/>
                  </a:lnTo>
                  <a:lnTo>
                    <a:pt x="1015215" y="3921573"/>
                  </a:lnTo>
                  <a:lnTo>
                    <a:pt x="1061771" y="3916206"/>
                  </a:lnTo>
                  <a:lnTo>
                    <a:pt x="1104510" y="3900921"/>
                  </a:lnTo>
                  <a:lnTo>
                    <a:pt x="1142210" y="3876935"/>
                  </a:lnTo>
                  <a:lnTo>
                    <a:pt x="1173655" y="3845470"/>
                  </a:lnTo>
                  <a:lnTo>
                    <a:pt x="1197624" y="3807743"/>
                  </a:lnTo>
                  <a:lnTo>
                    <a:pt x="1212900" y="3764976"/>
                  </a:lnTo>
                  <a:lnTo>
                    <a:pt x="1218262" y="3718388"/>
                  </a:lnTo>
                  <a:lnTo>
                    <a:pt x="1218262" y="203184"/>
                  </a:lnTo>
                  <a:lnTo>
                    <a:pt x="1212900" y="156596"/>
                  </a:lnTo>
                  <a:lnTo>
                    <a:pt x="1197624" y="113829"/>
                  </a:lnTo>
                  <a:lnTo>
                    <a:pt x="1173655" y="76103"/>
                  </a:lnTo>
                  <a:lnTo>
                    <a:pt x="1142210" y="44637"/>
                  </a:lnTo>
                  <a:lnTo>
                    <a:pt x="1104510" y="20651"/>
                  </a:lnTo>
                  <a:lnTo>
                    <a:pt x="1061771" y="5366"/>
                  </a:lnTo>
                  <a:lnTo>
                    <a:pt x="101521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270121" y="2519921"/>
              <a:ext cx="1218565" cy="3921760"/>
            </a:xfrm>
            <a:custGeom>
              <a:avLst/>
              <a:gdLst/>
              <a:ahLst/>
              <a:cxnLst/>
              <a:rect l="l" t="t" r="r" b="b"/>
              <a:pathLst>
                <a:path w="1218564" h="3921760">
                  <a:moveTo>
                    <a:pt x="0" y="203185"/>
                  </a:moveTo>
                  <a:lnTo>
                    <a:pt x="5362" y="156596"/>
                  </a:lnTo>
                  <a:lnTo>
                    <a:pt x="20637" y="113829"/>
                  </a:lnTo>
                  <a:lnTo>
                    <a:pt x="44607" y="76103"/>
                  </a:lnTo>
                  <a:lnTo>
                    <a:pt x="76051" y="44637"/>
                  </a:lnTo>
                  <a:lnTo>
                    <a:pt x="113752" y="20651"/>
                  </a:lnTo>
                  <a:lnTo>
                    <a:pt x="156490" y="5366"/>
                  </a:lnTo>
                  <a:lnTo>
                    <a:pt x="203047" y="0"/>
                  </a:lnTo>
                  <a:lnTo>
                    <a:pt x="1015215" y="0"/>
                  </a:lnTo>
                  <a:lnTo>
                    <a:pt x="1061772" y="5366"/>
                  </a:lnTo>
                  <a:lnTo>
                    <a:pt x="1104510" y="20651"/>
                  </a:lnTo>
                  <a:lnTo>
                    <a:pt x="1142210" y="44637"/>
                  </a:lnTo>
                  <a:lnTo>
                    <a:pt x="1173655" y="76103"/>
                  </a:lnTo>
                  <a:lnTo>
                    <a:pt x="1197624" y="113829"/>
                  </a:lnTo>
                  <a:lnTo>
                    <a:pt x="1212899" y="156596"/>
                  </a:lnTo>
                  <a:lnTo>
                    <a:pt x="1218262" y="203185"/>
                  </a:lnTo>
                  <a:lnTo>
                    <a:pt x="1218262" y="3718388"/>
                  </a:lnTo>
                  <a:lnTo>
                    <a:pt x="1212899" y="3764976"/>
                  </a:lnTo>
                  <a:lnTo>
                    <a:pt x="1197624" y="3807744"/>
                  </a:lnTo>
                  <a:lnTo>
                    <a:pt x="1173655" y="3845470"/>
                  </a:lnTo>
                  <a:lnTo>
                    <a:pt x="1142210" y="3876935"/>
                  </a:lnTo>
                  <a:lnTo>
                    <a:pt x="1104510" y="3900921"/>
                  </a:lnTo>
                  <a:lnTo>
                    <a:pt x="1061772" y="3916207"/>
                  </a:lnTo>
                  <a:lnTo>
                    <a:pt x="1015215" y="3921573"/>
                  </a:lnTo>
                  <a:lnTo>
                    <a:pt x="203047" y="3921573"/>
                  </a:lnTo>
                  <a:lnTo>
                    <a:pt x="156490" y="3916207"/>
                  </a:lnTo>
                  <a:lnTo>
                    <a:pt x="113752" y="3900921"/>
                  </a:lnTo>
                  <a:lnTo>
                    <a:pt x="76051" y="3876935"/>
                  </a:lnTo>
                  <a:lnTo>
                    <a:pt x="44607" y="3845470"/>
                  </a:lnTo>
                  <a:lnTo>
                    <a:pt x="20637" y="3807744"/>
                  </a:lnTo>
                  <a:lnTo>
                    <a:pt x="5362" y="3764976"/>
                  </a:lnTo>
                  <a:lnTo>
                    <a:pt x="0" y="3718388"/>
                  </a:lnTo>
                  <a:lnTo>
                    <a:pt x="0" y="203185"/>
                  </a:lnTo>
                  <a:close/>
                </a:path>
              </a:pathLst>
            </a:custGeom>
            <a:ln w="10835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9652" y="2637033"/>
              <a:ext cx="320040" cy="652272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8420" y="3642873"/>
              <a:ext cx="445007" cy="51511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10716" y="4386585"/>
              <a:ext cx="417576" cy="45415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4827" y="3353313"/>
              <a:ext cx="420623" cy="47243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45540" y="3383793"/>
              <a:ext cx="381000" cy="441960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517139" y="3941577"/>
              <a:ext cx="783336" cy="48463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87827" y="3118617"/>
              <a:ext cx="399288" cy="420624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29588" y="2487681"/>
              <a:ext cx="320039" cy="652272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45540" y="5514345"/>
              <a:ext cx="548640" cy="472440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307084" y="5959353"/>
              <a:ext cx="344423" cy="268224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84452" y="5694177"/>
              <a:ext cx="399288" cy="341376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821611" y="2341906"/>
              <a:ext cx="277495" cy="4168775"/>
            </a:xfrm>
            <a:custGeom>
              <a:avLst/>
              <a:gdLst/>
              <a:ahLst/>
              <a:cxnLst/>
              <a:rect l="l" t="t" r="r" b="b"/>
              <a:pathLst>
                <a:path w="277494" h="4168775">
                  <a:moveTo>
                    <a:pt x="0" y="3907650"/>
                  </a:moveTo>
                  <a:lnTo>
                    <a:pt x="128800" y="4168464"/>
                  </a:lnTo>
                  <a:lnTo>
                    <a:pt x="238312" y="3951826"/>
                  </a:lnTo>
                  <a:lnTo>
                    <a:pt x="173150" y="3951826"/>
                  </a:lnTo>
                  <a:lnTo>
                    <a:pt x="86474" y="3951421"/>
                  </a:lnTo>
                  <a:lnTo>
                    <a:pt x="86672" y="3908865"/>
                  </a:lnTo>
                  <a:lnTo>
                    <a:pt x="86676" y="3908055"/>
                  </a:lnTo>
                  <a:lnTo>
                    <a:pt x="0" y="3907650"/>
                  </a:lnTo>
                  <a:close/>
                </a:path>
                <a:path w="277494" h="4168775">
                  <a:moveTo>
                    <a:pt x="86676" y="3908055"/>
                  </a:moveTo>
                  <a:lnTo>
                    <a:pt x="86474" y="3951421"/>
                  </a:lnTo>
                  <a:lnTo>
                    <a:pt x="173150" y="3951826"/>
                  </a:lnTo>
                  <a:lnTo>
                    <a:pt x="173351" y="3908865"/>
                  </a:lnTo>
                  <a:lnTo>
                    <a:pt x="173353" y="3908460"/>
                  </a:lnTo>
                  <a:lnTo>
                    <a:pt x="86676" y="3908055"/>
                  </a:lnTo>
                  <a:close/>
                </a:path>
                <a:path w="277494" h="4168775">
                  <a:moveTo>
                    <a:pt x="173353" y="3908460"/>
                  </a:moveTo>
                  <a:lnTo>
                    <a:pt x="173152" y="3951421"/>
                  </a:lnTo>
                  <a:lnTo>
                    <a:pt x="173150" y="3951826"/>
                  </a:lnTo>
                  <a:lnTo>
                    <a:pt x="238312" y="3951826"/>
                  </a:lnTo>
                  <a:lnTo>
                    <a:pt x="260029" y="3908865"/>
                  </a:lnTo>
                  <a:lnTo>
                    <a:pt x="173353" y="3908460"/>
                  </a:lnTo>
                  <a:close/>
                </a:path>
                <a:path w="277494" h="4168775">
                  <a:moveTo>
                    <a:pt x="103699" y="260003"/>
                  </a:moveTo>
                  <a:lnTo>
                    <a:pt x="86678" y="3907650"/>
                  </a:lnTo>
                  <a:lnTo>
                    <a:pt x="86676" y="3908055"/>
                  </a:lnTo>
                  <a:lnTo>
                    <a:pt x="173353" y="3908460"/>
                  </a:lnTo>
                  <a:lnTo>
                    <a:pt x="190374" y="260813"/>
                  </a:lnTo>
                  <a:lnTo>
                    <a:pt x="190375" y="260408"/>
                  </a:lnTo>
                  <a:lnTo>
                    <a:pt x="103699" y="260003"/>
                  </a:lnTo>
                  <a:close/>
                </a:path>
                <a:path w="277494" h="4168775">
                  <a:moveTo>
                    <a:pt x="255233" y="216631"/>
                  </a:moveTo>
                  <a:lnTo>
                    <a:pt x="103901" y="216631"/>
                  </a:lnTo>
                  <a:lnTo>
                    <a:pt x="190578" y="217036"/>
                  </a:lnTo>
                  <a:lnTo>
                    <a:pt x="190379" y="259598"/>
                  </a:lnTo>
                  <a:lnTo>
                    <a:pt x="190375" y="260408"/>
                  </a:lnTo>
                  <a:lnTo>
                    <a:pt x="277052" y="260813"/>
                  </a:lnTo>
                  <a:lnTo>
                    <a:pt x="255233" y="216631"/>
                  </a:lnTo>
                  <a:close/>
                </a:path>
                <a:path w="277494" h="4168775">
                  <a:moveTo>
                    <a:pt x="103901" y="216631"/>
                  </a:moveTo>
                  <a:lnTo>
                    <a:pt x="103701" y="259598"/>
                  </a:lnTo>
                  <a:lnTo>
                    <a:pt x="103699" y="260003"/>
                  </a:lnTo>
                  <a:lnTo>
                    <a:pt x="190375" y="260408"/>
                  </a:lnTo>
                  <a:lnTo>
                    <a:pt x="190578" y="217036"/>
                  </a:lnTo>
                  <a:lnTo>
                    <a:pt x="103901" y="216631"/>
                  </a:lnTo>
                  <a:close/>
                </a:path>
                <a:path w="277494" h="4168775">
                  <a:moveTo>
                    <a:pt x="148251" y="0"/>
                  </a:moveTo>
                  <a:lnTo>
                    <a:pt x="17022" y="259598"/>
                  </a:lnTo>
                  <a:lnTo>
                    <a:pt x="103699" y="260003"/>
                  </a:lnTo>
                  <a:lnTo>
                    <a:pt x="103899" y="217036"/>
                  </a:lnTo>
                  <a:lnTo>
                    <a:pt x="103901" y="216631"/>
                  </a:lnTo>
                  <a:lnTo>
                    <a:pt x="255233" y="216631"/>
                  </a:lnTo>
                  <a:lnTo>
                    <a:pt x="148251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87500" y="4855977"/>
              <a:ext cx="246887" cy="201168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86331" y="4910841"/>
              <a:ext cx="249936" cy="201168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726488" y="2020537"/>
            <a:ext cx="1333500" cy="457454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203835">
              <a:lnSpc>
                <a:spcPct val="100000"/>
              </a:lnSpc>
              <a:spcBef>
                <a:spcPts val="975"/>
              </a:spcBef>
            </a:pPr>
            <a:r>
              <a:rPr dirty="0" sz="900" b="1">
                <a:solidFill>
                  <a:srgbClr val="0078D7"/>
                </a:solidFill>
                <a:latin typeface="Arial"/>
                <a:cs typeface="Arial"/>
              </a:rPr>
              <a:t>DATA</a:t>
            </a:r>
            <a:r>
              <a:rPr dirty="0" sz="900" spc="-15" b="1">
                <a:solidFill>
                  <a:srgbClr val="0078D7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78D7"/>
                </a:solidFill>
                <a:latin typeface="Arial"/>
                <a:cs typeface="Arial"/>
              </a:rPr>
              <a:t>SOURCES</a:t>
            </a:r>
            <a:endParaRPr sz="900">
              <a:latin typeface="Arial"/>
              <a:cs typeface="Arial"/>
            </a:endParaRPr>
          </a:p>
          <a:p>
            <a:pPr marL="479425">
              <a:lnSpc>
                <a:spcPct val="100000"/>
              </a:lnSpc>
              <a:spcBef>
                <a:spcPts val="960"/>
              </a:spcBef>
            </a:pPr>
            <a:r>
              <a:rPr dirty="0" sz="1000" spc="-10">
                <a:latin typeface="Arial"/>
                <a:cs typeface="Arial"/>
              </a:rPr>
              <a:t>Structured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00">
              <a:latin typeface="Arial"/>
              <a:cs typeface="Arial"/>
            </a:endParaRPr>
          </a:p>
          <a:p>
            <a:pPr marL="638175">
              <a:lnSpc>
                <a:spcPct val="100000"/>
              </a:lnSpc>
            </a:pPr>
            <a:r>
              <a:rPr dirty="0" sz="800" spc="-10">
                <a:solidFill>
                  <a:srgbClr val="505050"/>
                </a:solidFill>
                <a:latin typeface="Arial"/>
                <a:cs typeface="Arial"/>
              </a:rPr>
              <a:t>Ontologies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800">
              <a:latin typeface="Arial"/>
              <a:cs typeface="Arial"/>
            </a:endParaRPr>
          </a:p>
          <a:p>
            <a:pPr marL="484505">
              <a:lnSpc>
                <a:spcPct val="100000"/>
              </a:lnSpc>
            </a:pPr>
            <a:r>
              <a:rPr dirty="0" sz="1000" spc="-10">
                <a:latin typeface="Arial"/>
                <a:cs typeface="Arial"/>
              </a:rPr>
              <a:t>Unstructured</a:t>
            </a:r>
            <a:endParaRPr sz="1000">
              <a:latin typeface="Arial"/>
              <a:cs typeface="Arial"/>
            </a:endParaRPr>
          </a:p>
        </p:txBody>
      </p:sp>
      <p:sp>
        <p:nvSpPr>
          <p:cNvPr id="33" name="object 33" descr=""/>
          <p:cNvSpPr/>
          <p:nvPr/>
        </p:nvSpPr>
        <p:spPr>
          <a:xfrm>
            <a:off x="6861389" y="2046821"/>
            <a:ext cx="1666875" cy="4521200"/>
          </a:xfrm>
          <a:custGeom>
            <a:avLst/>
            <a:gdLst/>
            <a:ahLst/>
            <a:cxnLst/>
            <a:rect l="l" t="t" r="r" b="b"/>
            <a:pathLst>
              <a:path w="1666875" h="4521200">
                <a:moveTo>
                  <a:pt x="1666323" y="0"/>
                </a:moveTo>
                <a:lnTo>
                  <a:pt x="0" y="0"/>
                </a:lnTo>
                <a:lnTo>
                  <a:pt x="0" y="4520873"/>
                </a:lnTo>
                <a:lnTo>
                  <a:pt x="1666323" y="4520873"/>
                </a:lnTo>
                <a:lnTo>
                  <a:pt x="1666323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 txBox="1"/>
          <p:nvPr/>
        </p:nvSpPr>
        <p:spPr>
          <a:xfrm>
            <a:off x="7346878" y="2159435"/>
            <a:ext cx="6946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78D7"/>
                </a:solidFill>
                <a:latin typeface="Arial"/>
                <a:cs typeface="Arial"/>
              </a:rPr>
              <a:t>USE</a:t>
            </a:r>
            <a:r>
              <a:rPr dirty="0" sz="900" spc="5" b="1">
                <a:solidFill>
                  <a:srgbClr val="0078D7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78D7"/>
                </a:solidFill>
                <a:latin typeface="Arial"/>
                <a:cs typeface="Arial"/>
              </a:rPr>
              <a:t>CASES</a:t>
            </a:r>
            <a:endParaRPr sz="900">
              <a:latin typeface="Arial"/>
              <a:cs typeface="Arial"/>
            </a:endParaRPr>
          </a:p>
        </p:txBody>
      </p:sp>
      <p:sp>
        <p:nvSpPr>
          <p:cNvPr id="35" name="object 35" descr=""/>
          <p:cNvSpPr/>
          <p:nvPr/>
        </p:nvSpPr>
        <p:spPr>
          <a:xfrm>
            <a:off x="6878688" y="2330479"/>
            <a:ext cx="282575" cy="2082164"/>
          </a:xfrm>
          <a:custGeom>
            <a:avLst/>
            <a:gdLst/>
            <a:ahLst/>
            <a:cxnLst/>
            <a:rect l="l" t="t" r="r" b="b"/>
            <a:pathLst>
              <a:path w="282575" h="2082164">
                <a:moveTo>
                  <a:pt x="282554" y="0"/>
                </a:moveTo>
                <a:lnTo>
                  <a:pt x="0" y="0"/>
                </a:lnTo>
                <a:lnTo>
                  <a:pt x="0" y="2081670"/>
                </a:lnTo>
                <a:lnTo>
                  <a:pt x="282554" y="2081670"/>
                </a:lnTo>
                <a:lnTo>
                  <a:pt x="282554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 txBox="1"/>
          <p:nvPr/>
        </p:nvSpPr>
        <p:spPr>
          <a:xfrm>
            <a:off x="6974642" y="2854413"/>
            <a:ext cx="153035" cy="1039494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9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endParaRPr sz="900">
              <a:latin typeface="Arial"/>
              <a:cs typeface="Arial"/>
            </a:endParaRPr>
          </a:p>
        </p:txBody>
      </p:sp>
      <p:sp>
        <p:nvSpPr>
          <p:cNvPr id="37" name="object 37" descr=""/>
          <p:cNvSpPr/>
          <p:nvPr/>
        </p:nvSpPr>
        <p:spPr>
          <a:xfrm>
            <a:off x="6878372" y="4412185"/>
            <a:ext cx="282575" cy="1776730"/>
          </a:xfrm>
          <a:custGeom>
            <a:avLst/>
            <a:gdLst/>
            <a:ahLst/>
            <a:cxnLst/>
            <a:rect l="l" t="t" r="r" b="b"/>
            <a:pathLst>
              <a:path w="282575" h="1776729">
                <a:moveTo>
                  <a:pt x="282214" y="0"/>
                </a:moveTo>
                <a:lnTo>
                  <a:pt x="0" y="0"/>
                </a:lnTo>
                <a:lnTo>
                  <a:pt x="0" y="1776727"/>
                </a:lnTo>
                <a:lnTo>
                  <a:pt x="282214" y="1776727"/>
                </a:lnTo>
                <a:lnTo>
                  <a:pt x="2822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 descr=""/>
          <p:cNvSpPr txBox="1"/>
          <p:nvPr/>
        </p:nvSpPr>
        <p:spPr>
          <a:xfrm>
            <a:off x="6974147" y="4695123"/>
            <a:ext cx="153035" cy="1219200"/>
          </a:xfrm>
          <a:prstGeom prst="rect">
            <a:avLst/>
          </a:prstGeom>
        </p:spPr>
        <p:txBody>
          <a:bodyPr wrap="square" lIns="0" tIns="190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9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900" spc="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FFFFFF"/>
                </a:solidFill>
                <a:latin typeface="Arial"/>
                <a:cs typeface="Arial"/>
              </a:rPr>
              <a:t>MANAGEMENT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7079995" y="2320041"/>
            <a:ext cx="1371600" cy="399415"/>
            <a:chOff x="7079995" y="2320041"/>
            <a:chExt cx="1371600" cy="399415"/>
          </a:xfrm>
        </p:grpSpPr>
        <p:pic>
          <p:nvPicPr>
            <p:cNvPr id="40" name="object 40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79995" y="2320041"/>
              <a:ext cx="1371600" cy="381000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131811" y="2341377"/>
              <a:ext cx="1182624" cy="377951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7153259" y="236998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1" y="0"/>
                  </a:lnTo>
                  <a:lnTo>
                    <a:pt x="24107" y="3104"/>
                  </a:lnTo>
                  <a:lnTo>
                    <a:pt x="11560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0" y="225419"/>
                  </a:lnTo>
                  <a:lnTo>
                    <a:pt x="24107" y="233884"/>
                  </a:lnTo>
                  <a:lnTo>
                    <a:pt x="39471" y="236988"/>
                  </a:lnTo>
                  <a:lnTo>
                    <a:pt x="1185614" y="236988"/>
                  </a:lnTo>
                  <a:lnTo>
                    <a:pt x="1200979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79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7153259" y="236998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 descr=""/>
          <p:cNvSpPr txBox="1"/>
          <p:nvPr/>
        </p:nvSpPr>
        <p:spPr>
          <a:xfrm>
            <a:off x="7256116" y="2406323"/>
            <a:ext cx="9359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Journey</a:t>
            </a:r>
            <a:r>
              <a:rPr dirty="0" sz="900" spc="2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Analytics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5" name="object 45" descr=""/>
          <p:cNvGrpSpPr/>
          <p:nvPr/>
        </p:nvGrpSpPr>
        <p:grpSpPr>
          <a:xfrm>
            <a:off x="7083043" y="2600457"/>
            <a:ext cx="1369060" cy="399415"/>
            <a:chOff x="7083043" y="2600457"/>
            <a:chExt cx="1369060" cy="399415"/>
          </a:xfrm>
        </p:grpSpPr>
        <p:pic>
          <p:nvPicPr>
            <p:cNvPr id="46" name="object 46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83043" y="2600457"/>
              <a:ext cx="1368552" cy="381000"/>
            </a:xfrm>
            <a:prstGeom prst="rect">
              <a:avLst/>
            </a:prstGeom>
          </p:spPr>
        </p:pic>
        <p:pic>
          <p:nvPicPr>
            <p:cNvPr id="47" name="object 47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34859" y="2621793"/>
              <a:ext cx="993648" cy="377951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7154900" y="2651553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6" y="0"/>
                  </a:moveTo>
                  <a:lnTo>
                    <a:pt x="39472" y="0"/>
                  </a:lnTo>
                  <a:lnTo>
                    <a:pt x="24108" y="3104"/>
                  </a:lnTo>
                  <a:lnTo>
                    <a:pt x="11561" y="11569"/>
                  </a:lnTo>
                  <a:lnTo>
                    <a:pt x="3102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2" y="212863"/>
                  </a:lnTo>
                  <a:lnTo>
                    <a:pt x="11561" y="225419"/>
                  </a:lnTo>
                  <a:lnTo>
                    <a:pt x="24108" y="233884"/>
                  </a:lnTo>
                  <a:lnTo>
                    <a:pt x="39472" y="236988"/>
                  </a:lnTo>
                  <a:lnTo>
                    <a:pt x="1185616" y="236988"/>
                  </a:lnTo>
                  <a:lnTo>
                    <a:pt x="1200980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80" y="3104"/>
                  </a:lnTo>
                  <a:lnTo>
                    <a:pt x="118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154900" y="2651553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7257756" y="2689787"/>
            <a:ext cx="7454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Risk</a:t>
            </a:r>
            <a:r>
              <a:rPr dirty="0" sz="900" spc="-10">
                <a:latin typeface="Arial"/>
                <a:cs typeface="Arial"/>
              </a:rPr>
              <a:t> Analytics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7079995" y="2877825"/>
            <a:ext cx="1369060" cy="399415"/>
            <a:chOff x="7079995" y="2877825"/>
            <a:chExt cx="1369060" cy="399415"/>
          </a:xfrm>
        </p:grpSpPr>
        <p:pic>
          <p:nvPicPr>
            <p:cNvPr id="52" name="object 52" descr="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079995" y="2877825"/>
              <a:ext cx="1368552" cy="381000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31811" y="2899161"/>
              <a:ext cx="1051559" cy="377951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7152275" y="292851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1" y="0"/>
                  </a:lnTo>
                  <a:lnTo>
                    <a:pt x="24107" y="3104"/>
                  </a:lnTo>
                  <a:lnTo>
                    <a:pt x="11560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0" y="225419"/>
                  </a:lnTo>
                  <a:lnTo>
                    <a:pt x="24107" y="233884"/>
                  </a:lnTo>
                  <a:lnTo>
                    <a:pt x="39471" y="236988"/>
                  </a:lnTo>
                  <a:lnTo>
                    <a:pt x="1185614" y="236988"/>
                  </a:lnTo>
                  <a:lnTo>
                    <a:pt x="1200978" y="233884"/>
                  </a:lnTo>
                  <a:lnTo>
                    <a:pt x="1213525" y="225419"/>
                  </a:lnTo>
                  <a:lnTo>
                    <a:pt x="1221984" y="212863"/>
                  </a:lnTo>
                  <a:lnTo>
                    <a:pt x="1225086" y="197488"/>
                  </a:lnTo>
                  <a:lnTo>
                    <a:pt x="1225086" y="39499"/>
                  </a:lnTo>
                  <a:lnTo>
                    <a:pt x="1221984" y="24124"/>
                  </a:lnTo>
                  <a:lnTo>
                    <a:pt x="1213525" y="11569"/>
                  </a:lnTo>
                  <a:lnTo>
                    <a:pt x="1200978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152275" y="292851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 descr=""/>
          <p:cNvSpPr txBox="1"/>
          <p:nvPr/>
        </p:nvSpPr>
        <p:spPr>
          <a:xfrm>
            <a:off x="7255131" y="2967155"/>
            <a:ext cx="80518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Churn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Analysis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57" name="object 57" descr=""/>
          <p:cNvGrpSpPr/>
          <p:nvPr/>
        </p:nvGrpSpPr>
        <p:grpSpPr>
          <a:xfrm>
            <a:off x="7073900" y="3158241"/>
            <a:ext cx="1371600" cy="399415"/>
            <a:chOff x="7073900" y="3158241"/>
            <a:chExt cx="1371600" cy="399415"/>
          </a:xfrm>
        </p:grpSpPr>
        <p:pic>
          <p:nvPicPr>
            <p:cNvPr id="58" name="object 58" descr="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073900" y="3158241"/>
              <a:ext cx="1371600" cy="381000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125715" y="3179577"/>
              <a:ext cx="1103376" cy="377951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7147350" y="3209425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1" y="0"/>
                  </a:lnTo>
                  <a:lnTo>
                    <a:pt x="24107" y="3104"/>
                  </a:lnTo>
                  <a:lnTo>
                    <a:pt x="11560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0" y="225419"/>
                  </a:lnTo>
                  <a:lnTo>
                    <a:pt x="24107" y="233884"/>
                  </a:lnTo>
                  <a:lnTo>
                    <a:pt x="39471" y="236988"/>
                  </a:lnTo>
                  <a:lnTo>
                    <a:pt x="1185614" y="236988"/>
                  </a:lnTo>
                  <a:lnTo>
                    <a:pt x="1200979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79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7147350" y="3209425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7250206" y="3247571"/>
            <a:ext cx="85598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What-if </a:t>
            </a:r>
            <a:r>
              <a:rPr dirty="0" sz="900" spc="-10">
                <a:latin typeface="Arial"/>
                <a:cs typeface="Arial"/>
              </a:rPr>
              <a:t>Analysis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3" name="object 63" descr=""/>
          <p:cNvGrpSpPr/>
          <p:nvPr/>
        </p:nvGrpSpPr>
        <p:grpSpPr>
          <a:xfrm>
            <a:off x="7058659" y="3703833"/>
            <a:ext cx="1369060" cy="536575"/>
            <a:chOff x="7058659" y="3703833"/>
            <a:chExt cx="1369060" cy="536575"/>
          </a:xfrm>
        </p:grpSpPr>
        <p:pic>
          <p:nvPicPr>
            <p:cNvPr id="64" name="object 64" descr="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058659" y="3703833"/>
              <a:ext cx="1368552" cy="518160"/>
            </a:xfrm>
            <a:prstGeom prst="rect">
              <a:avLst/>
            </a:prstGeom>
          </p:spPr>
        </p:pic>
        <p:pic>
          <p:nvPicPr>
            <p:cNvPr id="65" name="object 65" descr="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16571" y="3725169"/>
              <a:ext cx="1197864" cy="515112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7130606" y="3753824"/>
              <a:ext cx="1225550" cy="374015"/>
            </a:xfrm>
            <a:custGeom>
              <a:avLst/>
              <a:gdLst/>
              <a:ahLst/>
              <a:cxnLst/>
              <a:rect l="l" t="t" r="r" b="b"/>
              <a:pathLst>
                <a:path w="1225550" h="374014">
                  <a:moveTo>
                    <a:pt x="1162864" y="0"/>
                  </a:moveTo>
                  <a:lnTo>
                    <a:pt x="62222" y="0"/>
                  </a:lnTo>
                  <a:lnTo>
                    <a:pt x="38002" y="4893"/>
                  </a:lnTo>
                  <a:lnTo>
                    <a:pt x="18224" y="18237"/>
                  </a:lnTo>
                  <a:lnTo>
                    <a:pt x="4889" y="38029"/>
                  </a:lnTo>
                  <a:lnTo>
                    <a:pt x="0" y="62265"/>
                  </a:lnTo>
                  <a:lnTo>
                    <a:pt x="0" y="311316"/>
                  </a:lnTo>
                  <a:lnTo>
                    <a:pt x="4889" y="335552"/>
                  </a:lnTo>
                  <a:lnTo>
                    <a:pt x="18224" y="355344"/>
                  </a:lnTo>
                  <a:lnTo>
                    <a:pt x="38002" y="368688"/>
                  </a:lnTo>
                  <a:lnTo>
                    <a:pt x="62222" y="373581"/>
                  </a:lnTo>
                  <a:lnTo>
                    <a:pt x="1162864" y="373581"/>
                  </a:lnTo>
                  <a:lnTo>
                    <a:pt x="1187084" y="368688"/>
                  </a:lnTo>
                  <a:lnTo>
                    <a:pt x="1206862" y="355344"/>
                  </a:lnTo>
                  <a:lnTo>
                    <a:pt x="1220196" y="335552"/>
                  </a:lnTo>
                  <a:lnTo>
                    <a:pt x="1225086" y="311316"/>
                  </a:lnTo>
                  <a:lnTo>
                    <a:pt x="1225086" y="62265"/>
                  </a:lnTo>
                  <a:lnTo>
                    <a:pt x="1220196" y="38029"/>
                  </a:lnTo>
                  <a:lnTo>
                    <a:pt x="1206862" y="18237"/>
                  </a:lnTo>
                  <a:lnTo>
                    <a:pt x="1187084" y="4893"/>
                  </a:lnTo>
                  <a:lnTo>
                    <a:pt x="11628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7130606" y="3753824"/>
              <a:ext cx="1225550" cy="374015"/>
            </a:xfrm>
            <a:custGeom>
              <a:avLst/>
              <a:gdLst/>
              <a:ahLst/>
              <a:cxnLst/>
              <a:rect l="l" t="t" r="r" b="b"/>
              <a:pathLst>
                <a:path w="1225550" h="374014">
                  <a:moveTo>
                    <a:pt x="0" y="62265"/>
                  </a:moveTo>
                  <a:lnTo>
                    <a:pt x="4889" y="38028"/>
                  </a:lnTo>
                  <a:lnTo>
                    <a:pt x="18224" y="18237"/>
                  </a:lnTo>
                  <a:lnTo>
                    <a:pt x="38003" y="4893"/>
                  </a:lnTo>
                  <a:lnTo>
                    <a:pt x="62223" y="0"/>
                  </a:lnTo>
                  <a:lnTo>
                    <a:pt x="1162863" y="0"/>
                  </a:lnTo>
                  <a:lnTo>
                    <a:pt x="1187084" y="4893"/>
                  </a:lnTo>
                  <a:lnTo>
                    <a:pt x="1206862" y="18237"/>
                  </a:lnTo>
                  <a:lnTo>
                    <a:pt x="1220197" y="38028"/>
                  </a:lnTo>
                  <a:lnTo>
                    <a:pt x="1225087" y="62265"/>
                  </a:lnTo>
                  <a:lnTo>
                    <a:pt x="1225087" y="311315"/>
                  </a:lnTo>
                  <a:lnTo>
                    <a:pt x="1220197" y="335551"/>
                  </a:lnTo>
                  <a:lnTo>
                    <a:pt x="1206862" y="355343"/>
                  </a:lnTo>
                  <a:lnTo>
                    <a:pt x="1187084" y="368687"/>
                  </a:lnTo>
                  <a:lnTo>
                    <a:pt x="1162863" y="373580"/>
                  </a:lnTo>
                  <a:lnTo>
                    <a:pt x="62223" y="373580"/>
                  </a:lnTo>
                  <a:lnTo>
                    <a:pt x="38003" y="368687"/>
                  </a:lnTo>
                  <a:lnTo>
                    <a:pt x="18224" y="355343"/>
                  </a:lnTo>
                  <a:lnTo>
                    <a:pt x="4889" y="335551"/>
                  </a:lnTo>
                  <a:lnTo>
                    <a:pt x="0" y="311315"/>
                  </a:lnTo>
                  <a:lnTo>
                    <a:pt x="0" y="62265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 descr=""/>
          <p:cNvSpPr txBox="1"/>
          <p:nvPr/>
        </p:nvSpPr>
        <p:spPr>
          <a:xfrm>
            <a:off x="7240126" y="3790115"/>
            <a:ext cx="949325" cy="3028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2200"/>
              </a:lnSpc>
              <a:spcBef>
                <a:spcPts val="75"/>
              </a:spcBef>
            </a:pPr>
            <a:r>
              <a:rPr dirty="0" sz="900" spc="-10">
                <a:latin typeface="Arial"/>
                <a:cs typeface="Arial"/>
              </a:rPr>
              <a:t>Feature </a:t>
            </a:r>
            <a:r>
              <a:rPr dirty="0" sz="900">
                <a:latin typeface="Arial"/>
                <a:cs typeface="Arial"/>
              </a:rPr>
              <a:t>Engineering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&amp;</a:t>
            </a:r>
            <a:r>
              <a:rPr dirty="0" sz="900" spc="35">
                <a:latin typeface="Arial"/>
                <a:cs typeface="Arial"/>
              </a:rPr>
              <a:t> </a:t>
            </a:r>
            <a:r>
              <a:rPr dirty="0" sz="900" spc="-25">
                <a:latin typeface="Arial"/>
                <a:cs typeface="Arial"/>
              </a:rPr>
              <a:t>ML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69" name="object 69" descr=""/>
          <p:cNvGrpSpPr/>
          <p:nvPr/>
        </p:nvGrpSpPr>
        <p:grpSpPr>
          <a:xfrm>
            <a:off x="7061707" y="4124457"/>
            <a:ext cx="1369060" cy="399415"/>
            <a:chOff x="7061707" y="4124457"/>
            <a:chExt cx="1369060" cy="399415"/>
          </a:xfrm>
        </p:grpSpPr>
        <p:pic>
          <p:nvPicPr>
            <p:cNvPr id="70" name="object 70" descr="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61707" y="4124457"/>
              <a:ext cx="1368552" cy="381000"/>
            </a:xfrm>
            <a:prstGeom prst="rect">
              <a:avLst/>
            </a:prstGeom>
          </p:spPr>
        </p:pic>
        <p:pic>
          <p:nvPicPr>
            <p:cNvPr id="71" name="object 71" descr="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113523" y="4145793"/>
              <a:ext cx="609600" cy="377951"/>
            </a:xfrm>
            <a:prstGeom prst="rect">
              <a:avLst/>
            </a:prstGeom>
          </p:spPr>
        </p:pic>
        <p:sp>
          <p:nvSpPr>
            <p:cNvPr id="72" name="object 72" descr=""/>
            <p:cNvSpPr/>
            <p:nvPr/>
          </p:nvSpPr>
          <p:spPr>
            <a:xfrm>
              <a:off x="7134218" y="4174364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1" y="0"/>
                  </a:lnTo>
                  <a:lnTo>
                    <a:pt x="24107" y="3104"/>
                  </a:lnTo>
                  <a:lnTo>
                    <a:pt x="11560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0" y="225419"/>
                  </a:lnTo>
                  <a:lnTo>
                    <a:pt x="24107" y="233884"/>
                  </a:lnTo>
                  <a:lnTo>
                    <a:pt x="39471" y="236988"/>
                  </a:lnTo>
                  <a:lnTo>
                    <a:pt x="1185614" y="236988"/>
                  </a:lnTo>
                  <a:lnTo>
                    <a:pt x="1200979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79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7134218" y="4174364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 descr=""/>
          <p:cNvSpPr txBox="1"/>
          <p:nvPr/>
        </p:nvSpPr>
        <p:spPr>
          <a:xfrm>
            <a:off x="7237074" y="4213787"/>
            <a:ext cx="32766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Fraud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5" name="object 75" descr=""/>
          <p:cNvGrpSpPr/>
          <p:nvPr/>
        </p:nvGrpSpPr>
        <p:grpSpPr>
          <a:xfrm>
            <a:off x="7070852" y="4386584"/>
            <a:ext cx="1369060" cy="399415"/>
            <a:chOff x="7070852" y="4386584"/>
            <a:chExt cx="1369060" cy="399415"/>
          </a:xfrm>
        </p:grpSpPr>
        <p:pic>
          <p:nvPicPr>
            <p:cNvPr id="76" name="object 76" descr="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070852" y="4386584"/>
              <a:ext cx="1368552" cy="381000"/>
            </a:xfrm>
            <a:prstGeom prst="rect">
              <a:avLst/>
            </a:prstGeom>
          </p:spPr>
        </p:pic>
        <p:pic>
          <p:nvPicPr>
            <p:cNvPr id="77" name="object 77" descr="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122668" y="4410968"/>
              <a:ext cx="1240535" cy="374904"/>
            </a:xfrm>
            <a:prstGeom prst="rect">
              <a:avLst/>
            </a:prstGeom>
          </p:spPr>
        </p:pic>
        <p:sp>
          <p:nvSpPr>
            <p:cNvPr id="78" name="object 78" descr=""/>
            <p:cNvSpPr/>
            <p:nvPr/>
          </p:nvSpPr>
          <p:spPr>
            <a:xfrm>
              <a:off x="7143411" y="443785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6" y="0"/>
                  </a:moveTo>
                  <a:lnTo>
                    <a:pt x="39472" y="0"/>
                  </a:lnTo>
                  <a:lnTo>
                    <a:pt x="24108" y="3104"/>
                  </a:lnTo>
                  <a:lnTo>
                    <a:pt x="11561" y="11569"/>
                  </a:lnTo>
                  <a:lnTo>
                    <a:pt x="3102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2" y="212863"/>
                  </a:lnTo>
                  <a:lnTo>
                    <a:pt x="11561" y="225419"/>
                  </a:lnTo>
                  <a:lnTo>
                    <a:pt x="24108" y="233884"/>
                  </a:lnTo>
                  <a:lnTo>
                    <a:pt x="39472" y="236988"/>
                  </a:lnTo>
                  <a:lnTo>
                    <a:pt x="1185616" y="236988"/>
                  </a:lnTo>
                  <a:lnTo>
                    <a:pt x="1200980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80" y="3104"/>
                  </a:lnTo>
                  <a:lnTo>
                    <a:pt x="1185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 descr=""/>
            <p:cNvSpPr/>
            <p:nvPr/>
          </p:nvSpPr>
          <p:spPr>
            <a:xfrm>
              <a:off x="7143411" y="443785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 descr=""/>
          <p:cNvSpPr txBox="1"/>
          <p:nvPr/>
        </p:nvSpPr>
        <p:spPr>
          <a:xfrm>
            <a:off x="7246268" y="4475915"/>
            <a:ext cx="99314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Arial"/>
                <a:cs typeface="Arial"/>
              </a:rPr>
              <a:t>Recommendations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1" name="object 81" descr=""/>
          <p:cNvGrpSpPr/>
          <p:nvPr/>
        </p:nvGrpSpPr>
        <p:grpSpPr>
          <a:xfrm>
            <a:off x="7076947" y="4667001"/>
            <a:ext cx="1369060" cy="399415"/>
            <a:chOff x="7076947" y="4667001"/>
            <a:chExt cx="1369060" cy="399415"/>
          </a:xfrm>
        </p:grpSpPr>
        <p:pic>
          <p:nvPicPr>
            <p:cNvPr id="82" name="object 82" descr="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076947" y="4667001"/>
              <a:ext cx="1368552" cy="381000"/>
            </a:xfrm>
            <a:prstGeom prst="rect">
              <a:avLst/>
            </a:prstGeom>
          </p:spPr>
        </p:pic>
        <p:pic>
          <p:nvPicPr>
            <p:cNvPr id="83" name="object 83" descr="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25715" y="4688337"/>
              <a:ext cx="874776" cy="377951"/>
            </a:xfrm>
            <a:prstGeom prst="rect">
              <a:avLst/>
            </a:prstGeom>
          </p:spPr>
        </p:pic>
        <p:sp>
          <p:nvSpPr>
            <p:cNvPr id="84" name="object 84" descr=""/>
            <p:cNvSpPr/>
            <p:nvPr/>
          </p:nvSpPr>
          <p:spPr>
            <a:xfrm>
              <a:off x="7148008" y="471777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1" y="0"/>
                  </a:lnTo>
                  <a:lnTo>
                    <a:pt x="24107" y="3103"/>
                  </a:lnTo>
                  <a:lnTo>
                    <a:pt x="11560" y="11568"/>
                  </a:lnTo>
                  <a:lnTo>
                    <a:pt x="3101" y="24123"/>
                  </a:lnTo>
                  <a:lnTo>
                    <a:pt x="0" y="39498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0" y="225418"/>
                  </a:lnTo>
                  <a:lnTo>
                    <a:pt x="24107" y="233883"/>
                  </a:lnTo>
                  <a:lnTo>
                    <a:pt x="39471" y="236987"/>
                  </a:lnTo>
                  <a:lnTo>
                    <a:pt x="1185614" y="236987"/>
                  </a:lnTo>
                  <a:lnTo>
                    <a:pt x="1200979" y="233883"/>
                  </a:lnTo>
                  <a:lnTo>
                    <a:pt x="1213526" y="225418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8"/>
                  </a:lnTo>
                  <a:lnTo>
                    <a:pt x="1221985" y="24123"/>
                  </a:lnTo>
                  <a:lnTo>
                    <a:pt x="1213526" y="11568"/>
                  </a:lnTo>
                  <a:lnTo>
                    <a:pt x="1200979" y="3103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7148008" y="4717778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 descr=""/>
          <p:cNvSpPr txBox="1"/>
          <p:nvPr/>
        </p:nvSpPr>
        <p:spPr>
          <a:xfrm>
            <a:off x="7250864" y="4756331"/>
            <a:ext cx="62420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Data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Fabric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7" name="object 87" descr=""/>
          <p:cNvGrpSpPr/>
          <p:nvPr/>
        </p:nvGrpSpPr>
        <p:grpSpPr>
          <a:xfrm>
            <a:off x="7076947" y="4941321"/>
            <a:ext cx="1369060" cy="402590"/>
            <a:chOff x="7076947" y="4941321"/>
            <a:chExt cx="1369060" cy="402590"/>
          </a:xfrm>
        </p:grpSpPr>
        <p:pic>
          <p:nvPicPr>
            <p:cNvPr id="88" name="object 88" descr="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076947" y="4941321"/>
              <a:ext cx="1368552" cy="381000"/>
            </a:xfrm>
            <a:prstGeom prst="rect">
              <a:avLst/>
            </a:prstGeom>
          </p:spPr>
        </p:pic>
        <p:pic>
          <p:nvPicPr>
            <p:cNvPr id="89" name="object 89" descr="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28763" y="4965705"/>
              <a:ext cx="1194816" cy="377951"/>
            </a:xfrm>
            <a:prstGeom prst="rect">
              <a:avLst/>
            </a:prstGeom>
          </p:spPr>
        </p:pic>
        <p:sp>
          <p:nvSpPr>
            <p:cNvPr id="90" name="object 90" descr=""/>
            <p:cNvSpPr/>
            <p:nvPr/>
          </p:nvSpPr>
          <p:spPr>
            <a:xfrm>
              <a:off x="7149979" y="4992442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2" y="0"/>
                  </a:lnTo>
                  <a:lnTo>
                    <a:pt x="24108" y="3104"/>
                  </a:lnTo>
                  <a:lnTo>
                    <a:pt x="11561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1" y="225419"/>
                  </a:lnTo>
                  <a:lnTo>
                    <a:pt x="24108" y="233884"/>
                  </a:lnTo>
                  <a:lnTo>
                    <a:pt x="39472" y="236988"/>
                  </a:lnTo>
                  <a:lnTo>
                    <a:pt x="1185614" y="236988"/>
                  </a:lnTo>
                  <a:lnTo>
                    <a:pt x="1200979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79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 descr=""/>
            <p:cNvSpPr/>
            <p:nvPr/>
          </p:nvSpPr>
          <p:spPr>
            <a:xfrm>
              <a:off x="7149979" y="4992442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2" name="object 92" descr=""/>
          <p:cNvSpPr txBox="1"/>
          <p:nvPr/>
        </p:nvSpPr>
        <p:spPr>
          <a:xfrm>
            <a:off x="7252835" y="5030651"/>
            <a:ext cx="91440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Data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Compliance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3" name="object 93" descr=""/>
          <p:cNvGrpSpPr/>
          <p:nvPr/>
        </p:nvGrpSpPr>
        <p:grpSpPr>
          <a:xfrm>
            <a:off x="7076947" y="5218689"/>
            <a:ext cx="1369060" cy="402590"/>
            <a:chOff x="7076947" y="5218689"/>
            <a:chExt cx="1369060" cy="402590"/>
          </a:xfrm>
        </p:grpSpPr>
        <p:pic>
          <p:nvPicPr>
            <p:cNvPr id="94" name="object 94" descr="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076947" y="5218689"/>
              <a:ext cx="1368552" cy="381000"/>
            </a:xfrm>
            <a:prstGeom prst="rect">
              <a:avLst/>
            </a:prstGeom>
          </p:spPr>
        </p:pic>
        <p:pic>
          <p:nvPicPr>
            <p:cNvPr id="95" name="object 95" descr="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125715" y="5243073"/>
              <a:ext cx="1185672" cy="377951"/>
            </a:xfrm>
            <a:prstGeom prst="rect">
              <a:avLst/>
            </a:prstGeom>
          </p:spPr>
        </p:pic>
        <p:sp>
          <p:nvSpPr>
            <p:cNvPr id="96" name="object 96" descr=""/>
            <p:cNvSpPr/>
            <p:nvPr/>
          </p:nvSpPr>
          <p:spPr>
            <a:xfrm>
              <a:off x="7147681" y="5270394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1" y="0"/>
                  </a:lnTo>
                  <a:lnTo>
                    <a:pt x="24107" y="3103"/>
                  </a:lnTo>
                  <a:lnTo>
                    <a:pt x="11560" y="11568"/>
                  </a:lnTo>
                  <a:lnTo>
                    <a:pt x="3101" y="24123"/>
                  </a:lnTo>
                  <a:lnTo>
                    <a:pt x="0" y="39498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0" y="225418"/>
                  </a:lnTo>
                  <a:lnTo>
                    <a:pt x="24107" y="233883"/>
                  </a:lnTo>
                  <a:lnTo>
                    <a:pt x="39471" y="236987"/>
                  </a:lnTo>
                  <a:lnTo>
                    <a:pt x="1185614" y="236987"/>
                  </a:lnTo>
                  <a:lnTo>
                    <a:pt x="1200978" y="233883"/>
                  </a:lnTo>
                  <a:lnTo>
                    <a:pt x="1213525" y="225418"/>
                  </a:lnTo>
                  <a:lnTo>
                    <a:pt x="1221984" y="212863"/>
                  </a:lnTo>
                  <a:lnTo>
                    <a:pt x="1225086" y="197488"/>
                  </a:lnTo>
                  <a:lnTo>
                    <a:pt x="1225086" y="39498"/>
                  </a:lnTo>
                  <a:lnTo>
                    <a:pt x="1221984" y="24123"/>
                  </a:lnTo>
                  <a:lnTo>
                    <a:pt x="1213525" y="11568"/>
                  </a:lnTo>
                  <a:lnTo>
                    <a:pt x="1200978" y="3103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 descr=""/>
            <p:cNvSpPr/>
            <p:nvPr/>
          </p:nvSpPr>
          <p:spPr>
            <a:xfrm>
              <a:off x="7147681" y="5270394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8" name="object 98" descr=""/>
          <p:cNvSpPr txBox="1"/>
          <p:nvPr/>
        </p:nvSpPr>
        <p:spPr>
          <a:xfrm>
            <a:off x="7250538" y="5311067"/>
            <a:ext cx="93599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Data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Governance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9" name="object 99" descr=""/>
          <p:cNvGrpSpPr/>
          <p:nvPr/>
        </p:nvGrpSpPr>
        <p:grpSpPr>
          <a:xfrm>
            <a:off x="7076947" y="5499105"/>
            <a:ext cx="1369060" cy="399415"/>
            <a:chOff x="7076947" y="5499105"/>
            <a:chExt cx="1369060" cy="399415"/>
          </a:xfrm>
        </p:grpSpPr>
        <p:pic>
          <p:nvPicPr>
            <p:cNvPr id="100" name="object 100" descr="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076947" y="5499105"/>
              <a:ext cx="1368552" cy="381000"/>
            </a:xfrm>
            <a:prstGeom prst="rect">
              <a:avLst/>
            </a:prstGeom>
          </p:spPr>
        </p:pic>
        <p:pic>
          <p:nvPicPr>
            <p:cNvPr id="101" name="object 101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128763" y="5520441"/>
              <a:ext cx="1173479" cy="377951"/>
            </a:xfrm>
            <a:prstGeom prst="rect">
              <a:avLst/>
            </a:prstGeom>
          </p:spPr>
        </p:pic>
        <p:sp>
          <p:nvSpPr>
            <p:cNvPr id="102" name="object 102" descr=""/>
            <p:cNvSpPr/>
            <p:nvPr/>
          </p:nvSpPr>
          <p:spPr>
            <a:xfrm>
              <a:off x="7149650" y="5549000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2" y="0"/>
                  </a:lnTo>
                  <a:lnTo>
                    <a:pt x="24108" y="3104"/>
                  </a:lnTo>
                  <a:lnTo>
                    <a:pt x="11561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1" y="225419"/>
                  </a:lnTo>
                  <a:lnTo>
                    <a:pt x="24108" y="233884"/>
                  </a:lnTo>
                  <a:lnTo>
                    <a:pt x="39472" y="236988"/>
                  </a:lnTo>
                  <a:lnTo>
                    <a:pt x="1185614" y="236988"/>
                  </a:lnTo>
                  <a:lnTo>
                    <a:pt x="1200979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79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 descr=""/>
            <p:cNvSpPr/>
            <p:nvPr/>
          </p:nvSpPr>
          <p:spPr>
            <a:xfrm>
              <a:off x="7149650" y="5549000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4" name="object 104" descr=""/>
          <p:cNvSpPr txBox="1"/>
          <p:nvPr/>
        </p:nvSpPr>
        <p:spPr>
          <a:xfrm>
            <a:off x="7252506" y="5588435"/>
            <a:ext cx="9239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Data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Provenance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05" name="object 105" descr=""/>
          <p:cNvGrpSpPr/>
          <p:nvPr/>
        </p:nvGrpSpPr>
        <p:grpSpPr>
          <a:xfrm>
            <a:off x="7076947" y="5770377"/>
            <a:ext cx="1369060" cy="399415"/>
            <a:chOff x="7076947" y="5770377"/>
            <a:chExt cx="1369060" cy="399415"/>
          </a:xfrm>
        </p:grpSpPr>
        <p:pic>
          <p:nvPicPr>
            <p:cNvPr id="106" name="object 106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7076947" y="5770377"/>
              <a:ext cx="1368552" cy="380999"/>
            </a:xfrm>
            <a:prstGeom prst="rect">
              <a:avLst/>
            </a:prstGeom>
          </p:spPr>
        </p:pic>
        <p:pic>
          <p:nvPicPr>
            <p:cNvPr id="107" name="object 107" descr="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125715" y="5791713"/>
              <a:ext cx="966216" cy="377952"/>
            </a:xfrm>
            <a:prstGeom prst="rect">
              <a:avLst/>
            </a:prstGeom>
          </p:spPr>
        </p:pic>
        <p:sp>
          <p:nvSpPr>
            <p:cNvPr id="108" name="object 108" descr=""/>
            <p:cNvSpPr/>
            <p:nvPr/>
          </p:nvSpPr>
          <p:spPr>
            <a:xfrm>
              <a:off x="7147680" y="5820052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2" y="0"/>
                  </a:lnTo>
                  <a:lnTo>
                    <a:pt x="24108" y="3104"/>
                  </a:lnTo>
                  <a:lnTo>
                    <a:pt x="11561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88"/>
                  </a:lnTo>
                  <a:lnTo>
                    <a:pt x="3101" y="212863"/>
                  </a:lnTo>
                  <a:lnTo>
                    <a:pt x="11561" y="225419"/>
                  </a:lnTo>
                  <a:lnTo>
                    <a:pt x="24108" y="233884"/>
                  </a:lnTo>
                  <a:lnTo>
                    <a:pt x="39472" y="236988"/>
                  </a:lnTo>
                  <a:lnTo>
                    <a:pt x="1185614" y="236988"/>
                  </a:lnTo>
                  <a:lnTo>
                    <a:pt x="1200979" y="233884"/>
                  </a:lnTo>
                  <a:lnTo>
                    <a:pt x="1213526" y="225419"/>
                  </a:lnTo>
                  <a:lnTo>
                    <a:pt x="1221985" y="212863"/>
                  </a:lnTo>
                  <a:lnTo>
                    <a:pt x="1225087" y="197488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79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 descr=""/>
            <p:cNvSpPr/>
            <p:nvPr/>
          </p:nvSpPr>
          <p:spPr>
            <a:xfrm>
              <a:off x="7147680" y="5820052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0" name="object 110" descr=""/>
          <p:cNvSpPr txBox="1"/>
          <p:nvPr/>
        </p:nvSpPr>
        <p:spPr>
          <a:xfrm>
            <a:off x="7250536" y="5859707"/>
            <a:ext cx="71755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Data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10">
                <a:latin typeface="Arial"/>
                <a:cs typeface="Arial"/>
              </a:rPr>
              <a:t>Lineage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1" name="object 111" descr=""/>
          <p:cNvGrpSpPr/>
          <p:nvPr/>
        </p:nvGrpSpPr>
        <p:grpSpPr>
          <a:xfrm>
            <a:off x="7061707" y="3432561"/>
            <a:ext cx="1369060" cy="399415"/>
            <a:chOff x="7061707" y="3432561"/>
            <a:chExt cx="1369060" cy="399415"/>
          </a:xfrm>
        </p:grpSpPr>
        <p:pic>
          <p:nvPicPr>
            <p:cNvPr id="112" name="object 112" descr="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061707" y="3432561"/>
              <a:ext cx="1368552" cy="381000"/>
            </a:xfrm>
            <a:prstGeom prst="rect">
              <a:avLst/>
            </a:prstGeom>
          </p:spPr>
        </p:pic>
        <p:pic>
          <p:nvPicPr>
            <p:cNvPr id="113" name="object 113" descr="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7113523" y="3453897"/>
              <a:ext cx="1112520" cy="377951"/>
            </a:xfrm>
            <a:prstGeom prst="rect">
              <a:avLst/>
            </a:prstGeom>
          </p:spPr>
        </p:pic>
        <p:sp>
          <p:nvSpPr>
            <p:cNvPr id="114" name="object 114" descr=""/>
            <p:cNvSpPr/>
            <p:nvPr/>
          </p:nvSpPr>
          <p:spPr>
            <a:xfrm>
              <a:off x="7132903" y="3484090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1185614" y="0"/>
                  </a:moveTo>
                  <a:lnTo>
                    <a:pt x="39472" y="0"/>
                  </a:lnTo>
                  <a:lnTo>
                    <a:pt x="24108" y="3104"/>
                  </a:lnTo>
                  <a:lnTo>
                    <a:pt x="11561" y="11569"/>
                  </a:lnTo>
                  <a:lnTo>
                    <a:pt x="3101" y="24124"/>
                  </a:lnTo>
                  <a:lnTo>
                    <a:pt x="0" y="39499"/>
                  </a:lnTo>
                  <a:lnTo>
                    <a:pt x="0" y="197490"/>
                  </a:lnTo>
                  <a:lnTo>
                    <a:pt x="3101" y="212864"/>
                  </a:lnTo>
                  <a:lnTo>
                    <a:pt x="11561" y="225419"/>
                  </a:lnTo>
                  <a:lnTo>
                    <a:pt x="24108" y="233884"/>
                  </a:lnTo>
                  <a:lnTo>
                    <a:pt x="39472" y="236988"/>
                  </a:lnTo>
                  <a:lnTo>
                    <a:pt x="1185614" y="236988"/>
                  </a:lnTo>
                  <a:lnTo>
                    <a:pt x="1200979" y="233884"/>
                  </a:lnTo>
                  <a:lnTo>
                    <a:pt x="1213526" y="225419"/>
                  </a:lnTo>
                  <a:lnTo>
                    <a:pt x="1221985" y="212864"/>
                  </a:lnTo>
                  <a:lnTo>
                    <a:pt x="1225087" y="197490"/>
                  </a:lnTo>
                  <a:lnTo>
                    <a:pt x="1225087" y="39499"/>
                  </a:lnTo>
                  <a:lnTo>
                    <a:pt x="1221985" y="24124"/>
                  </a:lnTo>
                  <a:lnTo>
                    <a:pt x="1213526" y="11569"/>
                  </a:lnTo>
                  <a:lnTo>
                    <a:pt x="1200979" y="3104"/>
                  </a:lnTo>
                  <a:lnTo>
                    <a:pt x="118561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 descr=""/>
            <p:cNvSpPr/>
            <p:nvPr/>
          </p:nvSpPr>
          <p:spPr>
            <a:xfrm>
              <a:off x="7132903" y="3484090"/>
              <a:ext cx="1225550" cy="237490"/>
            </a:xfrm>
            <a:custGeom>
              <a:avLst/>
              <a:gdLst/>
              <a:ahLst/>
              <a:cxnLst/>
              <a:rect l="l" t="t" r="r" b="b"/>
              <a:pathLst>
                <a:path w="1225550" h="237489">
                  <a:moveTo>
                    <a:pt x="0" y="39499"/>
                  </a:moveTo>
                  <a:lnTo>
                    <a:pt x="3101" y="24124"/>
                  </a:lnTo>
                  <a:lnTo>
                    <a:pt x="11561" y="11569"/>
                  </a:lnTo>
                  <a:lnTo>
                    <a:pt x="24107" y="3104"/>
                  </a:lnTo>
                  <a:lnTo>
                    <a:pt x="39472" y="0"/>
                  </a:lnTo>
                  <a:lnTo>
                    <a:pt x="1185615" y="0"/>
                  </a:lnTo>
                  <a:lnTo>
                    <a:pt x="1200979" y="3104"/>
                  </a:lnTo>
                  <a:lnTo>
                    <a:pt x="1213526" y="11569"/>
                  </a:lnTo>
                  <a:lnTo>
                    <a:pt x="1221985" y="24124"/>
                  </a:lnTo>
                  <a:lnTo>
                    <a:pt x="1225087" y="39499"/>
                  </a:lnTo>
                  <a:lnTo>
                    <a:pt x="1225087" y="197488"/>
                  </a:lnTo>
                  <a:lnTo>
                    <a:pt x="1221985" y="212863"/>
                  </a:lnTo>
                  <a:lnTo>
                    <a:pt x="1213526" y="225419"/>
                  </a:lnTo>
                  <a:lnTo>
                    <a:pt x="1200979" y="233884"/>
                  </a:lnTo>
                  <a:lnTo>
                    <a:pt x="1185615" y="236988"/>
                  </a:lnTo>
                  <a:lnTo>
                    <a:pt x="39472" y="236988"/>
                  </a:lnTo>
                  <a:lnTo>
                    <a:pt x="24107" y="233884"/>
                  </a:lnTo>
                  <a:lnTo>
                    <a:pt x="11561" y="225419"/>
                  </a:lnTo>
                  <a:lnTo>
                    <a:pt x="3101" y="212863"/>
                  </a:lnTo>
                  <a:lnTo>
                    <a:pt x="0" y="197488"/>
                  </a:lnTo>
                  <a:lnTo>
                    <a:pt x="0" y="39499"/>
                  </a:lnTo>
                  <a:close/>
                </a:path>
              </a:pathLst>
            </a:custGeom>
            <a:ln w="10841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6" name="object 116" descr=""/>
          <p:cNvSpPr txBox="1"/>
          <p:nvPr/>
        </p:nvSpPr>
        <p:spPr>
          <a:xfrm>
            <a:off x="7235759" y="3521891"/>
            <a:ext cx="831850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Arial"/>
                <a:cs typeface="Arial"/>
              </a:rPr>
              <a:t>Next</a:t>
            </a:r>
            <a:r>
              <a:rPr dirty="0" sz="900" spc="10">
                <a:latin typeface="Arial"/>
                <a:cs typeface="Arial"/>
              </a:rPr>
              <a:t> </a:t>
            </a:r>
            <a:r>
              <a:rPr dirty="0" sz="900">
                <a:latin typeface="Arial"/>
                <a:cs typeface="Arial"/>
              </a:rPr>
              <a:t>Best</a:t>
            </a:r>
            <a:r>
              <a:rPr dirty="0" sz="900" spc="15">
                <a:latin typeface="Arial"/>
                <a:cs typeface="Arial"/>
              </a:rPr>
              <a:t> </a:t>
            </a:r>
            <a:r>
              <a:rPr dirty="0" sz="900" spc="-20">
                <a:latin typeface="Arial"/>
                <a:cs typeface="Arial"/>
              </a:rPr>
              <a:t>Case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17" name="object 117" descr=""/>
          <p:cNvGrpSpPr/>
          <p:nvPr/>
        </p:nvGrpSpPr>
        <p:grpSpPr>
          <a:xfrm>
            <a:off x="2422146" y="2615697"/>
            <a:ext cx="897255" cy="3707765"/>
            <a:chOff x="2422146" y="2615697"/>
            <a:chExt cx="897255" cy="3707765"/>
          </a:xfrm>
        </p:grpSpPr>
        <p:pic>
          <p:nvPicPr>
            <p:cNvPr id="118" name="object 118" descr="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2696971" y="2615697"/>
              <a:ext cx="420624" cy="396239"/>
            </a:xfrm>
            <a:prstGeom prst="rect">
              <a:avLst/>
            </a:prstGeom>
          </p:spPr>
        </p:pic>
        <p:sp>
          <p:nvSpPr>
            <p:cNvPr id="119" name="object 119" descr=""/>
            <p:cNvSpPr/>
            <p:nvPr/>
          </p:nvSpPr>
          <p:spPr>
            <a:xfrm>
              <a:off x="2438656" y="5954274"/>
              <a:ext cx="864235" cy="352425"/>
            </a:xfrm>
            <a:custGeom>
              <a:avLst/>
              <a:gdLst/>
              <a:ahLst/>
              <a:cxnLst/>
              <a:rect l="l" t="t" r="r" b="b"/>
              <a:pathLst>
                <a:path w="864235" h="352425">
                  <a:moveTo>
                    <a:pt x="0" y="58736"/>
                  </a:moveTo>
                  <a:lnTo>
                    <a:pt x="4612" y="35873"/>
                  </a:lnTo>
                  <a:lnTo>
                    <a:pt x="17191" y="17203"/>
                  </a:lnTo>
                  <a:lnTo>
                    <a:pt x="35849" y="4615"/>
                  </a:lnTo>
                  <a:lnTo>
                    <a:pt x="58696" y="0"/>
                  </a:lnTo>
                  <a:lnTo>
                    <a:pt x="805348" y="0"/>
                  </a:lnTo>
                  <a:lnTo>
                    <a:pt x="828195" y="4615"/>
                  </a:lnTo>
                  <a:lnTo>
                    <a:pt x="846853" y="17203"/>
                  </a:lnTo>
                  <a:lnTo>
                    <a:pt x="859432" y="35873"/>
                  </a:lnTo>
                  <a:lnTo>
                    <a:pt x="864044" y="58736"/>
                  </a:lnTo>
                  <a:lnTo>
                    <a:pt x="864044" y="293672"/>
                  </a:lnTo>
                  <a:lnTo>
                    <a:pt x="859432" y="316535"/>
                  </a:lnTo>
                  <a:lnTo>
                    <a:pt x="846853" y="335205"/>
                  </a:lnTo>
                  <a:lnTo>
                    <a:pt x="828195" y="347793"/>
                  </a:lnTo>
                  <a:lnTo>
                    <a:pt x="805348" y="352408"/>
                  </a:lnTo>
                  <a:lnTo>
                    <a:pt x="58696" y="352408"/>
                  </a:lnTo>
                  <a:lnTo>
                    <a:pt x="35849" y="347793"/>
                  </a:lnTo>
                  <a:lnTo>
                    <a:pt x="17191" y="335205"/>
                  </a:lnTo>
                  <a:lnTo>
                    <a:pt x="4612" y="316535"/>
                  </a:lnTo>
                  <a:lnTo>
                    <a:pt x="0" y="293672"/>
                  </a:lnTo>
                  <a:lnTo>
                    <a:pt x="0" y="58736"/>
                  </a:lnTo>
                  <a:close/>
                </a:path>
              </a:pathLst>
            </a:custGeom>
            <a:ln w="32522">
              <a:solidFill>
                <a:srgbClr val="018B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0" name="object 120" descr=""/>
          <p:cNvSpPr txBox="1"/>
          <p:nvPr/>
        </p:nvSpPr>
        <p:spPr>
          <a:xfrm>
            <a:off x="2129896" y="2036308"/>
            <a:ext cx="1522095" cy="4574540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94"/>
              </a:spcBef>
            </a:pPr>
            <a:r>
              <a:rPr dirty="0" sz="900" spc="-10" b="1">
                <a:solidFill>
                  <a:srgbClr val="0078D7"/>
                </a:solidFill>
                <a:latin typeface="Arial"/>
                <a:cs typeface="Arial"/>
              </a:rPr>
              <a:t>INGEST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900">
              <a:latin typeface="Arial"/>
              <a:cs typeface="Arial"/>
            </a:endParaRPr>
          </a:p>
          <a:p>
            <a:pPr algn="ctr" marL="560070" marR="611505">
              <a:lnSpc>
                <a:spcPts val="910"/>
              </a:lnSpc>
            </a:pPr>
            <a:r>
              <a:rPr dirty="0" sz="800" spc="-20">
                <a:solidFill>
                  <a:srgbClr val="505050"/>
                </a:solidFill>
                <a:latin typeface="Arial"/>
                <a:cs typeface="Arial"/>
              </a:rPr>
              <a:t>Apache </a:t>
            </a:r>
            <a:r>
              <a:rPr dirty="0" sz="800" spc="-25">
                <a:solidFill>
                  <a:srgbClr val="505050"/>
                </a:solidFill>
                <a:latin typeface="Arial"/>
                <a:cs typeface="Arial"/>
              </a:rPr>
              <a:t>Hop</a:t>
            </a: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800">
              <a:latin typeface="Arial"/>
              <a:cs typeface="Arial"/>
            </a:endParaRPr>
          </a:p>
          <a:p>
            <a:pPr algn="ctr" marR="32384">
              <a:lnSpc>
                <a:spcPct val="100000"/>
              </a:lnSpc>
            </a:pPr>
            <a:r>
              <a:rPr dirty="0" sz="1600" spc="-20" b="1">
                <a:latin typeface="Courier New"/>
                <a:cs typeface="Courier New"/>
              </a:rPr>
              <a:t>APOC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21" name="object 121" descr=""/>
          <p:cNvSpPr/>
          <p:nvPr/>
        </p:nvSpPr>
        <p:spPr>
          <a:xfrm>
            <a:off x="3755094" y="2046822"/>
            <a:ext cx="3002280" cy="4547235"/>
          </a:xfrm>
          <a:custGeom>
            <a:avLst/>
            <a:gdLst/>
            <a:ahLst/>
            <a:cxnLst/>
            <a:rect l="l" t="t" r="r" b="b"/>
            <a:pathLst>
              <a:path w="3002279" h="4547234">
                <a:moveTo>
                  <a:pt x="3001976" y="0"/>
                </a:moveTo>
                <a:lnTo>
                  <a:pt x="0" y="0"/>
                </a:lnTo>
                <a:lnTo>
                  <a:pt x="0" y="4546826"/>
                </a:lnTo>
                <a:lnTo>
                  <a:pt x="3001976" y="4546826"/>
                </a:lnTo>
                <a:lnTo>
                  <a:pt x="3001976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 descr=""/>
          <p:cNvSpPr txBox="1"/>
          <p:nvPr/>
        </p:nvSpPr>
        <p:spPr>
          <a:xfrm>
            <a:off x="5607004" y="3830721"/>
            <a:ext cx="492759" cy="4432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00"/>
              </a:spcBef>
            </a:pPr>
            <a:r>
              <a:rPr dirty="0" sz="1300" spc="-10">
                <a:latin typeface="Tahoma"/>
                <a:cs typeface="Tahoma"/>
              </a:rPr>
              <a:t>Neo4j</a:t>
            </a:r>
            <a:endParaRPr sz="1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r>
              <a:rPr dirty="0" sz="1400" spc="-10">
                <a:latin typeface="Tahoma"/>
                <a:cs typeface="Tahoma"/>
              </a:rPr>
              <a:t>Bloom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3" name="object 123" descr=""/>
          <p:cNvGrpSpPr/>
          <p:nvPr/>
        </p:nvGrpSpPr>
        <p:grpSpPr>
          <a:xfrm>
            <a:off x="3893464" y="2719329"/>
            <a:ext cx="2682240" cy="3255010"/>
            <a:chOff x="3893464" y="2719329"/>
            <a:chExt cx="2682240" cy="3255010"/>
          </a:xfrm>
        </p:grpSpPr>
        <p:pic>
          <p:nvPicPr>
            <p:cNvPr id="124" name="object 124" descr="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5254243" y="2719329"/>
              <a:ext cx="1051560" cy="1042415"/>
            </a:xfrm>
            <a:prstGeom prst="rect">
              <a:avLst/>
            </a:prstGeom>
          </p:spPr>
        </p:pic>
        <p:sp>
          <p:nvSpPr>
            <p:cNvPr id="125" name="object 125" descr=""/>
            <p:cNvSpPr/>
            <p:nvPr/>
          </p:nvSpPr>
          <p:spPr>
            <a:xfrm>
              <a:off x="3900766" y="4513119"/>
              <a:ext cx="2667635" cy="1454150"/>
            </a:xfrm>
            <a:custGeom>
              <a:avLst/>
              <a:gdLst/>
              <a:ahLst/>
              <a:cxnLst/>
              <a:rect l="l" t="t" r="r" b="b"/>
              <a:pathLst>
                <a:path w="2667634" h="1454150">
                  <a:moveTo>
                    <a:pt x="2667210" y="0"/>
                  </a:moveTo>
                  <a:lnTo>
                    <a:pt x="2648548" y="34816"/>
                  </a:lnTo>
                  <a:lnTo>
                    <a:pt x="2616309" y="57019"/>
                  </a:lnTo>
                  <a:lnTo>
                    <a:pt x="2569282" y="78252"/>
                  </a:lnTo>
                  <a:lnTo>
                    <a:pt x="2508369" y="98374"/>
                  </a:lnTo>
                  <a:lnTo>
                    <a:pt x="2434469" y="117246"/>
                  </a:lnTo>
                  <a:lnTo>
                    <a:pt x="2392931" y="126169"/>
                  </a:lnTo>
                  <a:lnTo>
                    <a:pt x="2348484" y="134726"/>
                  </a:lnTo>
                  <a:lnTo>
                    <a:pt x="2301241" y="142901"/>
                  </a:lnTo>
                  <a:lnTo>
                    <a:pt x="2251315" y="150675"/>
                  </a:lnTo>
                  <a:lnTo>
                    <a:pt x="2198817" y="158032"/>
                  </a:lnTo>
                  <a:lnTo>
                    <a:pt x="2143861" y="164953"/>
                  </a:lnTo>
                  <a:lnTo>
                    <a:pt x="2086559" y="171421"/>
                  </a:lnTo>
                  <a:lnTo>
                    <a:pt x="2027023" y="177419"/>
                  </a:lnTo>
                  <a:lnTo>
                    <a:pt x="1965367" y="182928"/>
                  </a:lnTo>
                  <a:lnTo>
                    <a:pt x="1901703" y="187932"/>
                  </a:lnTo>
                  <a:lnTo>
                    <a:pt x="1836143" y="192413"/>
                  </a:lnTo>
                  <a:lnTo>
                    <a:pt x="1768800" y="196354"/>
                  </a:lnTo>
                  <a:lnTo>
                    <a:pt x="1699787" y="199736"/>
                  </a:lnTo>
                  <a:lnTo>
                    <a:pt x="1629216" y="202543"/>
                  </a:lnTo>
                  <a:lnTo>
                    <a:pt x="1557199" y="204756"/>
                  </a:lnTo>
                  <a:lnTo>
                    <a:pt x="1483851" y="206359"/>
                  </a:lnTo>
                  <a:lnTo>
                    <a:pt x="1409281" y="207334"/>
                  </a:lnTo>
                  <a:lnTo>
                    <a:pt x="1333605" y="207662"/>
                  </a:lnTo>
                  <a:lnTo>
                    <a:pt x="1257928" y="207334"/>
                  </a:lnTo>
                  <a:lnTo>
                    <a:pt x="1183359" y="206359"/>
                  </a:lnTo>
                  <a:lnTo>
                    <a:pt x="1110010" y="204756"/>
                  </a:lnTo>
                  <a:lnTo>
                    <a:pt x="1037994" y="202543"/>
                  </a:lnTo>
                  <a:lnTo>
                    <a:pt x="967423" y="199736"/>
                  </a:lnTo>
                  <a:lnTo>
                    <a:pt x="898410" y="196354"/>
                  </a:lnTo>
                  <a:lnTo>
                    <a:pt x="831067" y="192413"/>
                  </a:lnTo>
                  <a:lnTo>
                    <a:pt x="765507" y="187932"/>
                  </a:lnTo>
                  <a:lnTo>
                    <a:pt x="701843" y="182928"/>
                  </a:lnTo>
                  <a:lnTo>
                    <a:pt x="640187" y="177419"/>
                  </a:lnTo>
                  <a:lnTo>
                    <a:pt x="580651" y="171421"/>
                  </a:lnTo>
                  <a:lnTo>
                    <a:pt x="523349" y="164953"/>
                  </a:lnTo>
                  <a:lnTo>
                    <a:pt x="468393" y="158032"/>
                  </a:lnTo>
                  <a:lnTo>
                    <a:pt x="415895" y="150675"/>
                  </a:lnTo>
                  <a:lnTo>
                    <a:pt x="365968" y="142901"/>
                  </a:lnTo>
                  <a:lnTo>
                    <a:pt x="318725" y="134726"/>
                  </a:lnTo>
                  <a:lnTo>
                    <a:pt x="274279" y="126169"/>
                  </a:lnTo>
                  <a:lnTo>
                    <a:pt x="232740" y="117246"/>
                  </a:lnTo>
                  <a:lnTo>
                    <a:pt x="194224" y="107975"/>
                  </a:lnTo>
                  <a:lnTo>
                    <a:pt x="126705" y="88461"/>
                  </a:lnTo>
                  <a:lnTo>
                    <a:pt x="72622" y="67766"/>
                  </a:lnTo>
                  <a:lnTo>
                    <a:pt x="32877" y="46031"/>
                  </a:lnTo>
                  <a:lnTo>
                    <a:pt x="2111" y="11783"/>
                  </a:lnTo>
                  <a:lnTo>
                    <a:pt x="0" y="0"/>
                  </a:lnTo>
                  <a:lnTo>
                    <a:pt x="0" y="1245980"/>
                  </a:lnTo>
                  <a:lnTo>
                    <a:pt x="18662" y="1280797"/>
                  </a:lnTo>
                  <a:lnTo>
                    <a:pt x="50901" y="1303000"/>
                  </a:lnTo>
                  <a:lnTo>
                    <a:pt x="97928" y="1324233"/>
                  </a:lnTo>
                  <a:lnTo>
                    <a:pt x="158841" y="1344355"/>
                  </a:lnTo>
                  <a:lnTo>
                    <a:pt x="232740" y="1363226"/>
                  </a:lnTo>
                  <a:lnTo>
                    <a:pt x="274279" y="1372149"/>
                  </a:lnTo>
                  <a:lnTo>
                    <a:pt x="318725" y="1380707"/>
                  </a:lnTo>
                  <a:lnTo>
                    <a:pt x="365968" y="1388881"/>
                  </a:lnTo>
                  <a:lnTo>
                    <a:pt x="415895" y="1396656"/>
                  </a:lnTo>
                  <a:lnTo>
                    <a:pt x="468393" y="1404012"/>
                  </a:lnTo>
                  <a:lnTo>
                    <a:pt x="523349" y="1410933"/>
                  </a:lnTo>
                  <a:lnTo>
                    <a:pt x="580651" y="1417401"/>
                  </a:lnTo>
                  <a:lnTo>
                    <a:pt x="640187" y="1423399"/>
                  </a:lnTo>
                  <a:lnTo>
                    <a:pt x="701843" y="1428909"/>
                  </a:lnTo>
                  <a:lnTo>
                    <a:pt x="765507" y="1433913"/>
                  </a:lnTo>
                  <a:lnTo>
                    <a:pt x="831067" y="1438394"/>
                  </a:lnTo>
                  <a:lnTo>
                    <a:pt x="898410" y="1442334"/>
                  </a:lnTo>
                  <a:lnTo>
                    <a:pt x="967423" y="1445717"/>
                  </a:lnTo>
                  <a:lnTo>
                    <a:pt x="1037994" y="1448523"/>
                  </a:lnTo>
                  <a:lnTo>
                    <a:pt x="1110010" y="1450737"/>
                  </a:lnTo>
                  <a:lnTo>
                    <a:pt x="1183359" y="1452340"/>
                  </a:lnTo>
                  <a:lnTo>
                    <a:pt x="1257928" y="1453314"/>
                  </a:lnTo>
                  <a:lnTo>
                    <a:pt x="1333605" y="1453643"/>
                  </a:lnTo>
                  <a:lnTo>
                    <a:pt x="1409281" y="1453314"/>
                  </a:lnTo>
                  <a:lnTo>
                    <a:pt x="1483851" y="1452340"/>
                  </a:lnTo>
                  <a:lnTo>
                    <a:pt x="1557199" y="1450737"/>
                  </a:lnTo>
                  <a:lnTo>
                    <a:pt x="1629216" y="1448523"/>
                  </a:lnTo>
                  <a:lnTo>
                    <a:pt x="1699787" y="1445717"/>
                  </a:lnTo>
                  <a:lnTo>
                    <a:pt x="1768800" y="1442334"/>
                  </a:lnTo>
                  <a:lnTo>
                    <a:pt x="1836143" y="1438394"/>
                  </a:lnTo>
                  <a:lnTo>
                    <a:pt x="1901703" y="1433913"/>
                  </a:lnTo>
                  <a:lnTo>
                    <a:pt x="1965367" y="1428909"/>
                  </a:lnTo>
                  <a:lnTo>
                    <a:pt x="2027023" y="1423399"/>
                  </a:lnTo>
                  <a:lnTo>
                    <a:pt x="2086559" y="1417401"/>
                  </a:lnTo>
                  <a:lnTo>
                    <a:pt x="2143861" y="1410933"/>
                  </a:lnTo>
                  <a:lnTo>
                    <a:pt x="2198817" y="1404012"/>
                  </a:lnTo>
                  <a:lnTo>
                    <a:pt x="2251315" y="1396656"/>
                  </a:lnTo>
                  <a:lnTo>
                    <a:pt x="2301241" y="1388881"/>
                  </a:lnTo>
                  <a:lnTo>
                    <a:pt x="2348484" y="1380707"/>
                  </a:lnTo>
                  <a:lnTo>
                    <a:pt x="2392931" y="1372149"/>
                  </a:lnTo>
                  <a:lnTo>
                    <a:pt x="2434469" y="1363226"/>
                  </a:lnTo>
                  <a:lnTo>
                    <a:pt x="2472986" y="1353956"/>
                  </a:lnTo>
                  <a:lnTo>
                    <a:pt x="2540505" y="1334441"/>
                  </a:lnTo>
                  <a:lnTo>
                    <a:pt x="2594588" y="1313746"/>
                  </a:lnTo>
                  <a:lnTo>
                    <a:pt x="2634333" y="1292011"/>
                  </a:lnTo>
                  <a:lnTo>
                    <a:pt x="2665099" y="1257764"/>
                  </a:lnTo>
                  <a:lnTo>
                    <a:pt x="2667210" y="1245980"/>
                  </a:lnTo>
                  <a:lnTo>
                    <a:pt x="2667210" y="0"/>
                  </a:lnTo>
                  <a:close/>
                </a:path>
              </a:pathLst>
            </a:custGeom>
            <a:solidFill>
              <a:srgbClr val="CF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 descr=""/>
            <p:cNvSpPr/>
            <p:nvPr/>
          </p:nvSpPr>
          <p:spPr>
            <a:xfrm>
              <a:off x="3900766" y="4305455"/>
              <a:ext cx="2667635" cy="415925"/>
            </a:xfrm>
            <a:custGeom>
              <a:avLst/>
              <a:gdLst/>
              <a:ahLst/>
              <a:cxnLst/>
              <a:rect l="l" t="t" r="r" b="b"/>
              <a:pathLst>
                <a:path w="2667634" h="415925">
                  <a:moveTo>
                    <a:pt x="1333605" y="0"/>
                  </a:moveTo>
                  <a:lnTo>
                    <a:pt x="1257928" y="328"/>
                  </a:lnTo>
                  <a:lnTo>
                    <a:pt x="1183359" y="1303"/>
                  </a:lnTo>
                  <a:lnTo>
                    <a:pt x="1110010" y="2906"/>
                  </a:lnTo>
                  <a:lnTo>
                    <a:pt x="1037994" y="5119"/>
                  </a:lnTo>
                  <a:lnTo>
                    <a:pt x="967423" y="7926"/>
                  </a:lnTo>
                  <a:lnTo>
                    <a:pt x="898410" y="11308"/>
                  </a:lnTo>
                  <a:lnTo>
                    <a:pt x="831067" y="15248"/>
                  </a:lnTo>
                  <a:lnTo>
                    <a:pt x="765507" y="19730"/>
                  </a:lnTo>
                  <a:lnTo>
                    <a:pt x="701843" y="24734"/>
                  </a:lnTo>
                  <a:lnTo>
                    <a:pt x="640187" y="30243"/>
                  </a:lnTo>
                  <a:lnTo>
                    <a:pt x="580651" y="36241"/>
                  </a:lnTo>
                  <a:lnTo>
                    <a:pt x="523349" y="42709"/>
                  </a:lnTo>
                  <a:lnTo>
                    <a:pt x="468393" y="49630"/>
                  </a:lnTo>
                  <a:lnTo>
                    <a:pt x="415895" y="56987"/>
                  </a:lnTo>
                  <a:lnTo>
                    <a:pt x="365968" y="64761"/>
                  </a:lnTo>
                  <a:lnTo>
                    <a:pt x="318725" y="72936"/>
                  </a:lnTo>
                  <a:lnTo>
                    <a:pt x="274279" y="81493"/>
                  </a:lnTo>
                  <a:lnTo>
                    <a:pt x="232740" y="90416"/>
                  </a:lnTo>
                  <a:lnTo>
                    <a:pt x="194224" y="99687"/>
                  </a:lnTo>
                  <a:lnTo>
                    <a:pt x="126705" y="119201"/>
                  </a:lnTo>
                  <a:lnTo>
                    <a:pt x="72622" y="139897"/>
                  </a:lnTo>
                  <a:lnTo>
                    <a:pt x="32877" y="161632"/>
                  </a:lnTo>
                  <a:lnTo>
                    <a:pt x="2111" y="195879"/>
                  </a:lnTo>
                  <a:lnTo>
                    <a:pt x="0" y="207664"/>
                  </a:lnTo>
                  <a:lnTo>
                    <a:pt x="2111" y="219448"/>
                  </a:lnTo>
                  <a:lnTo>
                    <a:pt x="32877" y="253695"/>
                  </a:lnTo>
                  <a:lnTo>
                    <a:pt x="72622" y="275430"/>
                  </a:lnTo>
                  <a:lnTo>
                    <a:pt x="126705" y="296125"/>
                  </a:lnTo>
                  <a:lnTo>
                    <a:pt x="194224" y="315639"/>
                  </a:lnTo>
                  <a:lnTo>
                    <a:pt x="232740" y="324910"/>
                  </a:lnTo>
                  <a:lnTo>
                    <a:pt x="274279" y="333833"/>
                  </a:lnTo>
                  <a:lnTo>
                    <a:pt x="318725" y="342390"/>
                  </a:lnTo>
                  <a:lnTo>
                    <a:pt x="365968" y="350565"/>
                  </a:lnTo>
                  <a:lnTo>
                    <a:pt x="415895" y="358339"/>
                  </a:lnTo>
                  <a:lnTo>
                    <a:pt x="468393" y="365696"/>
                  </a:lnTo>
                  <a:lnTo>
                    <a:pt x="523349" y="372617"/>
                  </a:lnTo>
                  <a:lnTo>
                    <a:pt x="580651" y="379085"/>
                  </a:lnTo>
                  <a:lnTo>
                    <a:pt x="640187" y="385083"/>
                  </a:lnTo>
                  <a:lnTo>
                    <a:pt x="701843" y="390592"/>
                  </a:lnTo>
                  <a:lnTo>
                    <a:pt x="765507" y="395596"/>
                  </a:lnTo>
                  <a:lnTo>
                    <a:pt x="831067" y="400077"/>
                  </a:lnTo>
                  <a:lnTo>
                    <a:pt x="898410" y="404018"/>
                  </a:lnTo>
                  <a:lnTo>
                    <a:pt x="967423" y="407400"/>
                  </a:lnTo>
                  <a:lnTo>
                    <a:pt x="1037994" y="410207"/>
                  </a:lnTo>
                  <a:lnTo>
                    <a:pt x="1110010" y="412420"/>
                  </a:lnTo>
                  <a:lnTo>
                    <a:pt x="1183359" y="414023"/>
                  </a:lnTo>
                  <a:lnTo>
                    <a:pt x="1257928" y="414998"/>
                  </a:lnTo>
                  <a:lnTo>
                    <a:pt x="1333605" y="415326"/>
                  </a:lnTo>
                  <a:lnTo>
                    <a:pt x="1409281" y="414998"/>
                  </a:lnTo>
                  <a:lnTo>
                    <a:pt x="1483851" y="414023"/>
                  </a:lnTo>
                  <a:lnTo>
                    <a:pt x="1557199" y="412420"/>
                  </a:lnTo>
                  <a:lnTo>
                    <a:pt x="1629216" y="410207"/>
                  </a:lnTo>
                  <a:lnTo>
                    <a:pt x="1699787" y="407400"/>
                  </a:lnTo>
                  <a:lnTo>
                    <a:pt x="1768800" y="404018"/>
                  </a:lnTo>
                  <a:lnTo>
                    <a:pt x="1836143" y="400077"/>
                  </a:lnTo>
                  <a:lnTo>
                    <a:pt x="1901703" y="395596"/>
                  </a:lnTo>
                  <a:lnTo>
                    <a:pt x="1965367" y="390592"/>
                  </a:lnTo>
                  <a:lnTo>
                    <a:pt x="2027023" y="385083"/>
                  </a:lnTo>
                  <a:lnTo>
                    <a:pt x="2086559" y="379085"/>
                  </a:lnTo>
                  <a:lnTo>
                    <a:pt x="2143861" y="372617"/>
                  </a:lnTo>
                  <a:lnTo>
                    <a:pt x="2198817" y="365696"/>
                  </a:lnTo>
                  <a:lnTo>
                    <a:pt x="2251315" y="358339"/>
                  </a:lnTo>
                  <a:lnTo>
                    <a:pt x="2301241" y="350565"/>
                  </a:lnTo>
                  <a:lnTo>
                    <a:pt x="2348484" y="342390"/>
                  </a:lnTo>
                  <a:lnTo>
                    <a:pt x="2392931" y="333833"/>
                  </a:lnTo>
                  <a:lnTo>
                    <a:pt x="2434469" y="324910"/>
                  </a:lnTo>
                  <a:lnTo>
                    <a:pt x="2472986" y="315639"/>
                  </a:lnTo>
                  <a:lnTo>
                    <a:pt x="2540505" y="296125"/>
                  </a:lnTo>
                  <a:lnTo>
                    <a:pt x="2594588" y="275430"/>
                  </a:lnTo>
                  <a:lnTo>
                    <a:pt x="2634333" y="253695"/>
                  </a:lnTo>
                  <a:lnTo>
                    <a:pt x="2665099" y="219448"/>
                  </a:lnTo>
                  <a:lnTo>
                    <a:pt x="2667210" y="207664"/>
                  </a:lnTo>
                  <a:lnTo>
                    <a:pt x="2665099" y="195879"/>
                  </a:lnTo>
                  <a:lnTo>
                    <a:pt x="2634333" y="161632"/>
                  </a:lnTo>
                  <a:lnTo>
                    <a:pt x="2594588" y="139897"/>
                  </a:lnTo>
                  <a:lnTo>
                    <a:pt x="2540505" y="119201"/>
                  </a:lnTo>
                  <a:lnTo>
                    <a:pt x="2472986" y="99687"/>
                  </a:lnTo>
                  <a:lnTo>
                    <a:pt x="2434469" y="90416"/>
                  </a:lnTo>
                  <a:lnTo>
                    <a:pt x="2392931" y="81493"/>
                  </a:lnTo>
                  <a:lnTo>
                    <a:pt x="2348484" y="72936"/>
                  </a:lnTo>
                  <a:lnTo>
                    <a:pt x="2301241" y="64761"/>
                  </a:lnTo>
                  <a:lnTo>
                    <a:pt x="2251315" y="56987"/>
                  </a:lnTo>
                  <a:lnTo>
                    <a:pt x="2198817" y="49630"/>
                  </a:lnTo>
                  <a:lnTo>
                    <a:pt x="2143861" y="42709"/>
                  </a:lnTo>
                  <a:lnTo>
                    <a:pt x="2086559" y="36241"/>
                  </a:lnTo>
                  <a:lnTo>
                    <a:pt x="2027023" y="30243"/>
                  </a:lnTo>
                  <a:lnTo>
                    <a:pt x="1965367" y="24734"/>
                  </a:lnTo>
                  <a:lnTo>
                    <a:pt x="1901703" y="19730"/>
                  </a:lnTo>
                  <a:lnTo>
                    <a:pt x="1836143" y="15248"/>
                  </a:lnTo>
                  <a:lnTo>
                    <a:pt x="1768800" y="11308"/>
                  </a:lnTo>
                  <a:lnTo>
                    <a:pt x="1699787" y="7926"/>
                  </a:lnTo>
                  <a:lnTo>
                    <a:pt x="1629216" y="5119"/>
                  </a:lnTo>
                  <a:lnTo>
                    <a:pt x="1557199" y="2906"/>
                  </a:lnTo>
                  <a:lnTo>
                    <a:pt x="1483851" y="1303"/>
                  </a:lnTo>
                  <a:lnTo>
                    <a:pt x="1409281" y="328"/>
                  </a:lnTo>
                  <a:lnTo>
                    <a:pt x="1333605" y="0"/>
                  </a:lnTo>
                  <a:close/>
                </a:path>
              </a:pathLst>
            </a:custGeom>
            <a:solidFill>
              <a:srgbClr val="E2EE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 descr=""/>
            <p:cNvSpPr/>
            <p:nvPr/>
          </p:nvSpPr>
          <p:spPr>
            <a:xfrm>
              <a:off x="3900766" y="4305455"/>
              <a:ext cx="2667635" cy="1661795"/>
            </a:xfrm>
            <a:custGeom>
              <a:avLst/>
              <a:gdLst/>
              <a:ahLst/>
              <a:cxnLst/>
              <a:rect l="l" t="t" r="r" b="b"/>
              <a:pathLst>
                <a:path w="2667634" h="1661795">
                  <a:moveTo>
                    <a:pt x="2667209" y="207663"/>
                  </a:moveTo>
                  <a:lnTo>
                    <a:pt x="2648547" y="242480"/>
                  </a:lnTo>
                  <a:lnTo>
                    <a:pt x="2616308" y="264683"/>
                  </a:lnTo>
                  <a:lnTo>
                    <a:pt x="2569281" y="285916"/>
                  </a:lnTo>
                  <a:lnTo>
                    <a:pt x="2508368" y="306038"/>
                  </a:lnTo>
                  <a:lnTo>
                    <a:pt x="2434468" y="324910"/>
                  </a:lnTo>
                  <a:lnTo>
                    <a:pt x="2392930" y="333833"/>
                  </a:lnTo>
                  <a:lnTo>
                    <a:pt x="2348483" y="342390"/>
                  </a:lnTo>
                  <a:lnTo>
                    <a:pt x="2301240" y="350565"/>
                  </a:lnTo>
                  <a:lnTo>
                    <a:pt x="2251314" y="358339"/>
                  </a:lnTo>
                  <a:lnTo>
                    <a:pt x="2198816" y="365696"/>
                  </a:lnTo>
                  <a:lnTo>
                    <a:pt x="2143860" y="372617"/>
                  </a:lnTo>
                  <a:lnTo>
                    <a:pt x="2086558" y="379085"/>
                  </a:lnTo>
                  <a:lnTo>
                    <a:pt x="2027022" y="385083"/>
                  </a:lnTo>
                  <a:lnTo>
                    <a:pt x="1965366" y="390592"/>
                  </a:lnTo>
                  <a:lnTo>
                    <a:pt x="1901702" y="395596"/>
                  </a:lnTo>
                  <a:lnTo>
                    <a:pt x="1836142" y="400077"/>
                  </a:lnTo>
                  <a:lnTo>
                    <a:pt x="1768799" y="404018"/>
                  </a:lnTo>
                  <a:lnTo>
                    <a:pt x="1699786" y="407400"/>
                  </a:lnTo>
                  <a:lnTo>
                    <a:pt x="1629215" y="410207"/>
                  </a:lnTo>
                  <a:lnTo>
                    <a:pt x="1557199" y="412420"/>
                  </a:lnTo>
                  <a:lnTo>
                    <a:pt x="1483850" y="414023"/>
                  </a:lnTo>
                  <a:lnTo>
                    <a:pt x="1409281" y="414998"/>
                  </a:lnTo>
                  <a:lnTo>
                    <a:pt x="1333604" y="415326"/>
                  </a:lnTo>
                  <a:lnTo>
                    <a:pt x="1257928" y="414998"/>
                  </a:lnTo>
                  <a:lnTo>
                    <a:pt x="1183359" y="414023"/>
                  </a:lnTo>
                  <a:lnTo>
                    <a:pt x="1110010" y="412420"/>
                  </a:lnTo>
                  <a:lnTo>
                    <a:pt x="1037994" y="410207"/>
                  </a:lnTo>
                  <a:lnTo>
                    <a:pt x="967423" y="407400"/>
                  </a:lnTo>
                  <a:lnTo>
                    <a:pt x="898410" y="404018"/>
                  </a:lnTo>
                  <a:lnTo>
                    <a:pt x="831067" y="400077"/>
                  </a:lnTo>
                  <a:lnTo>
                    <a:pt x="765507" y="395596"/>
                  </a:lnTo>
                  <a:lnTo>
                    <a:pt x="701843" y="390592"/>
                  </a:lnTo>
                  <a:lnTo>
                    <a:pt x="640187" y="385083"/>
                  </a:lnTo>
                  <a:lnTo>
                    <a:pt x="580651" y="379085"/>
                  </a:lnTo>
                  <a:lnTo>
                    <a:pt x="523349" y="372617"/>
                  </a:lnTo>
                  <a:lnTo>
                    <a:pt x="468393" y="365696"/>
                  </a:lnTo>
                  <a:lnTo>
                    <a:pt x="415895" y="358339"/>
                  </a:lnTo>
                  <a:lnTo>
                    <a:pt x="365968" y="350565"/>
                  </a:lnTo>
                  <a:lnTo>
                    <a:pt x="318725" y="342390"/>
                  </a:lnTo>
                  <a:lnTo>
                    <a:pt x="274278" y="333833"/>
                  </a:lnTo>
                  <a:lnTo>
                    <a:pt x="232740" y="324910"/>
                  </a:lnTo>
                  <a:lnTo>
                    <a:pt x="194224" y="315639"/>
                  </a:lnTo>
                  <a:lnTo>
                    <a:pt x="126705" y="296125"/>
                  </a:lnTo>
                  <a:lnTo>
                    <a:pt x="72622" y="275430"/>
                  </a:lnTo>
                  <a:lnTo>
                    <a:pt x="32877" y="253694"/>
                  </a:lnTo>
                  <a:lnTo>
                    <a:pt x="2111" y="219447"/>
                  </a:lnTo>
                  <a:lnTo>
                    <a:pt x="0" y="207663"/>
                  </a:lnTo>
                  <a:lnTo>
                    <a:pt x="2111" y="195879"/>
                  </a:lnTo>
                  <a:lnTo>
                    <a:pt x="32877" y="161632"/>
                  </a:lnTo>
                  <a:lnTo>
                    <a:pt x="72622" y="139896"/>
                  </a:lnTo>
                  <a:lnTo>
                    <a:pt x="126705" y="119201"/>
                  </a:lnTo>
                  <a:lnTo>
                    <a:pt x="194224" y="99687"/>
                  </a:lnTo>
                  <a:lnTo>
                    <a:pt x="232740" y="90416"/>
                  </a:lnTo>
                  <a:lnTo>
                    <a:pt x="274278" y="81493"/>
                  </a:lnTo>
                  <a:lnTo>
                    <a:pt x="318725" y="72936"/>
                  </a:lnTo>
                  <a:lnTo>
                    <a:pt x="365968" y="64761"/>
                  </a:lnTo>
                  <a:lnTo>
                    <a:pt x="415895" y="56987"/>
                  </a:lnTo>
                  <a:lnTo>
                    <a:pt x="468393" y="49630"/>
                  </a:lnTo>
                  <a:lnTo>
                    <a:pt x="523349" y="42709"/>
                  </a:lnTo>
                  <a:lnTo>
                    <a:pt x="580651" y="36241"/>
                  </a:lnTo>
                  <a:lnTo>
                    <a:pt x="640187" y="30243"/>
                  </a:lnTo>
                  <a:lnTo>
                    <a:pt x="701843" y="24734"/>
                  </a:lnTo>
                  <a:lnTo>
                    <a:pt x="765507" y="19730"/>
                  </a:lnTo>
                  <a:lnTo>
                    <a:pt x="831067" y="15248"/>
                  </a:lnTo>
                  <a:lnTo>
                    <a:pt x="898410" y="11308"/>
                  </a:lnTo>
                  <a:lnTo>
                    <a:pt x="967423" y="7926"/>
                  </a:lnTo>
                  <a:lnTo>
                    <a:pt x="1037994" y="5119"/>
                  </a:lnTo>
                  <a:lnTo>
                    <a:pt x="1110010" y="2906"/>
                  </a:lnTo>
                  <a:lnTo>
                    <a:pt x="1183359" y="1303"/>
                  </a:lnTo>
                  <a:lnTo>
                    <a:pt x="1257928" y="328"/>
                  </a:lnTo>
                  <a:lnTo>
                    <a:pt x="1333604" y="0"/>
                  </a:lnTo>
                  <a:lnTo>
                    <a:pt x="1409281" y="328"/>
                  </a:lnTo>
                  <a:lnTo>
                    <a:pt x="1483850" y="1303"/>
                  </a:lnTo>
                  <a:lnTo>
                    <a:pt x="1557199" y="2906"/>
                  </a:lnTo>
                  <a:lnTo>
                    <a:pt x="1629215" y="5119"/>
                  </a:lnTo>
                  <a:lnTo>
                    <a:pt x="1699786" y="7926"/>
                  </a:lnTo>
                  <a:lnTo>
                    <a:pt x="1768799" y="11308"/>
                  </a:lnTo>
                  <a:lnTo>
                    <a:pt x="1836142" y="15248"/>
                  </a:lnTo>
                  <a:lnTo>
                    <a:pt x="1901702" y="19730"/>
                  </a:lnTo>
                  <a:lnTo>
                    <a:pt x="1965366" y="24734"/>
                  </a:lnTo>
                  <a:lnTo>
                    <a:pt x="2027022" y="30243"/>
                  </a:lnTo>
                  <a:lnTo>
                    <a:pt x="2086558" y="36241"/>
                  </a:lnTo>
                  <a:lnTo>
                    <a:pt x="2143860" y="42709"/>
                  </a:lnTo>
                  <a:lnTo>
                    <a:pt x="2198816" y="49630"/>
                  </a:lnTo>
                  <a:lnTo>
                    <a:pt x="2251314" y="56987"/>
                  </a:lnTo>
                  <a:lnTo>
                    <a:pt x="2301240" y="64761"/>
                  </a:lnTo>
                  <a:lnTo>
                    <a:pt x="2348483" y="72936"/>
                  </a:lnTo>
                  <a:lnTo>
                    <a:pt x="2392930" y="81493"/>
                  </a:lnTo>
                  <a:lnTo>
                    <a:pt x="2434468" y="90416"/>
                  </a:lnTo>
                  <a:lnTo>
                    <a:pt x="2472985" y="99687"/>
                  </a:lnTo>
                  <a:lnTo>
                    <a:pt x="2540504" y="119201"/>
                  </a:lnTo>
                  <a:lnTo>
                    <a:pt x="2594587" y="139896"/>
                  </a:lnTo>
                  <a:lnTo>
                    <a:pt x="2634332" y="161632"/>
                  </a:lnTo>
                  <a:lnTo>
                    <a:pt x="2665098" y="195879"/>
                  </a:lnTo>
                  <a:lnTo>
                    <a:pt x="2667209" y="207663"/>
                  </a:lnTo>
                  <a:lnTo>
                    <a:pt x="2667209" y="1453644"/>
                  </a:lnTo>
                  <a:lnTo>
                    <a:pt x="2648547" y="1488461"/>
                  </a:lnTo>
                  <a:lnTo>
                    <a:pt x="2616308" y="1510664"/>
                  </a:lnTo>
                  <a:lnTo>
                    <a:pt x="2569281" y="1531897"/>
                  </a:lnTo>
                  <a:lnTo>
                    <a:pt x="2508368" y="1552019"/>
                  </a:lnTo>
                  <a:lnTo>
                    <a:pt x="2434468" y="1570890"/>
                  </a:lnTo>
                  <a:lnTo>
                    <a:pt x="2392930" y="1579813"/>
                  </a:lnTo>
                  <a:lnTo>
                    <a:pt x="2348483" y="1588371"/>
                  </a:lnTo>
                  <a:lnTo>
                    <a:pt x="2301240" y="1596545"/>
                  </a:lnTo>
                  <a:lnTo>
                    <a:pt x="2251314" y="1604320"/>
                  </a:lnTo>
                  <a:lnTo>
                    <a:pt x="2198816" y="1611676"/>
                  </a:lnTo>
                  <a:lnTo>
                    <a:pt x="2143860" y="1618597"/>
                  </a:lnTo>
                  <a:lnTo>
                    <a:pt x="2086558" y="1625065"/>
                  </a:lnTo>
                  <a:lnTo>
                    <a:pt x="2027022" y="1631063"/>
                  </a:lnTo>
                  <a:lnTo>
                    <a:pt x="1965366" y="1636573"/>
                  </a:lnTo>
                  <a:lnTo>
                    <a:pt x="1901702" y="1641577"/>
                  </a:lnTo>
                  <a:lnTo>
                    <a:pt x="1836142" y="1646058"/>
                  </a:lnTo>
                  <a:lnTo>
                    <a:pt x="1768799" y="1649998"/>
                  </a:lnTo>
                  <a:lnTo>
                    <a:pt x="1699786" y="1653381"/>
                  </a:lnTo>
                  <a:lnTo>
                    <a:pt x="1629215" y="1656187"/>
                  </a:lnTo>
                  <a:lnTo>
                    <a:pt x="1557199" y="1658401"/>
                  </a:lnTo>
                  <a:lnTo>
                    <a:pt x="1483850" y="1660004"/>
                  </a:lnTo>
                  <a:lnTo>
                    <a:pt x="1409281" y="1660978"/>
                  </a:lnTo>
                  <a:lnTo>
                    <a:pt x="1333604" y="1661307"/>
                  </a:lnTo>
                  <a:lnTo>
                    <a:pt x="1257928" y="1660978"/>
                  </a:lnTo>
                  <a:lnTo>
                    <a:pt x="1183359" y="1660004"/>
                  </a:lnTo>
                  <a:lnTo>
                    <a:pt x="1110010" y="1658401"/>
                  </a:lnTo>
                  <a:lnTo>
                    <a:pt x="1037994" y="1656187"/>
                  </a:lnTo>
                  <a:lnTo>
                    <a:pt x="967423" y="1653381"/>
                  </a:lnTo>
                  <a:lnTo>
                    <a:pt x="898410" y="1649998"/>
                  </a:lnTo>
                  <a:lnTo>
                    <a:pt x="831067" y="1646058"/>
                  </a:lnTo>
                  <a:lnTo>
                    <a:pt x="765507" y="1641577"/>
                  </a:lnTo>
                  <a:lnTo>
                    <a:pt x="701843" y="1636573"/>
                  </a:lnTo>
                  <a:lnTo>
                    <a:pt x="640187" y="1631063"/>
                  </a:lnTo>
                  <a:lnTo>
                    <a:pt x="580651" y="1625065"/>
                  </a:lnTo>
                  <a:lnTo>
                    <a:pt x="523349" y="1618597"/>
                  </a:lnTo>
                  <a:lnTo>
                    <a:pt x="468393" y="1611676"/>
                  </a:lnTo>
                  <a:lnTo>
                    <a:pt x="415895" y="1604320"/>
                  </a:lnTo>
                  <a:lnTo>
                    <a:pt x="365968" y="1596545"/>
                  </a:lnTo>
                  <a:lnTo>
                    <a:pt x="318725" y="1588371"/>
                  </a:lnTo>
                  <a:lnTo>
                    <a:pt x="274278" y="1579813"/>
                  </a:lnTo>
                  <a:lnTo>
                    <a:pt x="232740" y="1570890"/>
                  </a:lnTo>
                  <a:lnTo>
                    <a:pt x="194224" y="1561620"/>
                  </a:lnTo>
                  <a:lnTo>
                    <a:pt x="126705" y="1542105"/>
                  </a:lnTo>
                  <a:lnTo>
                    <a:pt x="72622" y="1521410"/>
                  </a:lnTo>
                  <a:lnTo>
                    <a:pt x="32877" y="1499675"/>
                  </a:lnTo>
                  <a:lnTo>
                    <a:pt x="2111" y="1465428"/>
                  </a:lnTo>
                  <a:lnTo>
                    <a:pt x="0" y="1453644"/>
                  </a:lnTo>
                  <a:lnTo>
                    <a:pt x="0" y="207663"/>
                  </a:lnTo>
                </a:path>
              </a:pathLst>
            </a:custGeom>
            <a:ln w="14453">
              <a:solidFill>
                <a:srgbClr val="66B9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8" name="object 128" descr="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931155" y="5663697"/>
              <a:ext cx="713231" cy="268224"/>
            </a:xfrm>
            <a:prstGeom prst="rect">
              <a:avLst/>
            </a:prstGeom>
          </p:spPr>
        </p:pic>
        <p:sp>
          <p:nvSpPr>
            <p:cNvPr id="129" name="object 129" descr=""/>
            <p:cNvSpPr/>
            <p:nvPr/>
          </p:nvSpPr>
          <p:spPr>
            <a:xfrm>
              <a:off x="4119829" y="5203367"/>
              <a:ext cx="1667510" cy="441325"/>
            </a:xfrm>
            <a:custGeom>
              <a:avLst/>
              <a:gdLst/>
              <a:ahLst/>
              <a:cxnLst/>
              <a:rect l="l" t="t" r="r" b="b"/>
              <a:pathLst>
                <a:path w="1667510" h="441325">
                  <a:moveTo>
                    <a:pt x="569544" y="102387"/>
                  </a:moveTo>
                  <a:lnTo>
                    <a:pt x="472694" y="99009"/>
                  </a:lnTo>
                  <a:lnTo>
                    <a:pt x="488467" y="133515"/>
                  </a:lnTo>
                  <a:lnTo>
                    <a:pt x="76581" y="321945"/>
                  </a:lnTo>
                  <a:lnTo>
                    <a:pt x="60807" y="287426"/>
                  </a:lnTo>
                  <a:lnTo>
                    <a:pt x="0" y="362940"/>
                  </a:lnTo>
                  <a:lnTo>
                    <a:pt x="96850" y="366318"/>
                  </a:lnTo>
                  <a:lnTo>
                    <a:pt x="83832" y="337807"/>
                  </a:lnTo>
                  <a:lnTo>
                    <a:pt x="81089" y="331800"/>
                  </a:lnTo>
                  <a:lnTo>
                    <a:pt x="492963" y="143383"/>
                  </a:lnTo>
                  <a:lnTo>
                    <a:pt x="508736" y="177888"/>
                  </a:lnTo>
                  <a:lnTo>
                    <a:pt x="549313" y="127508"/>
                  </a:lnTo>
                  <a:lnTo>
                    <a:pt x="569544" y="102387"/>
                  </a:lnTo>
                  <a:close/>
                </a:path>
                <a:path w="1667510" h="441325">
                  <a:moveTo>
                    <a:pt x="945565" y="403059"/>
                  </a:moveTo>
                  <a:lnTo>
                    <a:pt x="883005" y="403059"/>
                  </a:lnTo>
                  <a:lnTo>
                    <a:pt x="868565" y="403059"/>
                  </a:lnTo>
                  <a:lnTo>
                    <a:pt x="868210" y="440867"/>
                  </a:lnTo>
                  <a:lnTo>
                    <a:pt x="945565" y="403059"/>
                  </a:lnTo>
                  <a:close/>
                </a:path>
                <a:path w="1667510" h="441325">
                  <a:moveTo>
                    <a:pt x="955281" y="398310"/>
                  </a:moveTo>
                  <a:lnTo>
                    <a:pt x="869010" y="354139"/>
                  </a:lnTo>
                  <a:lnTo>
                    <a:pt x="868680" y="389813"/>
                  </a:lnTo>
                  <a:lnTo>
                    <a:pt x="868667" y="392087"/>
                  </a:lnTo>
                  <a:lnTo>
                    <a:pt x="625348" y="389813"/>
                  </a:lnTo>
                  <a:lnTo>
                    <a:pt x="625246" y="400659"/>
                  </a:lnTo>
                  <a:lnTo>
                    <a:pt x="868565" y="402920"/>
                  </a:lnTo>
                  <a:lnTo>
                    <a:pt x="883005" y="403059"/>
                  </a:lnTo>
                  <a:lnTo>
                    <a:pt x="945845" y="402920"/>
                  </a:lnTo>
                  <a:lnTo>
                    <a:pt x="955281" y="398310"/>
                  </a:lnTo>
                  <a:close/>
                </a:path>
                <a:path w="1667510" h="441325">
                  <a:moveTo>
                    <a:pt x="1099781" y="120916"/>
                  </a:moveTo>
                  <a:lnTo>
                    <a:pt x="1002893" y="119049"/>
                  </a:lnTo>
                  <a:lnTo>
                    <a:pt x="1019187" y="153314"/>
                  </a:lnTo>
                  <a:lnTo>
                    <a:pt x="605028" y="350621"/>
                  </a:lnTo>
                  <a:lnTo>
                    <a:pt x="609688" y="360413"/>
                  </a:lnTo>
                  <a:lnTo>
                    <a:pt x="1023848" y="163093"/>
                  </a:lnTo>
                  <a:lnTo>
                    <a:pt x="1040155" y="197358"/>
                  </a:lnTo>
                  <a:lnTo>
                    <a:pt x="1079360" y="147091"/>
                  </a:lnTo>
                  <a:lnTo>
                    <a:pt x="1099781" y="120916"/>
                  </a:lnTo>
                  <a:close/>
                </a:path>
                <a:path w="1667510" h="441325">
                  <a:moveTo>
                    <a:pt x="1667471" y="31800"/>
                  </a:moveTo>
                  <a:lnTo>
                    <a:pt x="1575917" y="0"/>
                  </a:lnTo>
                  <a:lnTo>
                    <a:pt x="1580819" y="37630"/>
                  </a:lnTo>
                  <a:lnTo>
                    <a:pt x="1307388" y="73266"/>
                  </a:lnTo>
                  <a:lnTo>
                    <a:pt x="1302512" y="35763"/>
                  </a:lnTo>
                  <a:lnTo>
                    <a:pt x="1302321" y="35763"/>
                  </a:lnTo>
                  <a:lnTo>
                    <a:pt x="1222133" y="89852"/>
                  </a:lnTo>
                  <a:lnTo>
                    <a:pt x="1313688" y="121653"/>
                  </a:lnTo>
                  <a:lnTo>
                    <a:pt x="1309052" y="86004"/>
                  </a:lnTo>
                  <a:lnTo>
                    <a:pt x="1308785" y="84023"/>
                  </a:lnTo>
                  <a:lnTo>
                    <a:pt x="1582216" y="48374"/>
                  </a:lnTo>
                  <a:lnTo>
                    <a:pt x="1587119" y="86004"/>
                  </a:lnTo>
                  <a:lnTo>
                    <a:pt x="1661604" y="35763"/>
                  </a:lnTo>
                  <a:lnTo>
                    <a:pt x="1667471" y="3180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0" name="object 130" descr="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101963" y="5333282"/>
              <a:ext cx="125714" cy="193456"/>
            </a:xfrm>
            <a:prstGeom prst="rect">
              <a:avLst/>
            </a:prstGeom>
          </p:spPr>
        </p:pic>
        <p:sp>
          <p:nvSpPr>
            <p:cNvPr id="131" name="object 131" descr=""/>
            <p:cNvSpPr/>
            <p:nvPr/>
          </p:nvSpPr>
          <p:spPr>
            <a:xfrm>
              <a:off x="5316575" y="5230367"/>
              <a:ext cx="959485" cy="404495"/>
            </a:xfrm>
            <a:custGeom>
              <a:avLst/>
              <a:gdLst/>
              <a:ahLst/>
              <a:cxnLst/>
              <a:rect l="l" t="t" r="r" b="b"/>
              <a:pathLst>
                <a:path w="959485" h="404495">
                  <a:moveTo>
                    <a:pt x="175056" y="341210"/>
                  </a:moveTo>
                  <a:lnTo>
                    <a:pt x="164033" y="287794"/>
                  </a:lnTo>
                  <a:lnTo>
                    <a:pt x="155448" y="246240"/>
                  </a:lnTo>
                  <a:lnTo>
                    <a:pt x="125666" y="269735"/>
                  </a:lnTo>
                  <a:lnTo>
                    <a:pt x="57899" y="183680"/>
                  </a:lnTo>
                  <a:lnTo>
                    <a:pt x="72301" y="172326"/>
                  </a:lnTo>
                  <a:lnTo>
                    <a:pt x="87693" y="160197"/>
                  </a:lnTo>
                  <a:lnTo>
                    <a:pt x="0" y="118910"/>
                  </a:lnTo>
                  <a:lnTo>
                    <a:pt x="19608" y="213880"/>
                  </a:lnTo>
                  <a:lnTo>
                    <a:pt x="49390" y="190385"/>
                  </a:lnTo>
                  <a:lnTo>
                    <a:pt x="117157" y="276440"/>
                  </a:lnTo>
                  <a:lnTo>
                    <a:pt x="87376" y="299923"/>
                  </a:lnTo>
                  <a:lnTo>
                    <a:pt x="175056" y="341210"/>
                  </a:lnTo>
                  <a:close/>
                </a:path>
                <a:path w="959485" h="404495">
                  <a:moveTo>
                    <a:pt x="559117" y="317754"/>
                  </a:moveTo>
                  <a:lnTo>
                    <a:pt x="465010" y="294563"/>
                  </a:lnTo>
                  <a:lnTo>
                    <a:pt x="473367" y="331584"/>
                  </a:lnTo>
                  <a:lnTo>
                    <a:pt x="362978" y="356539"/>
                  </a:lnTo>
                  <a:lnTo>
                    <a:pt x="354622" y="319519"/>
                  </a:lnTo>
                  <a:lnTo>
                    <a:pt x="279628" y="380936"/>
                  </a:lnTo>
                  <a:lnTo>
                    <a:pt x="373722" y="404126"/>
                  </a:lnTo>
                  <a:lnTo>
                    <a:pt x="366090" y="370293"/>
                  </a:lnTo>
                  <a:lnTo>
                    <a:pt x="365366" y="367106"/>
                  </a:lnTo>
                  <a:lnTo>
                    <a:pt x="475754" y="342163"/>
                  </a:lnTo>
                  <a:lnTo>
                    <a:pt x="484111" y="379171"/>
                  </a:lnTo>
                  <a:lnTo>
                    <a:pt x="546125" y="328396"/>
                  </a:lnTo>
                  <a:lnTo>
                    <a:pt x="559117" y="317754"/>
                  </a:lnTo>
                  <a:close/>
                </a:path>
                <a:path w="959485" h="404495">
                  <a:moveTo>
                    <a:pt x="624916" y="164719"/>
                  </a:moveTo>
                  <a:lnTo>
                    <a:pt x="590219" y="180035"/>
                  </a:lnTo>
                  <a:lnTo>
                    <a:pt x="571817" y="138290"/>
                  </a:lnTo>
                  <a:lnTo>
                    <a:pt x="601776" y="125069"/>
                  </a:lnTo>
                  <a:lnTo>
                    <a:pt x="606513" y="122974"/>
                  </a:lnTo>
                  <a:lnTo>
                    <a:pt x="531863" y="61125"/>
                  </a:lnTo>
                  <a:lnTo>
                    <a:pt x="527202" y="157988"/>
                  </a:lnTo>
                  <a:lnTo>
                    <a:pt x="561898" y="142671"/>
                  </a:lnTo>
                  <a:lnTo>
                    <a:pt x="580301" y="184404"/>
                  </a:lnTo>
                  <a:lnTo>
                    <a:pt x="545617" y="199732"/>
                  </a:lnTo>
                  <a:lnTo>
                    <a:pt x="620255" y="261581"/>
                  </a:lnTo>
                  <a:lnTo>
                    <a:pt x="623227" y="199732"/>
                  </a:lnTo>
                  <a:lnTo>
                    <a:pt x="623328" y="197637"/>
                  </a:lnTo>
                  <a:lnTo>
                    <a:pt x="624916" y="164719"/>
                  </a:lnTo>
                  <a:close/>
                </a:path>
                <a:path w="959485" h="404495">
                  <a:moveTo>
                    <a:pt x="827557" y="108762"/>
                  </a:moveTo>
                  <a:lnTo>
                    <a:pt x="807504" y="84467"/>
                  </a:lnTo>
                  <a:lnTo>
                    <a:pt x="765835" y="34010"/>
                  </a:lnTo>
                  <a:lnTo>
                    <a:pt x="750493" y="68707"/>
                  </a:lnTo>
                  <a:lnTo>
                    <a:pt x="595312" y="0"/>
                  </a:lnTo>
                  <a:lnTo>
                    <a:pt x="590931" y="9906"/>
                  </a:lnTo>
                  <a:lnTo>
                    <a:pt x="746099" y="78625"/>
                  </a:lnTo>
                  <a:lnTo>
                    <a:pt x="730758" y="113322"/>
                  </a:lnTo>
                  <a:lnTo>
                    <a:pt x="827557" y="108762"/>
                  </a:lnTo>
                  <a:close/>
                </a:path>
                <a:path w="959485" h="404495">
                  <a:moveTo>
                    <a:pt x="959078" y="335991"/>
                  </a:moveTo>
                  <a:lnTo>
                    <a:pt x="887349" y="294055"/>
                  </a:lnTo>
                  <a:lnTo>
                    <a:pt x="887349" y="325882"/>
                  </a:lnTo>
                  <a:lnTo>
                    <a:pt x="886714" y="335762"/>
                  </a:lnTo>
                  <a:lnTo>
                    <a:pt x="886650" y="336702"/>
                  </a:lnTo>
                  <a:lnTo>
                    <a:pt x="887349" y="325882"/>
                  </a:lnTo>
                  <a:lnTo>
                    <a:pt x="887349" y="294055"/>
                  </a:lnTo>
                  <a:lnTo>
                    <a:pt x="875411" y="287070"/>
                  </a:lnTo>
                  <a:lnTo>
                    <a:pt x="872934" y="324942"/>
                  </a:lnTo>
                  <a:lnTo>
                    <a:pt x="768489" y="318122"/>
                  </a:lnTo>
                  <a:lnTo>
                    <a:pt x="768553" y="317182"/>
                  </a:lnTo>
                  <a:lnTo>
                    <a:pt x="770953" y="280263"/>
                  </a:lnTo>
                  <a:lnTo>
                    <a:pt x="681647" y="317893"/>
                  </a:lnTo>
                  <a:lnTo>
                    <a:pt x="765314" y="366814"/>
                  </a:lnTo>
                  <a:lnTo>
                    <a:pt x="767791" y="328942"/>
                  </a:lnTo>
                  <a:lnTo>
                    <a:pt x="872236" y="335762"/>
                  </a:lnTo>
                  <a:lnTo>
                    <a:pt x="869772" y="373621"/>
                  </a:lnTo>
                  <a:lnTo>
                    <a:pt x="957402" y="336702"/>
                  </a:lnTo>
                  <a:lnTo>
                    <a:pt x="959078" y="335991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2" name="object 132" descr="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4205166" y="5240296"/>
              <a:ext cx="122509" cy="112348"/>
            </a:xfrm>
            <a:prstGeom prst="rect">
              <a:avLst/>
            </a:prstGeom>
          </p:spPr>
        </p:pic>
        <p:pic>
          <p:nvPicPr>
            <p:cNvPr id="133" name="object 133" descr="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3997327" y="5510123"/>
              <a:ext cx="122509" cy="112346"/>
            </a:xfrm>
            <a:prstGeom prst="rect">
              <a:avLst/>
            </a:prstGeom>
          </p:spPr>
        </p:pic>
        <p:sp>
          <p:nvSpPr>
            <p:cNvPr id="134" name="object 134" descr=""/>
            <p:cNvSpPr/>
            <p:nvPr/>
          </p:nvSpPr>
          <p:spPr>
            <a:xfrm>
              <a:off x="5219464" y="5237039"/>
              <a:ext cx="122555" cy="112395"/>
            </a:xfrm>
            <a:custGeom>
              <a:avLst/>
              <a:gdLst/>
              <a:ahLst/>
              <a:cxnLst/>
              <a:rect l="l" t="t" r="r" b="b"/>
              <a:pathLst>
                <a:path w="122554" h="112395">
                  <a:moveTo>
                    <a:pt x="61254" y="0"/>
                  </a:moveTo>
                  <a:lnTo>
                    <a:pt x="37411" y="4414"/>
                  </a:lnTo>
                  <a:lnTo>
                    <a:pt x="17940" y="16452"/>
                  </a:lnTo>
                  <a:lnTo>
                    <a:pt x="4813" y="34308"/>
                  </a:lnTo>
                  <a:lnTo>
                    <a:pt x="0" y="56173"/>
                  </a:lnTo>
                  <a:lnTo>
                    <a:pt x="4813" y="78038"/>
                  </a:lnTo>
                  <a:lnTo>
                    <a:pt x="17940" y="95893"/>
                  </a:lnTo>
                  <a:lnTo>
                    <a:pt x="37411" y="107932"/>
                  </a:lnTo>
                  <a:lnTo>
                    <a:pt x="61254" y="112346"/>
                  </a:lnTo>
                  <a:lnTo>
                    <a:pt x="85097" y="107932"/>
                  </a:lnTo>
                  <a:lnTo>
                    <a:pt x="104568" y="95893"/>
                  </a:lnTo>
                  <a:lnTo>
                    <a:pt x="117695" y="78038"/>
                  </a:lnTo>
                  <a:lnTo>
                    <a:pt x="122509" y="56173"/>
                  </a:lnTo>
                  <a:lnTo>
                    <a:pt x="117695" y="34308"/>
                  </a:lnTo>
                  <a:lnTo>
                    <a:pt x="104568" y="16452"/>
                  </a:lnTo>
                  <a:lnTo>
                    <a:pt x="85097" y="4414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F46F9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5" name="object 135" descr="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075111" y="5545598"/>
              <a:ext cx="122509" cy="112346"/>
            </a:xfrm>
            <a:prstGeom prst="rect">
              <a:avLst/>
            </a:prstGeom>
          </p:spPr>
        </p:pic>
        <p:sp>
          <p:nvSpPr>
            <p:cNvPr id="136" name="object 136" descr=""/>
            <p:cNvSpPr/>
            <p:nvPr/>
          </p:nvSpPr>
          <p:spPr>
            <a:xfrm>
              <a:off x="5473701" y="5555122"/>
              <a:ext cx="122555" cy="112395"/>
            </a:xfrm>
            <a:custGeom>
              <a:avLst/>
              <a:gdLst/>
              <a:ahLst/>
              <a:cxnLst/>
              <a:rect l="l" t="t" r="r" b="b"/>
              <a:pathLst>
                <a:path w="122554" h="112395">
                  <a:moveTo>
                    <a:pt x="61254" y="0"/>
                  </a:moveTo>
                  <a:lnTo>
                    <a:pt x="37411" y="4414"/>
                  </a:lnTo>
                  <a:lnTo>
                    <a:pt x="17940" y="16452"/>
                  </a:lnTo>
                  <a:lnTo>
                    <a:pt x="4813" y="34308"/>
                  </a:lnTo>
                  <a:lnTo>
                    <a:pt x="0" y="56173"/>
                  </a:lnTo>
                  <a:lnTo>
                    <a:pt x="4813" y="78039"/>
                  </a:lnTo>
                  <a:lnTo>
                    <a:pt x="17940" y="95895"/>
                  </a:lnTo>
                  <a:lnTo>
                    <a:pt x="37411" y="107933"/>
                  </a:lnTo>
                  <a:lnTo>
                    <a:pt x="61254" y="112348"/>
                  </a:lnTo>
                  <a:lnTo>
                    <a:pt x="85097" y="107933"/>
                  </a:lnTo>
                  <a:lnTo>
                    <a:pt x="104568" y="95895"/>
                  </a:lnTo>
                  <a:lnTo>
                    <a:pt x="117695" y="78039"/>
                  </a:lnTo>
                  <a:lnTo>
                    <a:pt x="122509" y="56173"/>
                  </a:lnTo>
                  <a:lnTo>
                    <a:pt x="117695" y="34308"/>
                  </a:lnTo>
                  <a:lnTo>
                    <a:pt x="104568" y="16452"/>
                  </a:lnTo>
                  <a:lnTo>
                    <a:pt x="85097" y="4414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F46F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 descr=""/>
            <p:cNvSpPr/>
            <p:nvPr/>
          </p:nvSpPr>
          <p:spPr>
            <a:xfrm>
              <a:off x="5787186" y="5179148"/>
              <a:ext cx="211454" cy="425450"/>
            </a:xfrm>
            <a:custGeom>
              <a:avLst/>
              <a:gdLst/>
              <a:ahLst/>
              <a:cxnLst/>
              <a:rect l="l" t="t" r="r" b="b"/>
              <a:pathLst>
                <a:path w="211454" h="425450">
                  <a:moveTo>
                    <a:pt x="122516" y="56172"/>
                  </a:moveTo>
                  <a:lnTo>
                    <a:pt x="117703" y="34302"/>
                  </a:lnTo>
                  <a:lnTo>
                    <a:pt x="104571" y="16446"/>
                  </a:lnTo>
                  <a:lnTo>
                    <a:pt x="85102" y="4406"/>
                  </a:lnTo>
                  <a:lnTo>
                    <a:pt x="61252" y="0"/>
                  </a:lnTo>
                  <a:lnTo>
                    <a:pt x="37414" y="4406"/>
                  </a:lnTo>
                  <a:lnTo>
                    <a:pt x="17945" y="16446"/>
                  </a:lnTo>
                  <a:lnTo>
                    <a:pt x="4813" y="34302"/>
                  </a:lnTo>
                  <a:lnTo>
                    <a:pt x="0" y="56172"/>
                  </a:lnTo>
                  <a:lnTo>
                    <a:pt x="4813" y="78041"/>
                  </a:lnTo>
                  <a:lnTo>
                    <a:pt x="17945" y="95897"/>
                  </a:lnTo>
                  <a:lnTo>
                    <a:pt x="37414" y="107937"/>
                  </a:lnTo>
                  <a:lnTo>
                    <a:pt x="61252" y="112344"/>
                  </a:lnTo>
                  <a:lnTo>
                    <a:pt x="85102" y="107937"/>
                  </a:lnTo>
                  <a:lnTo>
                    <a:pt x="104571" y="95897"/>
                  </a:lnTo>
                  <a:lnTo>
                    <a:pt x="117703" y="78041"/>
                  </a:lnTo>
                  <a:lnTo>
                    <a:pt x="122516" y="56172"/>
                  </a:lnTo>
                  <a:close/>
                </a:path>
                <a:path w="211454" h="425450">
                  <a:moveTo>
                    <a:pt x="211035" y="369112"/>
                  </a:moveTo>
                  <a:lnTo>
                    <a:pt x="206222" y="347243"/>
                  </a:lnTo>
                  <a:lnTo>
                    <a:pt x="193090" y="329387"/>
                  </a:lnTo>
                  <a:lnTo>
                    <a:pt x="173621" y="317347"/>
                  </a:lnTo>
                  <a:lnTo>
                    <a:pt x="149783" y="312940"/>
                  </a:lnTo>
                  <a:lnTo>
                    <a:pt x="125933" y="317347"/>
                  </a:lnTo>
                  <a:lnTo>
                    <a:pt x="106464" y="329387"/>
                  </a:lnTo>
                  <a:lnTo>
                    <a:pt x="93332" y="347243"/>
                  </a:lnTo>
                  <a:lnTo>
                    <a:pt x="88519" y="369112"/>
                  </a:lnTo>
                  <a:lnTo>
                    <a:pt x="93332" y="390982"/>
                  </a:lnTo>
                  <a:lnTo>
                    <a:pt x="106464" y="408825"/>
                  </a:lnTo>
                  <a:lnTo>
                    <a:pt x="125933" y="420865"/>
                  </a:lnTo>
                  <a:lnTo>
                    <a:pt x="149783" y="425284"/>
                  </a:lnTo>
                  <a:lnTo>
                    <a:pt x="173621" y="420865"/>
                  </a:lnTo>
                  <a:lnTo>
                    <a:pt x="193090" y="408838"/>
                  </a:lnTo>
                  <a:lnTo>
                    <a:pt x="206222" y="390982"/>
                  </a:lnTo>
                  <a:lnTo>
                    <a:pt x="211035" y="369112"/>
                  </a:lnTo>
                  <a:close/>
                </a:path>
              </a:pathLst>
            </a:custGeom>
            <a:solidFill>
              <a:srgbClr val="05A18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8" name="object 138" descr="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622623" y="5209719"/>
              <a:ext cx="171185" cy="445053"/>
            </a:xfrm>
            <a:prstGeom prst="rect">
              <a:avLst/>
            </a:prstGeom>
          </p:spPr>
        </p:pic>
        <p:pic>
          <p:nvPicPr>
            <p:cNvPr id="139" name="object 139" descr="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6016243" y="4706625"/>
              <a:ext cx="222503" cy="164592"/>
            </a:xfrm>
            <a:prstGeom prst="rect">
              <a:avLst/>
            </a:prstGeom>
          </p:spPr>
        </p:pic>
        <p:pic>
          <p:nvPicPr>
            <p:cNvPr id="140" name="object 140" descr="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5714491" y="4913889"/>
              <a:ext cx="222503" cy="164592"/>
            </a:xfrm>
            <a:prstGeom prst="rect">
              <a:avLst/>
            </a:prstGeom>
          </p:spPr>
        </p:pic>
        <p:sp>
          <p:nvSpPr>
            <p:cNvPr id="141" name="object 141" descr=""/>
            <p:cNvSpPr/>
            <p:nvPr/>
          </p:nvSpPr>
          <p:spPr>
            <a:xfrm>
              <a:off x="6277547" y="5505695"/>
              <a:ext cx="122555" cy="112395"/>
            </a:xfrm>
            <a:custGeom>
              <a:avLst/>
              <a:gdLst/>
              <a:ahLst/>
              <a:cxnLst/>
              <a:rect l="l" t="t" r="r" b="b"/>
              <a:pathLst>
                <a:path w="122554" h="112395">
                  <a:moveTo>
                    <a:pt x="61253" y="0"/>
                  </a:moveTo>
                  <a:lnTo>
                    <a:pt x="37410" y="4414"/>
                  </a:lnTo>
                  <a:lnTo>
                    <a:pt x="17940" y="16452"/>
                  </a:lnTo>
                  <a:lnTo>
                    <a:pt x="4813" y="34308"/>
                  </a:lnTo>
                  <a:lnTo>
                    <a:pt x="0" y="56173"/>
                  </a:lnTo>
                  <a:lnTo>
                    <a:pt x="4813" y="78038"/>
                  </a:lnTo>
                  <a:lnTo>
                    <a:pt x="17940" y="95893"/>
                  </a:lnTo>
                  <a:lnTo>
                    <a:pt x="37410" y="107932"/>
                  </a:lnTo>
                  <a:lnTo>
                    <a:pt x="61253" y="112346"/>
                  </a:lnTo>
                  <a:lnTo>
                    <a:pt x="85096" y="107932"/>
                  </a:lnTo>
                  <a:lnTo>
                    <a:pt x="104567" y="95893"/>
                  </a:lnTo>
                  <a:lnTo>
                    <a:pt x="117694" y="78038"/>
                  </a:lnTo>
                  <a:lnTo>
                    <a:pt x="122508" y="56173"/>
                  </a:lnTo>
                  <a:lnTo>
                    <a:pt x="117694" y="34308"/>
                  </a:lnTo>
                  <a:lnTo>
                    <a:pt x="104567" y="16452"/>
                  </a:lnTo>
                  <a:lnTo>
                    <a:pt x="85096" y="4414"/>
                  </a:lnTo>
                  <a:lnTo>
                    <a:pt x="61253" y="0"/>
                  </a:lnTo>
                  <a:close/>
                </a:path>
              </a:pathLst>
            </a:custGeom>
            <a:solidFill>
              <a:srgbClr val="FFB8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2" name="object 142" descr=""/>
            <p:cNvSpPr/>
            <p:nvPr/>
          </p:nvSpPr>
          <p:spPr>
            <a:xfrm>
              <a:off x="6143913" y="5299174"/>
              <a:ext cx="122555" cy="112395"/>
            </a:xfrm>
            <a:custGeom>
              <a:avLst/>
              <a:gdLst/>
              <a:ahLst/>
              <a:cxnLst/>
              <a:rect l="l" t="t" r="r" b="b"/>
              <a:pathLst>
                <a:path w="122554" h="112395">
                  <a:moveTo>
                    <a:pt x="61254" y="0"/>
                  </a:moveTo>
                  <a:lnTo>
                    <a:pt x="37411" y="4414"/>
                  </a:lnTo>
                  <a:lnTo>
                    <a:pt x="17941" y="16452"/>
                  </a:lnTo>
                  <a:lnTo>
                    <a:pt x="4813" y="34308"/>
                  </a:lnTo>
                  <a:lnTo>
                    <a:pt x="0" y="56173"/>
                  </a:lnTo>
                  <a:lnTo>
                    <a:pt x="4813" y="78039"/>
                  </a:lnTo>
                  <a:lnTo>
                    <a:pt x="17941" y="95895"/>
                  </a:lnTo>
                  <a:lnTo>
                    <a:pt x="37411" y="107933"/>
                  </a:lnTo>
                  <a:lnTo>
                    <a:pt x="61254" y="112348"/>
                  </a:lnTo>
                  <a:lnTo>
                    <a:pt x="85097" y="107933"/>
                  </a:lnTo>
                  <a:lnTo>
                    <a:pt x="104568" y="95895"/>
                  </a:lnTo>
                  <a:lnTo>
                    <a:pt x="117695" y="78039"/>
                  </a:lnTo>
                  <a:lnTo>
                    <a:pt x="122509" y="56173"/>
                  </a:lnTo>
                  <a:lnTo>
                    <a:pt x="117695" y="34308"/>
                  </a:lnTo>
                  <a:lnTo>
                    <a:pt x="104568" y="16452"/>
                  </a:lnTo>
                  <a:lnTo>
                    <a:pt x="85097" y="4414"/>
                  </a:lnTo>
                  <a:lnTo>
                    <a:pt x="61254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 descr=""/>
            <p:cNvSpPr/>
            <p:nvPr/>
          </p:nvSpPr>
          <p:spPr>
            <a:xfrm>
              <a:off x="6228573" y="5397428"/>
              <a:ext cx="85090" cy="129539"/>
            </a:xfrm>
            <a:custGeom>
              <a:avLst/>
              <a:gdLst/>
              <a:ahLst/>
              <a:cxnLst/>
              <a:rect l="l" t="t" r="r" b="b"/>
              <a:pathLst>
                <a:path w="85089" h="129539">
                  <a:moveTo>
                    <a:pt x="75861" y="53981"/>
                  </a:moveTo>
                  <a:lnTo>
                    <a:pt x="19057" y="91175"/>
                  </a:lnTo>
                  <a:lnTo>
                    <a:pt x="84628" y="129420"/>
                  </a:lnTo>
                  <a:lnTo>
                    <a:pt x="75861" y="53981"/>
                  </a:lnTo>
                  <a:close/>
                </a:path>
                <a:path w="85089" h="129539">
                  <a:moveTo>
                    <a:pt x="9981" y="85882"/>
                  </a:moveTo>
                  <a:lnTo>
                    <a:pt x="11195" y="96324"/>
                  </a:lnTo>
                  <a:lnTo>
                    <a:pt x="19057" y="91175"/>
                  </a:lnTo>
                  <a:lnTo>
                    <a:pt x="9981" y="85882"/>
                  </a:lnTo>
                  <a:close/>
                </a:path>
                <a:path w="85089" h="129539">
                  <a:moveTo>
                    <a:pt x="65571" y="38244"/>
                  </a:moveTo>
                  <a:lnTo>
                    <a:pt x="8767" y="75438"/>
                  </a:lnTo>
                  <a:lnTo>
                    <a:pt x="9981" y="85882"/>
                  </a:lnTo>
                  <a:lnTo>
                    <a:pt x="19057" y="91175"/>
                  </a:lnTo>
                  <a:lnTo>
                    <a:pt x="75861" y="53981"/>
                  </a:lnTo>
                  <a:lnTo>
                    <a:pt x="74647" y="43538"/>
                  </a:lnTo>
                  <a:lnTo>
                    <a:pt x="65571" y="38244"/>
                  </a:lnTo>
                  <a:close/>
                </a:path>
                <a:path w="85089" h="129539">
                  <a:moveTo>
                    <a:pt x="8767" y="75438"/>
                  </a:moveTo>
                  <a:lnTo>
                    <a:pt x="904" y="80587"/>
                  </a:lnTo>
                  <a:lnTo>
                    <a:pt x="9981" y="85882"/>
                  </a:lnTo>
                  <a:lnTo>
                    <a:pt x="8767" y="75438"/>
                  </a:lnTo>
                  <a:close/>
                </a:path>
                <a:path w="85089" h="129539">
                  <a:moveTo>
                    <a:pt x="0" y="0"/>
                  </a:moveTo>
                  <a:lnTo>
                    <a:pt x="8767" y="75438"/>
                  </a:lnTo>
                  <a:lnTo>
                    <a:pt x="65571" y="38244"/>
                  </a:lnTo>
                  <a:lnTo>
                    <a:pt x="0" y="0"/>
                  </a:lnTo>
                  <a:close/>
                </a:path>
                <a:path w="85089" h="129539">
                  <a:moveTo>
                    <a:pt x="74647" y="43538"/>
                  </a:moveTo>
                  <a:lnTo>
                    <a:pt x="75861" y="53981"/>
                  </a:lnTo>
                  <a:lnTo>
                    <a:pt x="83724" y="48832"/>
                  </a:lnTo>
                  <a:lnTo>
                    <a:pt x="74647" y="43538"/>
                  </a:lnTo>
                  <a:close/>
                </a:path>
                <a:path w="85089" h="129539">
                  <a:moveTo>
                    <a:pt x="73433" y="33096"/>
                  </a:moveTo>
                  <a:lnTo>
                    <a:pt x="65571" y="38244"/>
                  </a:lnTo>
                  <a:lnTo>
                    <a:pt x="74647" y="43538"/>
                  </a:lnTo>
                  <a:lnTo>
                    <a:pt x="73433" y="33096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 descr=""/>
          <p:cNvSpPr txBox="1"/>
          <p:nvPr/>
        </p:nvSpPr>
        <p:spPr>
          <a:xfrm>
            <a:off x="4060399" y="3845960"/>
            <a:ext cx="852169" cy="41592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R="5080" indent="213995">
              <a:lnSpc>
                <a:spcPts val="1510"/>
              </a:lnSpc>
              <a:spcBef>
                <a:spcPts val="190"/>
              </a:spcBef>
            </a:pPr>
            <a:r>
              <a:rPr dirty="0" sz="1300" spc="-10">
                <a:latin typeface="Tahoma"/>
                <a:cs typeface="Tahoma"/>
              </a:rPr>
              <a:t>Neo4j </a:t>
            </a:r>
            <a:r>
              <a:rPr dirty="0" sz="1300" spc="-20">
                <a:latin typeface="Tahoma"/>
                <a:cs typeface="Tahoma"/>
              </a:rPr>
              <a:t>GDS</a:t>
            </a:r>
            <a:r>
              <a:rPr dirty="0" sz="1300" spc="-65">
                <a:latin typeface="Tahoma"/>
                <a:cs typeface="Tahoma"/>
              </a:rPr>
              <a:t> </a:t>
            </a:r>
            <a:r>
              <a:rPr dirty="0" sz="1300" spc="-25">
                <a:latin typeface="Tahoma"/>
                <a:cs typeface="Tahoma"/>
              </a:rPr>
              <a:t>Library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45" name="object 145" descr=""/>
          <p:cNvSpPr txBox="1"/>
          <p:nvPr/>
        </p:nvSpPr>
        <p:spPr>
          <a:xfrm>
            <a:off x="4604274" y="2128955"/>
            <a:ext cx="144335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b="1">
                <a:solidFill>
                  <a:srgbClr val="0078D7"/>
                </a:solidFill>
                <a:latin typeface="Arial"/>
                <a:cs typeface="Arial"/>
              </a:rPr>
              <a:t>PRODUCT</a:t>
            </a:r>
            <a:r>
              <a:rPr dirty="0" sz="900" spc="-15" b="1">
                <a:solidFill>
                  <a:srgbClr val="0078D7"/>
                </a:solidFill>
                <a:latin typeface="Arial"/>
                <a:cs typeface="Arial"/>
              </a:rPr>
              <a:t> </a:t>
            </a:r>
            <a:r>
              <a:rPr dirty="0" sz="900" spc="-10" b="1">
                <a:solidFill>
                  <a:srgbClr val="0078D7"/>
                </a:solidFill>
                <a:latin typeface="Arial"/>
                <a:cs typeface="Arial"/>
              </a:rPr>
              <a:t>COMPONENTS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46" name="object 146" descr=""/>
          <p:cNvGrpSpPr/>
          <p:nvPr/>
        </p:nvGrpSpPr>
        <p:grpSpPr>
          <a:xfrm>
            <a:off x="3876547" y="2612649"/>
            <a:ext cx="2522220" cy="2936875"/>
            <a:chOff x="3876547" y="2612649"/>
            <a:chExt cx="2522220" cy="2936875"/>
          </a:xfrm>
        </p:grpSpPr>
        <p:pic>
          <p:nvPicPr>
            <p:cNvPr id="147" name="object 147" descr="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3876547" y="2612649"/>
              <a:ext cx="1307591" cy="1310639"/>
            </a:xfrm>
            <a:prstGeom prst="rect">
              <a:avLst/>
            </a:prstGeom>
          </p:spPr>
        </p:pic>
        <p:sp>
          <p:nvSpPr>
            <p:cNvPr id="148" name="object 148" descr=""/>
            <p:cNvSpPr/>
            <p:nvPr/>
          </p:nvSpPr>
          <p:spPr>
            <a:xfrm>
              <a:off x="4641044" y="3420294"/>
              <a:ext cx="158115" cy="168910"/>
            </a:xfrm>
            <a:custGeom>
              <a:avLst/>
              <a:gdLst/>
              <a:ahLst/>
              <a:cxnLst/>
              <a:rect l="l" t="t" r="r" b="b"/>
              <a:pathLst>
                <a:path w="158114" h="168910">
                  <a:moveTo>
                    <a:pt x="157657" y="0"/>
                  </a:moveTo>
                  <a:lnTo>
                    <a:pt x="0" y="0"/>
                  </a:lnTo>
                  <a:lnTo>
                    <a:pt x="0" y="168349"/>
                  </a:lnTo>
                  <a:lnTo>
                    <a:pt x="157657" y="168349"/>
                  </a:lnTo>
                  <a:lnTo>
                    <a:pt x="157657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 descr=""/>
            <p:cNvSpPr/>
            <p:nvPr/>
          </p:nvSpPr>
          <p:spPr>
            <a:xfrm>
              <a:off x="4641044" y="3420294"/>
              <a:ext cx="158115" cy="168910"/>
            </a:xfrm>
            <a:custGeom>
              <a:avLst/>
              <a:gdLst/>
              <a:ahLst/>
              <a:cxnLst/>
              <a:rect l="l" t="t" r="r" b="b"/>
              <a:pathLst>
                <a:path w="158114" h="168910">
                  <a:moveTo>
                    <a:pt x="0" y="0"/>
                  </a:moveTo>
                  <a:lnTo>
                    <a:pt x="157657" y="0"/>
                  </a:lnTo>
                  <a:lnTo>
                    <a:pt x="157657" y="168350"/>
                  </a:lnTo>
                  <a:lnTo>
                    <a:pt x="0" y="168350"/>
                  </a:lnTo>
                  <a:lnTo>
                    <a:pt x="0" y="0"/>
                  </a:lnTo>
                  <a:close/>
                </a:path>
              </a:pathLst>
            </a:custGeom>
            <a:ln w="28901">
              <a:solidFill>
                <a:srgbClr val="018B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0" name="object 150" descr="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047235" y="4715769"/>
              <a:ext cx="225551" cy="167639"/>
            </a:xfrm>
            <a:prstGeom prst="rect">
              <a:avLst/>
            </a:prstGeom>
          </p:spPr>
        </p:pic>
        <p:pic>
          <p:nvPicPr>
            <p:cNvPr id="151" name="object 151" descr="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4989067" y="4798065"/>
              <a:ext cx="222503" cy="164592"/>
            </a:xfrm>
            <a:prstGeom prst="rect">
              <a:avLst/>
            </a:prstGeom>
          </p:spPr>
        </p:pic>
        <p:sp>
          <p:nvSpPr>
            <p:cNvPr id="152" name="object 152" descr=""/>
            <p:cNvSpPr/>
            <p:nvPr/>
          </p:nvSpPr>
          <p:spPr>
            <a:xfrm>
              <a:off x="4158284" y="4756251"/>
              <a:ext cx="2240280" cy="793115"/>
            </a:xfrm>
            <a:custGeom>
              <a:avLst/>
              <a:gdLst/>
              <a:ahLst/>
              <a:cxnLst/>
              <a:rect l="l" t="t" r="r" b="b"/>
              <a:pathLst>
                <a:path w="2240279" h="793114">
                  <a:moveTo>
                    <a:pt x="56819" y="251841"/>
                  </a:moveTo>
                  <a:lnTo>
                    <a:pt x="54229" y="241312"/>
                  </a:lnTo>
                  <a:lnTo>
                    <a:pt x="43713" y="243890"/>
                  </a:lnTo>
                  <a:lnTo>
                    <a:pt x="46291" y="254419"/>
                  </a:lnTo>
                  <a:lnTo>
                    <a:pt x="56819" y="251841"/>
                  </a:lnTo>
                  <a:close/>
                </a:path>
                <a:path w="2240279" h="793114">
                  <a:moveTo>
                    <a:pt x="67132" y="293954"/>
                  </a:moveTo>
                  <a:lnTo>
                    <a:pt x="64554" y="283425"/>
                  </a:lnTo>
                  <a:lnTo>
                    <a:pt x="54025" y="286004"/>
                  </a:lnTo>
                  <a:lnTo>
                    <a:pt x="56616" y="296545"/>
                  </a:lnTo>
                  <a:lnTo>
                    <a:pt x="67132" y="293954"/>
                  </a:lnTo>
                  <a:close/>
                </a:path>
                <a:path w="2240279" h="793114">
                  <a:moveTo>
                    <a:pt x="77457" y="336080"/>
                  </a:moveTo>
                  <a:lnTo>
                    <a:pt x="74879" y="325551"/>
                  </a:lnTo>
                  <a:lnTo>
                    <a:pt x="64350" y="328129"/>
                  </a:lnTo>
                  <a:lnTo>
                    <a:pt x="66929" y="338658"/>
                  </a:lnTo>
                  <a:lnTo>
                    <a:pt x="77457" y="336080"/>
                  </a:lnTo>
                  <a:close/>
                </a:path>
                <a:path w="2240279" h="793114">
                  <a:moveTo>
                    <a:pt x="84188" y="204190"/>
                  </a:moveTo>
                  <a:lnTo>
                    <a:pt x="79933" y="199186"/>
                  </a:lnTo>
                  <a:lnTo>
                    <a:pt x="21450" y="130276"/>
                  </a:lnTo>
                  <a:lnTo>
                    <a:pt x="0" y="224840"/>
                  </a:lnTo>
                  <a:lnTo>
                    <a:pt x="51130" y="212293"/>
                  </a:lnTo>
                  <a:lnTo>
                    <a:pt x="84188" y="204190"/>
                  </a:lnTo>
                  <a:close/>
                </a:path>
                <a:path w="2240279" h="793114">
                  <a:moveTo>
                    <a:pt x="87769" y="378193"/>
                  </a:moveTo>
                  <a:lnTo>
                    <a:pt x="85191" y="367665"/>
                  </a:lnTo>
                  <a:lnTo>
                    <a:pt x="74676" y="370255"/>
                  </a:lnTo>
                  <a:lnTo>
                    <a:pt x="77254" y="380784"/>
                  </a:lnTo>
                  <a:lnTo>
                    <a:pt x="87769" y="378193"/>
                  </a:lnTo>
                  <a:close/>
                </a:path>
                <a:path w="2240279" h="793114">
                  <a:moveTo>
                    <a:pt x="129578" y="389483"/>
                  </a:moveTo>
                  <a:lnTo>
                    <a:pt x="96189" y="397675"/>
                  </a:lnTo>
                  <a:lnTo>
                    <a:pt x="96189" y="412559"/>
                  </a:lnTo>
                  <a:lnTo>
                    <a:pt x="95592" y="410133"/>
                  </a:lnTo>
                  <a:lnTo>
                    <a:pt x="96151" y="412369"/>
                  </a:lnTo>
                  <a:lnTo>
                    <a:pt x="96189" y="412559"/>
                  </a:lnTo>
                  <a:lnTo>
                    <a:pt x="96189" y="397675"/>
                  </a:lnTo>
                  <a:lnTo>
                    <a:pt x="45402" y="410133"/>
                  </a:lnTo>
                  <a:lnTo>
                    <a:pt x="108127" y="484047"/>
                  </a:lnTo>
                  <a:lnTo>
                    <a:pt x="123761" y="415137"/>
                  </a:lnTo>
                  <a:lnTo>
                    <a:pt x="124891" y="410133"/>
                  </a:lnTo>
                  <a:lnTo>
                    <a:pt x="124980" y="409790"/>
                  </a:lnTo>
                  <a:lnTo>
                    <a:pt x="129578" y="389483"/>
                  </a:lnTo>
                  <a:close/>
                </a:path>
                <a:path w="2240279" h="793114">
                  <a:moveTo>
                    <a:pt x="644601" y="676948"/>
                  </a:moveTo>
                  <a:lnTo>
                    <a:pt x="635088" y="671766"/>
                  </a:lnTo>
                  <a:lnTo>
                    <a:pt x="629907" y="681291"/>
                  </a:lnTo>
                  <a:lnTo>
                    <a:pt x="639419" y="686473"/>
                  </a:lnTo>
                  <a:lnTo>
                    <a:pt x="644601" y="676948"/>
                  </a:lnTo>
                  <a:close/>
                </a:path>
                <a:path w="2240279" h="793114">
                  <a:moveTo>
                    <a:pt x="654888" y="737438"/>
                  </a:moveTo>
                  <a:lnTo>
                    <a:pt x="631228" y="724560"/>
                  </a:lnTo>
                  <a:lnTo>
                    <a:pt x="621703" y="719378"/>
                  </a:lnTo>
                  <a:lnTo>
                    <a:pt x="621525" y="719378"/>
                  </a:lnTo>
                  <a:lnTo>
                    <a:pt x="623887" y="715035"/>
                  </a:lnTo>
                  <a:lnTo>
                    <a:pt x="614375" y="709853"/>
                  </a:lnTo>
                  <a:lnTo>
                    <a:pt x="612051" y="714133"/>
                  </a:lnTo>
                  <a:lnTo>
                    <a:pt x="578739" y="695998"/>
                  </a:lnTo>
                  <a:lnTo>
                    <a:pt x="575398" y="792911"/>
                  </a:lnTo>
                  <a:lnTo>
                    <a:pt x="654888" y="737438"/>
                  </a:lnTo>
                  <a:close/>
                </a:path>
                <a:path w="2240279" h="793114">
                  <a:moveTo>
                    <a:pt x="665302" y="638848"/>
                  </a:moveTo>
                  <a:lnTo>
                    <a:pt x="655789" y="633666"/>
                  </a:lnTo>
                  <a:lnTo>
                    <a:pt x="650608" y="643191"/>
                  </a:lnTo>
                  <a:lnTo>
                    <a:pt x="660133" y="648373"/>
                  </a:lnTo>
                  <a:lnTo>
                    <a:pt x="665302" y="638848"/>
                  </a:lnTo>
                  <a:close/>
                </a:path>
                <a:path w="2240279" h="793114">
                  <a:moveTo>
                    <a:pt x="686015" y="600748"/>
                  </a:moveTo>
                  <a:lnTo>
                    <a:pt x="676490" y="595566"/>
                  </a:lnTo>
                  <a:lnTo>
                    <a:pt x="671322" y="605091"/>
                  </a:lnTo>
                  <a:lnTo>
                    <a:pt x="680834" y="610273"/>
                  </a:lnTo>
                  <a:lnTo>
                    <a:pt x="686015" y="600748"/>
                  </a:lnTo>
                  <a:close/>
                </a:path>
                <a:path w="2240279" h="793114">
                  <a:moveTo>
                    <a:pt x="706716" y="562648"/>
                  </a:moveTo>
                  <a:lnTo>
                    <a:pt x="697204" y="557466"/>
                  </a:lnTo>
                  <a:lnTo>
                    <a:pt x="692023" y="566991"/>
                  </a:lnTo>
                  <a:lnTo>
                    <a:pt x="701548" y="572173"/>
                  </a:lnTo>
                  <a:lnTo>
                    <a:pt x="706716" y="562648"/>
                  </a:lnTo>
                  <a:close/>
                </a:path>
                <a:path w="2240279" h="793114">
                  <a:moveTo>
                    <a:pt x="727430" y="524548"/>
                  </a:moveTo>
                  <a:lnTo>
                    <a:pt x="717905" y="519366"/>
                  </a:lnTo>
                  <a:lnTo>
                    <a:pt x="712736" y="528891"/>
                  </a:lnTo>
                  <a:lnTo>
                    <a:pt x="722249" y="534073"/>
                  </a:lnTo>
                  <a:lnTo>
                    <a:pt x="727430" y="524548"/>
                  </a:lnTo>
                  <a:close/>
                </a:path>
                <a:path w="2240279" h="793114">
                  <a:moveTo>
                    <a:pt x="748131" y="486448"/>
                  </a:moveTo>
                  <a:lnTo>
                    <a:pt x="738619" y="481279"/>
                  </a:lnTo>
                  <a:lnTo>
                    <a:pt x="733437" y="490804"/>
                  </a:lnTo>
                  <a:lnTo>
                    <a:pt x="742962" y="495973"/>
                  </a:lnTo>
                  <a:lnTo>
                    <a:pt x="748131" y="486448"/>
                  </a:lnTo>
                  <a:close/>
                </a:path>
                <a:path w="2240279" h="793114">
                  <a:moveTo>
                    <a:pt x="768845" y="448360"/>
                  </a:moveTo>
                  <a:lnTo>
                    <a:pt x="759320" y="443179"/>
                  </a:lnTo>
                  <a:lnTo>
                    <a:pt x="754151" y="452704"/>
                  </a:lnTo>
                  <a:lnTo>
                    <a:pt x="763663" y="457885"/>
                  </a:lnTo>
                  <a:lnTo>
                    <a:pt x="768845" y="448360"/>
                  </a:lnTo>
                  <a:close/>
                </a:path>
                <a:path w="2240279" h="793114">
                  <a:moveTo>
                    <a:pt x="789546" y="410260"/>
                  </a:moveTo>
                  <a:lnTo>
                    <a:pt x="780034" y="405079"/>
                  </a:lnTo>
                  <a:lnTo>
                    <a:pt x="774852" y="414604"/>
                  </a:lnTo>
                  <a:lnTo>
                    <a:pt x="784377" y="419785"/>
                  </a:lnTo>
                  <a:lnTo>
                    <a:pt x="789546" y="410260"/>
                  </a:lnTo>
                  <a:close/>
                </a:path>
                <a:path w="2240279" h="793114">
                  <a:moveTo>
                    <a:pt x="810260" y="372160"/>
                  </a:moveTo>
                  <a:lnTo>
                    <a:pt x="800735" y="366979"/>
                  </a:lnTo>
                  <a:lnTo>
                    <a:pt x="795566" y="376504"/>
                  </a:lnTo>
                  <a:lnTo>
                    <a:pt x="805078" y="381685"/>
                  </a:lnTo>
                  <a:lnTo>
                    <a:pt x="810260" y="372160"/>
                  </a:lnTo>
                  <a:close/>
                </a:path>
                <a:path w="2240279" h="793114">
                  <a:moveTo>
                    <a:pt x="830948" y="124714"/>
                  </a:moveTo>
                  <a:lnTo>
                    <a:pt x="826757" y="121983"/>
                  </a:lnTo>
                  <a:lnTo>
                    <a:pt x="749693" y="71882"/>
                  </a:lnTo>
                  <a:lnTo>
                    <a:pt x="745426" y="109588"/>
                  </a:lnTo>
                  <a:lnTo>
                    <a:pt x="199021" y="47802"/>
                  </a:lnTo>
                  <a:lnTo>
                    <a:pt x="199199" y="46177"/>
                  </a:lnTo>
                  <a:lnTo>
                    <a:pt x="203276" y="10083"/>
                  </a:lnTo>
                  <a:lnTo>
                    <a:pt x="112280" y="43446"/>
                  </a:lnTo>
                  <a:lnTo>
                    <a:pt x="193548" y="96278"/>
                  </a:lnTo>
                  <a:lnTo>
                    <a:pt x="197802" y="58572"/>
                  </a:lnTo>
                  <a:lnTo>
                    <a:pt x="744220" y="120357"/>
                  </a:lnTo>
                  <a:lnTo>
                    <a:pt x="739952" y="158064"/>
                  </a:lnTo>
                  <a:lnTo>
                    <a:pt x="830948" y="124714"/>
                  </a:lnTo>
                  <a:close/>
                </a:path>
                <a:path w="2240279" h="793114">
                  <a:moveTo>
                    <a:pt x="830961" y="334060"/>
                  </a:moveTo>
                  <a:lnTo>
                    <a:pt x="821448" y="328879"/>
                  </a:lnTo>
                  <a:lnTo>
                    <a:pt x="816267" y="338404"/>
                  </a:lnTo>
                  <a:lnTo>
                    <a:pt x="825792" y="343585"/>
                  </a:lnTo>
                  <a:lnTo>
                    <a:pt x="830961" y="334060"/>
                  </a:lnTo>
                  <a:close/>
                </a:path>
                <a:path w="2240279" h="793114">
                  <a:moveTo>
                    <a:pt x="851674" y="295960"/>
                  </a:moveTo>
                  <a:lnTo>
                    <a:pt x="842149" y="290779"/>
                  </a:lnTo>
                  <a:lnTo>
                    <a:pt x="836980" y="300304"/>
                  </a:lnTo>
                  <a:lnTo>
                    <a:pt x="846493" y="305485"/>
                  </a:lnTo>
                  <a:lnTo>
                    <a:pt x="851674" y="295960"/>
                  </a:lnTo>
                  <a:close/>
                </a:path>
                <a:path w="2240279" h="793114">
                  <a:moveTo>
                    <a:pt x="872375" y="257873"/>
                  </a:moveTo>
                  <a:lnTo>
                    <a:pt x="862863" y="252691"/>
                  </a:lnTo>
                  <a:lnTo>
                    <a:pt x="857681" y="262216"/>
                  </a:lnTo>
                  <a:lnTo>
                    <a:pt x="867194" y="267398"/>
                  </a:lnTo>
                  <a:lnTo>
                    <a:pt x="872375" y="257873"/>
                  </a:lnTo>
                  <a:close/>
                </a:path>
                <a:path w="2240279" h="793114">
                  <a:moveTo>
                    <a:pt x="893089" y="219773"/>
                  </a:moveTo>
                  <a:lnTo>
                    <a:pt x="883564" y="214591"/>
                  </a:lnTo>
                  <a:lnTo>
                    <a:pt x="878395" y="224116"/>
                  </a:lnTo>
                  <a:lnTo>
                    <a:pt x="887907" y="229298"/>
                  </a:lnTo>
                  <a:lnTo>
                    <a:pt x="893089" y="219773"/>
                  </a:lnTo>
                  <a:close/>
                </a:path>
                <a:path w="2240279" h="793114">
                  <a:moveTo>
                    <a:pt x="998664" y="339572"/>
                  </a:moveTo>
                  <a:lnTo>
                    <a:pt x="994587" y="329526"/>
                  </a:lnTo>
                  <a:lnTo>
                    <a:pt x="984554" y="333603"/>
                  </a:lnTo>
                  <a:lnTo>
                    <a:pt x="988631" y="343649"/>
                  </a:lnTo>
                  <a:lnTo>
                    <a:pt x="998664" y="339572"/>
                  </a:lnTo>
                  <a:close/>
                </a:path>
                <a:path w="2240279" h="793114">
                  <a:moveTo>
                    <a:pt x="1014971" y="379755"/>
                  </a:moveTo>
                  <a:lnTo>
                    <a:pt x="1010894" y="369709"/>
                  </a:lnTo>
                  <a:lnTo>
                    <a:pt x="1000848" y="373786"/>
                  </a:lnTo>
                  <a:lnTo>
                    <a:pt x="1004925" y="383832"/>
                  </a:lnTo>
                  <a:lnTo>
                    <a:pt x="1014971" y="379755"/>
                  </a:lnTo>
                  <a:close/>
                </a:path>
                <a:path w="2240279" h="793114">
                  <a:moveTo>
                    <a:pt x="1018870" y="288467"/>
                  </a:moveTo>
                  <a:lnTo>
                    <a:pt x="946111" y="224409"/>
                  </a:lnTo>
                  <a:lnTo>
                    <a:pt x="938555" y="321081"/>
                  </a:lnTo>
                  <a:lnTo>
                    <a:pt x="981925" y="303466"/>
                  </a:lnTo>
                  <a:lnTo>
                    <a:pt x="1016711" y="289344"/>
                  </a:lnTo>
                  <a:lnTo>
                    <a:pt x="1018870" y="288467"/>
                  </a:lnTo>
                  <a:close/>
                </a:path>
                <a:path w="2240279" h="793114">
                  <a:moveTo>
                    <a:pt x="1031265" y="419938"/>
                  </a:moveTo>
                  <a:lnTo>
                    <a:pt x="1027188" y="409892"/>
                  </a:lnTo>
                  <a:lnTo>
                    <a:pt x="1017155" y="413969"/>
                  </a:lnTo>
                  <a:lnTo>
                    <a:pt x="1021219" y="424014"/>
                  </a:lnTo>
                  <a:lnTo>
                    <a:pt x="1031265" y="419938"/>
                  </a:lnTo>
                  <a:close/>
                </a:path>
                <a:path w="2240279" h="793114">
                  <a:moveTo>
                    <a:pt x="1066965" y="407060"/>
                  </a:moveTo>
                  <a:lnTo>
                    <a:pt x="986650" y="439674"/>
                  </a:lnTo>
                  <a:lnTo>
                    <a:pt x="1059408" y="503745"/>
                  </a:lnTo>
                  <a:lnTo>
                    <a:pt x="1066965" y="407060"/>
                  </a:lnTo>
                  <a:close/>
                </a:path>
                <a:path w="2240279" h="793114">
                  <a:moveTo>
                    <a:pt x="1803057" y="283654"/>
                  </a:moveTo>
                  <a:lnTo>
                    <a:pt x="1708696" y="261543"/>
                  </a:lnTo>
                  <a:lnTo>
                    <a:pt x="1747634" y="350342"/>
                  </a:lnTo>
                  <a:lnTo>
                    <a:pt x="1773796" y="318858"/>
                  </a:lnTo>
                  <a:lnTo>
                    <a:pt x="1786483" y="303593"/>
                  </a:lnTo>
                  <a:lnTo>
                    <a:pt x="1803057" y="283654"/>
                  </a:lnTo>
                  <a:close/>
                </a:path>
                <a:path w="2240279" h="793114">
                  <a:moveTo>
                    <a:pt x="1809356" y="338251"/>
                  </a:moveTo>
                  <a:lnTo>
                    <a:pt x="1801025" y="331317"/>
                  </a:lnTo>
                  <a:lnTo>
                    <a:pt x="1794103" y="339648"/>
                  </a:lnTo>
                  <a:lnTo>
                    <a:pt x="1802434" y="346583"/>
                  </a:lnTo>
                  <a:lnTo>
                    <a:pt x="1809356" y="338251"/>
                  </a:lnTo>
                  <a:close/>
                </a:path>
                <a:path w="2240279" h="793114">
                  <a:moveTo>
                    <a:pt x="1842681" y="365975"/>
                  </a:moveTo>
                  <a:lnTo>
                    <a:pt x="1834349" y="359041"/>
                  </a:lnTo>
                  <a:lnTo>
                    <a:pt x="1827428" y="367385"/>
                  </a:lnTo>
                  <a:lnTo>
                    <a:pt x="1835759" y="374319"/>
                  </a:lnTo>
                  <a:lnTo>
                    <a:pt x="1842681" y="365975"/>
                  </a:lnTo>
                  <a:close/>
                </a:path>
                <a:path w="2240279" h="793114">
                  <a:moveTo>
                    <a:pt x="1859711" y="33350"/>
                  </a:moveTo>
                  <a:lnTo>
                    <a:pt x="1768703" y="0"/>
                  </a:lnTo>
                  <a:lnTo>
                    <a:pt x="1772970" y="37706"/>
                  </a:lnTo>
                  <a:lnTo>
                    <a:pt x="1136802" y="109728"/>
                  </a:lnTo>
                  <a:lnTo>
                    <a:pt x="1132547" y="72021"/>
                  </a:lnTo>
                  <a:lnTo>
                    <a:pt x="1126350" y="76060"/>
                  </a:lnTo>
                  <a:lnTo>
                    <a:pt x="1126350" y="152374"/>
                  </a:lnTo>
                  <a:lnTo>
                    <a:pt x="1115758" y="150329"/>
                  </a:lnTo>
                  <a:lnTo>
                    <a:pt x="1116076" y="148615"/>
                  </a:lnTo>
                  <a:lnTo>
                    <a:pt x="1126350" y="152374"/>
                  </a:lnTo>
                  <a:lnTo>
                    <a:pt x="1126350" y="76060"/>
                  </a:lnTo>
                  <a:lnTo>
                    <a:pt x="1051280" y="124866"/>
                  </a:lnTo>
                  <a:lnTo>
                    <a:pt x="1064145" y="129590"/>
                  </a:lnTo>
                  <a:lnTo>
                    <a:pt x="1029614" y="139280"/>
                  </a:lnTo>
                  <a:lnTo>
                    <a:pt x="1106551" y="198247"/>
                  </a:lnTo>
                  <a:lnTo>
                    <a:pt x="1113713" y="160972"/>
                  </a:lnTo>
                  <a:lnTo>
                    <a:pt x="1470710" y="229654"/>
                  </a:lnTo>
                  <a:lnTo>
                    <a:pt x="1463548" y="266915"/>
                  </a:lnTo>
                  <a:lnTo>
                    <a:pt x="1556854" y="240703"/>
                  </a:lnTo>
                  <a:lnTo>
                    <a:pt x="1545996" y="232384"/>
                  </a:lnTo>
                  <a:lnTo>
                    <a:pt x="1479918" y="181737"/>
                  </a:lnTo>
                  <a:lnTo>
                    <a:pt x="1472755" y="218998"/>
                  </a:lnTo>
                  <a:lnTo>
                    <a:pt x="1141958" y="155371"/>
                  </a:lnTo>
                  <a:lnTo>
                    <a:pt x="1138212" y="122123"/>
                  </a:lnTo>
                  <a:lnTo>
                    <a:pt x="1138021" y="120497"/>
                  </a:lnTo>
                  <a:lnTo>
                    <a:pt x="1774190" y="48488"/>
                  </a:lnTo>
                  <a:lnTo>
                    <a:pt x="1778457" y="86194"/>
                  </a:lnTo>
                  <a:lnTo>
                    <a:pt x="1855495" y="36080"/>
                  </a:lnTo>
                  <a:lnTo>
                    <a:pt x="1859711" y="33350"/>
                  </a:lnTo>
                  <a:close/>
                </a:path>
                <a:path w="2240279" h="793114">
                  <a:moveTo>
                    <a:pt x="1876005" y="393700"/>
                  </a:moveTo>
                  <a:lnTo>
                    <a:pt x="1867674" y="386778"/>
                  </a:lnTo>
                  <a:lnTo>
                    <a:pt x="1860753" y="395109"/>
                  </a:lnTo>
                  <a:lnTo>
                    <a:pt x="1869084" y="402043"/>
                  </a:lnTo>
                  <a:lnTo>
                    <a:pt x="1876005" y="393700"/>
                  </a:lnTo>
                  <a:close/>
                </a:path>
                <a:path w="2240279" h="793114">
                  <a:moveTo>
                    <a:pt x="1909330" y="421436"/>
                  </a:moveTo>
                  <a:lnTo>
                    <a:pt x="1900999" y="414502"/>
                  </a:lnTo>
                  <a:lnTo>
                    <a:pt x="1894078" y="422833"/>
                  </a:lnTo>
                  <a:lnTo>
                    <a:pt x="1902409" y="429768"/>
                  </a:lnTo>
                  <a:lnTo>
                    <a:pt x="1909330" y="421436"/>
                  </a:lnTo>
                  <a:close/>
                </a:path>
                <a:path w="2240279" h="793114">
                  <a:moveTo>
                    <a:pt x="1942655" y="449160"/>
                  </a:moveTo>
                  <a:lnTo>
                    <a:pt x="1934324" y="442226"/>
                  </a:lnTo>
                  <a:lnTo>
                    <a:pt x="1927390" y="450557"/>
                  </a:lnTo>
                  <a:lnTo>
                    <a:pt x="1935721" y="457492"/>
                  </a:lnTo>
                  <a:lnTo>
                    <a:pt x="1942655" y="449160"/>
                  </a:lnTo>
                  <a:close/>
                </a:path>
                <a:path w="2240279" h="793114">
                  <a:moveTo>
                    <a:pt x="1975980" y="476885"/>
                  </a:moveTo>
                  <a:lnTo>
                    <a:pt x="1967649" y="469950"/>
                  </a:lnTo>
                  <a:lnTo>
                    <a:pt x="1960714" y="478294"/>
                  </a:lnTo>
                  <a:lnTo>
                    <a:pt x="1969046" y="485228"/>
                  </a:lnTo>
                  <a:lnTo>
                    <a:pt x="1975980" y="476885"/>
                  </a:lnTo>
                  <a:close/>
                </a:path>
                <a:path w="2240279" h="793114">
                  <a:moveTo>
                    <a:pt x="2037969" y="132041"/>
                  </a:moveTo>
                  <a:lnTo>
                    <a:pt x="2034844" y="121666"/>
                  </a:lnTo>
                  <a:lnTo>
                    <a:pt x="2024468" y="124802"/>
                  </a:lnTo>
                  <a:lnTo>
                    <a:pt x="2027605" y="135178"/>
                  </a:lnTo>
                  <a:lnTo>
                    <a:pt x="2037969" y="132041"/>
                  </a:lnTo>
                  <a:close/>
                </a:path>
                <a:path w="2240279" h="793114">
                  <a:moveTo>
                    <a:pt x="2046871" y="542925"/>
                  </a:moveTo>
                  <a:lnTo>
                    <a:pt x="2007933" y="454126"/>
                  </a:lnTo>
                  <a:lnTo>
                    <a:pt x="1952523" y="520814"/>
                  </a:lnTo>
                  <a:lnTo>
                    <a:pt x="2046871" y="542925"/>
                  </a:lnTo>
                  <a:close/>
                </a:path>
                <a:path w="2240279" h="793114">
                  <a:moveTo>
                    <a:pt x="2050516" y="173558"/>
                  </a:moveTo>
                  <a:lnTo>
                    <a:pt x="2047379" y="163182"/>
                  </a:lnTo>
                  <a:lnTo>
                    <a:pt x="2037016" y="166319"/>
                  </a:lnTo>
                  <a:lnTo>
                    <a:pt x="2040140" y="176695"/>
                  </a:lnTo>
                  <a:lnTo>
                    <a:pt x="2050516" y="173558"/>
                  </a:lnTo>
                  <a:close/>
                </a:path>
                <a:path w="2240279" h="793114">
                  <a:moveTo>
                    <a:pt x="2063064" y="215061"/>
                  </a:moveTo>
                  <a:lnTo>
                    <a:pt x="2059927" y="204685"/>
                  </a:lnTo>
                  <a:lnTo>
                    <a:pt x="2049551" y="207822"/>
                  </a:lnTo>
                  <a:lnTo>
                    <a:pt x="2052688" y="218211"/>
                  </a:lnTo>
                  <a:lnTo>
                    <a:pt x="2063064" y="215061"/>
                  </a:lnTo>
                  <a:close/>
                </a:path>
                <a:path w="2240279" h="793114">
                  <a:moveTo>
                    <a:pt x="2075599" y="256578"/>
                  </a:moveTo>
                  <a:lnTo>
                    <a:pt x="2072462" y="246202"/>
                  </a:lnTo>
                  <a:lnTo>
                    <a:pt x="2062099" y="249339"/>
                  </a:lnTo>
                  <a:lnTo>
                    <a:pt x="2065235" y="259715"/>
                  </a:lnTo>
                  <a:lnTo>
                    <a:pt x="2075599" y="256578"/>
                  </a:lnTo>
                  <a:close/>
                </a:path>
                <a:path w="2240279" h="793114">
                  <a:moveTo>
                    <a:pt x="2088146" y="298094"/>
                  </a:moveTo>
                  <a:lnTo>
                    <a:pt x="2085009" y="287718"/>
                  </a:lnTo>
                  <a:lnTo>
                    <a:pt x="2074633" y="290855"/>
                  </a:lnTo>
                  <a:lnTo>
                    <a:pt x="2077770" y="301231"/>
                  </a:lnTo>
                  <a:lnTo>
                    <a:pt x="2088146" y="298094"/>
                  </a:lnTo>
                  <a:close/>
                </a:path>
                <a:path w="2240279" h="793114">
                  <a:moveTo>
                    <a:pt x="2100681" y="339610"/>
                  </a:moveTo>
                  <a:lnTo>
                    <a:pt x="2097544" y="329222"/>
                  </a:lnTo>
                  <a:lnTo>
                    <a:pt x="2087181" y="332359"/>
                  </a:lnTo>
                  <a:lnTo>
                    <a:pt x="2090318" y="342747"/>
                  </a:lnTo>
                  <a:lnTo>
                    <a:pt x="2100681" y="339610"/>
                  </a:lnTo>
                  <a:close/>
                </a:path>
                <a:path w="2240279" h="793114">
                  <a:moveTo>
                    <a:pt x="2113229" y="381114"/>
                  </a:moveTo>
                  <a:lnTo>
                    <a:pt x="2110092" y="370738"/>
                  </a:lnTo>
                  <a:lnTo>
                    <a:pt x="2099716" y="373875"/>
                  </a:lnTo>
                  <a:lnTo>
                    <a:pt x="2102853" y="384251"/>
                  </a:lnTo>
                  <a:lnTo>
                    <a:pt x="2113229" y="381114"/>
                  </a:lnTo>
                  <a:close/>
                </a:path>
                <a:path w="2240279" h="793114">
                  <a:moveTo>
                    <a:pt x="2125776" y="422630"/>
                  </a:moveTo>
                  <a:lnTo>
                    <a:pt x="2122640" y="412254"/>
                  </a:lnTo>
                  <a:lnTo>
                    <a:pt x="2112264" y="415391"/>
                  </a:lnTo>
                  <a:lnTo>
                    <a:pt x="2115401" y="425767"/>
                  </a:lnTo>
                  <a:lnTo>
                    <a:pt x="2125776" y="422630"/>
                  </a:lnTo>
                  <a:close/>
                </a:path>
                <a:path w="2240279" h="793114">
                  <a:moveTo>
                    <a:pt x="2138311" y="464146"/>
                  </a:moveTo>
                  <a:lnTo>
                    <a:pt x="2135174" y="453758"/>
                  </a:lnTo>
                  <a:lnTo>
                    <a:pt x="2124811" y="456895"/>
                  </a:lnTo>
                  <a:lnTo>
                    <a:pt x="2127935" y="467283"/>
                  </a:lnTo>
                  <a:lnTo>
                    <a:pt x="2138311" y="464146"/>
                  </a:lnTo>
                  <a:close/>
                </a:path>
                <a:path w="2240279" h="793114">
                  <a:moveTo>
                    <a:pt x="2150859" y="505650"/>
                  </a:moveTo>
                  <a:lnTo>
                    <a:pt x="2147722" y="495274"/>
                  </a:lnTo>
                  <a:lnTo>
                    <a:pt x="2137346" y="498411"/>
                  </a:lnTo>
                  <a:lnTo>
                    <a:pt x="2140483" y="508787"/>
                  </a:lnTo>
                  <a:lnTo>
                    <a:pt x="2150859" y="505650"/>
                  </a:lnTo>
                  <a:close/>
                </a:path>
                <a:path w="2240279" h="793114">
                  <a:moveTo>
                    <a:pt x="2163394" y="547166"/>
                  </a:moveTo>
                  <a:lnTo>
                    <a:pt x="2160257" y="536790"/>
                  </a:lnTo>
                  <a:lnTo>
                    <a:pt x="2149894" y="539927"/>
                  </a:lnTo>
                  <a:lnTo>
                    <a:pt x="2153031" y="550303"/>
                  </a:lnTo>
                  <a:lnTo>
                    <a:pt x="2163394" y="547166"/>
                  </a:lnTo>
                  <a:close/>
                </a:path>
                <a:path w="2240279" h="793114">
                  <a:moveTo>
                    <a:pt x="2175941" y="588683"/>
                  </a:moveTo>
                  <a:lnTo>
                    <a:pt x="2172805" y="578294"/>
                  </a:lnTo>
                  <a:lnTo>
                    <a:pt x="2162429" y="581444"/>
                  </a:lnTo>
                  <a:lnTo>
                    <a:pt x="2165566" y="591820"/>
                  </a:lnTo>
                  <a:lnTo>
                    <a:pt x="2175941" y="588683"/>
                  </a:lnTo>
                  <a:close/>
                </a:path>
                <a:path w="2240279" h="793114">
                  <a:moveTo>
                    <a:pt x="2188476" y="630186"/>
                  </a:moveTo>
                  <a:lnTo>
                    <a:pt x="2185352" y="619810"/>
                  </a:lnTo>
                  <a:lnTo>
                    <a:pt x="2174976" y="622947"/>
                  </a:lnTo>
                  <a:lnTo>
                    <a:pt x="2178113" y="633323"/>
                  </a:lnTo>
                  <a:lnTo>
                    <a:pt x="2188476" y="630186"/>
                  </a:lnTo>
                  <a:close/>
                </a:path>
                <a:path w="2240279" h="793114">
                  <a:moveTo>
                    <a:pt x="2201024" y="671703"/>
                  </a:moveTo>
                  <a:lnTo>
                    <a:pt x="2197887" y="661327"/>
                  </a:lnTo>
                  <a:lnTo>
                    <a:pt x="2187511" y="664464"/>
                  </a:lnTo>
                  <a:lnTo>
                    <a:pt x="2190648" y="674839"/>
                  </a:lnTo>
                  <a:lnTo>
                    <a:pt x="2201024" y="671703"/>
                  </a:lnTo>
                  <a:close/>
                </a:path>
                <a:path w="2240279" h="793114">
                  <a:moveTo>
                    <a:pt x="2240229" y="670331"/>
                  </a:moveTo>
                  <a:lnTo>
                    <a:pt x="2157260" y="695426"/>
                  </a:lnTo>
                  <a:lnTo>
                    <a:pt x="2223820" y="765898"/>
                  </a:lnTo>
                  <a:lnTo>
                    <a:pt x="2240229" y="670331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3" name="object 153" descr=""/>
          <p:cNvSpPr/>
          <p:nvPr/>
        </p:nvSpPr>
        <p:spPr>
          <a:xfrm>
            <a:off x="8622145" y="2046819"/>
            <a:ext cx="1761489" cy="1983739"/>
          </a:xfrm>
          <a:custGeom>
            <a:avLst/>
            <a:gdLst/>
            <a:ahLst/>
            <a:cxnLst/>
            <a:rect l="l" t="t" r="r" b="b"/>
            <a:pathLst>
              <a:path w="1761490" h="1983739">
                <a:moveTo>
                  <a:pt x="1761191" y="0"/>
                </a:moveTo>
                <a:lnTo>
                  <a:pt x="0" y="0"/>
                </a:lnTo>
                <a:lnTo>
                  <a:pt x="0" y="1983665"/>
                </a:lnTo>
                <a:lnTo>
                  <a:pt x="1761191" y="1983665"/>
                </a:lnTo>
                <a:lnTo>
                  <a:pt x="1761191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 descr=""/>
          <p:cNvSpPr txBox="1"/>
          <p:nvPr/>
        </p:nvSpPr>
        <p:spPr>
          <a:xfrm>
            <a:off x="8622145" y="2046819"/>
            <a:ext cx="1761489" cy="1983739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577850">
              <a:lnSpc>
                <a:spcPct val="100000"/>
              </a:lnSpc>
              <a:spcBef>
                <a:spcPts val="985"/>
              </a:spcBef>
            </a:pPr>
            <a:r>
              <a:rPr dirty="0" sz="900" spc="-10" b="1">
                <a:solidFill>
                  <a:srgbClr val="0078D7"/>
                </a:solidFill>
                <a:latin typeface="Arial"/>
                <a:cs typeface="Arial"/>
              </a:rPr>
              <a:t>VISUALIZE</a:t>
            </a:r>
            <a:endParaRPr sz="900">
              <a:latin typeface="Arial"/>
              <a:cs typeface="Arial"/>
            </a:endParaRPr>
          </a:p>
        </p:txBody>
      </p:sp>
      <p:sp>
        <p:nvSpPr>
          <p:cNvPr id="155" name="object 155" descr=""/>
          <p:cNvSpPr txBox="1"/>
          <p:nvPr/>
        </p:nvSpPr>
        <p:spPr>
          <a:xfrm>
            <a:off x="8634962" y="5378425"/>
            <a:ext cx="1738630" cy="117475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10"/>
              </a:spcBef>
            </a:pPr>
            <a:r>
              <a:rPr dirty="0" sz="900" b="1">
                <a:solidFill>
                  <a:srgbClr val="0078D7"/>
                </a:solidFill>
                <a:latin typeface="Arial"/>
                <a:cs typeface="Arial"/>
              </a:rPr>
              <a:t>AUTO</a:t>
            </a:r>
            <a:r>
              <a:rPr dirty="0" sz="900" spc="-15" b="1">
                <a:solidFill>
                  <a:srgbClr val="0078D7"/>
                </a:solidFill>
                <a:latin typeface="Arial"/>
                <a:cs typeface="Arial"/>
              </a:rPr>
              <a:t> </a:t>
            </a:r>
            <a:r>
              <a:rPr dirty="0" sz="900" spc="-25" b="1">
                <a:solidFill>
                  <a:srgbClr val="0078D7"/>
                </a:solidFill>
                <a:latin typeface="Arial"/>
                <a:cs typeface="Arial"/>
              </a:rPr>
              <a:t>ML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56" name="object 156" descr=""/>
          <p:cNvGrpSpPr/>
          <p:nvPr/>
        </p:nvGrpSpPr>
        <p:grpSpPr>
          <a:xfrm>
            <a:off x="8728964" y="5648457"/>
            <a:ext cx="1572895" cy="762000"/>
            <a:chOff x="8728964" y="5648457"/>
            <a:chExt cx="1572895" cy="762000"/>
          </a:xfrm>
        </p:grpSpPr>
        <p:pic>
          <p:nvPicPr>
            <p:cNvPr id="157" name="object 157" descr="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8728964" y="5648457"/>
              <a:ext cx="1572768" cy="762000"/>
            </a:xfrm>
            <a:prstGeom prst="rect">
              <a:avLst/>
            </a:prstGeom>
          </p:spPr>
        </p:pic>
        <p:sp>
          <p:nvSpPr>
            <p:cNvPr id="158" name="object 158" descr=""/>
            <p:cNvSpPr/>
            <p:nvPr/>
          </p:nvSpPr>
          <p:spPr>
            <a:xfrm>
              <a:off x="8800414" y="5699984"/>
              <a:ext cx="1429385" cy="616585"/>
            </a:xfrm>
            <a:custGeom>
              <a:avLst/>
              <a:gdLst/>
              <a:ahLst/>
              <a:cxnLst/>
              <a:rect l="l" t="t" r="r" b="b"/>
              <a:pathLst>
                <a:path w="1429384" h="616585">
                  <a:moveTo>
                    <a:pt x="1326493" y="0"/>
                  </a:moveTo>
                  <a:lnTo>
                    <a:pt x="102662" y="0"/>
                  </a:lnTo>
                  <a:lnTo>
                    <a:pt x="62701" y="8073"/>
                  </a:lnTo>
                  <a:lnTo>
                    <a:pt x="30069" y="30089"/>
                  </a:lnTo>
                  <a:lnTo>
                    <a:pt x="8067" y="62743"/>
                  </a:lnTo>
                  <a:lnTo>
                    <a:pt x="0" y="102731"/>
                  </a:lnTo>
                  <a:lnTo>
                    <a:pt x="0" y="513642"/>
                  </a:lnTo>
                  <a:lnTo>
                    <a:pt x="8067" y="553630"/>
                  </a:lnTo>
                  <a:lnTo>
                    <a:pt x="30069" y="586284"/>
                  </a:lnTo>
                  <a:lnTo>
                    <a:pt x="62701" y="608300"/>
                  </a:lnTo>
                  <a:lnTo>
                    <a:pt x="102662" y="616373"/>
                  </a:lnTo>
                  <a:lnTo>
                    <a:pt x="1326493" y="616373"/>
                  </a:lnTo>
                  <a:lnTo>
                    <a:pt x="1366454" y="608300"/>
                  </a:lnTo>
                  <a:lnTo>
                    <a:pt x="1399086" y="586284"/>
                  </a:lnTo>
                  <a:lnTo>
                    <a:pt x="1421087" y="553630"/>
                  </a:lnTo>
                  <a:lnTo>
                    <a:pt x="1429155" y="513642"/>
                  </a:lnTo>
                  <a:lnTo>
                    <a:pt x="1429155" y="102731"/>
                  </a:lnTo>
                  <a:lnTo>
                    <a:pt x="1421087" y="62743"/>
                  </a:lnTo>
                  <a:lnTo>
                    <a:pt x="1399086" y="30089"/>
                  </a:lnTo>
                  <a:lnTo>
                    <a:pt x="1366454" y="8073"/>
                  </a:lnTo>
                  <a:lnTo>
                    <a:pt x="13264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 descr=""/>
            <p:cNvSpPr/>
            <p:nvPr/>
          </p:nvSpPr>
          <p:spPr>
            <a:xfrm>
              <a:off x="8800414" y="5699984"/>
              <a:ext cx="1429385" cy="616585"/>
            </a:xfrm>
            <a:custGeom>
              <a:avLst/>
              <a:gdLst/>
              <a:ahLst/>
              <a:cxnLst/>
              <a:rect l="l" t="t" r="r" b="b"/>
              <a:pathLst>
                <a:path w="1429384" h="616585">
                  <a:moveTo>
                    <a:pt x="0" y="102731"/>
                  </a:moveTo>
                  <a:lnTo>
                    <a:pt x="8067" y="62743"/>
                  </a:lnTo>
                  <a:lnTo>
                    <a:pt x="30068" y="30089"/>
                  </a:lnTo>
                  <a:lnTo>
                    <a:pt x="62701" y="8073"/>
                  </a:lnTo>
                  <a:lnTo>
                    <a:pt x="102661" y="0"/>
                  </a:lnTo>
                  <a:lnTo>
                    <a:pt x="1326493" y="0"/>
                  </a:lnTo>
                  <a:lnTo>
                    <a:pt x="1366453" y="8073"/>
                  </a:lnTo>
                  <a:lnTo>
                    <a:pt x="1399086" y="30089"/>
                  </a:lnTo>
                  <a:lnTo>
                    <a:pt x="1421087" y="62743"/>
                  </a:lnTo>
                  <a:lnTo>
                    <a:pt x="1429154" y="102731"/>
                  </a:lnTo>
                  <a:lnTo>
                    <a:pt x="1429154" y="513642"/>
                  </a:lnTo>
                  <a:lnTo>
                    <a:pt x="1421087" y="553630"/>
                  </a:lnTo>
                  <a:lnTo>
                    <a:pt x="1399086" y="586284"/>
                  </a:lnTo>
                  <a:lnTo>
                    <a:pt x="1366453" y="608300"/>
                  </a:lnTo>
                  <a:lnTo>
                    <a:pt x="1326493" y="616374"/>
                  </a:lnTo>
                  <a:lnTo>
                    <a:pt x="102661" y="616374"/>
                  </a:lnTo>
                  <a:lnTo>
                    <a:pt x="62701" y="608300"/>
                  </a:lnTo>
                  <a:lnTo>
                    <a:pt x="30068" y="586284"/>
                  </a:lnTo>
                  <a:lnTo>
                    <a:pt x="8067" y="553630"/>
                  </a:lnTo>
                  <a:lnTo>
                    <a:pt x="0" y="513642"/>
                  </a:lnTo>
                  <a:lnTo>
                    <a:pt x="0" y="102731"/>
                  </a:lnTo>
                  <a:close/>
                </a:path>
              </a:pathLst>
            </a:custGeom>
            <a:ln w="1084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0" name="object 160" descr="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9457436" y="5810000"/>
              <a:ext cx="640079" cy="341376"/>
            </a:xfrm>
            <a:prstGeom prst="rect">
              <a:avLst/>
            </a:prstGeom>
          </p:spPr>
        </p:pic>
        <p:pic>
          <p:nvPicPr>
            <p:cNvPr id="161" name="object 161" descr="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8856980" y="5773424"/>
              <a:ext cx="475487" cy="377952"/>
            </a:xfrm>
            <a:prstGeom prst="rect">
              <a:avLst/>
            </a:prstGeom>
          </p:spPr>
        </p:pic>
      </p:grpSp>
      <p:grpSp>
        <p:nvGrpSpPr>
          <p:cNvPr id="162" name="object 162" descr=""/>
          <p:cNvGrpSpPr/>
          <p:nvPr/>
        </p:nvGrpSpPr>
        <p:grpSpPr>
          <a:xfrm>
            <a:off x="8674100" y="2332233"/>
            <a:ext cx="1609725" cy="1615440"/>
            <a:chOff x="8674100" y="2332233"/>
            <a:chExt cx="1609725" cy="1615440"/>
          </a:xfrm>
        </p:grpSpPr>
        <p:pic>
          <p:nvPicPr>
            <p:cNvPr id="163" name="object 163" descr="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8674100" y="2332233"/>
              <a:ext cx="1609344" cy="1615439"/>
            </a:xfrm>
            <a:prstGeom prst="rect">
              <a:avLst/>
            </a:prstGeom>
          </p:spPr>
        </p:pic>
        <p:sp>
          <p:nvSpPr>
            <p:cNvPr id="164" name="object 164" descr=""/>
            <p:cNvSpPr/>
            <p:nvPr/>
          </p:nvSpPr>
          <p:spPr>
            <a:xfrm>
              <a:off x="8746282" y="2382737"/>
              <a:ext cx="1466215" cy="1470660"/>
            </a:xfrm>
            <a:custGeom>
              <a:avLst/>
              <a:gdLst/>
              <a:ahLst/>
              <a:cxnLst/>
              <a:rect l="l" t="t" r="r" b="b"/>
              <a:pathLst>
                <a:path w="1466215" h="1470660">
                  <a:moveTo>
                    <a:pt x="1221385" y="0"/>
                  </a:moveTo>
                  <a:lnTo>
                    <a:pt x="244283" y="0"/>
                  </a:lnTo>
                  <a:lnTo>
                    <a:pt x="195051" y="4966"/>
                  </a:lnTo>
                  <a:lnTo>
                    <a:pt x="149196" y="19209"/>
                  </a:lnTo>
                  <a:lnTo>
                    <a:pt x="107701" y="41747"/>
                  </a:lnTo>
                  <a:lnTo>
                    <a:pt x="71548" y="71596"/>
                  </a:lnTo>
                  <a:lnTo>
                    <a:pt x="41719" y="107774"/>
                  </a:lnTo>
                  <a:lnTo>
                    <a:pt x="19196" y="149297"/>
                  </a:lnTo>
                  <a:lnTo>
                    <a:pt x="4962" y="195183"/>
                  </a:lnTo>
                  <a:lnTo>
                    <a:pt x="0" y="244448"/>
                  </a:lnTo>
                  <a:lnTo>
                    <a:pt x="0" y="1225628"/>
                  </a:lnTo>
                  <a:lnTo>
                    <a:pt x="4962" y="1274893"/>
                  </a:lnTo>
                  <a:lnTo>
                    <a:pt x="19196" y="1320778"/>
                  </a:lnTo>
                  <a:lnTo>
                    <a:pt x="41719" y="1362302"/>
                  </a:lnTo>
                  <a:lnTo>
                    <a:pt x="71548" y="1398479"/>
                  </a:lnTo>
                  <a:lnTo>
                    <a:pt x="107701" y="1428329"/>
                  </a:lnTo>
                  <a:lnTo>
                    <a:pt x="149196" y="1450867"/>
                  </a:lnTo>
                  <a:lnTo>
                    <a:pt x="195051" y="1465110"/>
                  </a:lnTo>
                  <a:lnTo>
                    <a:pt x="244283" y="1470077"/>
                  </a:lnTo>
                  <a:lnTo>
                    <a:pt x="1221385" y="1470077"/>
                  </a:lnTo>
                  <a:lnTo>
                    <a:pt x="1270617" y="1465110"/>
                  </a:lnTo>
                  <a:lnTo>
                    <a:pt x="1316471" y="1450867"/>
                  </a:lnTo>
                  <a:lnTo>
                    <a:pt x="1357966" y="1428329"/>
                  </a:lnTo>
                  <a:lnTo>
                    <a:pt x="1394119" y="1398479"/>
                  </a:lnTo>
                  <a:lnTo>
                    <a:pt x="1423949" y="1362302"/>
                  </a:lnTo>
                  <a:lnTo>
                    <a:pt x="1446471" y="1320778"/>
                  </a:lnTo>
                  <a:lnTo>
                    <a:pt x="1460705" y="1274893"/>
                  </a:lnTo>
                  <a:lnTo>
                    <a:pt x="1465668" y="1225628"/>
                  </a:lnTo>
                  <a:lnTo>
                    <a:pt x="1465668" y="244448"/>
                  </a:lnTo>
                  <a:lnTo>
                    <a:pt x="1460705" y="195183"/>
                  </a:lnTo>
                  <a:lnTo>
                    <a:pt x="1446471" y="149297"/>
                  </a:lnTo>
                  <a:lnTo>
                    <a:pt x="1423949" y="107774"/>
                  </a:lnTo>
                  <a:lnTo>
                    <a:pt x="1394119" y="71596"/>
                  </a:lnTo>
                  <a:lnTo>
                    <a:pt x="1357966" y="41747"/>
                  </a:lnTo>
                  <a:lnTo>
                    <a:pt x="1316471" y="19209"/>
                  </a:lnTo>
                  <a:lnTo>
                    <a:pt x="1270617" y="4966"/>
                  </a:lnTo>
                  <a:lnTo>
                    <a:pt x="12213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 descr=""/>
            <p:cNvSpPr/>
            <p:nvPr/>
          </p:nvSpPr>
          <p:spPr>
            <a:xfrm>
              <a:off x="8746282" y="2382737"/>
              <a:ext cx="1466215" cy="1470660"/>
            </a:xfrm>
            <a:custGeom>
              <a:avLst/>
              <a:gdLst/>
              <a:ahLst/>
              <a:cxnLst/>
              <a:rect l="l" t="t" r="r" b="b"/>
              <a:pathLst>
                <a:path w="1466215" h="1470660">
                  <a:moveTo>
                    <a:pt x="0" y="244448"/>
                  </a:moveTo>
                  <a:lnTo>
                    <a:pt x="4962" y="195183"/>
                  </a:lnTo>
                  <a:lnTo>
                    <a:pt x="19196" y="149298"/>
                  </a:lnTo>
                  <a:lnTo>
                    <a:pt x="41719" y="107775"/>
                  </a:lnTo>
                  <a:lnTo>
                    <a:pt x="71548" y="71597"/>
                  </a:lnTo>
                  <a:lnTo>
                    <a:pt x="107702" y="41747"/>
                  </a:lnTo>
                  <a:lnTo>
                    <a:pt x="149196" y="19209"/>
                  </a:lnTo>
                  <a:lnTo>
                    <a:pt x="195051" y="4966"/>
                  </a:lnTo>
                  <a:lnTo>
                    <a:pt x="244282" y="0"/>
                  </a:lnTo>
                  <a:lnTo>
                    <a:pt x="1221386" y="0"/>
                  </a:lnTo>
                  <a:lnTo>
                    <a:pt x="1270617" y="4966"/>
                  </a:lnTo>
                  <a:lnTo>
                    <a:pt x="1316471" y="19209"/>
                  </a:lnTo>
                  <a:lnTo>
                    <a:pt x="1357966" y="41747"/>
                  </a:lnTo>
                  <a:lnTo>
                    <a:pt x="1394119" y="71597"/>
                  </a:lnTo>
                  <a:lnTo>
                    <a:pt x="1423948" y="107775"/>
                  </a:lnTo>
                  <a:lnTo>
                    <a:pt x="1446471" y="149298"/>
                  </a:lnTo>
                  <a:lnTo>
                    <a:pt x="1460705" y="195183"/>
                  </a:lnTo>
                  <a:lnTo>
                    <a:pt x="1465668" y="244448"/>
                  </a:lnTo>
                  <a:lnTo>
                    <a:pt x="1465668" y="1225629"/>
                  </a:lnTo>
                  <a:lnTo>
                    <a:pt x="1460705" y="1274894"/>
                  </a:lnTo>
                  <a:lnTo>
                    <a:pt x="1446471" y="1320779"/>
                  </a:lnTo>
                  <a:lnTo>
                    <a:pt x="1423948" y="1362302"/>
                  </a:lnTo>
                  <a:lnTo>
                    <a:pt x="1394119" y="1398480"/>
                  </a:lnTo>
                  <a:lnTo>
                    <a:pt x="1357966" y="1428329"/>
                  </a:lnTo>
                  <a:lnTo>
                    <a:pt x="1316471" y="1450867"/>
                  </a:lnTo>
                  <a:lnTo>
                    <a:pt x="1270617" y="1465111"/>
                  </a:lnTo>
                  <a:lnTo>
                    <a:pt x="1221386" y="1470077"/>
                  </a:lnTo>
                  <a:lnTo>
                    <a:pt x="244282" y="1470077"/>
                  </a:lnTo>
                  <a:lnTo>
                    <a:pt x="195051" y="1465111"/>
                  </a:lnTo>
                  <a:lnTo>
                    <a:pt x="149196" y="1450867"/>
                  </a:lnTo>
                  <a:lnTo>
                    <a:pt x="107702" y="1428329"/>
                  </a:lnTo>
                  <a:lnTo>
                    <a:pt x="71548" y="1398480"/>
                  </a:lnTo>
                  <a:lnTo>
                    <a:pt x="41719" y="1362302"/>
                  </a:lnTo>
                  <a:lnTo>
                    <a:pt x="19196" y="1320779"/>
                  </a:lnTo>
                  <a:lnTo>
                    <a:pt x="4962" y="1274894"/>
                  </a:lnTo>
                  <a:lnTo>
                    <a:pt x="0" y="1225629"/>
                  </a:lnTo>
                  <a:lnTo>
                    <a:pt x="0" y="244448"/>
                  </a:lnTo>
                  <a:close/>
                </a:path>
              </a:pathLst>
            </a:custGeom>
            <a:ln w="10838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6" name="object 166" descr="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183116" y="2460249"/>
              <a:ext cx="515112" cy="377951"/>
            </a:xfrm>
            <a:prstGeom prst="rect">
              <a:avLst/>
            </a:prstGeom>
          </p:spPr>
        </p:pic>
        <p:pic>
          <p:nvPicPr>
            <p:cNvPr id="167" name="object 167" descr="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860028" y="2874777"/>
              <a:ext cx="1143000" cy="225551"/>
            </a:xfrm>
            <a:prstGeom prst="rect">
              <a:avLst/>
            </a:prstGeom>
          </p:spPr>
        </p:pic>
        <p:pic>
          <p:nvPicPr>
            <p:cNvPr id="168" name="object 168" descr=""/>
            <p:cNvPicPr/>
            <p:nvPr/>
          </p:nvPicPr>
          <p:blipFill>
            <a:blip r:embed="rId63" cstate="print"/>
            <a:stretch>
              <a:fillRect/>
            </a:stretch>
          </p:blipFill>
          <p:spPr>
            <a:xfrm>
              <a:off x="9094723" y="3182625"/>
              <a:ext cx="637031" cy="259079"/>
            </a:xfrm>
            <a:prstGeom prst="rect">
              <a:avLst/>
            </a:prstGeom>
          </p:spPr>
        </p:pic>
        <p:pic>
          <p:nvPicPr>
            <p:cNvPr id="169" name="object 169" descr=""/>
            <p:cNvPicPr/>
            <p:nvPr/>
          </p:nvPicPr>
          <p:blipFill>
            <a:blip r:embed="rId64" cstate="print"/>
            <a:stretch>
              <a:fillRect/>
            </a:stretch>
          </p:blipFill>
          <p:spPr>
            <a:xfrm>
              <a:off x="9094723" y="3511808"/>
              <a:ext cx="603503" cy="204215"/>
            </a:xfrm>
            <a:prstGeom prst="rect">
              <a:avLst/>
            </a:prstGeom>
          </p:spPr>
        </p:pic>
      </p:grpSp>
      <p:sp>
        <p:nvSpPr>
          <p:cNvPr id="170" name="object 170" descr=""/>
          <p:cNvSpPr/>
          <p:nvPr/>
        </p:nvSpPr>
        <p:spPr>
          <a:xfrm>
            <a:off x="8622277" y="4197483"/>
            <a:ext cx="1751330" cy="1036955"/>
          </a:xfrm>
          <a:custGeom>
            <a:avLst/>
            <a:gdLst/>
            <a:ahLst/>
            <a:cxnLst/>
            <a:rect l="l" t="t" r="r" b="b"/>
            <a:pathLst>
              <a:path w="1751329" h="1036954">
                <a:moveTo>
                  <a:pt x="1750952" y="0"/>
                </a:moveTo>
                <a:lnTo>
                  <a:pt x="0" y="0"/>
                </a:lnTo>
                <a:lnTo>
                  <a:pt x="0" y="1036737"/>
                </a:lnTo>
                <a:lnTo>
                  <a:pt x="1750952" y="1036737"/>
                </a:lnTo>
                <a:lnTo>
                  <a:pt x="1750952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 descr=""/>
          <p:cNvSpPr txBox="1"/>
          <p:nvPr/>
        </p:nvSpPr>
        <p:spPr>
          <a:xfrm>
            <a:off x="8622277" y="4197483"/>
            <a:ext cx="1751330" cy="1036955"/>
          </a:xfrm>
          <a:prstGeom prst="rect">
            <a:avLst/>
          </a:prstGeom>
        </p:spPr>
        <p:txBody>
          <a:bodyPr wrap="square" lIns="0" tIns="126364" rIns="0" bIns="0" rtlCol="0" vert="horz">
            <a:spAutoFit/>
          </a:bodyPr>
          <a:lstStyle/>
          <a:p>
            <a:pPr marL="414655">
              <a:lnSpc>
                <a:spcPct val="100000"/>
              </a:lnSpc>
              <a:spcBef>
                <a:spcPts val="994"/>
              </a:spcBef>
            </a:pPr>
            <a:r>
              <a:rPr dirty="0" sz="900" b="1">
                <a:solidFill>
                  <a:srgbClr val="0078D7"/>
                </a:solidFill>
                <a:latin typeface="Arial"/>
                <a:cs typeface="Arial"/>
              </a:rPr>
              <a:t>DRIVERS &amp; </a:t>
            </a:r>
            <a:r>
              <a:rPr dirty="0" sz="900" spc="-20" b="1">
                <a:solidFill>
                  <a:srgbClr val="0078D7"/>
                </a:solidFill>
                <a:latin typeface="Arial"/>
                <a:cs typeface="Arial"/>
              </a:rPr>
              <a:t>APIs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72" name="object 172" descr=""/>
          <p:cNvGrpSpPr/>
          <p:nvPr/>
        </p:nvGrpSpPr>
        <p:grpSpPr>
          <a:xfrm>
            <a:off x="8707628" y="4474977"/>
            <a:ext cx="1600200" cy="765175"/>
            <a:chOff x="8707628" y="4474977"/>
            <a:chExt cx="1600200" cy="765175"/>
          </a:xfrm>
        </p:grpSpPr>
        <p:pic>
          <p:nvPicPr>
            <p:cNvPr id="173" name="object 173" descr=""/>
            <p:cNvPicPr/>
            <p:nvPr/>
          </p:nvPicPr>
          <p:blipFill>
            <a:blip r:embed="rId65" cstate="print"/>
            <a:stretch>
              <a:fillRect/>
            </a:stretch>
          </p:blipFill>
          <p:spPr>
            <a:xfrm>
              <a:off x="8707628" y="4474977"/>
              <a:ext cx="1600200" cy="765048"/>
            </a:xfrm>
            <a:prstGeom prst="rect">
              <a:avLst/>
            </a:prstGeom>
          </p:spPr>
        </p:pic>
        <p:sp>
          <p:nvSpPr>
            <p:cNvPr id="174" name="object 174" descr=""/>
            <p:cNvSpPr/>
            <p:nvPr/>
          </p:nvSpPr>
          <p:spPr>
            <a:xfrm>
              <a:off x="8779272" y="4524610"/>
              <a:ext cx="1457325" cy="621665"/>
            </a:xfrm>
            <a:custGeom>
              <a:avLst/>
              <a:gdLst/>
              <a:ahLst/>
              <a:cxnLst/>
              <a:rect l="l" t="t" r="r" b="b"/>
              <a:pathLst>
                <a:path w="1457325" h="621664">
                  <a:moveTo>
                    <a:pt x="1353623" y="0"/>
                  </a:moveTo>
                  <a:lnTo>
                    <a:pt x="103515" y="0"/>
                  </a:lnTo>
                  <a:lnTo>
                    <a:pt x="63222" y="8140"/>
                  </a:lnTo>
                  <a:lnTo>
                    <a:pt x="30319" y="30339"/>
                  </a:lnTo>
                  <a:lnTo>
                    <a:pt x="8134" y="63265"/>
                  </a:lnTo>
                  <a:lnTo>
                    <a:pt x="0" y="103585"/>
                  </a:lnTo>
                  <a:lnTo>
                    <a:pt x="0" y="517911"/>
                  </a:lnTo>
                  <a:lnTo>
                    <a:pt x="8134" y="558231"/>
                  </a:lnTo>
                  <a:lnTo>
                    <a:pt x="30319" y="591156"/>
                  </a:lnTo>
                  <a:lnTo>
                    <a:pt x="63222" y="613355"/>
                  </a:lnTo>
                  <a:lnTo>
                    <a:pt x="103515" y="621496"/>
                  </a:lnTo>
                  <a:lnTo>
                    <a:pt x="1353623" y="621496"/>
                  </a:lnTo>
                  <a:lnTo>
                    <a:pt x="1393915" y="613355"/>
                  </a:lnTo>
                  <a:lnTo>
                    <a:pt x="1426819" y="591156"/>
                  </a:lnTo>
                  <a:lnTo>
                    <a:pt x="1449003" y="558231"/>
                  </a:lnTo>
                  <a:lnTo>
                    <a:pt x="1457138" y="517911"/>
                  </a:lnTo>
                  <a:lnTo>
                    <a:pt x="1457138" y="103585"/>
                  </a:lnTo>
                  <a:lnTo>
                    <a:pt x="1449003" y="63265"/>
                  </a:lnTo>
                  <a:lnTo>
                    <a:pt x="1426819" y="30339"/>
                  </a:lnTo>
                  <a:lnTo>
                    <a:pt x="1393915" y="8140"/>
                  </a:lnTo>
                  <a:lnTo>
                    <a:pt x="13536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5" name="object 175" descr=""/>
            <p:cNvSpPr/>
            <p:nvPr/>
          </p:nvSpPr>
          <p:spPr>
            <a:xfrm>
              <a:off x="8779272" y="4524610"/>
              <a:ext cx="1457325" cy="621665"/>
            </a:xfrm>
            <a:custGeom>
              <a:avLst/>
              <a:gdLst/>
              <a:ahLst/>
              <a:cxnLst/>
              <a:rect l="l" t="t" r="r" b="b"/>
              <a:pathLst>
                <a:path w="1457325" h="621664">
                  <a:moveTo>
                    <a:pt x="0" y="103585"/>
                  </a:moveTo>
                  <a:lnTo>
                    <a:pt x="8134" y="63265"/>
                  </a:lnTo>
                  <a:lnTo>
                    <a:pt x="30318" y="30339"/>
                  </a:lnTo>
                  <a:lnTo>
                    <a:pt x="63222" y="8140"/>
                  </a:lnTo>
                  <a:lnTo>
                    <a:pt x="103515" y="0"/>
                  </a:lnTo>
                  <a:lnTo>
                    <a:pt x="1353622" y="0"/>
                  </a:lnTo>
                  <a:lnTo>
                    <a:pt x="1393915" y="8140"/>
                  </a:lnTo>
                  <a:lnTo>
                    <a:pt x="1426818" y="30339"/>
                  </a:lnTo>
                  <a:lnTo>
                    <a:pt x="1449002" y="63265"/>
                  </a:lnTo>
                  <a:lnTo>
                    <a:pt x="1457137" y="103585"/>
                  </a:lnTo>
                  <a:lnTo>
                    <a:pt x="1457137" y="517910"/>
                  </a:lnTo>
                  <a:lnTo>
                    <a:pt x="1449002" y="558231"/>
                  </a:lnTo>
                  <a:lnTo>
                    <a:pt x="1426818" y="591156"/>
                  </a:lnTo>
                  <a:lnTo>
                    <a:pt x="1393915" y="613356"/>
                  </a:lnTo>
                  <a:lnTo>
                    <a:pt x="1353622" y="621496"/>
                  </a:lnTo>
                  <a:lnTo>
                    <a:pt x="103515" y="621496"/>
                  </a:lnTo>
                  <a:lnTo>
                    <a:pt x="63222" y="613356"/>
                  </a:lnTo>
                  <a:lnTo>
                    <a:pt x="30318" y="591156"/>
                  </a:lnTo>
                  <a:lnTo>
                    <a:pt x="8134" y="558231"/>
                  </a:lnTo>
                  <a:lnTo>
                    <a:pt x="0" y="517910"/>
                  </a:lnTo>
                  <a:lnTo>
                    <a:pt x="0" y="103585"/>
                  </a:lnTo>
                  <a:close/>
                </a:path>
              </a:pathLst>
            </a:custGeom>
            <a:ln w="10840">
              <a:solidFill>
                <a:srgbClr val="F3F3F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6" name="object 176" descr=""/>
            <p:cNvPicPr/>
            <p:nvPr/>
          </p:nvPicPr>
          <p:blipFill>
            <a:blip r:embed="rId66" cstate="print"/>
            <a:stretch>
              <a:fillRect/>
            </a:stretch>
          </p:blipFill>
          <p:spPr>
            <a:xfrm>
              <a:off x="8994140" y="4606041"/>
              <a:ext cx="655320" cy="240792"/>
            </a:xfrm>
            <a:prstGeom prst="rect">
              <a:avLst/>
            </a:prstGeom>
          </p:spPr>
        </p:pic>
        <p:pic>
          <p:nvPicPr>
            <p:cNvPr id="177" name="object 177" descr=""/>
            <p:cNvPicPr/>
            <p:nvPr/>
          </p:nvPicPr>
          <p:blipFill>
            <a:blip r:embed="rId67" cstate="print"/>
            <a:stretch>
              <a:fillRect/>
            </a:stretch>
          </p:blipFill>
          <p:spPr>
            <a:xfrm>
              <a:off x="8975852" y="4916937"/>
              <a:ext cx="630935" cy="176783"/>
            </a:xfrm>
            <a:prstGeom prst="rect">
              <a:avLst/>
            </a:prstGeom>
          </p:spPr>
        </p:pic>
        <p:pic>
          <p:nvPicPr>
            <p:cNvPr id="178" name="object 178" descr=""/>
            <p:cNvPicPr/>
            <p:nvPr/>
          </p:nvPicPr>
          <p:blipFill>
            <a:blip r:embed="rId68" cstate="print"/>
            <a:stretch>
              <a:fillRect/>
            </a:stretch>
          </p:blipFill>
          <p:spPr>
            <a:xfrm>
              <a:off x="9704324" y="4596897"/>
              <a:ext cx="381000" cy="475488"/>
            </a:xfrm>
            <a:prstGeom prst="rect">
              <a:avLst/>
            </a:prstGeom>
          </p:spPr>
        </p:pic>
      </p:grpSp>
      <p:grpSp>
        <p:nvGrpSpPr>
          <p:cNvPr id="179" name="object 179" descr=""/>
          <p:cNvGrpSpPr/>
          <p:nvPr/>
        </p:nvGrpSpPr>
        <p:grpSpPr>
          <a:xfrm>
            <a:off x="2416555" y="4545081"/>
            <a:ext cx="972819" cy="1179830"/>
            <a:chOff x="2416555" y="4545081"/>
            <a:chExt cx="972819" cy="1179830"/>
          </a:xfrm>
        </p:grpSpPr>
        <p:pic>
          <p:nvPicPr>
            <p:cNvPr id="180" name="object 180" descr=""/>
            <p:cNvPicPr/>
            <p:nvPr/>
          </p:nvPicPr>
          <p:blipFill>
            <a:blip r:embed="rId69" cstate="print"/>
            <a:stretch>
              <a:fillRect/>
            </a:stretch>
          </p:blipFill>
          <p:spPr>
            <a:xfrm>
              <a:off x="2416555" y="4545081"/>
              <a:ext cx="972312" cy="515112"/>
            </a:xfrm>
            <a:prstGeom prst="rect">
              <a:avLst/>
            </a:prstGeom>
          </p:spPr>
        </p:pic>
        <p:pic>
          <p:nvPicPr>
            <p:cNvPr id="181" name="object 181" descr=""/>
            <p:cNvPicPr/>
            <p:nvPr/>
          </p:nvPicPr>
          <p:blipFill>
            <a:blip r:embed="rId70" cstate="print"/>
            <a:stretch>
              <a:fillRect/>
            </a:stretch>
          </p:blipFill>
          <p:spPr>
            <a:xfrm>
              <a:off x="2419603" y="5307081"/>
              <a:ext cx="902207" cy="4175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00" y="850905"/>
            <a:ext cx="10401300" cy="5854700"/>
          </a:xfrm>
          <a:custGeom>
            <a:avLst/>
            <a:gdLst/>
            <a:ahLst/>
            <a:cxnLst/>
            <a:rect l="l" t="t" r="r" b="b"/>
            <a:pathLst>
              <a:path w="10401300" h="5854700">
                <a:moveTo>
                  <a:pt x="10401300" y="0"/>
                </a:moveTo>
                <a:lnTo>
                  <a:pt x="0" y="0"/>
                </a:lnTo>
                <a:lnTo>
                  <a:pt x="0" y="5854700"/>
                </a:lnTo>
                <a:lnTo>
                  <a:pt x="10401300" y="5854700"/>
                </a:lnTo>
                <a:lnTo>
                  <a:pt x="10401300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166108" y="850905"/>
            <a:ext cx="6373495" cy="5854700"/>
            <a:chOff x="4166108" y="850905"/>
            <a:chExt cx="6373495" cy="5854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6108" y="850905"/>
              <a:ext cx="6373368" cy="58547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6996" y="6346449"/>
              <a:ext cx="627888" cy="2377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61756" y="3363033"/>
            <a:ext cx="6887845" cy="8032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100">
                <a:solidFill>
                  <a:srgbClr val="FFFFFF"/>
                </a:solidFill>
              </a:rPr>
              <a:t>Real</a:t>
            </a:r>
            <a:r>
              <a:rPr dirty="0" sz="5100" spc="-40">
                <a:solidFill>
                  <a:srgbClr val="FFFFFF"/>
                </a:solidFill>
              </a:rPr>
              <a:t> </a:t>
            </a:r>
            <a:r>
              <a:rPr dirty="0" sz="5100">
                <a:solidFill>
                  <a:srgbClr val="FFFFFF"/>
                </a:solidFill>
              </a:rPr>
              <a:t>World</a:t>
            </a:r>
            <a:r>
              <a:rPr dirty="0" sz="5100" spc="-30">
                <a:solidFill>
                  <a:srgbClr val="FFFFFF"/>
                </a:solidFill>
              </a:rPr>
              <a:t> </a:t>
            </a:r>
            <a:r>
              <a:rPr dirty="0" sz="5100">
                <a:solidFill>
                  <a:srgbClr val="FFFFFF"/>
                </a:solidFill>
              </a:rPr>
              <a:t>Use</a:t>
            </a:r>
            <a:r>
              <a:rPr dirty="0" sz="5100" spc="-35">
                <a:solidFill>
                  <a:srgbClr val="FFFFFF"/>
                </a:solidFill>
              </a:rPr>
              <a:t> </a:t>
            </a:r>
            <a:r>
              <a:rPr dirty="0" sz="5100" spc="-10">
                <a:solidFill>
                  <a:srgbClr val="FFFFFF"/>
                </a:solidFill>
              </a:rPr>
              <a:t>Cases</a:t>
            </a:r>
            <a:endParaRPr sz="5100"/>
          </a:p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8" name="object 8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Graph</a:t>
            </a:r>
            <a:r>
              <a:rPr dirty="0" sz="2700" spc="50"/>
              <a:t> </a:t>
            </a:r>
            <a:r>
              <a:rPr dirty="0" sz="2700"/>
              <a:t>Data</a:t>
            </a:r>
            <a:r>
              <a:rPr dirty="0" sz="2700" spc="55"/>
              <a:t> </a:t>
            </a:r>
            <a:r>
              <a:rPr dirty="0" sz="2700"/>
              <a:t>Science</a:t>
            </a:r>
            <a:r>
              <a:rPr dirty="0" sz="2700" spc="55"/>
              <a:t> </a:t>
            </a:r>
            <a:r>
              <a:rPr dirty="0" sz="2700"/>
              <a:t>Spans</a:t>
            </a:r>
            <a:r>
              <a:rPr dirty="0" sz="2700" spc="55"/>
              <a:t> </a:t>
            </a:r>
            <a:r>
              <a:rPr dirty="0" sz="2700"/>
              <a:t>Industries</a:t>
            </a:r>
            <a:r>
              <a:rPr dirty="0" sz="2700" spc="55"/>
              <a:t> </a:t>
            </a:r>
            <a:r>
              <a:rPr dirty="0" sz="2700"/>
              <a:t>and</a:t>
            </a:r>
            <a:r>
              <a:rPr dirty="0" sz="2700" spc="50"/>
              <a:t> </a:t>
            </a:r>
            <a:r>
              <a:rPr dirty="0" sz="2700" spc="-20"/>
              <a:t>Uses</a:t>
            </a:r>
            <a:endParaRPr sz="2700"/>
          </a:p>
        </p:txBody>
      </p:sp>
      <p:grpSp>
        <p:nvGrpSpPr>
          <p:cNvPr id="3" name="object 3" descr=""/>
          <p:cNvGrpSpPr/>
          <p:nvPr/>
        </p:nvGrpSpPr>
        <p:grpSpPr>
          <a:xfrm>
            <a:off x="3660140" y="2932689"/>
            <a:ext cx="981710" cy="996950"/>
            <a:chOff x="3660140" y="2932689"/>
            <a:chExt cx="981710" cy="996950"/>
          </a:xfrm>
        </p:grpSpPr>
        <p:sp>
          <p:nvSpPr>
            <p:cNvPr id="4" name="object 4" descr=""/>
            <p:cNvSpPr/>
            <p:nvPr/>
          </p:nvSpPr>
          <p:spPr>
            <a:xfrm>
              <a:off x="3737483" y="3738023"/>
              <a:ext cx="841375" cy="177165"/>
            </a:xfrm>
            <a:custGeom>
              <a:avLst/>
              <a:gdLst/>
              <a:ahLst/>
              <a:cxnLst/>
              <a:rect l="l" t="t" r="r" b="b"/>
              <a:pathLst>
                <a:path w="841375" h="177164">
                  <a:moveTo>
                    <a:pt x="420419" y="0"/>
                  </a:moveTo>
                  <a:lnTo>
                    <a:pt x="344848" y="1422"/>
                  </a:lnTo>
                  <a:lnTo>
                    <a:pt x="273721" y="5522"/>
                  </a:lnTo>
                  <a:lnTo>
                    <a:pt x="208225" y="12051"/>
                  </a:lnTo>
                  <a:lnTo>
                    <a:pt x="149548" y="20760"/>
                  </a:lnTo>
                  <a:lnTo>
                    <a:pt x="98877" y="31399"/>
                  </a:lnTo>
                  <a:lnTo>
                    <a:pt x="57399" y="43719"/>
                  </a:lnTo>
                  <a:lnTo>
                    <a:pt x="6773" y="72405"/>
                  </a:lnTo>
                  <a:lnTo>
                    <a:pt x="0" y="88272"/>
                  </a:lnTo>
                  <a:lnTo>
                    <a:pt x="6773" y="104140"/>
                  </a:lnTo>
                  <a:lnTo>
                    <a:pt x="57399" y="132826"/>
                  </a:lnTo>
                  <a:lnTo>
                    <a:pt x="98877" y="145146"/>
                  </a:lnTo>
                  <a:lnTo>
                    <a:pt x="149548" y="155785"/>
                  </a:lnTo>
                  <a:lnTo>
                    <a:pt x="208225" y="164494"/>
                  </a:lnTo>
                  <a:lnTo>
                    <a:pt x="273721" y="171023"/>
                  </a:lnTo>
                  <a:lnTo>
                    <a:pt x="344848" y="175124"/>
                  </a:lnTo>
                  <a:lnTo>
                    <a:pt x="420419" y="176546"/>
                  </a:lnTo>
                  <a:lnTo>
                    <a:pt x="495990" y="175124"/>
                  </a:lnTo>
                  <a:lnTo>
                    <a:pt x="567117" y="171023"/>
                  </a:lnTo>
                  <a:lnTo>
                    <a:pt x="632613" y="164494"/>
                  </a:lnTo>
                  <a:lnTo>
                    <a:pt x="691291" y="155785"/>
                  </a:lnTo>
                  <a:lnTo>
                    <a:pt x="741962" y="145146"/>
                  </a:lnTo>
                  <a:lnTo>
                    <a:pt x="783440" y="132826"/>
                  </a:lnTo>
                  <a:lnTo>
                    <a:pt x="834066" y="104140"/>
                  </a:lnTo>
                  <a:lnTo>
                    <a:pt x="840840" y="88272"/>
                  </a:lnTo>
                  <a:lnTo>
                    <a:pt x="834066" y="72405"/>
                  </a:lnTo>
                  <a:lnTo>
                    <a:pt x="783440" y="43719"/>
                  </a:lnTo>
                  <a:lnTo>
                    <a:pt x="741962" y="31399"/>
                  </a:lnTo>
                  <a:lnTo>
                    <a:pt x="691291" y="20760"/>
                  </a:lnTo>
                  <a:lnTo>
                    <a:pt x="632613" y="12051"/>
                  </a:lnTo>
                  <a:lnTo>
                    <a:pt x="567117" y="5522"/>
                  </a:lnTo>
                  <a:lnTo>
                    <a:pt x="495990" y="1422"/>
                  </a:lnTo>
                  <a:lnTo>
                    <a:pt x="420419" y="0"/>
                  </a:lnTo>
                  <a:close/>
                </a:path>
              </a:pathLst>
            </a:custGeom>
            <a:solidFill>
              <a:srgbClr val="E9E9E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0140" y="2932689"/>
              <a:ext cx="981456" cy="996696"/>
            </a:xfrm>
            <a:prstGeom prst="rect">
              <a:avLst/>
            </a:prstGeom>
          </p:spPr>
        </p:pic>
      </p:grpSp>
      <p:sp>
        <p:nvSpPr>
          <p:cNvPr id="6" name="object 6" descr=""/>
          <p:cNvSpPr txBox="1"/>
          <p:nvPr/>
        </p:nvSpPr>
        <p:spPr>
          <a:xfrm>
            <a:off x="5828960" y="2237598"/>
            <a:ext cx="1837055" cy="5410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276860">
              <a:lnSpc>
                <a:spcPts val="2020"/>
              </a:lnSpc>
              <a:spcBef>
                <a:spcPts val="185"/>
              </a:spcBef>
            </a:pPr>
            <a:r>
              <a:rPr dirty="0" sz="1700" spc="-10">
                <a:latin typeface="Arial"/>
                <a:cs typeface="Arial"/>
              </a:rPr>
              <a:t>Personalized Recommendations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166407" y="4359006"/>
            <a:ext cx="990600" cy="537845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2700" marR="5080" indent="186690">
              <a:lnSpc>
                <a:spcPts val="1989"/>
              </a:lnSpc>
              <a:spcBef>
                <a:spcPts val="209"/>
              </a:spcBef>
            </a:pPr>
            <a:r>
              <a:rPr dirty="0" sz="1700" spc="-10">
                <a:latin typeface="Arial"/>
                <a:cs typeface="Arial"/>
              </a:rPr>
              <a:t>Churn Prediction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477461" y="2237598"/>
            <a:ext cx="1364615" cy="5410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338455">
              <a:lnSpc>
                <a:spcPts val="2020"/>
              </a:lnSpc>
              <a:spcBef>
                <a:spcPts val="185"/>
              </a:spcBef>
            </a:pPr>
            <a:r>
              <a:rPr dirty="0" sz="1700" spc="-10">
                <a:latin typeface="Arial"/>
                <a:cs typeface="Arial"/>
              </a:rPr>
              <a:t>Market Segmentation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621405" y="2237598"/>
            <a:ext cx="906144" cy="5410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265430">
              <a:lnSpc>
                <a:spcPts val="2020"/>
              </a:lnSpc>
              <a:spcBef>
                <a:spcPts val="185"/>
              </a:spcBef>
            </a:pPr>
            <a:r>
              <a:rPr dirty="0" sz="1700" spc="-20">
                <a:latin typeface="Arial"/>
                <a:cs typeface="Arial"/>
              </a:rPr>
              <a:t>Life </a:t>
            </a:r>
            <a:r>
              <a:rPr dirty="0" sz="1700" spc="-10">
                <a:latin typeface="Arial"/>
                <a:cs typeface="Arial"/>
              </a:rPr>
              <a:t>Sciences</a:t>
            </a:r>
            <a:endParaRPr sz="17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112383" y="4359006"/>
            <a:ext cx="1268730" cy="537845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2700" marR="5080" indent="144780">
              <a:lnSpc>
                <a:spcPts val="1989"/>
              </a:lnSpc>
              <a:spcBef>
                <a:spcPts val="209"/>
              </a:spcBef>
            </a:pPr>
            <a:r>
              <a:rPr dirty="0" sz="1700" spc="-10">
                <a:latin typeface="Arial"/>
                <a:cs typeface="Arial"/>
              </a:rPr>
              <a:t>Predictive Maintenance</a:t>
            </a:r>
            <a:endParaRPr sz="170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8398547" y="4453494"/>
            <a:ext cx="1352550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10">
                <a:latin typeface="Arial"/>
                <a:cs typeface="Arial"/>
              </a:rPr>
              <a:t>Cybersecurity</a:t>
            </a:r>
            <a:endParaRPr sz="17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505160" y="4359006"/>
            <a:ext cx="1293495" cy="537845"/>
          </a:xfrm>
          <a:prstGeom prst="rect">
            <a:avLst/>
          </a:prstGeom>
        </p:spPr>
        <p:txBody>
          <a:bodyPr wrap="square" lIns="0" tIns="26669" rIns="0" bIns="0" rtlCol="0" vert="horz">
            <a:spAutoFit/>
          </a:bodyPr>
          <a:lstStyle/>
          <a:p>
            <a:pPr marL="12700" marR="5080" indent="43180">
              <a:lnSpc>
                <a:spcPts val="1989"/>
              </a:lnSpc>
              <a:spcBef>
                <a:spcPts val="209"/>
              </a:spcBef>
            </a:pPr>
            <a:r>
              <a:rPr dirty="0" sz="1700">
                <a:latin typeface="Arial"/>
                <a:cs typeface="Arial"/>
              </a:rPr>
              <a:t>Master</a:t>
            </a:r>
            <a:r>
              <a:rPr dirty="0" sz="1700" spc="-35">
                <a:latin typeface="Arial"/>
                <a:cs typeface="Arial"/>
              </a:rPr>
              <a:t> </a:t>
            </a:r>
            <a:r>
              <a:rPr dirty="0" sz="1700" spc="-20">
                <a:latin typeface="Arial"/>
                <a:cs typeface="Arial"/>
              </a:rPr>
              <a:t>Data </a:t>
            </a:r>
            <a:r>
              <a:rPr dirty="0" sz="1700" spc="-10">
                <a:latin typeface="Arial"/>
                <a:cs typeface="Arial"/>
              </a:rPr>
              <a:t>Management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179046" y="2237598"/>
            <a:ext cx="942340" cy="54102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74625">
              <a:lnSpc>
                <a:spcPts val="2020"/>
              </a:lnSpc>
              <a:spcBef>
                <a:spcPts val="185"/>
              </a:spcBef>
            </a:pPr>
            <a:r>
              <a:rPr dirty="0" sz="1700" spc="-10">
                <a:latin typeface="Arial"/>
                <a:cs typeface="Arial"/>
              </a:rPr>
              <a:t>Fraud Detection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55811" y="2905257"/>
            <a:ext cx="838200" cy="941831"/>
          </a:xfrm>
          <a:prstGeom prst="rect">
            <a:avLst/>
          </a:prstGeom>
        </p:spPr>
      </p:pic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290564" y="4962657"/>
            <a:ext cx="914399" cy="911352"/>
          </a:xfrm>
          <a:prstGeom prst="rect">
            <a:avLst/>
          </a:prstGeom>
        </p:spPr>
      </p:pic>
      <p:pic>
        <p:nvPicPr>
          <p:cNvPr id="16" name="object 1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64371" y="5032761"/>
            <a:ext cx="1069848" cy="780288"/>
          </a:xfrm>
          <a:prstGeom prst="rect">
            <a:avLst/>
          </a:prstGeom>
        </p:spPr>
      </p:pic>
      <p:pic>
        <p:nvPicPr>
          <p:cNvPr id="17" name="object 1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1844" y="5017521"/>
            <a:ext cx="810767" cy="890016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687571" y="4980945"/>
            <a:ext cx="984503" cy="984504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772" y="2880873"/>
            <a:ext cx="1301496" cy="1048512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17996" y="2877825"/>
            <a:ext cx="780288" cy="954024"/>
          </a:xfrm>
          <a:prstGeom prst="rect">
            <a:avLst/>
          </a:prstGeom>
        </p:spPr>
      </p:pic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>
                <a:solidFill>
                  <a:srgbClr val="FFFFFF"/>
                </a:solidFill>
              </a:rPr>
              <a:t>Neo4j,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Inc.</a:t>
            </a:r>
            <a:r>
              <a:rPr dirty="0" spc="-2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All</a:t>
            </a:r>
            <a:r>
              <a:rPr dirty="0" spc="-3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rights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10">
                <a:solidFill>
                  <a:srgbClr val="FFFFFF"/>
                </a:solidFill>
              </a:rPr>
              <a:t>reserved</a:t>
            </a:r>
            <a:r>
              <a:rPr dirty="0" spc="-25">
                <a:solidFill>
                  <a:srgbClr val="FFFFFF"/>
                </a:solidFill>
              </a:rPr>
              <a:t> </a:t>
            </a:r>
            <a:r>
              <a:rPr dirty="0" spc="-20">
                <a:solidFill>
                  <a:srgbClr val="FFFFFF"/>
                </a:solidFill>
              </a:rPr>
              <a:t>2021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/>
              <a:t>Accelerate</a:t>
            </a:r>
            <a:r>
              <a:rPr dirty="0" sz="2500" spc="-25"/>
              <a:t> </a:t>
            </a:r>
            <a:r>
              <a:rPr dirty="0" sz="2500"/>
              <a:t>Innovation</a:t>
            </a:r>
            <a:r>
              <a:rPr dirty="0" sz="2500" spc="-15"/>
              <a:t> </a:t>
            </a:r>
            <a:r>
              <a:rPr dirty="0" sz="2500"/>
              <a:t>using</a:t>
            </a:r>
            <a:r>
              <a:rPr dirty="0" sz="2500" spc="-15"/>
              <a:t> </a:t>
            </a:r>
            <a:r>
              <a:rPr dirty="0" sz="2500"/>
              <a:t>Neo4j</a:t>
            </a:r>
            <a:r>
              <a:rPr dirty="0" sz="2500" spc="-20"/>
              <a:t> </a:t>
            </a:r>
            <a:r>
              <a:rPr dirty="0" sz="2500"/>
              <a:t>Graph</a:t>
            </a:r>
            <a:r>
              <a:rPr dirty="0" sz="2500" spc="-15"/>
              <a:t> </a:t>
            </a:r>
            <a:r>
              <a:rPr dirty="0" sz="2500"/>
              <a:t>Data</a:t>
            </a:r>
            <a:r>
              <a:rPr dirty="0" sz="2500" spc="-20"/>
              <a:t> </a:t>
            </a:r>
            <a:r>
              <a:rPr dirty="0" sz="2500" spc="-10"/>
              <a:t>Science</a:t>
            </a:r>
            <a:endParaRPr sz="2500"/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200" b="0">
                <a:latin typeface="Arial"/>
                <a:cs typeface="Arial"/>
              </a:rPr>
              <a:t>From</a:t>
            </a:r>
            <a:r>
              <a:rPr dirty="0" sz="2200" spc="-120" b="0">
                <a:latin typeface="Arial"/>
                <a:cs typeface="Arial"/>
              </a:rPr>
              <a:t> </a:t>
            </a:r>
            <a:r>
              <a:rPr dirty="0" sz="2200" spc="-10" b="0">
                <a:latin typeface="Arial"/>
                <a:cs typeface="Arial"/>
              </a:rPr>
              <a:t>Simple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b="0">
                <a:latin typeface="Arial"/>
                <a:cs typeface="Arial"/>
              </a:rPr>
              <a:t>to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b="0">
                <a:latin typeface="Arial"/>
                <a:cs typeface="Arial"/>
              </a:rPr>
              <a:t>Highly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spc="-20" b="0">
                <a:latin typeface="Arial"/>
                <a:cs typeface="Arial"/>
              </a:rPr>
              <a:t>Sophisticated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b="0">
                <a:latin typeface="Arial"/>
                <a:cs typeface="Arial"/>
              </a:rPr>
              <a:t>Data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spc="-10" b="0">
                <a:latin typeface="Arial"/>
                <a:cs typeface="Arial"/>
              </a:rPr>
              <a:t>Science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500892" y="2260996"/>
            <a:ext cx="5663565" cy="3691254"/>
            <a:chOff x="2500892" y="2260996"/>
            <a:chExt cx="5663565" cy="3691254"/>
          </a:xfrm>
        </p:grpSpPr>
        <p:sp>
          <p:nvSpPr>
            <p:cNvPr id="4" name="object 4" descr=""/>
            <p:cNvSpPr/>
            <p:nvPr/>
          </p:nvSpPr>
          <p:spPr>
            <a:xfrm>
              <a:off x="2828749" y="2260996"/>
              <a:ext cx="5335270" cy="3683635"/>
            </a:xfrm>
            <a:custGeom>
              <a:avLst/>
              <a:gdLst/>
              <a:ahLst/>
              <a:cxnLst/>
              <a:rect l="l" t="t" r="r" b="b"/>
              <a:pathLst>
                <a:path w="5335270" h="3683635">
                  <a:moveTo>
                    <a:pt x="5335102" y="0"/>
                  </a:moveTo>
                  <a:lnTo>
                    <a:pt x="0" y="0"/>
                  </a:lnTo>
                  <a:lnTo>
                    <a:pt x="0" y="3683219"/>
                  </a:lnTo>
                  <a:lnTo>
                    <a:pt x="5335102" y="3683219"/>
                  </a:lnTo>
                  <a:lnTo>
                    <a:pt x="5335102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28749" y="3904916"/>
              <a:ext cx="3308985" cy="2047239"/>
            </a:xfrm>
            <a:custGeom>
              <a:avLst/>
              <a:gdLst/>
              <a:ahLst/>
              <a:cxnLst/>
              <a:rect l="l" t="t" r="r" b="b"/>
              <a:pathLst>
                <a:path w="3308985" h="2047239">
                  <a:moveTo>
                    <a:pt x="3257602" y="0"/>
                  </a:moveTo>
                  <a:lnTo>
                    <a:pt x="0" y="0"/>
                  </a:lnTo>
                  <a:lnTo>
                    <a:pt x="0" y="2047181"/>
                  </a:lnTo>
                  <a:lnTo>
                    <a:pt x="3308418" y="2047181"/>
                  </a:lnTo>
                  <a:lnTo>
                    <a:pt x="3308418" y="50852"/>
                  </a:lnTo>
                  <a:lnTo>
                    <a:pt x="3304425" y="31058"/>
                  </a:lnTo>
                  <a:lnTo>
                    <a:pt x="3293534" y="14894"/>
                  </a:lnTo>
                  <a:lnTo>
                    <a:pt x="3277382" y="3996"/>
                  </a:lnTo>
                  <a:lnTo>
                    <a:pt x="3257602" y="0"/>
                  </a:lnTo>
                  <a:close/>
                </a:path>
              </a:pathLst>
            </a:custGeom>
            <a:solidFill>
              <a:srgbClr val="79BF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0892" y="2599233"/>
              <a:ext cx="258188" cy="322979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0020" y="3923289"/>
              <a:ext cx="1466087" cy="71018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0020" y="3243585"/>
              <a:ext cx="1889759" cy="713231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40503" y="6036710"/>
            <a:ext cx="4358803" cy="250099"/>
          </a:xfrm>
          <a:prstGeom prst="rect">
            <a:avLst/>
          </a:prstGeom>
        </p:spPr>
      </p:pic>
      <p:sp>
        <p:nvSpPr>
          <p:cNvPr id="10" name="object 10" descr=""/>
          <p:cNvSpPr txBox="1"/>
          <p:nvPr/>
        </p:nvSpPr>
        <p:spPr>
          <a:xfrm>
            <a:off x="1962146" y="3463771"/>
            <a:ext cx="520700" cy="119507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 marR="5080" indent="137160">
              <a:lnSpc>
                <a:spcPts val="2000"/>
              </a:lnSpc>
              <a:spcBef>
                <a:spcPts val="35"/>
              </a:spcBef>
            </a:pPr>
            <a:r>
              <a:rPr dirty="0" sz="1700" spc="-10" b="1">
                <a:latin typeface="Arial"/>
                <a:cs typeface="Arial"/>
              </a:rPr>
              <a:t>Analysis Complexity</a:t>
            </a:r>
            <a:endParaRPr sz="17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477412" y="5917337"/>
            <a:ext cx="1322070" cy="238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 sz="1500" spc="-10">
                <a:latin typeface="Arial"/>
                <a:cs typeface="Arial"/>
              </a:rPr>
              <a:t>Simple,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Ad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Hoc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433640" y="5981345"/>
            <a:ext cx="1281430" cy="238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 sz="1500">
                <a:latin typeface="Arial"/>
                <a:cs typeface="Arial"/>
              </a:rPr>
              <a:t>Full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Production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068823" y="6275327"/>
            <a:ext cx="2326005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0"/>
              </a:lnSpc>
            </a:pPr>
            <a:r>
              <a:rPr dirty="0" sz="1700" b="1">
                <a:latin typeface="Arial"/>
                <a:cs typeface="Arial"/>
              </a:rPr>
              <a:t>Analysis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Repeatability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17" name="object 1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  <p:sp>
        <p:nvSpPr>
          <p:cNvPr id="11" name="object 11" descr=""/>
          <p:cNvSpPr txBox="1"/>
          <p:nvPr/>
        </p:nvSpPr>
        <p:spPr>
          <a:xfrm>
            <a:off x="2322088" y="2278255"/>
            <a:ext cx="413384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latin typeface="Arial"/>
                <a:cs typeface="Arial"/>
              </a:rPr>
              <a:t>High</a:t>
            </a:r>
            <a:endParaRPr sz="15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765"/>
              </a:spcBef>
            </a:pPr>
          </a:p>
          <a:p>
            <a:pPr marL="103505" marR="3794760">
              <a:lnSpc>
                <a:spcPct val="202700"/>
              </a:lnSpc>
            </a:pPr>
            <a:r>
              <a:rPr dirty="0"/>
              <a:t>Data</a:t>
            </a:r>
            <a:r>
              <a:rPr dirty="0" spc="-90"/>
              <a:t> </a:t>
            </a:r>
            <a:r>
              <a:rPr dirty="0" spc="-20"/>
              <a:t>Science </a:t>
            </a:r>
            <a:r>
              <a:rPr dirty="0" spc="-10"/>
              <a:t>Analytics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/>
              <a:t>Accelerate</a:t>
            </a:r>
            <a:r>
              <a:rPr dirty="0" sz="2500" spc="-25"/>
              <a:t> </a:t>
            </a:r>
            <a:r>
              <a:rPr dirty="0" sz="2500"/>
              <a:t>Innovation</a:t>
            </a:r>
            <a:r>
              <a:rPr dirty="0" sz="2500" spc="-15"/>
              <a:t> </a:t>
            </a:r>
            <a:r>
              <a:rPr dirty="0" sz="2500"/>
              <a:t>using</a:t>
            </a:r>
            <a:r>
              <a:rPr dirty="0" sz="2500" spc="-15"/>
              <a:t> </a:t>
            </a:r>
            <a:r>
              <a:rPr dirty="0" sz="2500"/>
              <a:t>Neo4j</a:t>
            </a:r>
            <a:r>
              <a:rPr dirty="0" sz="2500" spc="-20"/>
              <a:t> </a:t>
            </a:r>
            <a:r>
              <a:rPr dirty="0" sz="2500"/>
              <a:t>Graph</a:t>
            </a:r>
            <a:r>
              <a:rPr dirty="0" sz="2500" spc="-15"/>
              <a:t> </a:t>
            </a:r>
            <a:r>
              <a:rPr dirty="0" sz="2500"/>
              <a:t>Data</a:t>
            </a:r>
            <a:r>
              <a:rPr dirty="0" sz="2500" spc="-20"/>
              <a:t> </a:t>
            </a:r>
            <a:r>
              <a:rPr dirty="0" sz="2500" spc="-10"/>
              <a:t>Science</a:t>
            </a:r>
            <a:endParaRPr sz="2500"/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2200" b="0">
                <a:latin typeface="Arial"/>
                <a:cs typeface="Arial"/>
              </a:rPr>
              <a:t>From</a:t>
            </a:r>
            <a:r>
              <a:rPr dirty="0" sz="2200" spc="-120" b="0">
                <a:latin typeface="Arial"/>
                <a:cs typeface="Arial"/>
              </a:rPr>
              <a:t> </a:t>
            </a:r>
            <a:r>
              <a:rPr dirty="0" sz="2200" spc="-10" b="0">
                <a:latin typeface="Arial"/>
                <a:cs typeface="Arial"/>
              </a:rPr>
              <a:t>Simple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b="0">
                <a:latin typeface="Arial"/>
                <a:cs typeface="Arial"/>
              </a:rPr>
              <a:t>to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b="0">
                <a:latin typeface="Arial"/>
                <a:cs typeface="Arial"/>
              </a:rPr>
              <a:t>Highly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spc="-20" b="0">
                <a:latin typeface="Arial"/>
                <a:cs typeface="Arial"/>
              </a:rPr>
              <a:t>Sophisticated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b="0">
                <a:latin typeface="Arial"/>
                <a:cs typeface="Arial"/>
              </a:rPr>
              <a:t>Data</a:t>
            </a:r>
            <a:r>
              <a:rPr dirty="0" sz="2200" spc="-110" b="0">
                <a:latin typeface="Arial"/>
                <a:cs typeface="Arial"/>
              </a:rPr>
              <a:t> </a:t>
            </a:r>
            <a:r>
              <a:rPr dirty="0" sz="2200" spc="-10" b="0">
                <a:latin typeface="Arial"/>
                <a:cs typeface="Arial"/>
              </a:rPr>
              <a:t>Science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2828749" y="2260996"/>
            <a:ext cx="5335270" cy="3691254"/>
            <a:chOff x="2828749" y="2260996"/>
            <a:chExt cx="5335270" cy="3691254"/>
          </a:xfrm>
        </p:grpSpPr>
        <p:sp>
          <p:nvSpPr>
            <p:cNvPr id="4" name="object 4" descr=""/>
            <p:cNvSpPr/>
            <p:nvPr/>
          </p:nvSpPr>
          <p:spPr>
            <a:xfrm>
              <a:off x="2828749" y="2260996"/>
              <a:ext cx="5335270" cy="3683635"/>
            </a:xfrm>
            <a:custGeom>
              <a:avLst/>
              <a:gdLst/>
              <a:ahLst/>
              <a:cxnLst/>
              <a:rect l="l" t="t" r="r" b="b"/>
              <a:pathLst>
                <a:path w="5335270" h="3683635">
                  <a:moveTo>
                    <a:pt x="5335102" y="0"/>
                  </a:moveTo>
                  <a:lnTo>
                    <a:pt x="0" y="0"/>
                  </a:lnTo>
                  <a:lnTo>
                    <a:pt x="0" y="3683219"/>
                  </a:lnTo>
                  <a:lnTo>
                    <a:pt x="5335102" y="3683219"/>
                  </a:lnTo>
                  <a:lnTo>
                    <a:pt x="5335102" y="0"/>
                  </a:lnTo>
                  <a:close/>
                </a:path>
              </a:pathLst>
            </a:custGeom>
            <a:solidFill>
              <a:srgbClr val="01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2828749" y="3904916"/>
              <a:ext cx="3308985" cy="2047239"/>
            </a:xfrm>
            <a:custGeom>
              <a:avLst/>
              <a:gdLst/>
              <a:ahLst/>
              <a:cxnLst/>
              <a:rect l="l" t="t" r="r" b="b"/>
              <a:pathLst>
                <a:path w="3308985" h="2047239">
                  <a:moveTo>
                    <a:pt x="3308418" y="0"/>
                  </a:moveTo>
                  <a:lnTo>
                    <a:pt x="0" y="0"/>
                  </a:lnTo>
                  <a:lnTo>
                    <a:pt x="0" y="2047181"/>
                  </a:lnTo>
                  <a:lnTo>
                    <a:pt x="3308418" y="2047181"/>
                  </a:lnTo>
                  <a:lnTo>
                    <a:pt x="3308418" y="0"/>
                  </a:lnTo>
                  <a:close/>
                </a:path>
              </a:pathLst>
            </a:custGeom>
            <a:solidFill>
              <a:srgbClr val="79BF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56580" y="2271273"/>
              <a:ext cx="2246376" cy="1292352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/>
          <p:nvPr/>
        </p:nvSpPr>
        <p:spPr>
          <a:xfrm>
            <a:off x="5831618" y="2363083"/>
            <a:ext cx="1842770" cy="995044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 marR="5080">
              <a:lnSpc>
                <a:spcPct val="99200"/>
              </a:lnSpc>
              <a:spcBef>
                <a:spcPts val="114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R&amp;D: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Better</a:t>
            </a:r>
            <a:r>
              <a:rPr dirty="0" sz="16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health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outcomes</a:t>
            </a:r>
            <a:r>
              <a:rPr dirty="0" sz="16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through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machine</a:t>
            </a: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learning</a:t>
            </a:r>
            <a:r>
              <a:rPr dirty="0" sz="16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on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patient</a:t>
            </a:r>
            <a:r>
              <a:rPr dirty="0" sz="16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journeys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907283" y="4481072"/>
            <a:ext cx="5364480" cy="1624965"/>
            <a:chOff x="2907283" y="4481072"/>
            <a:chExt cx="5364480" cy="1624965"/>
          </a:xfrm>
        </p:grpSpPr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26555" y="4481072"/>
              <a:ext cx="2045207" cy="1292352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07283" y="5054096"/>
              <a:ext cx="3352800" cy="1051560"/>
            </a:xfrm>
            <a:prstGeom prst="rect">
              <a:avLst/>
            </a:prstGeom>
          </p:spPr>
        </p:pic>
      </p:grpSp>
      <p:sp>
        <p:nvSpPr>
          <p:cNvPr id="11" name="object 11" descr=""/>
          <p:cNvSpPr txBox="1"/>
          <p:nvPr/>
        </p:nvSpPr>
        <p:spPr>
          <a:xfrm>
            <a:off x="3081144" y="5145907"/>
            <a:ext cx="2949575" cy="75120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improve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reliability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predicting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problems</a:t>
            </a:r>
            <a:r>
              <a:rPr dirty="0" sz="16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supply-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chain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2500892" y="2599233"/>
            <a:ext cx="4798695" cy="3688079"/>
            <a:chOff x="2500892" y="2599233"/>
            <a:chExt cx="4798695" cy="3688079"/>
          </a:xfrm>
        </p:grpSpPr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40503" y="6036711"/>
              <a:ext cx="4358803" cy="25009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0892" y="2599233"/>
              <a:ext cx="258188" cy="3229795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00020" y="3923289"/>
              <a:ext cx="1466087" cy="710183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1962146" y="3463771"/>
            <a:ext cx="520700" cy="1195070"/>
          </a:xfrm>
          <a:prstGeom prst="rect">
            <a:avLst/>
          </a:prstGeom>
        </p:spPr>
        <p:txBody>
          <a:bodyPr wrap="square" lIns="0" tIns="4445" rIns="0" bIns="0" rtlCol="0" vert="vert270">
            <a:spAutoFit/>
          </a:bodyPr>
          <a:lstStyle/>
          <a:p>
            <a:pPr marL="12700" marR="5080" indent="137160">
              <a:lnSpc>
                <a:spcPts val="2000"/>
              </a:lnSpc>
              <a:spcBef>
                <a:spcPts val="35"/>
              </a:spcBef>
            </a:pPr>
            <a:r>
              <a:rPr dirty="0" sz="1700" spc="-10" b="1">
                <a:latin typeface="Arial"/>
                <a:cs typeface="Arial"/>
              </a:rPr>
              <a:t>Analysis Complexity</a:t>
            </a:r>
            <a:endParaRPr sz="17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2322088" y="2278255"/>
            <a:ext cx="413384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0">
                <a:latin typeface="Arial"/>
                <a:cs typeface="Arial"/>
              </a:rPr>
              <a:t>High</a:t>
            </a:r>
            <a:endParaRPr sz="15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2920046" y="4011999"/>
            <a:ext cx="102870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Analytics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700020" y="3243585"/>
            <a:ext cx="1889759" cy="713231"/>
          </a:xfrm>
          <a:prstGeom prst="rect">
            <a:avLst/>
          </a:prstGeom>
        </p:spPr>
      </p:pic>
      <p:sp>
        <p:nvSpPr>
          <p:cNvPr id="20" name="object 20" descr=""/>
          <p:cNvSpPr txBox="1"/>
          <p:nvPr/>
        </p:nvSpPr>
        <p:spPr>
          <a:xfrm>
            <a:off x="2920046" y="3332295"/>
            <a:ext cx="1453515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dirty="0" sz="2200" spc="-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14364" y="3862328"/>
            <a:ext cx="1642872" cy="856488"/>
          </a:xfrm>
          <a:prstGeom prst="rect">
            <a:avLst/>
          </a:prstGeom>
        </p:spPr>
      </p:pic>
      <p:sp>
        <p:nvSpPr>
          <p:cNvPr id="22" name="object 22" descr=""/>
          <p:cNvSpPr txBox="1"/>
          <p:nvPr/>
        </p:nvSpPr>
        <p:spPr>
          <a:xfrm>
            <a:off x="6401818" y="3950574"/>
            <a:ext cx="1638935" cy="161734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429895" indent="391795">
              <a:lnSpc>
                <a:spcPct val="102400"/>
              </a:lnSpc>
              <a:spcBef>
                <a:spcPts val="50"/>
              </a:spcBef>
            </a:pPr>
            <a:r>
              <a:rPr dirty="0" sz="1700" spc="-114">
                <a:solidFill>
                  <a:srgbClr val="FFFFFF"/>
                </a:solidFill>
                <a:latin typeface="Arial Black"/>
                <a:cs typeface="Arial Black"/>
              </a:rPr>
              <a:t>FinServ </a:t>
            </a:r>
            <a:r>
              <a:rPr dirty="0" sz="1700" spc="-85">
                <a:solidFill>
                  <a:srgbClr val="FFFFFF"/>
                </a:solidFill>
                <a:latin typeface="Arial Black"/>
                <a:cs typeface="Arial Black"/>
              </a:rPr>
              <a:t>Customers</a:t>
            </a:r>
            <a:endParaRPr sz="1700">
              <a:latin typeface="Arial Black"/>
              <a:cs typeface="Arial Black"/>
            </a:endParaRPr>
          </a:p>
          <a:p>
            <a:pPr marL="12700" marR="5080">
              <a:lnSpc>
                <a:spcPct val="99200"/>
              </a:lnSpc>
              <a:spcBef>
                <a:spcPts val="790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Fraud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FFFFFF"/>
                </a:solidFill>
                <a:latin typeface="Arial"/>
                <a:cs typeface="Arial"/>
              </a:rPr>
              <a:t>Detection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6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feature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engineering</a:t>
            </a:r>
            <a:r>
              <a:rPr dirty="0" sz="160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+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AutoML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6244844" y="3722121"/>
            <a:ext cx="561340" cy="561340"/>
            <a:chOff x="6244844" y="3722121"/>
            <a:chExt cx="561340" cy="561340"/>
          </a:xfrm>
        </p:grpSpPr>
        <p:pic>
          <p:nvPicPr>
            <p:cNvPr id="24" name="object 24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44844" y="3722121"/>
              <a:ext cx="560831" cy="560832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08852" y="3764793"/>
              <a:ext cx="432816" cy="432815"/>
            </a:xfrm>
            <a:prstGeom prst="rect">
              <a:avLst/>
            </a:prstGeom>
          </p:spPr>
        </p:pic>
      </p:grpSp>
      <p:grpSp>
        <p:nvGrpSpPr>
          <p:cNvPr id="26" name="object 26" descr=""/>
          <p:cNvGrpSpPr/>
          <p:nvPr/>
        </p:nvGrpSpPr>
        <p:grpSpPr>
          <a:xfrm>
            <a:off x="3013964" y="2326137"/>
            <a:ext cx="2710180" cy="2834640"/>
            <a:chOff x="3013964" y="2326137"/>
            <a:chExt cx="2710180" cy="2834640"/>
          </a:xfrm>
        </p:grpSpPr>
        <p:pic>
          <p:nvPicPr>
            <p:cNvPr id="27" name="object 27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44316" y="2326137"/>
              <a:ext cx="2179319" cy="62483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608324" y="2368809"/>
              <a:ext cx="2048255" cy="496824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13964" y="4374393"/>
              <a:ext cx="2051304" cy="786383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081020" y="4417065"/>
              <a:ext cx="1917192" cy="65531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1477412" y="5917337"/>
            <a:ext cx="1322070" cy="238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 sz="1500" spc="-10">
                <a:latin typeface="Arial"/>
                <a:cs typeface="Arial"/>
              </a:rPr>
              <a:t>Simple,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Ad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Hoc</a:t>
            </a:r>
            <a:endParaRPr sz="1500">
              <a:latin typeface="Arial"/>
              <a:cs typeface="Arial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433640" y="5981345"/>
            <a:ext cx="1281430" cy="2387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60"/>
              </a:lnSpc>
            </a:pPr>
            <a:r>
              <a:rPr dirty="0" sz="1500">
                <a:latin typeface="Arial"/>
                <a:cs typeface="Arial"/>
              </a:rPr>
              <a:t>Full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Production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4068823" y="6275327"/>
            <a:ext cx="2326005" cy="2673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0"/>
              </a:lnSpc>
            </a:pPr>
            <a:r>
              <a:rPr dirty="0" sz="1700" b="1">
                <a:latin typeface="Arial"/>
                <a:cs typeface="Arial"/>
              </a:rPr>
              <a:t>Analysis</a:t>
            </a:r>
            <a:r>
              <a:rPr dirty="0" sz="1700" spc="-40" b="1">
                <a:latin typeface="Arial"/>
                <a:cs typeface="Arial"/>
              </a:rPr>
              <a:t> </a:t>
            </a:r>
            <a:r>
              <a:rPr dirty="0" sz="1700" spc="-10" b="1">
                <a:latin typeface="Arial"/>
                <a:cs typeface="Arial"/>
              </a:rPr>
              <a:t>Repeatability</a:t>
            </a:r>
            <a:endParaRPr sz="1700">
              <a:latin typeface="Arial"/>
              <a:cs typeface="Arial"/>
            </a:endParaRPr>
          </a:p>
        </p:txBody>
      </p:sp>
      <p:sp>
        <p:nvSpPr>
          <p:cNvPr id="34" name="object 3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33</a:t>
            </a:fld>
          </a:p>
        </p:txBody>
      </p:sp>
      <p:sp>
        <p:nvSpPr>
          <p:cNvPr id="35" name="object 3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02277" y="6390576"/>
            <a:ext cx="1601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39728" y="850876"/>
            <a:ext cx="396875" cy="5854700"/>
          </a:xfrm>
          <a:prstGeom prst="rect">
            <a:avLst/>
          </a:prstGeom>
          <a:solidFill>
            <a:srgbClr val="018B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34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93855" y="2580007"/>
            <a:ext cx="3352800" cy="711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 marR="5080" indent="-187325">
              <a:lnSpc>
                <a:spcPct val="100000"/>
              </a:lnSpc>
              <a:spcBef>
                <a:spcPts val="100"/>
              </a:spcBef>
              <a:buChar char="•"/>
              <a:tabLst>
                <a:tab pos="199390" algn="l"/>
                <a:tab pos="211454" algn="l"/>
              </a:tabLst>
            </a:pPr>
            <a:r>
              <a:rPr dirty="0" sz="1500">
                <a:solidFill>
                  <a:srgbClr val="60A5D9"/>
                </a:solidFill>
                <a:latin typeface="Arial"/>
                <a:cs typeface="Arial"/>
              </a:rPr>
              <a:t>	</a:t>
            </a:r>
            <a:r>
              <a:rPr dirty="0" sz="1500" spc="-10" b="1">
                <a:solidFill>
                  <a:srgbClr val="282828"/>
                </a:solidFill>
                <a:latin typeface="Arial"/>
                <a:cs typeface="Arial"/>
              </a:rPr>
              <a:t>Challenge:</a:t>
            </a:r>
            <a:r>
              <a:rPr dirty="0" sz="1500" spc="-3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Difficulty</a:t>
            </a:r>
            <a:r>
              <a:rPr dirty="0" sz="1500" spc="-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finding</a:t>
            </a:r>
            <a:r>
              <a:rPr dirty="0" sz="1500" spc="-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faulty components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via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ad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hoc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analytics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on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a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vertically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integrated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supply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82828"/>
                </a:solidFill>
                <a:latin typeface="Arial"/>
                <a:cs typeface="Arial"/>
              </a:rPr>
              <a:t>chain</a:t>
            </a:r>
            <a:endParaRPr sz="15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93855" y="3482216"/>
            <a:ext cx="3942715" cy="4832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 marR="5080" indent="-187325">
              <a:lnSpc>
                <a:spcPct val="100000"/>
              </a:lnSpc>
              <a:spcBef>
                <a:spcPts val="100"/>
              </a:spcBef>
              <a:buChar char="•"/>
              <a:tabLst>
                <a:tab pos="199390" algn="l"/>
                <a:tab pos="211454" algn="l"/>
              </a:tabLst>
            </a:pPr>
            <a:r>
              <a:rPr dirty="0" sz="1500">
                <a:solidFill>
                  <a:srgbClr val="60A5D9"/>
                </a:solidFill>
                <a:latin typeface="Arial"/>
                <a:cs typeface="Arial"/>
              </a:rPr>
              <a:t>	</a:t>
            </a:r>
            <a:r>
              <a:rPr dirty="0" sz="1500" b="1">
                <a:solidFill>
                  <a:srgbClr val="282828"/>
                </a:solidFill>
                <a:latin typeface="Arial"/>
                <a:cs typeface="Arial"/>
              </a:rPr>
              <a:t>Solution:</a:t>
            </a:r>
            <a:r>
              <a:rPr dirty="0" sz="1500" spc="-7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Uses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a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knowledge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graph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to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model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and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analyze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their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complex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products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993855" y="4168015"/>
            <a:ext cx="956944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1454" indent="-198755">
              <a:lnSpc>
                <a:spcPct val="100000"/>
              </a:lnSpc>
              <a:spcBef>
                <a:spcPts val="100"/>
              </a:spcBef>
              <a:buClr>
                <a:srgbClr val="60A5D9"/>
              </a:buClr>
              <a:buFont typeface="Arial"/>
              <a:buChar char="•"/>
              <a:tabLst>
                <a:tab pos="211454" algn="l"/>
              </a:tabLst>
            </a:pPr>
            <a:r>
              <a:rPr dirty="0" sz="1500" spc="-20" b="1">
                <a:solidFill>
                  <a:srgbClr val="282828"/>
                </a:solidFill>
                <a:latin typeface="Arial"/>
                <a:cs typeface="Arial"/>
              </a:rPr>
              <a:t>Results: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80051" y="4396615"/>
            <a:ext cx="3007360" cy="2122805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66395" marR="69850" indent="-354330">
              <a:lnSpc>
                <a:spcPts val="1700"/>
              </a:lnSpc>
              <a:spcBef>
                <a:spcPts val="240"/>
              </a:spcBef>
              <a:buChar char="○"/>
              <a:tabLst>
                <a:tab pos="366395" algn="l"/>
              </a:tabLst>
            </a:pP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Quickly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pinpoint</a:t>
            </a:r>
            <a:r>
              <a:rPr dirty="0" sz="1500" spc="-4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root</a:t>
            </a:r>
            <a:r>
              <a:rPr dirty="0" sz="1500" spc="-4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causes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of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problems</a:t>
            </a:r>
            <a:endParaRPr sz="1500">
              <a:latin typeface="Arial"/>
              <a:cs typeface="Arial"/>
            </a:endParaRPr>
          </a:p>
          <a:p>
            <a:pPr marL="366395" marR="45720" indent="-354330">
              <a:lnSpc>
                <a:spcPct val="100000"/>
              </a:lnSpc>
              <a:spcBef>
                <a:spcPts val="1070"/>
              </a:spcBef>
              <a:buChar char="○"/>
              <a:tabLst>
                <a:tab pos="366395" algn="l"/>
              </a:tabLst>
            </a:pP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Reduced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query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times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from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018BFF"/>
                </a:solidFill>
                <a:latin typeface="Arial"/>
                <a:cs typeface="Arial"/>
              </a:rPr>
              <a:t>two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minutes</a:t>
            </a:r>
            <a:r>
              <a:rPr dirty="0" sz="1500" spc="-3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to</a:t>
            </a:r>
            <a:r>
              <a:rPr dirty="0" sz="1500" spc="-2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seconds</a:t>
            </a:r>
            <a:endParaRPr sz="1500">
              <a:latin typeface="Arial"/>
              <a:cs typeface="Arial"/>
            </a:endParaRPr>
          </a:p>
          <a:p>
            <a:pPr marL="366395" marR="5080" indent="-354330">
              <a:lnSpc>
                <a:spcPct val="100000"/>
              </a:lnSpc>
              <a:spcBef>
                <a:spcPts val="1100"/>
              </a:spcBef>
              <a:buFont typeface="Arial"/>
              <a:buChar char="○"/>
              <a:tabLst>
                <a:tab pos="366395" algn="l"/>
              </a:tabLst>
            </a:pPr>
            <a:r>
              <a:rPr dirty="0" sz="1500" spc="-25" b="1">
                <a:solidFill>
                  <a:srgbClr val="018BFF"/>
                </a:solidFill>
                <a:latin typeface="Arial"/>
                <a:cs typeface="Arial"/>
              </a:rPr>
              <a:t>Anti-</a:t>
            </a:r>
            <a:r>
              <a:rPr dirty="0" sz="1500" spc="-20" b="1">
                <a:solidFill>
                  <a:srgbClr val="018BFF"/>
                </a:solidFill>
                <a:latin typeface="Arial"/>
                <a:cs typeface="Arial"/>
              </a:rPr>
              <a:t>recommendation</a:t>
            </a:r>
            <a:r>
              <a:rPr dirty="0" sz="1500" spc="7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using </a:t>
            </a:r>
            <a:r>
              <a:rPr dirty="0" sz="1500">
                <a:latin typeface="Arial"/>
                <a:cs typeface="Arial"/>
              </a:rPr>
              <a:t>graph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algorithms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to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identify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and </a:t>
            </a:r>
            <a:r>
              <a:rPr dirty="0" sz="1500" spc="-10">
                <a:latin typeface="Arial"/>
                <a:cs typeface="Arial"/>
              </a:rPr>
              <a:t>eliminate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bad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combinations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of </a:t>
            </a:r>
            <a:r>
              <a:rPr dirty="0" sz="1500" spc="-10">
                <a:latin typeface="Arial"/>
                <a:cs typeface="Arial"/>
              </a:rPr>
              <a:t>components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942525" y="1448115"/>
            <a:ext cx="4216400" cy="7327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/>
              <a:t>Boston</a:t>
            </a:r>
            <a:r>
              <a:rPr dirty="0" sz="2300" spc="175"/>
              <a:t> </a:t>
            </a:r>
            <a:r>
              <a:rPr dirty="0" sz="2300" spc="-10"/>
              <a:t>Scientific</a:t>
            </a:r>
            <a:endParaRPr sz="2300"/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2300"/>
              <a:t>Finding</a:t>
            </a:r>
            <a:r>
              <a:rPr dirty="0" sz="2300" spc="200"/>
              <a:t> </a:t>
            </a:r>
            <a:r>
              <a:rPr dirty="0" sz="2300"/>
              <a:t>At-Fault</a:t>
            </a:r>
            <a:r>
              <a:rPr dirty="0" sz="2300" spc="185"/>
              <a:t> </a:t>
            </a:r>
            <a:r>
              <a:rPr dirty="0" sz="2300" spc="-10"/>
              <a:t>Components</a:t>
            </a:r>
            <a:endParaRPr sz="2300"/>
          </a:p>
        </p:txBody>
      </p:sp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5940" y="850905"/>
            <a:ext cx="4791456" cy="58547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47835" y="1122177"/>
            <a:ext cx="1374648" cy="603503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02277" y="6390576"/>
            <a:ext cx="16014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60289" y="6387011"/>
            <a:ext cx="15557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35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93855" y="2580007"/>
            <a:ext cx="3861435" cy="33420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9390" marR="106045" indent="-187325">
              <a:lnSpc>
                <a:spcPct val="100000"/>
              </a:lnSpc>
              <a:spcBef>
                <a:spcPts val="100"/>
              </a:spcBef>
              <a:buChar char="•"/>
              <a:tabLst>
                <a:tab pos="199390" algn="l"/>
                <a:tab pos="211454" algn="l"/>
              </a:tabLst>
            </a:pPr>
            <a:r>
              <a:rPr dirty="0" sz="1500">
                <a:solidFill>
                  <a:srgbClr val="60A5D9"/>
                </a:solidFill>
                <a:latin typeface="Arial"/>
                <a:cs typeface="Arial"/>
              </a:rPr>
              <a:t>	</a:t>
            </a:r>
            <a:r>
              <a:rPr dirty="0" sz="1500" spc="-10" b="1">
                <a:solidFill>
                  <a:srgbClr val="282828"/>
                </a:solidFill>
                <a:latin typeface="Arial"/>
                <a:cs typeface="Arial"/>
              </a:rPr>
              <a:t>Challenge:</a:t>
            </a:r>
            <a:r>
              <a:rPr dirty="0" sz="1500" spc="-5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Graphs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are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an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important predictive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signal,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but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can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be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challenging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to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incorporate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into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production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ML</a:t>
            </a:r>
            <a:endParaRPr sz="1500">
              <a:latin typeface="Arial"/>
              <a:cs typeface="Arial"/>
            </a:endParaRPr>
          </a:p>
          <a:p>
            <a:pPr marL="199390" marR="36830" indent="-187325">
              <a:lnSpc>
                <a:spcPct val="100000"/>
              </a:lnSpc>
              <a:spcBef>
                <a:spcPts val="1705"/>
              </a:spcBef>
              <a:buChar char="•"/>
              <a:tabLst>
                <a:tab pos="199390" algn="l"/>
                <a:tab pos="211454" algn="l"/>
              </a:tabLst>
            </a:pPr>
            <a:r>
              <a:rPr dirty="0" sz="1500">
                <a:solidFill>
                  <a:srgbClr val="60A5D9"/>
                </a:solidFill>
                <a:latin typeface="Arial"/>
                <a:cs typeface="Arial"/>
              </a:rPr>
              <a:t>	</a:t>
            </a:r>
            <a:r>
              <a:rPr dirty="0" sz="1500" b="1">
                <a:solidFill>
                  <a:srgbClr val="282828"/>
                </a:solidFill>
                <a:latin typeface="Arial"/>
                <a:cs typeface="Arial"/>
              </a:rPr>
              <a:t>Solution:</a:t>
            </a:r>
            <a:r>
              <a:rPr dirty="0" sz="1500" spc="-7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Use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Neo4j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for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repeatable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feature engineering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and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incorporate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results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82828"/>
                </a:solidFill>
                <a:latin typeface="Arial"/>
                <a:cs typeface="Arial"/>
              </a:rPr>
              <a:t>into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autoML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pipelines.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60A5D9"/>
              </a:buClr>
              <a:buFont typeface="Arial"/>
              <a:buChar char="•"/>
            </a:pPr>
            <a:endParaRPr sz="1500">
              <a:latin typeface="Arial"/>
              <a:cs typeface="Arial"/>
            </a:endParaRPr>
          </a:p>
          <a:p>
            <a:pPr marL="211454" indent="-198755">
              <a:lnSpc>
                <a:spcPts val="1750"/>
              </a:lnSpc>
              <a:buClr>
                <a:srgbClr val="60A5D9"/>
              </a:buClr>
              <a:buFont typeface="Arial"/>
              <a:buChar char="•"/>
              <a:tabLst>
                <a:tab pos="211454" algn="l"/>
              </a:tabLst>
            </a:pPr>
            <a:r>
              <a:rPr dirty="0" sz="1500" spc="-10" b="1">
                <a:solidFill>
                  <a:srgbClr val="282828"/>
                </a:solidFill>
                <a:latin typeface="Arial"/>
                <a:cs typeface="Arial"/>
              </a:rPr>
              <a:t>Results:</a:t>
            </a:r>
            <a:endParaRPr sz="1500">
              <a:latin typeface="Arial"/>
              <a:cs typeface="Arial"/>
            </a:endParaRPr>
          </a:p>
          <a:p>
            <a:pPr lvl="1" marL="1052195" marR="172720" indent="-354330">
              <a:lnSpc>
                <a:spcPts val="1800"/>
              </a:lnSpc>
              <a:spcBef>
                <a:spcPts val="10"/>
              </a:spcBef>
              <a:buClr>
                <a:srgbClr val="018BFF"/>
              </a:buClr>
              <a:buChar char="○"/>
              <a:tabLst>
                <a:tab pos="1052195" algn="l"/>
              </a:tabLst>
            </a:pP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Identified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millions</a:t>
            </a:r>
            <a:r>
              <a:rPr dirty="0" sz="1500" spc="-5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of</a:t>
            </a:r>
            <a:r>
              <a:rPr dirty="0" sz="1500" spc="-5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dollars</a:t>
            </a:r>
            <a:r>
              <a:rPr dirty="0" sz="1500" spc="-6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in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previously</a:t>
            </a:r>
            <a:r>
              <a:rPr dirty="0" sz="1500" spc="-8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undetectable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82828"/>
                </a:solidFill>
                <a:latin typeface="Arial"/>
                <a:cs typeface="Arial"/>
              </a:rPr>
              <a:t>fraud</a:t>
            </a:r>
            <a:endParaRPr sz="1500">
              <a:latin typeface="Arial"/>
              <a:cs typeface="Arial"/>
            </a:endParaRPr>
          </a:p>
          <a:p>
            <a:pPr lvl="1" marL="1052195" marR="5080" indent="-354330">
              <a:lnSpc>
                <a:spcPct val="100000"/>
              </a:lnSpc>
              <a:spcBef>
                <a:spcPts val="1045"/>
              </a:spcBef>
              <a:buChar char="○"/>
              <a:tabLst>
                <a:tab pos="1052195" algn="l"/>
              </a:tabLst>
            </a:pP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Enriched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graph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with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the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results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of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investigations</a:t>
            </a:r>
            <a:r>
              <a:rPr dirty="0" sz="1500" spc="-4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to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improve</a:t>
            </a:r>
            <a:r>
              <a:rPr dirty="0" sz="1500" spc="-4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future predictions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942525" y="1448115"/>
            <a:ext cx="2114550" cy="732790"/>
          </a:xfrm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55"/>
              </a:spcBef>
            </a:pPr>
            <a:r>
              <a:rPr dirty="0" sz="2300"/>
              <a:t>Top</a:t>
            </a:r>
            <a:r>
              <a:rPr dirty="0" sz="2300" spc="85"/>
              <a:t> </a:t>
            </a:r>
            <a:r>
              <a:rPr dirty="0" sz="2300"/>
              <a:t>10</a:t>
            </a:r>
            <a:r>
              <a:rPr dirty="0" sz="2300" spc="85"/>
              <a:t> </a:t>
            </a:r>
            <a:r>
              <a:rPr dirty="0" sz="2300" spc="-20"/>
              <a:t>Bank </a:t>
            </a:r>
            <a:r>
              <a:rPr dirty="0" sz="2300"/>
              <a:t>Fighting</a:t>
            </a:r>
            <a:r>
              <a:rPr dirty="0" sz="2300" spc="210"/>
              <a:t> </a:t>
            </a:r>
            <a:r>
              <a:rPr dirty="0" sz="2300" spc="-10"/>
              <a:t>Fraud</a:t>
            </a:r>
            <a:endParaRPr sz="2300"/>
          </a:p>
        </p:txBody>
      </p: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644" y="850905"/>
            <a:ext cx="4873752" cy="5854700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03156" y="850905"/>
            <a:ext cx="1036320" cy="104241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14977" y="6412907"/>
            <a:ext cx="1576070" cy="11366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85"/>
              </a:lnSpc>
            </a:pPr>
            <a:r>
              <a:rPr dirty="0" sz="800">
                <a:latin typeface="Arial"/>
                <a:cs typeface="Arial"/>
              </a:rPr>
              <a:t>Neo4j,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Inc.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All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rights</a:t>
            </a:r>
            <a:r>
              <a:rPr dirty="0" sz="800" spc="-2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reserved</a:t>
            </a:r>
            <a:r>
              <a:rPr dirty="0" sz="800" spc="-3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2021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139728" y="850876"/>
            <a:ext cx="396875" cy="5854700"/>
          </a:xfrm>
          <a:custGeom>
            <a:avLst/>
            <a:gdLst/>
            <a:ahLst/>
            <a:cxnLst/>
            <a:rect l="l" t="t" r="r" b="b"/>
            <a:pathLst>
              <a:path w="396875" h="5854700">
                <a:moveTo>
                  <a:pt x="396532" y="0"/>
                </a:moveTo>
                <a:lnTo>
                  <a:pt x="0" y="0"/>
                </a:lnTo>
                <a:lnTo>
                  <a:pt x="0" y="5854700"/>
                </a:lnTo>
                <a:lnTo>
                  <a:pt x="396532" y="5854700"/>
                </a:lnTo>
                <a:lnTo>
                  <a:pt x="396532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6588" y="850905"/>
            <a:ext cx="2532888" cy="138988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6995" y="6340353"/>
            <a:ext cx="627888" cy="237744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260289" y="6387011"/>
            <a:ext cx="15557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Arial"/>
                <a:cs typeface="Arial"/>
              </a:rPr>
              <a:t>36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484123" y="850905"/>
            <a:ext cx="4859020" cy="5854700"/>
            <a:chOff x="484123" y="850905"/>
            <a:chExt cx="4859020" cy="5854700"/>
          </a:xfrm>
        </p:grpSpPr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4123" y="850905"/>
              <a:ext cx="4858512" cy="585470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291" y="4310385"/>
              <a:ext cx="4346448" cy="227076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5667" y="4331721"/>
              <a:ext cx="4267200" cy="2081784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752840" y="4356725"/>
              <a:ext cx="4212590" cy="2136140"/>
            </a:xfrm>
            <a:custGeom>
              <a:avLst/>
              <a:gdLst/>
              <a:ahLst/>
              <a:cxnLst/>
              <a:rect l="l" t="t" r="r" b="b"/>
              <a:pathLst>
                <a:path w="4212590" h="2136140">
                  <a:moveTo>
                    <a:pt x="4212390" y="0"/>
                  </a:moveTo>
                  <a:lnTo>
                    <a:pt x="0" y="0"/>
                  </a:lnTo>
                  <a:lnTo>
                    <a:pt x="0" y="2135966"/>
                  </a:lnTo>
                  <a:lnTo>
                    <a:pt x="4212390" y="2135966"/>
                  </a:lnTo>
                  <a:lnTo>
                    <a:pt x="4212390" y="0"/>
                  </a:lnTo>
                  <a:close/>
                </a:path>
              </a:pathLst>
            </a:custGeom>
            <a:solidFill>
              <a:srgbClr val="000000">
                <a:alpha val="4783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713805" y="1359722"/>
            <a:ext cx="2414270" cy="7626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300" spc="-10"/>
              <a:t>AstraZeneca</a:t>
            </a:r>
            <a:endParaRPr sz="2300"/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2500"/>
              <a:t>Patient</a:t>
            </a:r>
            <a:r>
              <a:rPr dirty="0" sz="2500" spc="-15"/>
              <a:t> </a:t>
            </a:r>
            <a:r>
              <a:rPr dirty="0" sz="2500" spc="-10"/>
              <a:t>Journey</a:t>
            </a:r>
            <a:endParaRPr sz="2500"/>
          </a:p>
        </p:txBody>
      </p:sp>
      <p:sp>
        <p:nvSpPr>
          <p:cNvPr id="13" name="object 13" descr=""/>
          <p:cNvSpPr txBox="1"/>
          <p:nvPr/>
        </p:nvSpPr>
        <p:spPr>
          <a:xfrm>
            <a:off x="752840" y="4356725"/>
            <a:ext cx="4212590" cy="213614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103505" marR="407670">
              <a:lnSpc>
                <a:spcPct val="96500"/>
              </a:lnSpc>
              <a:spcBef>
                <a:spcPts val="815"/>
              </a:spcBef>
            </a:pP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“We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dirty="0" sz="19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r>
              <a:rPr dirty="0" sz="19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patients</a:t>
            </a:r>
            <a:r>
              <a:rPr dirty="0" sz="19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had</a:t>
            </a:r>
            <a:r>
              <a:rPr dirty="0" sz="190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journey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types</a:t>
            </a:r>
            <a:r>
              <a:rPr dirty="0" sz="19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9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patterns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then</a:t>
            </a:r>
            <a:r>
              <a:rPr dirty="0" sz="190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others</a:t>
            </a:r>
            <a:r>
              <a:rPr dirty="0" sz="19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dirty="0" sz="19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dirty="0" sz="19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close</a:t>
            </a:r>
            <a:r>
              <a:rPr dirty="0" sz="19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9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similar.”</a:t>
            </a:r>
            <a:endParaRPr sz="1900">
              <a:latin typeface="Arial"/>
              <a:cs typeface="Arial"/>
            </a:endParaRPr>
          </a:p>
          <a:p>
            <a:pPr marL="103505">
              <a:lnSpc>
                <a:spcPts val="1760"/>
              </a:lnSpc>
              <a:spcBef>
                <a:spcPts val="730"/>
              </a:spcBef>
            </a:pP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J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oseph</a:t>
            </a:r>
            <a:r>
              <a:rPr dirty="0" sz="15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Arial"/>
                <a:cs typeface="Arial"/>
              </a:rPr>
              <a:t>Roemer</a:t>
            </a:r>
            <a:endParaRPr sz="1500">
              <a:latin typeface="Arial"/>
              <a:cs typeface="Arial"/>
            </a:endParaRPr>
          </a:p>
          <a:p>
            <a:pPr marL="103505" marR="374015">
              <a:lnSpc>
                <a:spcPct val="76900"/>
              </a:lnSpc>
              <a:spcBef>
                <a:spcPts val="200"/>
              </a:spcBef>
            </a:pPr>
            <a:r>
              <a:rPr dirty="0" sz="1300" spc="-25">
                <a:solidFill>
                  <a:srgbClr val="FFFFFF"/>
                </a:solidFill>
                <a:latin typeface="Arial"/>
                <a:cs typeface="Arial"/>
              </a:rPr>
              <a:t>Global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 Commercial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3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Arial"/>
                <a:cs typeface="Arial"/>
              </a:rPr>
              <a:t>Insight</a:t>
            </a:r>
            <a:r>
              <a:rPr dirty="0" sz="13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3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Arial"/>
                <a:cs typeface="Arial"/>
              </a:rPr>
              <a:t>Analytics</a:t>
            </a:r>
            <a:r>
              <a:rPr dirty="0" sz="13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Sr.</a:t>
            </a:r>
            <a:r>
              <a:rPr dirty="0" sz="13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Director AstraZeneca</a:t>
            </a:r>
            <a:endParaRPr sz="13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97238" y="2455039"/>
            <a:ext cx="3994150" cy="1842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6395" marR="153670" indent="-354330">
              <a:lnSpc>
                <a:spcPct val="100000"/>
              </a:lnSpc>
              <a:spcBef>
                <a:spcPts val="100"/>
              </a:spcBef>
              <a:buClr>
                <a:srgbClr val="60A5D9"/>
              </a:buClr>
              <a:buFont typeface="Arial"/>
              <a:buChar char="●"/>
              <a:tabLst>
                <a:tab pos="366395" algn="l"/>
              </a:tabLst>
            </a:pPr>
            <a:r>
              <a:rPr dirty="0" sz="1500" spc="-10" b="1">
                <a:solidFill>
                  <a:srgbClr val="282828"/>
                </a:solidFill>
                <a:latin typeface="Arial"/>
                <a:cs typeface="Arial"/>
              </a:rPr>
              <a:t>Challenge:</a:t>
            </a:r>
            <a:r>
              <a:rPr dirty="0" sz="1500" spc="-50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How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to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best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intervene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sooner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for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complex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diseases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that</a:t>
            </a:r>
            <a:r>
              <a:rPr dirty="0" sz="1500" spc="-4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develop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282828"/>
                </a:solidFill>
                <a:latin typeface="Arial"/>
                <a:cs typeface="Arial"/>
              </a:rPr>
              <a:t>over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years</a:t>
            </a:r>
            <a:endParaRPr sz="1500">
              <a:latin typeface="Arial"/>
              <a:cs typeface="Arial"/>
            </a:endParaRPr>
          </a:p>
          <a:p>
            <a:pPr marL="366395" marR="5080" indent="-354330">
              <a:lnSpc>
                <a:spcPct val="100000"/>
              </a:lnSpc>
              <a:spcBef>
                <a:spcPts val="1705"/>
              </a:spcBef>
              <a:buClr>
                <a:srgbClr val="60A5D9"/>
              </a:buClr>
              <a:buFont typeface="Arial"/>
              <a:buChar char="●"/>
              <a:tabLst>
                <a:tab pos="366395" algn="l"/>
              </a:tabLst>
            </a:pPr>
            <a:r>
              <a:rPr dirty="0" sz="1500" b="1">
                <a:solidFill>
                  <a:srgbClr val="282828"/>
                </a:solidFill>
                <a:latin typeface="Arial"/>
                <a:cs typeface="Arial"/>
              </a:rPr>
              <a:t>Solution:</a:t>
            </a:r>
            <a:r>
              <a:rPr dirty="0" sz="1500" spc="-65" b="1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Neo4j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knowledge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graph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of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3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yrs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of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visits,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tests,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&amp;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diagnosis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with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10’s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billions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of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records.</a:t>
            </a:r>
            <a:r>
              <a:rPr dirty="0" sz="1500" spc="-5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Using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graph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algorithms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and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machine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learning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together.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97238" y="4488055"/>
            <a:ext cx="112395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6395" indent="-353695">
              <a:lnSpc>
                <a:spcPct val="100000"/>
              </a:lnSpc>
              <a:spcBef>
                <a:spcPts val="100"/>
              </a:spcBef>
              <a:buClr>
                <a:srgbClr val="60A5D9"/>
              </a:buClr>
              <a:buFont typeface="Arial"/>
              <a:buChar char="●"/>
              <a:tabLst>
                <a:tab pos="366395" algn="l"/>
              </a:tabLst>
            </a:pPr>
            <a:r>
              <a:rPr dirty="0" sz="1500" spc="-10" b="1">
                <a:solidFill>
                  <a:srgbClr val="282828"/>
                </a:solidFill>
                <a:latin typeface="Arial"/>
                <a:cs typeface="Arial"/>
              </a:rPr>
              <a:t>Results:</a:t>
            </a:r>
            <a:endParaRPr sz="150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317303" y="4716655"/>
            <a:ext cx="3389629" cy="1894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6395" marR="5080" indent="-354330">
              <a:lnSpc>
                <a:spcPct val="100000"/>
              </a:lnSpc>
              <a:spcBef>
                <a:spcPts val="100"/>
              </a:spcBef>
              <a:buClr>
                <a:srgbClr val="60A5D9"/>
              </a:buClr>
              <a:buFont typeface="Arial"/>
              <a:buChar char="○"/>
              <a:tabLst>
                <a:tab pos="366395" algn="l"/>
              </a:tabLst>
            </a:pP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Identified</a:t>
            </a:r>
            <a:r>
              <a:rPr dirty="0" sz="1500" spc="-9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journey</a:t>
            </a:r>
            <a:r>
              <a:rPr dirty="0" sz="1500" spc="-9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archetypes</a:t>
            </a:r>
            <a:r>
              <a:rPr dirty="0" sz="1500" spc="-9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25" b="1">
                <a:solidFill>
                  <a:srgbClr val="018BFF"/>
                </a:solidFill>
                <a:latin typeface="Arial"/>
                <a:cs typeface="Arial"/>
              </a:rPr>
              <a:t>and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patterns</a:t>
            </a:r>
            <a:r>
              <a:rPr dirty="0" sz="1500" spc="-7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using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graph</a:t>
            </a:r>
            <a:r>
              <a:rPr dirty="0" sz="1500" spc="-7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feature engineering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as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input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to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ML</a:t>
            </a:r>
            <a:endParaRPr sz="1500">
              <a:latin typeface="Arial"/>
              <a:cs typeface="Arial"/>
            </a:endParaRPr>
          </a:p>
          <a:p>
            <a:pPr marL="366395" marR="65405" indent="-354330">
              <a:lnSpc>
                <a:spcPct val="100000"/>
              </a:lnSpc>
              <a:spcBef>
                <a:spcPts val="1105"/>
              </a:spcBef>
              <a:buClr>
                <a:srgbClr val="60A5D9"/>
              </a:buClr>
              <a:buChar char="○"/>
              <a:tabLst>
                <a:tab pos="366395" algn="l"/>
              </a:tabLst>
            </a:pP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Revealed</a:t>
            </a:r>
            <a:r>
              <a:rPr dirty="0" sz="1500" spc="-5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journey</a:t>
            </a:r>
            <a:r>
              <a:rPr dirty="0" sz="1500" spc="-6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similarities</a:t>
            </a:r>
            <a:r>
              <a:rPr dirty="0" sz="1500" spc="-5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20" b="1">
                <a:solidFill>
                  <a:srgbClr val="018BFF"/>
                </a:solidFill>
                <a:latin typeface="Arial"/>
                <a:cs typeface="Arial"/>
              </a:rPr>
              <a:t>over 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time</a:t>
            </a:r>
            <a:r>
              <a:rPr dirty="0" sz="1500" spc="-7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with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community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detection</a:t>
            </a:r>
            <a:endParaRPr sz="1500">
              <a:latin typeface="Arial"/>
              <a:cs typeface="Arial"/>
            </a:endParaRPr>
          </a:p>
          <a:p>
            <a:pPr marL="366395" marR="95885" indent="-354330">
              <a:lnSpc>
                <a:spcPts val="1700"/>
              </a:lnSpc>
              <a:spcBef>
                <a:spcPts val="1245"/>
              </a:spcBef>
              <a:buClr>
                <a:srgbClr val="282828"/>
              </a:buClr>
              <a:buFont typeface="Arial"/>
              <a:buChar char="○"/>
              <a:tabLst>
                <a:tab pos="366395" algn="l"/>
              </a:tabLst>
            </a:pP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Found</a:t>
            </a:r>
            <a:r>
              <a:rPr dirty="0" sz="1500" spc="-6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influential</a:t>
            </a:r>
            <a:r>
              <a:rPr dirty="0" sz="1500" spc="-6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10" b="1">
                <a:solidFill>
                  <a:srgbClr val="018BFF"/>
                </a:solidFill>
                <a:latin typeface="Arial"/>
                <a:cs typeface="Arial"/>
              </a:rPr>
              <a:t>touch-</a:t>
            </a:r>
            <a:r>
              <a:rPr dirty="0" sz="1500" b="1">
                <a:solidFill>
                  <a:srgbClr val="018BFF"/>
                </a:solidFill>
                <a:latin typeface="Arial"/>
                <a:cs typeface="Arial"/>
              </a:rPr>
              <a:t>points</a:t>
            </a:r>
            <a:r>
              <a:rPr dirty="0" sz="1500" spc="-6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282828"/>
                </a:solidFill>
                <a:latin typeface="Arial"/>
                <a:cs typeface="Arial"/>
              </a:rPr>
              <a:t>in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the</a:t>
            </a:r>
            <a:r>
              <a:rPr dirty="0" sz="1500" spc="-7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journey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using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282828"/>
                </a:solidFill>
                <a:latin typeface="Arial"/>
                <a:cs typeface="Arial"/>
              </a:rPr>
              <a:t>graph</a:t>
            </a:r>
            <a:r>
              <a:rPr dirty="0" sz="1500" spc="-65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282828"/>
                </a:solidFill>
                <a:latin typeface="Arial"/>
                <a:cs typeface="Arial"/>
              </a:rPr>
              <a:t>algorithms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57564" y="1280673"/>
            <a:ext cx="1121664" cy="65227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004818" y="5350637"/>
            <a:ext cx="5536565" cy="1006475"/>
          </a:xfrm>
          <a:custGeom>
            <a:avLst/>
            <a:gdLst/>
            <a:ahLst/>
            <a:cxnLst/>
            <a:rect l="l" t="t" r="r" b="b"/>
            <a:pathLst>
              <a:path w="5536565" h="1006475">
                <a:moveTo>
                  <a:pt x="5536181" y="1006045"/>
                </a:moveTo>
                <a:lnTo>
                  <a:pt x="0" y="1006045"/>
                </a:lnTo>
                <a:lnTo>
                  <a:pt x="0" y="0"/>
                </a:lnTo>
                <a:lnTo>
                  <a:pt x="5536181" y="0"/>
                </a:lnTo>
              </a:path>
            </a:pathLst>
          </a:custGeom>
          <a:ln w="10841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6850551" y="4716139"/>
            <a:ext cx="321500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What’s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occurring</a:t>
            </a:r>
            <a:r>
              <a:rPr dirty="0" sz="1600" spc="-9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that’s</a:t>
            </a:r>
            <a:r>
              <a:rPr dirty="0" sz="1600" spc="-90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unusual?</a:t>
            </a:r>
            <a:endParaRPr sz="16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64336" y="5721979"/>
            <a:ext cx="289877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Arial"/>
                <a:cs typeface="Arial"/>
              </a:rPr>
              <a:t>What’s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going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happen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20" b="1">
                <a:latin typeface="Arial"/>
                <a:cs typeface="Arial"/>
              </a:rPr>
              <a:t>next?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47510" y="3338502"/>
            <a:ext cx="3697604" cy="3018155"/>
          </a:xfrm>
          <a:custGeom>
            <a:avLst/>
            <a:gdLst/>
            <a:ahLst/>
            <a:cxnLst/>
            <a:rect l="l" t="t" r="r" b="b"/>
            <a:pathLst>
              <a:path w="3697604" h="3018154">
                <a:moveTo>
                  <a:pt x="3697103" y="0"/>
                </a:moveTo>
                <a:lnTo>
                  <a:pt x="0" y="0"/>
                </a:lnTo>
                <a:lnTo>
                  <a:pt x="0" y="3018012"/>
                </a:lnTo>
                <a:lnTo>
                  <a:pt x="3697103" y="3018012"/>
                </a:lnTo>
                <a:lnTo>
                  <a:pt x="3697103" y="0"/>
                </a:lnTo>
                <a:close/>
              </a:path>
            </a:pathLst>
          </a:custGeom>
          <a:solidFill>
            <a:srgbClr val="79BF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242819" y="3743826"/>
            <a:ext cx="2745740" cy="221424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392430">
              <a:lnSpc>
                <a:spcPct val="99000"/>
              </a:lnSpc>
              <a:spcBef>
                <a:spcPts val="120"/>
              </a:spcBef>
            </a:pP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But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traditional</a:t>
            </a:r>
            <a:r>
              <a:rPr dirty="0" sz="1600" spc="5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approaches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6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make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16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impossible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6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reveal</a:t>
            </a:r>
            <a:r>
              <a:rPr dirty="0" sz="16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effectively</a:t>
            </a:r>
            <a:r>
              <a:rPr dirty="0" sz="160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dirty="0" sz="16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Arial"/>
                <a:cs typeface="Arial"/>
              </a:rPr>
              <a:t>those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connections</a:t>
            </a:r>
            <a:r>
              <a:rPr dirty="0" sz="16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16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6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sizes </a:t>
            </a:r>
            <a:r>
              <a:rPr dirty="0" sz="1600">
                <a:solidFill>
                  <a:srgbClr val="FFFFFF"/>
                </a:solidFill>
                <a:latin typeface="Arial"/>
                <a:cs typeface="Arial"/>
              </a:rPr>
              <a:t>become</a:t>
            </a:r>
            <a:r>
              <a:rPr dirty="0" sz="1600" spc="-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>
                <a:solidFill>
                  <a:srgbClr val="FFFFFF"/>
                </a:solidFill>
                <a:latin typeface="Arial"/>
                <a:cs typeface="Arial"/>
              </a:rPr>
              <a:t>large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3699"/>
              </a:lnSpc>
              <a:spcBef>
                <a:spcPts val="1825"/>
              </a:spcBef>
            </a:pP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Predictive</a:t>
            </a:r>
            <a:r>
              <a:rPr dirty="0" sz="16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signals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get</a:t>
            </a:r>
            <a:r>
              <a:rPr dirty="0" sz="16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lost</a:t>
            </a:r>
            <a:r>
              <a:rPr dirty="0" sz="16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big</a:t>
            </a:r>
            <a:r>
              <a:rPr dirty="0" sz="16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dirty="0" sz="16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00" spc="-20" b="1">
                <a:solidFill>
                  <a:srgbClr val="FFFFFF"/>
                </a:solidFill>
                <a:latin typeface="Arial"/>
                <a:cs typeface="Arial"/>
              </a:rPr>
              <a:t>noise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064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Graph</a:t>
            </a:r>
            <a:r>
              <a:rPr dirty="0" sz="2700" spc="55"/>
              <a:t> </a:t>
            </a:r>
            <a:r>
              <a:rPr dirty="0" sz="2700"/>
              <a:t>Data</a:t>
            </a:r>
            <a:r>
              <a:rPr dirty="0" sz="2700" spc="60"/>
              <a:t> </a:t>
            </a:r>
            <a:r>
              <a:rPr dirty="0" sz="2700"/>
              <a:t>Science</a:t>
            </a:r>
            <a:r>
              <a:rPr dirty="0" sz="2700" spc="60"/>
              <a:t> </a:t>
            </a:r>
            <a:r>
              <a:rPr dirty="0" sz="2700"/>
              <a:t>Answers</a:t>
            </a:r>
            <a:r>
              <a:rPr dirty="0" sz="2700" spc="65"/>
              <a:t> </a:t>
            </a:r>
            <a:r>
              <a:rPr dirty="0" sz="2700"/>
              <a:t>the</a:t>
            </a:r>
            <a:r>
              <a:rPr dirty="0" sz="2700" spc="75"/>
              <a:t> </a:t>
            </a:r>
            <a:r>
              <a:rPr dirty="0" sz="2700">
                <a:solidFill>
                  <a:srgbClr val="018BFF"/>
                </a:solidFill>
              </a:rPr>
              <a:t>BIG</a:t>
            </a:r>
            <a:r>
              <a:rPr dirty="0" sz="2700" spc="60">
                <a:solidFill>
                  <a:srgbClr val="018BFF"/>
                </a:solidFill>
              </a:rPr>
              <a:t> </a:t>
            </a:r>
            <a:r>
              <a:rPr dirty="0" sz="2700" spc="-10"/>
              <a:t>Questions</a:t>
            </a:r>
            <a:endParaRPr sz="2700"/>
          </a:p>
        </p:txBody>
      </p:sp>
      <p:grpSp>
        <p:nvGrpSpPr>
          <p:cNvPr id="8" name="object 8" descr=""/>
          <p:cNvGrpSpPr/>
          <p:nvPr/>
        </p:nvGrpSpPr>
        <p:grpSpPr>
          <a:xfrm>
            <a:off x="3391463" y="1975992"/>
            <a:ext cx="3232150" cy="4361815"/>
            <a:chOff x="3391463" y="1975992"/>
            <a:chExt cx="3232150" cy="4361815"/>
          </a:xfrm>
        </p:grpSpPr>
        <p:sp>
          <p:nvSpPr>
            <p:cNvPr id="9" name="object 9" descr=""/>
            <p:cNvSpPr/>
            <p:nvPr/>
          </p:nvSpPr>
          <p:spPr>
            <a:xfrm>
              <a:off x="4849718" y="1975992"/>
              <a:ext cx="1774189" cy="1369695"/>
            </a:xfrm>
            <a:custGeom>
              <a:avLst/>
              <a:gdLst/>
              <a:ahLst/>
              <a:cxnLst/>
              <a:rect l="l" t="t" r="r" b="b"/>
              <a:pathLst>
                <a:path w="1774190" h="1369695">
                  <a:moveTo>
                    <a:pt x="117439" y="0"/>
                  </a:moveTo>
                  <a:lnTo>
                    <a:pt x="157466" y="160191"/>
                  </a:lnTo>
                  <a:lnTo>
                    <a:pt x="69495" y="399596"/>
                  </a:lnTo>
                  <a:lnTo>
                    <a:pt x="0" y="461208"/>
                  </a:lnTo>
                  <a:lnTo>
                    <a:pt x="157466" y="607755"/>
                  </a:lnTo>
                  <a:lnTo>
                    <a:pt x="215525" y="746822"/>
                  </a:lnTo>
                  <a:lnTo>
                    <a:pt x="339121" y="839679"/>
                  </a:lnTo>
                  <a:lnTo>
                    <a:pt x="477673" y="978306"/>
                  </a:lnTo>
                  <a:lnTo>
                    <a:pt x="477673" y="1279324"/>
                  </a:lnTo>
                  <a:lnTo>
                    <a:pt x="416095" y="1369541"/>
                  </a:lnTo>
                  <a:lnTo>
                    <a:pt x="1773901" y="1369541"/>
                  </a:lnTo>
                  <a:lnTo>
                    <a:pt x="1506034" y="1072043"/>
                  </a:lnTo>
                  <a:lnTo>
                    <a:pt x="1506034" y="833518"/>
                  </a:lnTo>
                  <a:lnTo>
                    <a:pt x="1347250" y="605556"/>
                  </a:lnTo>
                  <a:lnTo>
                    <a:pt x="1095658" y="772347"/>
                  </a:lnTo>
                  <a:lnTo>
                    <a:pt x="980418" y="664966"/>
                  </a:lnTo>
                  <a:lnTo>
                    <a:pt x="841866" y="525900"/>
                  </a:lnTo>
                  <a:lnTo>
                    <a:pt x="762254" y="377151"/>
                  </a:lnTo>
                  <a:lnTo>
                    <a:pt x="523857" y="337544"/>
                  </a:lnTo>
                  <a:lnTo>
                    <a:pt x="523857" y="178675"/>
                  </a:lnTo>
                  <a:lnTo>
                    <a:pt x="305694" y="109141"/>
                  </a:lnTo>
                  <a:lnTo>
                    <a:pt x="117439" y="0"/>
                  </a:lnTo>
                  <a:close/>
                </a:path>
              </a:pathLst>
            </a:custGeom>
            <a:solidFill>
              <a:srgbClr val="A9E5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91463" y="1975992"/>
              <a:ext cx="1937385" cy="1369695"/>
            </a:xfrm>
            <a:custGeom>
              <a:avLst/>
              <a:gdLst/>
              <a:ahLst/>
              <a:cxnLst/>
              <a:rect l="l" t="t" r="r" b="b"/>
              <a:pathLst>
                <a:path w="1937385" h="1369695">
                  <a:moveTo>
                    <a:pt x="1576611" y="0"/>
                  </a:moveTo>
                  <a:lnTo>
                    <a:pt x="1358919" y="178675"/>
                  </a:lnTo>
                  <a:lnTo>
                    <a:pt x="1092413" y="352507"/>
                  </a:lnTo>
                  <a:lnTo>
                    <a:pt x="952122" y="337544"/>
                  </a:lnTo>
                  <a:lnTo>
                    <a:pt x="763897" y="337544"/>
                  </a:lnTo>
                  <a:lnTo>
                    <a:pt x="654832" y="664966"/>
                  </a:lnTo>
                  <a:lnTo>
                    <a:pt x="635922" y="740661"/>
                  </a:lnTo>
                  <a:lnTo>
                    <a:pt x="556322" y="859924"/>
                  </a:lnTo>
                  <a:lnTo>
                    <a:pt x="445936" y="893370"/>
                  </a:lnTo>
                  <a:lnTo>
                    <a:pt x="248036" y="1210670"/>
                  </a:lnTo>
                  <a:lnTo>
                    <a:pt x="0" y="1369541"/>
                  </a:lnTo>
                  <a:lnTo>
                    <a:pt x="1875221" y="1369541"/>
                  </a:lnTo>
                  <a:lnTo>
                    <a:pt x="1936790" y="1279324"/>
                  </a:lnTo>
                  <a:lnTo>
                    <a:pt x="1936790" y="1156100"/>
                  </a:lnTo>
                  <a:lnTo>
                    <a:pt x="1936790" y="978306"/>
                  </a:lnTo>
                  <a:lnTo>
                    <a:pt x="1798259" y="839679"/>
                  </a:lnTo>
                  <a:lnTo>
                    <a:pt x="1674681" y="746822"/>
                  </a:lnTo>
                  <a:lnTo>
                    <a:pt x="1616629" y="607755"/>
                  </a:lnTo>
                  <a:lnTo>
                    <a:pt x="1459189" y="461208"/>
                  </a:lnTo>
                  <a:lnTo>
                    <a:pt x="1528674" y="399596"/>
                  </a:lnTo>
                  <a:lnTo>
                    <a:pt x="1616629" y="160191"/>
                  </a:lnTo>
                  <a:lnTo>
                    <a:pt x="1576611" y="0"/>
                  </a:lnTo>
                  <a:close/>
                </a:path>
              </a:pathLst>
            </a:custGeom>
            <a:solidFill>
              <a:srgbClr val="5ED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785115" y="2476638"/>
              <a:ext cx="1188720" cy="869315"/>
            </a:xfrm>
            <a:custGeom>
              <a:avLst/>
              <a:gdLst/>
              <a:ahLst/>
              <a:cxnLst/>
              <a:rect l="l" t="t" r="r" b="b"/>
              <a:pathLst>
                <a:path w="1188720" h="869314">
                  <a:moveTo>
                    <a:pt x="712697" y="0"/>
                  </a:moveTo>
                  <a:lnTo>
                    <a:pt x="617670" y="100257"/>
                  </a:lnTo>
                  <a:lnTo>
                    <a:pt x="509446" y="184684"/>
                  </a:lnTo>
                  <a:lnTo>
                    <a:pt x="432018" y="184684"/>
                  </a:lnTo>
                  <a:lnTo>
                    <a:pt x="385824" y="377724"/>
                  </a:lnTo>
                  <a:lnTo>
                    <a:pt x="385824" y="447201"/>
                  </a:lnTo>
                  <a:lnTo>
                    <a:pt x="231847" y="539542"/>
                  </a:lnTo>
                  <a:lnTo>
                    <a:pt x="231847" y="717193"/>
                  </a:lnTo>
                  <a:lnTo>
                    <a:pt x="0" y="868898"/>
                  </a:lnTo>
                  <a:lnTo>
                    <a:pt x="1188269" y="868898"/>
                  </a:lnTo>
                  <a:lnTo>
                    <a:pt x="1065086" y="832840"/>
                  </a:lnTo>
                  <a:lnTo>
                    <a:pt x="1032092" y="713675"/>
                  </a:lnTo>
                  <a:lnTo>
                    <a:pt x="777368" y="663545"/>
                  </a:lnTo>
                  <a:lnTo>
                    <a:pt x="887792" y="516677"/>
                  </a:lnTo>
                  <a:lnTo>
                    <a:pt x="739533" y="434449"/>
                  </a:lnTo>
                  <a:lnTo>
                    <a:pt x="841159" y="293297"/>
                  </a:lnTo>
                  <a:lnTo>
                    <a:pt x="841159" y="138513"/>
                  </a:lnTo>
                  <a:lnTo>
                    <a:pt x="764170" y="92341"/>
                  </a:lnTo>
                  <a:lnTo>
                    <a:pt x="712697" y="0"/>
                  </a:lnTo>
                  <a:close/>
                </a:path>
              </a:pathLst>
            </a:custGeom>
            <a:solidFill>
              <a:srgbClr val="DDF6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276335" y="2416482"/>
              <a:ext cx="329565" cy="310515"/>
            </a:xfrm>
            <a:custGeom>
              <a:avLst/>
              <a:gdLst/>
              <a:ahLst/>
              <a:cxnLst/>
              <a:rect l="l" t="t" r="r" b="b"/>
              <a:pathLst>
                <a:path w="329564" h="310514">
                  <a:moveTo>
                    <a:pt x="83074" y="0"/>
                  </a:moveTo>
                  <a:lnTo>
                    <a:pt x="83074" y="92174"/>
                  </a:lnTo>
                  <a:lnTo>
                    <a:pt x="0" y="92174"/>
                  </a:lnTo>
                  <a:lnTo>
                    <a:pt x="24615" y="171556"/>
                  </a:lnTo>
                  <a:lnTo>
                    <a:pt x="237794" y="310036"/>
                  </a:lnTo>
                  <a:lnTo>
                    <a:pt x="296254" y="291072"/>
                  </a:lnTo>
                  <a:lnTo>
                    <a:pt x="296254" y="244325"/>
                  </a:lnTo>
                  <a:lnTo>
                    <a:pt x="329219" y="196695"/>
                  </a:lnTo>
                  <a:lnTo>
                    <a:pt x="308560" y="146418"/>
                  </a:lnTo>
                  <a:lnTo>
                    <a:pt x="258452" y="104522"/>
                  </a:lnTo>
                  <a:lnTo>
                    <a:pt x="283507" y="37486"/>
                  </a:lnTo>
                  <a:lnTo>
                    <a:pt x="150324" y="37486"/>
                  </a:lnTo>
                  <a:lnTo>
                    <a:pt x="83074" y="0"/>
                  </a:lnTo>
                  <a:close/>
                </a:path>
              </a:pathLst>
            </a:custGeom>
            <a:solidFill>
              <a:srgbClr val="5ED4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547208" y="3345974"/>
              <a:ext cx="2076450" cy="2992120"/>
            </a:xfrm>
            <a:custGeom>
              <a:avLst/>
              <a:gdLst/>
              <a:ahLst/>
              <a:cxnLst/>
              <a:rect l="l" t="t" r="r" b="b"/>
              <a:pathLst>
                <a:path w="2076450" h="2992120">
                  <a:moveTo>
                    <a:pt x="2076411" y="0"/>
                  </a:moveTo>
                  <a:lnTo>
                    <a:pt x="718673" y="0"/>
                  </a:lnTo>
                  <a:lnTo>
                    <a:pt x="517673" y="236297"/>
                  </a:lnTo>
                  <a:lnTo>
                    <a:pt x="302599" y="288221"/>
                  </a:lnTo>
                  <a:lnTo>
                    <a:pt x="332947" y="443993"/>
                  </a:lnTo>
                  <a:lnTo>
                    <a:pt x="0" y="443993"/>
                  </a:lnTo>
                  <a:lnTo>
                    <a:pt x="43982" y="688211"/>
                  </a:lnTo>
                  <a:lnTo>
                    <a:pt x="0" y="998875"/>
                  </a:lnTo>
                  <a:lnTo>
                    <a:pt x="51460" y="1087762"/>
                  </a:lnTo>
                  <a:lnTo>
                    <a:pt x="170213" y="1176648"/>
                  </a:lnTo>
                  <a:lnTo>
                    <a:pt x="229148" y="1095242"/>
                  </a:lnTo>
                  <a:lnTo>
                    <a:pt x="302599" y="865545"/>
                  </a:lnTo>
                  <a:lnTo>
                    <a:pt x="425750" y="828582"/>
                  </a:lnTo>
                  <a:lnTo>
                    <a:pt x="399801" y="598885"/>
                  </a:lnTo>
                  <a:lnTo>
                    <a:pt x="591564" y="688211"/>
                  </a:lnTo>
                  <a:lnTo>
                    <a:pt x="606517" y="865545"/>
                  </a:lnTo>
                  <a:lnTo>
                    <a:pt x="635986" y="931990"/>
                  </a:lnTo>
                  <a:lnTo>
                    <a:pt x="577049" y="1095242"/>
                  </a:lnTo>
                  <a:lnTo>
                    <a:pt x="577049" y="1176648"/>
                  </a:lnTo>
                  <a:lnTo>
                    <a:pt x="392323" y="1258054"/>
                  </a:lnTo>
                  <a:lnTo>
                    <a:pt x="392323" y="1613601"/>
                  </a:lnTo>
                  <a:lnTo>
                    <a:pt x="251579" y="1909743"/>
                  </a:lnTo>
                  <a:lnTo>
                    <a:pt x="199680" y="2183884"/>
                  </a:lnTo>
                  <a:lnTo>
                    <a:pt x="199680" y="2324695"/>
                  </a:lnTo>
                  <a:lnTo>
                    <a:pt x="192203" y="2472546"/>
                  </a:lnTo>
                  <a:lnTo>
                    <a:pt x="132826" y="2620838"/>
                  </a:lnTo>
                  <a:lnTo>
                    <a:pt x="132826" y="2724685"/>
                  </a:lnTo>
                  <a:lnTo>
                    <a:pt x="188245" y="2991785"/>
                  </a:lnTo>
                  <a:lnTo>
                    <a:pt x="309196" y="2574193"/>
                  </a:lnTo>
                  <a:lnTo>
                    <a:pt x="626750" y="2475626"/>
                  </a:lnTo>
                  <a:lnTo>
                    <a:pt x="857657" y="2069476"/>
                  </a:lnTo>
                  <a:lnTo>
                    <a:pt x="857657" y="1761453"/>
                  </a:lnTo>
                  <a:lnTo>
                    <a:pt x="1066134" y="1684887"/>
                  </a:lnTo>
                  <a:lnTo>
                    <a:pt x="1395122" y="1575318"/>
                  </a:lnTo>
                  <a:lnTo>
                    <a:pt x="1395122" y="1190730"/>
                  </a:lnTo>
                  <a:lnTo>
                    <a:pt x="1669573" y="971153"/>
                  </a:lnTo>
                  <a:lnTo>
                    <a:pt x="1669573" y="708013"/>
                  </a:lnTo>
                  <a:lnTo>
                    <a:pt x="1867054" y="598885"/>
                  </a:lnTo>
                  <a:lnTo>
                    <a:pt x="2031988" y="367427"/>
                  </a:lnTo>
                  <a:lnTo>
                    <a:pt x="2037707" y="164572"/>
                  </a:lnTo>
                  <a:lnTo>
                    <a:pt x="2076411" y="0"/>
                  </a:lnTo>
                  <a:close/>
                </a:path>
              </a:pathLst>
            </a:custGeom>
            <a:solidFill>
              <a:srgbClr val="0494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3391463" y="3345974"/>
              <a:ext cx="1875155" cy="2992120"/>
            </a:xfrm>
            <a:custGeom>
              <a:avLst/>
              <a:gdLst/>
              <a:ahLst/>
              <a:cxnLst/>
              <a:rect l="l" t="t" r="r" b="b"/>
              <a:pathLst>
                <a:path w="1875154" h="2992120">
                  <a:moveTo>
                    <a:pt x="1874738" y="0"/>
                  </a:moveTo>
                  <a:lnTo>
                    <a:pt x="0" y="0"/>
                  </a:lnTo>
                  <a:lnTo>
                    <a:pt x="378993" y="817581"/>
                  </a:lnTo>
                  <a:lnTo>
                    <a:pt x="609377" y="763017"/>
                  </a:lnTo>
                  <a:lnTo>
                    <a:pt x="609377" y="1015156"/>
                  </a:lnTo>
                  <a:lnTo>
                    <a:pt x="821297" y="1704687"/>
                  </a:lnTo>
                  <a:lnTo>
                    <a:pt x="833168" y="1986749"/>
                  </a:lnTo>
                  <a:lnTo>
                    <a:pt x="1009474" y="2069476"/>
                  </a:lnTo>
                  <a:lnTo>
                    <a:pt x="1037173" y="2420622"/>
                  </a:lnTo>
                  <a:lnTo>
                    <a:pt x="1106641" y="2684202"/>
                  </a:lnTo>
                  <a:lnTo>
                    <a:pt x="1344500" y="2991785"/>
                  </a:lnTo>
                  <a:lnTo>
                    <a:pt x="1289102" y="2724685"/>
                  </a:lnTo>
                  <a:lnTo>
                    <a:pt x="1289102" y="2620838"/>
                  </a:lnTo>
                  <a:lnTo>
                    <a:pt x="1348458" y="2472546"/>
                  </a:lnTo>
                  <a:lnTo>
                    <a:pt x="1355932" y="2324695"/>
                  </a:lnTo>
                  <a:lnTo>
                    <a:pt x="1355932" y="2183884"/>
                  </a:lnTo>
                  <a:lnTo>
                    <a:pt x="1407812" y="1909743"/>
                  </a:lnTo>
                  <a:lnTo>
                    <a:pt x="1548505" y="1613601"/>
                  </a:lnTo>
                  <a:lnTo>
                    <a:pt x="1548505" y="1258054"/>
                  </a:lnTo>
                  <a:lnTo>
                    <a:pt x="1733166" y="1176648"/>
                  </a:lnTo>
                  <a:lnTo>
                    <a:pt x="1733166" y="1095242"/>
                  </a:lnTo>
                  <a:lnTo>
                    <a:pt x="1792081" y="931990"/>
                  </a:lnTo>
                  <a:lnTo>
                    <a:pt x="1762624" y="865545"/>
                  </a:lnTo>
                  <a:lnTo>
                    <a:pt x="1747674" y="688211"/>
                  </a:lnTo>
                  <a:lnTo>
                    <a:pt x="1555979" y="598885"/>
                  </a:lnTo>
                  <a:lnTo>
                    <a:pt x="1581920" y="828582"/>
                  </a:lnTo>
                  <a:lnTo>
                    <a:pt x="1458813" y="865545"/>
                  </a:lnTo>
                  <a:lnTo>
                    <a:pt x="1385389" y="1095242"/>
                  </a:lnTo>
                  <a:lnTo>
                    <a:pt x="1326474" y="1176648"/>
                  </a:lnTo>
                  <a:lnTo>
                    <a:pt x="1207764" y="1087762"/>
                  </a:lnTo>
                  <a:lnTo>
                    <a:pt x="1156323" y="998875"/>
                  </a:lnTo>
                  <a:lnTo>
                    <a:pt x="1200289" y="688211"/>
                  </a:lnTo>
                  <a:lnTo>
                    <a:pt x="1156323" y="443993"/>
                  </a:lnTo>
                  <a:lnTo>
                    <a:pt x="1489151" y="443993"/>
                  </a:lnTo>
                  <a:lnTo>
                    <a:pt x="1458813" y="288221"/>
                  </a:lnTo>
                  <a:lnTo>
                    <a:pt x="1673810" y="236297"/>
                  </a:lnTo>
                  <a:lnTo>
                    <a:pt x="1874738" y="0"/>
                  </a:lnTo>
                  <a:close/>
                </a:path>
              </a:pathLst>
            </a:custGeom>
            <a:solidFill>
              <a:srgbClr val="0071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3785108" y="3345979"/>
              <a:ext cx="2204720" cy="1718945"/>
            </a:xfrm>
            <a:custGeom>
              <a:avLst/>
              <a:gdLst/>
              <a:ahLst/>
              <a:cxnLst/>
              <a:rect l="l" t="t" r="r" b="b"/>
              <a:pathLst>
                <a:path w="2204720" h="1718945">
                  <a:moveTo>
                    <a:pt x="1188275" y="0"/>
                  </a:moveTo>
                  <a:lnTo>
                    <a:pt x="0" y="0"/>
                  </a:lnTo>
                  <a:lnTo>
                    <a:pt x="347548" y="213804"/>
                  </a:lnTo>
                  <a:lnTo>
                    <a:pt x="243725" y="213804"/>
                  </a:lnTo>
                  <a:lnTo>
                    <a:pt x="243725" y="517804"/>
                  </a:lnTo>
                  <a:lnTo>
                    <a:pt x="340067" y="680580"/>
                  </a:lnTo>
                  <a:lnTo>
                    <a:pt x="340067" y="872832"/>
                  </a:lnTo>
                  <a:lnTo>
                    <a:pt x="543318" y="1183868"/>
                  </a:lnTo>
                  <a:lnTo>
                    <a:pt x="594360" y="1309687"/>
                  </a:lnTo>
                  <a:lnTo>
                    <a:pt x="495808" y="1495336"/>
                  </a:lnTo>
                  <a:lnTo>
                    <a:pt x="543318" y="1657680"/>
                  </a:lnTo>
                  <a:lnTo>
                    <a:pt x="712698" y="1718830"/>
                  </a:lnTo>
                  <a:lnTo>
                    <a:pt x="712698" y="1442986"/>
                  </a:lnTo>
                  <a:lnTo>
                    <a:pt x="762406" y="1242822"/>
                  </a:lnTo>
                  <a:lnTo>
                    <a:pt x="651103" y="983691"/>
                  </a:lnTo>
                  <a:lnTo>
                    <a:pt x="712698" y="711809"/>
                  </a:lnTo>
                  <a:lnTo>
                    <a:pt x="594360" y="465886"/>
                  </a:lnTo>
                  <a:lnTo>
                    <a:pt x="712698" y="347548"/>
                  </a:lnTo>
                  <a:lnTo>
                    <a:pt x="927392" y="301790"/>
                  </a:lnTo>
                  <a:lnTo>
                    <a:pt x="1006576" y="117906"/>
                  </a:lnTo>
                  <a:lnTo>
                    <a:pt x="1188275" y="0"/>
                  </a:lnTo>
                  <a:close/>
                </a:path>
                <a:path w="2204720" h="1718945">
                  <a:moveTo>
                    <a:pt x="2204402" y="748131"/>
                  </a:moveTo>
                  <a:lnTo>
                    <a:pt x="2121331" y="679551"/>
                  </a:lnTo>
                  <a:lnTo>
                    <a:pt x="2159127" y="513384"/>
                  </a:lnTo>
                  <a:lnTo>
                    <a:pt x="2083536" y="460629"/>
                  </a:lnTo>
                  <a:lnTo>
                    <a:pt x="2045741" y="331825"/>
                  </a:lnTo>
                  <a:lnTo>
                    <a:pt x="1917407" y="475576"/>
                  </a:lnTo>
                  <a:lnTo>
                    <a:pt x="1819402" y="460629"/>
                  </a:lnTo>
                  <a:lnTo>
                    <a:pt x="1698104" y="490524"/>
                  </a:lnTo>
                  <a:lnTo>
                    <a:pt x="1592186" y="422821"/>
                  </a:lnTo>
                  <a:lnTo>
                    <a:pt x="1541640" y="490524"/>
                  </a:lnTo>
                  <a:lnTo>
                    <a:pt x="1599653" y="566572"/>
                  </a:lnTo>
                  <a:lnTo>
                    <a:pt x="1541640" y="748131"/>
                  </a:lnTo>
                  <a:lnTo>
                    <a:pt x="1541640" y="868578"/>
                  </a:lnTo>
                  <a:lnTo>
                    <a:pt x="1584706" y="1046187"/>
                  </a:lnTo>
                  <a:lnTo>
                    <a:pt x="1584706" y="1117841"/>
                  </a:lnTo>
                  <a:lnTo>
                    <a:pt x="1614601" y="1291920"/>
                  </a:lnTo>
                  <a:lnTo>
                    <a:pt x="1713039" y="1291920"/>
                  </a:lnTo>
                  <a:lnTo>
                    <a:pt x="1713039" y="1087501"/>
                  </a:lnTo>
                  <a:lnTo>
                    <a:pt x="1950364" y="974090"/>
                  </a:lnTo>
                  <a:lnTo>
                    <a:pt x="1917407" y="800442"/>
                  </a:lnTo>
                  <a:lnTo>
                    <a:pt x="2144191" y="905954"/>
                  </a:lnTo>
                  <a:lnTo>
                    <a:pt x="2204402" y="748131"/>
                  </a:lnTo>
                  <a:close/>
                </a:path>
              </a:pathLst>
            </a:custGeom>
            <a:solidFill>
              <a:srgbClr val="7ECB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1372" y="2128017"/>
              <a:ext cx="2618231" cy="2667000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8652" y="2280417"/>
              <a:ext cx="1417320" cy="1438655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5108" y="3572769"/>
              <a:ext cx="2258567" cy="2261616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1256991" y="2483970"/>
            <a:ext cx="1924685" cy="577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Connected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Data</a:t>
            </a:r>
            <a:r>
              <a:rPr dirty="0" sz="1800" spc="5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is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dirty="0" sz="1800" spc="-10" b="1">
                <a:solidFill>
                  <a:srgbClr val="ED1253"/>
                </a:solidFill>
                <a:latin typeface="Arial"/>
                <a:cs typeface="Arial"/>
              </a:rPr>
              <a:t>Powerful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22" name="object 2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  <p:sp>
        <p:nvSpPr>
          <p:cNvPr id="20" name="object 20" descr=""/>
          <p:cNvSpPr txBox="1"/>
          <p:nvPr/>
        </p:nvSpPr>
        <p:spPr>
          <a:xfrm>
            <a:off x="6805965" y="2343761"/>
            <a:ext cx="2761615" cy="1755139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algn="ctr" marL="12065" marR="5080">
              <a:lnSpc>
                <a:spcPct val="99400"/>
              </a:lnSpc>
              <a:spcBef>
                <a:spcPts val="115"/>
              </a:spcBef>
            </a:pPr>
            <a:r>
              <a:rPr dirty="0" sz="180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z="1800" spc="3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18BFF"/>
                </a:solidFill>
                <a:latin typeface="Arial"/>
                <a:cs typeface="Arial"/>
              </a:rPr>
              <a:t>Data</a:t>
            </a:r>
            <a:r>
              <a:rPr dirty="0" sz="1800" spc="3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18BFF"/>
                </a:solidFill>
                <a:latin typeface="Arial"/>
                <a:cs typeface="Arial"/>
              </a:rPr>
              <a:t>Science</a:t>
            </a:r>
            <a:r>
              <a:rPr dirty="0" sz="1800" spc="4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uses </a:t>
            </a:r>
            <a:r>
              <a:rPr dirty="0" sz="1800">
                <a:latin typeface="Arial"/>
                <a:cs typeface="Arial"/>
              </a:rPr>
              <a:t>Connections</a:t>
            </a:r>
            <a:r>
              <a:rPr dirty="0" sz="1800" spc="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to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Answer </a:t>
            </a:r>
            <a:r>
              <a:rPr dirty="0" sz="1800" b="1">
                <a:solidFill>
                  <a:srgbClr val="ED1253"/>
                </a:solidFill>
                <a:latin typeface="Arial"/>
                <a:cs typeface="Arial"/>
              </a:rPr>
              <a:t>Critical</a:t>
            </a:r>
            <a:r>
              <a:rPr dirty="0" sz="1800" spc="65" b="1">
                <a:solidFill>
                  <a:srgbClr val="ED1253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ED1253"/>
                </a:solidFill>
                <a:latin typeface="Arial"/>
                <a:cs typeface="Arial"/>
              </a:rPr>
              <a:t>Questions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z="1800">
              <a:latin typeface="Arial"/>
              <a:cs typeface="Arial"/>
            </a:endParaRPr>
          </a:p>
          <a:p>
            <a:pPr marL="120650" marR="33020">
              <a:lnSpc>
                <a:spcPts val="1900"/>
              </a:lnSpc>
            </a:pPr>
            <a:r>
              <a:rPr dirty="0" sz="1600" b="1">
                <a:latin typeface="Arial"/>
                <a:cs typeface="Arial"/>
              </a:rPr>
              <a:t>What’s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most</a:t>
            </a:r>
            <a:r>
              <a:rPr dirty="0" sz="1600" spc="-8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important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and </a:t>
            </a:r>
            <a:r>
              <a:rPr dirty="0" sz="1600" spc="-10" b="1">
                <a:latin typeface="Arial"/>
                <a:cs typeface="Arial"/>
              </a:rPr>
              <a:t>influential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in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my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business?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7882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Neo4j</a:t>
            </a:r>
            <a:r>
              <a:rPr dirty="0" spc="-5"/>
              <a:t> </a:t>
            </a:r>
            <a:r>
              <a:rPr dirty="0"/>
              <a:t>Graph</a:t>
            </a:r>
            <a:r>
              <a:rPr dirty="0" spc="5"/>
              <a:t> </a:t>
            </a:r>
            <a:r>
              <a:rPr dirty="0"/>
              <a:t>Data</a:t>
            </a:r>
            <a:r>
              <a:rPr dirty="0" spc="-5"/>
              <a:t> </a:t>
            </a:r>
            <a:r>
              <a:rPr dirty="0" spc="-10"/>
              <a:t>Science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 marR="369570">
              <a:lnSpc>
                <a:spcPct val="103200"/>
              </a:lnSpc>
              <a:spcBef>
                <a:spcPts val="145"/>
              </a:spcBef>
            </a:pPr>
            <a:r>
              <a:rPr dirty="0" b="1">
                <a:solidFill>
                  <a:srgbClr val="018BFF"/>
                </a:solidFill>
                <a:latin typeface="Arial"/>
                <a:cs typeface="Arial"/>
              </a:rPr>
              <a:t>70</a:t>
            </a:r>
            <a:r>
              <a:rPr dirty="0" spc="5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18BFF"/>
                </a:solidFill>
                <a:latin typeface="Arial"/>
                <a:cs typeface="Arial"/>
              </a:rPr>
              <a:t>Graph</a:t>
            </a:r>
            <a:r>
              <a:rPr dirty="0" spc="4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18BFF"/>
                </a:solidFill>
                <a:latin typeface="Arial"/>
                <a:cs typeface="Arial"/>
              </a:rPr>
              <a:t>Algorithms </a:t>
            </a:r>
            <a:r>
              <a:rPr dirty="0"/>
              <a:t>More</a:t>
            </a:r>
            <a:r>
              <a:rPr dirty="0" spc="65"/>
              <a:t> </a:t>
            </a:r>
            <a:r>
              <a:rPr dirty="0"/>
              <a:t>supported</a:t>
            </a:r>
            <a:r>
              <a:rPr dirty="0" spc="65"/>
              <a:t> </a:t>
            </a:r>
            <a:r>
              <a:rPr dirty="0" spc="-10"/>
              <a:t>algorithms </a:t>
            </a:r>
            <a:r>
              <a:rPr dirty="0"/>
              <a:t>than</a:t>
            </a:r>
            <a:r>
              <a:rPr dirty="0" spc="50"/>
              <a:t> </a:t>
            </a:r>
            <a:r>
              <a:rPr dirty="0"/>
              <a:t>any</a:t>
            </a:r>
            <a:r>
              <a:rPr dirty="0" spc="50"/>
              <a:t> </a:t>
            </a:r>
            <a:r>
              <a:rPr dirty="0"/>
              <a:t>other</a:t>
            </a:r>
            <a:r>
              <a:rPr dirty="0" spc="35"/>
              <a:t> </a:t>
            </a:r>
            <a:r>
              <a:rPr dirty="0" spc="-10"/>
              <a:t>vendor</a:t>
            </a:r>
          </a:p>
          <a:p>
            <a:pPr>
              <a:lnSpc>
                <a:spcPct val="100000"/>
              </a:lnSpc>
              <a:spcBef>
                <a:spcPts val="1535"/>
              </a:spcBef>
            </a:pPr>
          </a:p>
          <a:p>
            <a:pPr marL="12700">
              <a:lnSpc>
                <a:spcPct val="100000"/>
              </a:lnSpc>
            </a:pPr>
            <a:r>
              <a:rPr dirty="0" b="1">
                <a:solidFill>
                  <a:srgbClr val="018BFF"/>
                </a:solidFill>
                <a:latin typeface="Arial"/>
                <a:cs typeface="Arial"/>
              </a:rPr>
              <a:t>Graph-Native</a:t>
            </a:r>
            <a:r>
              <a:rPr dirty="0" spc="11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pc="-25" b="1">
                <a:solidFill>
                  <a:srgbClr val="018BFF"/>
                </a:solidFill>
                <a:latin typeface="Arial"/>
                <a:cs typeface="Arial"/>
              </a:rPr>
              <a:t>ML</a:t>
            </a:r>
          </a:p>
          <a:p>
            <a:pPr marL="12700" marR="76835">
              <a:lnSpc>
                <a:spcPts val="2400"/>
              </a:lnSpc>
              <a:spcBef>
                <a:spcPts val="5"/>
              </a:spcBef>
            </a:pPr>
            <a:r>
              <a:rPr dirty="0"/>
              <a:t>Only</a:t>
            </a:r>
            <a:r>
              <a:rPr dirty="0" spc="60"/>
              <a:t> </a:t>
            </a:r>
            <a:r>
              <a:rPr dirty="0"/>
              <a:t>commercial</a:t>
            </a:r>
            <a:r>
              <a:rPr dirty="0" spc="50"/>
              <a:t> </a:t>
            </a:r>
            <a:r>
              <a:rPr dirty="0"/>
              <a:t>offering</a:t>
            </a:r>
            <a:r>
              <a:rPr dirty="0" spc="70"/>
              <a:t> </a:t>
            </a:r>
            <a:r>
              <a:rPr dirty="0" spc="-20"/>
              <a:t>with </a:t>
            </a:r>
            <a:r>
              <a:rPr dirty="0"/>
              <a:t>full</a:t>
            </a:r>
            <a:r>
              <a:rPr dirty="0" spc="20"/>
              <a:t> </a:t>
            </a:r>
            <a:r>
              <a:rPr dirty="0"/>
              <a:t>graph</a:t>
            </a:r>
            <a:r>
              <a:rPr dirty="0" spc="40"/>
              <a:t> </a:t>
            </a:r>
            <a:r>
              <a:rPr dirty="0"/>
              <a:t>ML</a:t>
            </a:r>
            <a:r>
              <a:rPr dirty="0" spc="40"/>
              <a:t> </a:t>
            </a:r>
            <a:r>
              <a:rPr dirty="0" spc="-10"/>
              <a:t>workflows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330"/>
              </a:spcBef>
            </a:pPr>
          </a:p>
          <a:p>
            <a:pPr marL="12700" marR="5080">
              <a:lnSpc>
                <a:spcPct val="101099"/>
              </a:lnSpc>
            </a:pPr>
            <a:r>
              <a:rPr dirty="0" b="1">
                <a:solidFill>
                  <a:srgbClr val="018BFF"/>
                </a:solidFill>
                <a:latin typeface="Arial"/>
                <a:cs typeface="Arial"/>
              </a:rPr>
              <a:t>Humane</a:t>
            </a:r>
            <a:r>
              <a:rPr dirty="0" spc="8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18BFF"/>
                </a:solidFill>
                <a:latin typeface="Arial"/>
                <a:cs typeface="Arial"/>
              </a:rPr>
              <a:t>Experience </a:t>
            </a:r>
            <a:r>
              <a:rPr dirty="0"/>
              <a:t>Automatic</a:t>
            </a:r>
            <a:r>
              <a:rPr dirty="0" spc="90"/>
              <a:t> </a:t>
            </a:r>
            <a:r>
              <a:rPr dirty="0"/>
              <a:t>transformation</a:t>
            </a:r>
            <a:r>
              <a:rPr dirty="0" spc="105"/>
              <a:t> </a:t>
            </a:r>
            <a:r>
              <a:rPr dirty="0" spc="-20"/>
              <a:t>from </a:t>
            </a:r>
            <a:r>
              <a:rPr dirty="0"/>
              <a:t>storage</a:t>
            </a:r>
            <a:r>
              <a:rPr dirty="0" spc="70"/>
              <a:t> </a:t>
            </a:r>
            <a:r>
              <a:rPr dirty="0"/>
              <a:t>to</a:t>
            </a:r>
            <a:r>
              <a:rPr dirty="0" spc="70"/>
              <a:t> </a:t>
            </a:r>
            <a:r>
              <a:rPr dirty="0"/>
              <a:t>analytics</a:t>
            </a:r>
            <a:r>
              <a:rPr dirty="0" spc="65"/>
              <a:t> </a:t>
            </a:r>
            <a:r>
              <a:rPr dirty="0" spc="-25"/>
              <a:t>and </a:t>
            </a:r>
            <a:r>
              <a:rPr dirty="0" spc="-10"/>
              <a:t>visualization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8415" rIns="0" bIns="0" rtlCol="0" vert="horz">
            <a:spAutoFit/>
          </a:bodyPr>
          <a:lstStyle/>
          <a:p>
            <a:pPr marL="12700" marR="342900">
              <a:lnSpc>
                <a:spcPct val="103200"/>
              </a:lnSpc>
              <a:spcBef>
                <a:spcPts val="145"/>
              </a:spcBef>
            </a:pPr>
            <a:r>
              <a:rPr dirty="0" b="1">
                <a:solidFill>
                  <a:srgbClr val="018BFF"/>
                </a:solidFill>
                <a:latin typeface="Arial"/>
                <a:cs typeface="Arial"/>
              </a:rPr>
              <a:t>Scalable</a:t>
            </a:r>
            <a:r>
              <a:rPr dirty="0" spc="60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018BFF"/>
                </a:solidFill>
                <a:latin typeface="Arial"/>
                <a:cs typeface="Arial"/>
              </a:rPr>
              <a:t>Data</a:t>
            </a:r>
            <a:r>
              <a:rPr dirty="0" spc="6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18BFF"/>
                </a:solidFill>
                <a:latin typeface="Arial"/>
                <a:cs typeface="Arial"/>
              </a:rPr>
              <a:t>Science </a:t>
            </a:r>
            <a:r>
              <a:rPr dirty="0"/>
              <a:t>Algorithms</a:t>
            </a:r>
            <a:r>
              <a:rPr dirty="0" spc="60"/>
              <a:t> </a:t>
            </a:r>
            <a:r>
              <a:rPr dirty="0"/>
              <a:t>running</a:t>
            </a:r>
            <a:r>
              <a:rPr dirty="0" spc="70"/>
              <a:t> </a:t>
            </a:r>
            <a:r>
              <a:rPr dirty="0"/>
              <a:t>over</a:t>
            </a:r>
            <a:r>
              <a:rPr dirty="0" spc="55"/>
              <a:t> </a:t>
            </a:r>
            <a:r>
              <a:rPr dirty="0" spc="-20"/>
              <a:t>10’s </a:t>
            </a:r>
            <a:r>
              <a:rPr dirty="0"/>
              <a:t>billions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30"/>
              <a:t> </a:t>
            </a:r>
            <a:r>
              <a:rPr dirty="0"/>
              <a:t>nodes</a:t>
            </a:r>
            <a:r>
              <a:rPr dirty="0" spc="30"/>
              <a:t> </a:t>
            </a:r>
            <a:r>
              <a:rPr dirty="0"/>
              <a:t>in</a:t>
            </a:r>
            <a:r>
              <a:rPr dirty="0" spc="40"/>
              <a:t> </a:t>
            </a:r>
            <a:r>
              <a:rPr dirty="0" spc="-10"/>
              <a:t>production</a:t>
            </a:r>
          </a:p>
          <a:p>
            <a:pPr>
              <a:lnSpc>
                <a:spcPct val="100000"/>
              </a:lnSpc>
              <a:spcBef>
                <a:spcPts val="1535"/>
              </a:spcBef>
            </a:pPr>
          </a:p>
          <a:p>
            <a:pPr marL="12700">
              <a:lnSpc>
                <a:spcPct val="100000"/>
              </a:lnSpc>
            </a:pPr>
            <a:r>
              <a:rPr dirty="0" spc="-10" b="1">
                <a:solidFill>
                  <a:srgbClr val="018BFF"/>
                </a:solidFill>
                <a:latin typeface="Arial"/>
                <a:cs typeface="Arial"/>
              </a:rPr>
              <a:t>Extensible</a:t>
            </a:r>
          </a:p>
          <a:p>
            <a:pPr marL="12700" marR="5080">
              <a:lnSpc>
                <a:spcPts val="2400"/>
              </a:lnSpc>
              <a:spcBef>
                <a:spcPts val="5"/>
              </a:spcBef>
            </a:pPr>
            <a:r>
              <a:rPr dirty="0"/>
              <a:t>Integrate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55"/>
              <a:t> </a:t>
            </a:r>
            <a:r>
              <a:rPr dirty="0"/>
              <a:t>other</a:t>
            </a:r>
            <a:r>
              <a:rPr dirty="0" spc="35"/>
              <a:t> </a:t>
            </a:r>
            <a:r>
              <a:rPr dirty="0"/>
              <a:t>data</a:t>
            </a:r>
            <a:r>
              <a:rPr dirty="0" spc="55"/>
              <a:t> </a:t>
            </a:r>
            <a:r>
              <a:rPr dirty="0" spc="-10"/>
              <a:t>sources </a:t>
            </a:r>
            <a:r>
              <a:rPr dirty="0"/>
              <a:t>and</a:t>
            </a:r>
            <a:r>
              <a:rPr dirty="0" spc="35"/>
              <a:t> </a:t>
            </a:r>
            <a:r>
              <a:rPr dirty="0"/>
              <a:t>ML</a:t>
            </a:r>
            <a:r>
              <a:rPr dirty="0" spc="35"/>
              <a:t> </a:t>
            </a:r>
            <a:r>
              <a:rPr dirty="0" spc="-10"/>
              <a:t>platforms</a:t>
            </a: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495"/>
              </a:spcBef>
            </a:pPr>
          </a:p>
          <a:p>
            <a:pPr marL="12700" marR="1026160">
              <a:lnSpc>
                <a:spcPct val="103200"/>
              </a:lnSpc>
            </a:pPr>
            <a:r>
              <a:rPr dirty="0" b="1">
                <a:solidFill>
                  <a:srgbClr val="018BFF"/>
                </a:solidFill>
                <a:latin typeface="Arial"/>
                <a:cs typeface="Arial"/>
              </a:rPr>
              <a:t>Strongest</a:t>
            </a:r>
            <a:r>
              <a:rPr dirty="0" spc="75" b="1">
                <a:solidFill>
                  <a:srgbClr val="018BFF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018BFF"/>
                </a:solidFill>
                <a:latin typeface="Arial"/>
                <a:cs typeface="Arial"/>
              </a:rPr>
              <a:t>Community </a:t>
            </a:r>
            <a:r>
              <a:rPr dirty="0"/>
              <a:t>220K+</a:t>
            </a:r>
            <a:r>
              <a:rPr dirty="0" spc="50"/>
              <a:t> </a:t>
            </a:r>
            <a:r>
              <a:rPr dirty="0" spc="-10"/>
              <a:t>practioners </a:t>
            </a:r>
            <a:r>
              <a:rPr dirty="0"/>
              <a:t>72K+</a:t>
            </a:r>
            <a:r>
              <a:rPr dirty="0" spc="45"/>
              <a:t> </a:t>
            </a:r>
            <a:r>
              <a:rPr dirty="0" spc="-10"/>
              <a:t>meetups</a:t>
            </a: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50484" y="2204217"/>
            <a:ext cx="950975" cy="94183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7811" y="3517905"/>
            <a:ext cx="1057656" cy="1057656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4540" y="4950465"/>
            <a:ext cx="1045463" cy="1103375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65140" y="4846833"/>
            <a:ext cx="1121664" cy="110337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5395" y="3490472"/>
            <a:ext cx="1060704" cy="1063752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0259" y="2204217"/>
            <a:ext cx="950976" cy="944879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12" name="object 12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00" y="850905"/>
            <a:ext cx="10401300" cy="5854700"/>
          </a:xfrm>
          <a:custGeom>
            <a:avLst/>
            <a:gdLst/>
            <a:ahLst/>
            <a:cxnLst/>
            <a:rect l="l" t="t" r="r" b="b"/>
            <a:pathLst>
              <a:path w="10401300" h="5854700">
                <a:moveTo>
                  <a:pt x="10401300" y="0"/>
                </a:moveTo>
                <a:lnTo>
                  <a:pt x="0" y="0"/>
                </a:lnTo>
                <a:lnTo>
                  <a:pt x="0" y="5854700"/>
                </a:lnTo>
                <a:lnTo>
                  <a:pt x="10401300" y="5854700"/>
                </a:lnTo>
                <a:lnTo>
                  <a:pt x="10401300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166108" y="850905"/>
            <a:ext cx="6373495" cy="5854700"/>
            <a:chOff x="4166108" y="850905"/>
            <a:chExt cx="6373495" cy="5854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6108" y="850905"/>
              <a:ext cx="6373368" cy="58547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6996" y="6346449"/>
              <a:ext cx="627888" cy="2377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83096" y="1383951"/>
            <a:ext cx="2684145" cy="6508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 spc="-10">
                <a:solidFill>
                  <a:srgbClr val="FFFFFF"/>
                </a:solidFill>
              </a:rPr>
              <a:t>Resources</a:t>
            </a:r>
            <a:endParaRPr sz="4100"/>
          </a:p>
        </p:txBody>
      </p:sp>
      <p:sp>
        <p:nvSpPr>
          <p:cNvPr id="7" name="object 7" descr=""/>
          <p:cNvSpPr txBox="1"/>
          <p:nvPr/>
        </p:nvSpPr>
        <p:spPr>
          <a:xfrm>
            <a:off x="987092" y="2217600"/>
            <a:ext cx="7385684" cy="4132579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Graph</a:t>
            </a:r>
            <a:r>
              <a:rPr dirty="0" sz="1900" spc="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Resources</a:t>
            </a:r>
            <a:endParaRPr sz="19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915"/>
              </a:spcBef>
              <a:buChar char="●"/>
              <a:tabLst>
                <a:tab pos="532130" algn="l"/>
                <a:tab pos="1316355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Video: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4"/>
              </a:rPr>
              <a:t>Advantages</a:t>
            </a:r>
            <a:r>
              <a:rPr dirty="0" u="heavy" sz="1800" spc="4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4"/>
              </a:rPr>
              <a:t>of</a:t>
            </a:r>
            <a:r>
              <a:rPr dirty="0" u="heavy" sz="1800" spc="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4"/>
              </a:rPr>
              <a:t>Graph</a:t>
            </a:r>
            <a:r>
              <a:rPr dirty="0" u="heavy" sz="1800" spc="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4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4"/>
              </a:rPr>
              <a:t>Technolog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  <a:p>
            <a:pPr marL="532765" marR="5080" indent="-375920">
              <a:lnSpc>
                <a:spcPct val="120000"/>
              </a:lnSpc>
              <a:spcBef>
                <a:spcPts val="25"/>
              </a:spcBef>
              <a:buChar char="●"/>
              <a:tabLst>
                <a:tab pos="532765" algn="l"/>
                <a:tab pos="444500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  <a:hlinkClick r:id="rId5"/>
              </a:rPr>
              <a:t>Whitepaper:</a:t>
            </a:r>
            <a:r>
              <a:rPr dirty="0" sz="1800" spc="70">
                <a:solidFill>
                  <a:srgbClr val="FFFFFF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AI</a:t>
            </a:r>
            <a:r>
              <a:rPr dirty="0" u="heavy" sz="1800" spc="4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&amp;</a:t>
            </a:r>
            <a:r>
              <a:rPr dirty="0" u="heavy" sz="1800" spc="4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Graph</a:t>
            </a:r>
            <a:r>
              <a:rPr dirty="0" u="heavy" sz="1800" spc="4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Technology: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	Enhancing</a:t>
            </a:r>
            <a:r>
              <a:rPr dirty="0" u="heavy" sz="1800" spc="3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AI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with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Context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dirty="0" u="heavy" sz="1800" spc="-5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&amp;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5"/>
              </a:rPr>
              <a:t>Connections</a:t>
            </a:r>
            <a:endParaRPr sz="18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335"/>
              </a:spcBef>
              <a:buChar char="●"/>
              <a:tabLst>
                <a:tab pos="532130" algn="l"/>
                <a:tab pos="1908175" algn="l"/>
              </a:tabLst>
            </a:pP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Whitepaper: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Financial</a:t>
            </a:r>
            <a:r>
              <a:rPr dirty="0" u="heavy" sz="1800" spc="2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Fraud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Detection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with</a:t>
            </a:r>
            <a:r>
              <a:rPr dirty="0" u="heavy" sz="1800" spc="4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Graph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Data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6"/>
              </a:rPr>
              <a:t>Scienc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360"/>
              </a:spcBef>
              <a:buChar char="●"/>
              <a:tabLst>
                <a:tab pos="532130" algn="l"/>
              </a:tabLst>
            </a:pP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Case</a:t>
            </a:r>
            <a:r>
              <a:rPr dirty="0" sz="18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Study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:</a:t>
            </a:r>
            <a:r>
              <a:rPr dirty="0" sz="1800" spc="50">
                <a:solidFill>
                  <a:srgbClr val="FFFFFF"/>
                </a:solidFill>
                <a:latin typeface="Arial"/>
                <a:cs typeface="Arial"/>
                <a:hlinkClick r:id="rId7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7"/>
              </a:rPr>
              <a:t>Meredith</a:t>
            </a:r>
            <a:r>
              <a:rPr dirty="0" u="heavy" sz="1800" spc="5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7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7"/>
              </a:rPr>
              <a:t>Corporatio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  <a:buClr>
                <a:srgbClr val="FFFFFF"/>
              </a:buClr>
              <a:buFont typeface="Arial"/>
              <a:buChar char="●"/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900" b="1">
                <a:solidFill>
                  <a:srgbClr val="FFFFFF"/>
                </a:solidFill>
                <a:latin typeface="Arial"/>
                <a:cs typeface="Arial"/>
              </a:rPr>
              <a:t>Neo4j</a:t>
            </a:r>
            <a:r>
              <a:rPr dirty="0" sz="1900" spc="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900" spc="-10" b="1">
                <a:solidFill>
                  <a:srgbClr val="FFFFFF"/>
                </a:solidFill>
                <a:latin typeface="Arial"/>
                <a:cs typeface="Arial"/>
              </a:rPr>
              <a:t>Bookshelf</a:t>
            </a:r>
            <a:endParaRPr sz="19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844"/>
              </a:spcBef>
              <a:buChar char="●"/>
              <a:tabLst>
                <a:tab pos="532130" algn="l"/>
              </a:tabLst>
            </a:pP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/>
              </a:rPr>
              <a:t>Graph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/>
              </a:rPr>
              <a:t>Databases</a:t>
            </a:r>
            <a:r>
              <a:rPr dirty="0" u="heavy" sz="1800" spc="4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/>
              </a:rPr>
              <a:t>For</a:t>
            </a:r>
            <a:r>
              <a:rPr dirty="0" u="heavy" sz="1800" spc="4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8"/>
              </a:rPr>
              <a:t>Dummie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430"/>
              </a:spcBef>
              <a:buChar char="●"/>
              <a:tabLst>
                <a:tab pos="532130" algn="l"/>
              </a:tabLst>
            </a:pP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Graph</a:t>
            </a:r>
            <a:r>
              <a:rPr dirty="0" u="heavy" sz="1800" spc="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Data</a:t>
            </a:r>
            <a:r>
              <a:rPr dirty="0" u="heavy" sz="1800" spc="3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Science</a:t>
            </a:r>
            <a:r>
              <a:rPr dirty="0" u="heavy" sz="1800" spc="3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For</a:t>
            </a:r>
            <a:r>
              <a:rPr dirty="0" u="heavy" sz="1800" spc="3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9"/>
              </a:rPr>
              <a:t>Dummie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335"/>
              </a:spcBef>
              <a:buChar char="●"/>
              <a:tabLst>
                <a:tab pos="532130" algn="l"/>
              </a:tabLst>
            </a:pP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0"/>
              </a:rPr>
              <a:t>O’Reilly</a:t>
            </a:r>
            <a:r>
              <a:rPr dirty="0" u="heavy" sz="1800" spc="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0"/>
              </a:rPr>
              <a:t>Graph</a:t>
            </a:r>
            <a:r>
              <a:rPr dirty="0" u="heavy" sz="1800" spc="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0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0"/>
              </a:rPr>
              <a:t>Algorith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ms</a:t>
            </a:r>
            <a:endParaRPr sz="1800">
              <a:latin typeface="Arial"/>
              <a:cs typeface="Arial"/>
            </a:endParaRPr>
          </a:p>
          <a:p>
            <a:pPr marL="532130" indent="-375285">
              <a:lnSpc>
                <a:spcPct val="100000"/>
              </a:lnSpc>
              <a:spcBef>
                <a:spcPts val="340"/>
              </a:spcBef>
              <a:buChar char="●"/>
              <a:tabLst>
                <a:tab pos="532130" algn="l"/>
              </a:tabLst>
            </a:pP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1"/>
              </a:rPr>
              <a:t>O’Reilly</a:t>
            </a:r>
            <a:r>
              <a:rPr dirty="0" u="heavy" sz="1800" spc="25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heavy"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1"/>
              </a:rPr>
              <a:t>Knowledge</a:t>
            </a:r>
            <a:r>
              <a:rPr dirty="0" u="heavy" sz="1800" spc="2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1"/>
              </a:rPr>
              <a:t> 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  <a:hlinkClick r:id="rId11"/>
              </a:rPr>
              <a:t>Graph</a:t>
            </a:r>
            <a:r>
              <a:rPr dirty="0" u="heavy" sz="18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126433" y="4416992"/>
            <a:ext cx="5334000" cy="1713230"/>
            <a:chOff x="5126433" y="4416992"/>
            <a:chExt cx="5334000" cy="1713230"/>
          </a:xfrm>
        </p:grpSpPr>
        <p:pic>
          <p:nvPicPr>
            <p:cNvPr id="9" name="object 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41995" y="4432304"/>
              <a:ext cx="1264920" cy="1682496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13595" y="4426208"/>
              <a:ext cx="1237488" cy="169468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9209914" y="4422411"/>
              <a:ext cx="1244600" cy="1702435"/>
            </a:xfrm>
            <a:custGeom>
              <a:avLst/>
              <a:gdLst/>
              <a:ahLst/>
              <a:cxnLst/>
              <a:rect l="l" t="t" r="r" b="b"/>
              <a:pathLst>
                <a:path w="1244600" h="1702435">
                  <a:moveTo>
                    <a:pt x="0" y="0"/>
                  </a:moveTo>
                  <a:lnTo>
                    <a:pt x="1244539" y="0"/>
                  </a:lnTo>
                  <a:lnTo>
                    <a:pt x="1244539" y="1702202"/>
                  </a:lnTo>
                  <a:lnTo>
                    <a:pt x="0" y="1702202"/>
                  </a:lnTo>
                  <a:lnTo>
                    <a:pt x="0" y="0"/>
                  </a:lnTo>
                  <a:close/>
                </a:path>
              </a:pathLst>
            </a:custGeom>
            <a:ln w="10837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97827" y="4432304"/>
              <a:ext cx="1237487" cy="1682496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26433" y="4427833"/>
              <a:ext cx="1264641" cy="1691360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15" name="object 15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39700" y="850905"/>
            <a:ext cx="10401300" cy="5854700"/>
          </a:xfrm>
          <a:custGeom>
            <a:avLst/>
            <a:gdLst/>
            <a:ahLst/>
            <a:cxnLst/>
            <a:rect l="l" t="t" r="r" b="b"/>
            <a:pathLst>
              <a:path w="10401300" h="5854700">
                <a:moveTo>
                  <a:pt x="10401300" y="0"/>
                </a:moveTo>
                <a:lnTo>
                  <a:pt x="0" y="0"/>
                </a:lnTo>
                <a:lnTo>
                  <a:pt x="0" y="5854700"/>
                </a:lnTo>
                <a:lnTo>
                  <a:pt x="10401300" y="5854700"/>
                </a:lnTo>
                <a:lnTo>
                  <a:pt x="10401300" y="0"/>
                </a:lnTo>
                <a:close/>
              </a:path>
            </a:pathLst>
          </a:custGeom>
          <a:solidFill>
            <a:srgbClr val="018B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166108" y="850905"/>
            <a:ext cx="6373495" cy="5854700"/>
            <a:chOff x="4166108" y="850905"/>
            <a:chExt cx="6373495" cy="58547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66108" y="850905"/>
              <a:ext cx="6373368" cy="58547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46996" y="6346449"/>
              <a:ext cx="627888" cy="2377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3514" y="2179480"/>
            <a:ext cx="4554220" cy="10725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100">
                <a:solidFill>
                  <a:srgbClr val="FFFFFF"/>
                </a:solidFill>
              </a:rPr>
              <a:t>Thank</a:t>
            </a:r>
            <a:r>
              <a:rPr dirty="0" sz="4100" spc="-35">
                <a:solidFill>
                  <a:srgbClr val="FFFFFF"/>
                </a:solidFill>
              </a:rPr>
              <a:t> </a:t>
            </a:r>
            <a:r>
              <a:rPr dirty="0" sz="4100" spc="-20">
                <a:solidFill>
                  <a:srgbClr val="FFFFFF"/>
                </a:solidFill>
              </a:rPr>
              <a:t>you!</a:t>
            </a:r>
            <a:endParaRPr sz="4100"/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2700">
                <a:solidFill>
                  <a:srgbClr val="FFFFFF"/>
                </a:solidFill>
              </a:rPr>
              <a:t>Come</a:t>
            </a:r>
            <a:r>
              <a:rPr dirty="0" sz="2700" spc="35">
                <a:solidFill>
                  <a:srgbClr val="FFFFFF"/>
                </a:solidFill>
              </a:rPr>
              <a:t> </a:t>
            </a:r>
            <a:r>
              <a:rPr dirty="0" sz="2700">
                <a:solidFill>
                  <a:srgbClr val="FFFFFF"/>
                </a:solidFill>
              </a:rPr>
              <a:t>see</a:t>
            </a:r>
            <a:r>
              <a:rPr dirty="0" sz="2700" spc="40">
                <a:solidFill>
                  <a:srgbClr val="FFFFFF"/>
                </a:solidFill>
              </a:rPr>
              <a:t> </a:t>
            </a:r>
            <a:r>
              <a:rPr dirty="0" sz="2700">
                <a:solidFill>
                  <a:srgbClr val="FFFFFF"/>
                </a:solidFill>
              </a:rPr>
              <a:t>us</a:t>
            </a:r>
            <a:r>
              <a:rPr dirty="0" sz="2700" spc="40">
                <a:solidFill>
                  <a:srgbClr val="FFFFFF"/>
                </a:solidFill>
              </a:rPr>
              <a:t> </a:t>
            </a:r>
            <a:r>
              <a:rPr dirty="0" sz="2700">
                <a:solidFill>
                  <a:srgbClr val="FFFFFF"/>
                </a:solidFill>
              </a:rPr>
              <a:t>at</a:t>
            </a:r>
            <a:r>
              <a:rPr dirty="0" sz="2700" spc="35">
                <a:solidFill>
                  <a:srgbClr val="FFFFFF"/>
                </a:solidFill>
              </a:rPr>
              <a:t> </a:t>
            </a:r>
            <a:r>
              <a:rPr dirty="0" sz="2700">
                <a:solidFill>
                  <a:srgbClr val="FFFFFF"/>
                </a:solidFill>
              </a:rPr>
              <a:t>Stand</a:t>
            </a:r>
            <a:r>
              <a:rPr dirty="0" sz="2700" spc="35">
                <a:solidFill>
                  <a:srgbClr val="FFFFFF"/>
                </a:solidFill>
              </a:rPr>
              <a:t> </a:t>
            </a:r>
            <a:r>
              <a:rPr dirty="0" sz="2700" spc="-20">
                <a:solidFill>
                  <a:srgbClr val="FFFFFF"/>
                </a:solidFill>
              </a:rPr>
              <a:t>B400</a:t>
            </a:r>
            <a:endParaRPr sz="2700"/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9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dirty="0" spc="-25"/>
              <a:t>37</a:t>
            </a:fld>
          </a:p>
        </p:txBody>
      </p:sp>
      <p:sp>
        <p:nvSpPr>
          <p:cNvPr id="9" name="object 9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3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/>
              <a:t>Neo4j,</a:t>
            </a:r>
            <a:r>
              <a:rPr dirty="0" spc="-20"/>
              <a:t> </a:t>
            </a:r>
            <a:r>
              <a:rPr dirty="0"/>
              <a:t>Inc.</a:t>
            </a:r>
            <a:r>
              <a:rPr dirty="0" spc="-20"/>
              <a:t> </a:t>
            </a:r>
            <a:r>
              <a:rPr dirty="0"/>
              <a:t>All</a:t>
            </a:r>
            <a:r>
              <a:rPr dirty="0" spc="-30"/>
              <a:t> </a:t>
            </a:r>
            <a:r>
              <a:rPr dirty="0"/>
              <a:t>rights</a:t>
            </a:r>
            <a:r>
              <a:rPr dirty="0" spc="-25"/>
              <a:t> </a:t>
            </a:r>
            <a:r>
              <a:rPr dirty="0" spc="-10"/>
              <a:t>reserved</a:t>
            </a:r>
            <a:r>
              <a:rPr dirty="0" spc="-30"/>
              <a:t> </a:t>
            </a:r>
            <a:r>
              <a:rPr dirty="0" spc="-20"/>
              <a:t>2021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987092" y="4511406"/>
            <a:ext cx="2299970" cy="806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030"/>
              </a:lnSpc>
              <a:spcBef>
                <a:spcPts val="100"/>
              </a:spcBef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Jim</a:t>
            </a:r>
            <a:r>
              <a:rPr dirty="0" sz="17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</a:rPr>
              <a:t>Webber</a:t>
            </a:r>
            <a:endParaRPr sz="1700">
              <a:latin typeface="Arial"/>
              <a:cs typeface="Arial"/>
            </a:endParaRPr>
          </a:p>
          <a:p>
            <a:pPr marL="12700" marR="5080">
              <a:lnSpc>
                <a:spcPts val="2090"/>
              </a:lnSpc>
              <a:spcBef>
                <a:spcPts val="15"/>
              </a:spcBef>
            </a:pP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Chief</a:t>
            </a:r>
            <a:r>
              <a:rPr dirty="0" sz="17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>
                <a:solidFill>
                  <a:srgbClr val="FFFFFF"/>
                </a:solidFill>
                <a:latin typeface="Arial"/>
                <a:cs typeface="Arial"/>
              </a:rPr>
              <a:t>Scientist,</a:t>
            </a:r>
            <a:r>
              <a:rPr dirty="0" sz="17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Arial"/>
                <a:cs typeface="Arial"/>
              </a:rPr>
              <a:t>Neo4j </a:t>
            </a:r>
            <a:r>
              <a:rPr dirty="0" sz="1700" spc="-10">
                <a:solidFill>
                  <a:srgbClr val="FFFFFF"/>
                </a:solidFill>
                <a:latin typeface="Arial"/>
                <a:cs typeface="Arial"/>
                <a:hlinkClick r:id="rId4"/>
              </a:rPr>
              <a:t>jim.webber@neo4j.com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 for Data Science and Machine Learing</dc:title>
  <dcterms:created xsi:type="dcterms:W3CDTF">2026-05-22T05:15:16Z</dcterms:created>
  <dcterms:modified xsi:type="dcterms:W3CDTF">2026-05-22T05:15:16Z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2022-03-04T00:00:00Z</vt:filetime>
  </property>
  <property fmtid="{D5CDD505-2E9C-101B-9397-08002B2CF9AE}" pid="3" name="Creator">
    <vt:lpwstr>PowerPoint</vt:lpwstr>
  </property>
  <property fmtid="{D5CDD505-2E9C-101B-9397-08002B2CF9AE}" pid="4" name="LastSaved">
    <vt:filetime>2026-05-22T00:00:00Z</vt:filetime>
  </property>
  <property fmtid="{D5CDD505-2E9C-101B-9397-08002B2CF9AE}" pid="5" name="Producer">
    <vt:lpwstr>macOS Version 12.2.1 (Build 21D62) Quartz PDFContext</vt:lpwstr>
  </property>
</Properties>
</file>