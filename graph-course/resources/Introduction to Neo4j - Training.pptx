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jpg" ContentType="image/jpg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0" y="5143499"/>
                </a:moveTo>
                <a:lnTo>
                  <a:pt x="4571999" y="5143499"/>
                </a:lnTo>
                <a:lnTo>
                  <a:pt x="4571999" y="0"/>
                </a:lnTo>
                <a:lnTo>
                  <a:pt x="0" y="0"/>
                </a:lnTo>
                <a:lnTo>
                  <a:pt x="0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572000" y="7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3050" y="247401"/>
            <a:ext cx="1986914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8141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8141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8141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8141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3050" y="247401"/>
            <a:ext cx="520509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8141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650" y="1235645"/>
            <a:ext cx="5715635" cy="145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hyperlink" Target="http://sandbox.neo4j.com/" TargetMode="External"/><Relationship Id="rId5" Type="http://schemas.openxmlformats.org/officeDocument/2006/relationships/image" Target="../media/image18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3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ta.neo4j.com/rec-embed/plot_load.cypher" TargetMode="Externa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ta.neo4j.com/rec-embed/plot_create_index.cypher" TargetMode="Externa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ta.neo4j.com/rec-embed/plot_query.cypher" TargetMode="Externa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ata.neo4j.com/rec-embed/plot_load.cypher" TargetMode="External"/><Relationship Id="rId3" Type="http://schemas.openxmlformats.org/officeDocument/2006/relationships/hyperlink" Target="https://data.neo4j.com/rec-embed/plot_create_index.cypher" TargetMode="External"/><Relationship Id="rId4" Type="http://schemas.openxmlformats.org/officeDocument/2006/relationships/hyperlink" Target="https://data.neo4j.com/rec-embed/plot_query.cypher" TargetMode="Externa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140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 descr=""/>
            <p:cNvSpPr/>
            <p:nvPr/>
          </p:nvSpPr>
          <p:spPr>
            <a:xfrm>
              <a:off x="5461051" y="0"/>
              <a:ext cx="3683000" cy="4206240"/>
            </a:xfrm>
            <a:custGeom>
              <a:avLst/>
              <a:gdLst/>
              <a:ahLst/>
              <a:cxnLst/>
              <a:rect l="l" t="t" r="r" b="b"/>
              <a:pathLst>
                <a:path w="3683000" h="4206240">
                  <a:moveTo>
                    <a:pt x="1019784" y="1141241"/>
                  </a:moveTo>
                  <a:lnTo>
                    <a:pt x="969011" y="1140097"/>
                  </a:lnTo>
                  <a:lnTo>
                    <a:pt x="918949" y="1136671"/>
                  </a:lnTo>
                  <a:lnTo>
                    <a:pt x="869648" y="1130978"/>
                  </a:lnTo>
                  <a:lnTo>
                    <a:pt x="821158" y="1123029"/>
                  </a:lnTo>
                  <a:lnTo>
                    <a:pt x="773527" y="1112838"/>
                  </a:lnTo>
                  <a:lnTo>
                    <a:pt x="726806" y="1100418"/>
                  </a:lnTo>
                  <a:lnTo>
                    <a:pt x="681044" y="1085782"/>
                  </a:lnTo>
                  <a:lnTo>
                    <a:pt x="636290" y="1068942"/>
                  </a:lnTo>
                  <a:lnTo>
                    <a:pt x="592593" y="1049912"/>
                  </a:lnTo>
                  <a:lnTo>
                    <a:pt x="550004" y="1028704"/>
                  </a:lnTo>
                  <a:lnTo>
                    <a:pt x="508571" y="1005331"/>
                  </a:lnTo>
                  <a:lnTo>
                    <a:pt x="465039" y="978642"/>
                  </a:lnTo>
                  <a:lnTo>
                    <a:pt x="423410" y="950371"/>
                  </a:lnTo>
                  <a:lnTo>
                    <a:pt x="383694" y="920567"/>
                  </a:lnTo>
                  <a:lnTo>
                    <a:pt x="345901" y="889280"/>
                  </a:lnTo>
                  <a:lnTo>
                    <a:pt x="310044" y="856559"/>
                  </a:lnTo>
                  <a:lnTo>
                    <a:pt x="276132" y="822453"/>
                  </a:lnTo>
                  <a:lnTo>
                    <a:pt x="244176" y="787013"/>
                  </a:lnTo>
                  <a:lnTo>
                    <a:pt x="214187" y="750287"/>
                  </a:lnTo>
                  <a:lnTo>
                    <a:pt x="186176" y="712325"/>
                  </a:lnTo>
                  <a:lnTo>
                    <a:pt x="160153" y="673176"/>
                  </a:lnTo>
                  <a:lnTo>
                    <a:pt x="136130" y="632890"/>
                  </a:lnTo>
                  <a:lnTo>
                    <a:pt x="110812" y="588796"/>
                  </a:lnTo>
                  <a:lnTo>
                    <a:pt x="88164" y="543988"/>
                  </a:lnTo>
                  <a:lnTo>
                    <a:pt x="68251" y="498788"/>
                  </a:lnTo>
                  <a:lnTo>
                    <a:pt x="50774" y="452687"/>
                  </a:lnTo>
                  <a:lnTo>
                    <a:pt x="35980" y="406422"/>
                  </a:lnTo>
                  <a:lnTo>
                    <a:pt x="23754" y="359898"/>
                  </a:lnTo>
                  <a:lnTo>
                    <a:pt x="14068" y="313231"/>
                  </a:lnTo>
                  <a:lnTo>
                    <a:pt x="6898" y="266533"/>
                  </a:lnTo>
                  <a:lnTo>
                    <a:pt x="2217" y="219920"/>
                  </a:lnTo>
                  <a:lnTo>
                    <a:pt x="0" y="173504"/>
                  </a:lnTo>
                  <a:lnTo>
                    <a:pt x="220" y="127400"/>
                  </a:lnTo>
                  <a:lnTo>
                    <a:pt x="1365" y="76519"/>
                  </a:lnTo>
                  <a:lnTo>
                    <a:pt x="4790" y="26391"/>
                  </a:lnTo>
                  <a:lnTo>
                    <a:pt x="7836" y="0"/>
                  </a:lnTo>
                  <a:lnTo>
                    <a:pt x="3682948" y="0"/>
                  </a:lnTo>
                  <a:lnTo>
                    <a:pt x="3682948" y="272371"/>
                  </a:lnTo>
                  <a:lnTo>
                    <a:pt x="2780893" y="272371"/>
                  </a:lnTo>
                  <a:lnTo>
                    <a:pt x="2736235" y="273355"/>
                  </a:lnTo>
                  <a:lnTo>
                    <a:pt x="2691593" y="276310"/>
                  </a:lnTo>
                  <a:lnTo>
                    <a:pt x="2646984" y="281237"/>
                  </a:lnTo>
                  <a:lnTo>
                    <a:pt x="2602423" y="288136"/>
                  </a:lnTo>
                  <a:lnTo>
                    <a:pt x="2557928" y="297010"/>
                  </a:lnTo>
                  <a:lnTo>
                    <a:pt x="2513513" y="307860"/>
                  </a:lnTo>
                  <a:lnTo>
                    <a:pt x="2469196" y="320687"/>
                  </a:lnTo>
                  <a:lnTo>
                    <a:pt x="2424992" y="335493"/>
                  </a:lnTo>
                  <a:lnTo>
                    <a:pt x="2380919" y="352279"/>
                  </a:lnTo>
                  <a:lnTo>
                    <a:pt x="2336991" y="371046"/>
                  </a:lnTo>
                  <a:lnTo>
                    <a:pt x="2293226" y="391797"/>
                  </a:lnTo>
                  <a:lnTo>
                    <a:pt x="2249639" y="414531"/>
                  </a:lnTo>
                  <a:lnTo>
                    <a:pt x="2206246" y="439252"/>
                  </a:lnTo>
                  <a:lnTo>
                    <a:pt x="2163065" y="465959"/>
                  </a:lnTo>
                  <a:lnTo>
                    <a:pt x="2120111" y="494655"/>
                  </a:lnTo>
                  <a:lnTo>
                    <a:pt x="2077400" y="525342"/>
                  </a:lnTo>
                  <a:lnTo>
                    <a:pt x="2034949" y="558019"/>
                  </a:lnTo>
                  <a:lnTo>
                    <a:pt x="1992774" y="592689"/>
                  </a:lnTo>
                  <a:lnTo>
                    <a:pt x="1950891" y="629354"/>
                  </a:lnTo>
                  <a:lnTo>
                    <a:pt x="1909316" y="668014"/>
                  </a:lnTo>
                  <a:lnTo>
                    <a:pt x="1868066" y="708671"/>
                  </a:lnTo>
                  <a:lnTo>
                    <a:pt x="1827156" y="751327"/>
                  </a:lnTo>
                  <a:lnTo>
                    <a:pt x="1786603" y="795982"/>
                  </a:lnTo>
                  <a:lnTo>
                    <a:pt x="1754167" y="831303"/>
                  </a:lnTo>
                  <a:lnTo>
                    <a:pt x="1719929" y="864889"/>
                  </a:lnTo>
                  <a:lnTo>
                    <a:pt x="1684073" y="896698"/>
                  </a:lnTo>
                  <a:lnTo>
                    <a:pt x="1646782" y="926688"/>
                  </a:lnTo>
                  <a:lnTo>
                    <a:pt x="1608240" y="954818"/>
                  </a:lnTo>
                  <a:lnTo>
                    <a:pt x="1568629" y="981047"/>
                  </a:lnTo>
                  <a:lnTo>
                    <a:pt x="1528135" y="1005331"/>
                  </a:lnTo>
                  <a:lnTo>
                    <a:pt x="1484039" y="1029349"/>
                  </a:lnTo>
                  <a:lnTo>
                    <a:pt x="1439216" y="1050957"/>
                  </a:lnTo>
                  <a:lnTo>
                    <a:pt x="1393768" y="1070181"/>
                  </a:lnTo>
                  <a:lnTo>
                    <a:pt x="1347795" y="1087046"/>
                  </a:lnTo>
                  <a:lnTo>
                    <a:pt x="1301398" y="1101579"/>
                  </a:lnTo>
                  <a:lnTo>
                    <a:pt x="1254679" y="1113806"/>
                  </a:lnTo>
                  <a:lnTo>
                    <a:pt x="1207739" y="1123751"/>
                  </a:lnTo>
                  <a:lnTo>
                    <a:pt x="1160678" y="1131442"/>
                  </a:lnTo>
                  <a:lnTo>
                    <a:pt x="1113598" y="1136903"/>
                  </a:lnTo>
                  <a:lnTo>
                    <a:pt x="1067530" y="1140097"/>
                  </a:lnTo>
                  <a:lnTo>
                    <a:pt x="1069395" y="1140097"/>
                  </a:lnTo>
                  <a:lnTo>
                    <a:pt x="1019784" y="1141241"/>
                  </a:lnTo>
                  <a:close/>
                </a:path>
                <a:path w="3683000" h="4206240">
                  <a:moveTo>
                    <a:pt x="2781846" y="4205656"/>
                  </a:moveTo>
                  <a:lnTo>
                    <a:pt x="2731666" y="4204447"/>
                  </a:lnTo>
                  <a:lnTo>
                    <a:pt x="2682089" y="4200854"/>
                  </a:lnTo>
                  <a:lnTo>
                    <a:pt x="2633178" y="4194928"/>
                  </a:lnTo>
                  <a:lnTo>
                    <a:pt x="2584990" y="4186722"/>
                  </a:lnTo>
                  <a:lnTo>
                    <a:pt x="2537587" y="4176286"/>
                  </a:lnTo>
                  <a:lnTo>
                    <a:pt x="2491029" y="4163672"/>
                  </a:lnTo>
                  <a:lnTo>
                    <a:pt x="2445376" y="4148933"/>
                  </a:lnTo>
                  <a:lnTo>
                    <a:pt x="2400688" y="4132119"/>
                  </a:lnTo>
                  <a:lnTo>
                    <a:pt x="2357026" y="4113282"/>
                  </a:lnTo>
                  <a:lnTo>
                    <a:pt x="2314449" y="4092474"/>
                  </a:lnTo>
                  <a:lnTo>
                    <a:pt x="2273018" y="4069746"/>
                  </a:lnTo>
                  <a:lnTo>
                    <a:pt x="2229484" y="4042872"/>
                  </a:lnTo>
                  <a:lnTo>
                    <a:pt x="2187842" y="4014324"/>
                  </a:lnTo>
                  <a:lnTo>
                    <a:pt x="2148092" y="3984176"/>
                  </a:lnTo>
                  <a:lnTo>
                    <a:pt x="2110233" y="3952504"/>
                  </a:lnTo>
                  <a:lnTo>
                    <a:pt x="2074267" y="3919383"/>
                  </a:lnTo>
                  <a:lnTo>
                    <a:pt x="2040192" y="3884888"/>
                  </a:lnTo>
                  <a:lnTo>
                    <a:pt x="2008008" y="3849095"/>
                  </a:lnTo>
                  <a:lnTo>
                    <a:pt x="1977717" y="3812079"/>
                  </a:lnTo>
                  <a:lnTo>
                    <a:pt x="1949317" y="3773915"/>
                  </a:lnTo>
                  <a:lnTo>
                    <a:pt x="1922809" y="3734678"/>
                  </a:lnTo>
                  <a:lnTo>
                    <a:pt x="1898192" y="3694444"/>
                  </a:lnTo>
                  <a:lnTo>
                    <a:pt x="1874819" y="3650347"/>
                  </a:lnTo>
                  <a:lnTo>
                    <a:pt x="1853611" y="3605524"/>
                  </a:lnTo>
                  <a:lnTo>
                    <a:pt x="1834581" y="3560076"/>
                  </a:lnTo>
                  <a:lnTo>
                    <a:pt x="1817741" y="3514103"/>
                  </a:lnTo>
                  <a:lnTo>
                    <a:pt x="1803105" y="3467706"/>
                  </a:lnTo>
                  <a:lnTo>
                    <a:pt x="1790685" y="3420987"/>
                  </a:lnTo>
                  <a:lnTo>
                    <a:pt x="1780494" y="3374047"/>
                  </a:lnTo>
                  <a:lnTo>
                    <a:pt x="1772546" y="3326986"/>
                  </a:lnTo>
                  <a:lnTo>
                    <a:pt x="1766852" y="3279906"/>
                  </a:lnTo>
                  <a:lnTo>
                    <a:pt x="1763427" y="3232908"/>
                  </a:lnTo>
                  <a:lnTo>
                    <a:pt x="1762282" y="3186092"/>
                  </a:lnTo>
                  <a:lnTo>
                    <a:pt x="1763480" y="3135211"/>
                  </a:lnTo>
                  <a:lnTo>
                    <a:pt x="1767046" y="3085083"/>
                  </a:lnTo>
                  <a:lnTo>
                    <a:pt x="1772933" y="3035750"/>
                  </a:lnTo>
                  <a:lnTo>
                    <a:pt x="1781096" y="2987255"/>
                  </a:lnTo>
                  <a:lnTo>
                    <a:pt x="1791491" y="2939642"/>
                  </a:lnTo>
                  <a:lnTo>
                    <a:pt x="1804073" y="2892953"/>
                  </a:lnTo>
                  <a:lnTo>
                    <a:pt x="1818795" y="2847232"/>
                  </a:lnTo>
                  <a:lnTo>
                    <a:pt x="1835613" y="2802521"/>
                  </a:lnTo>
                  <a:lnTo>
                    <a:pt x="1854482" y="2758863"/>
                  </a:lnTo>
                  <a:lnTo>
                    <a:pt x="1875357" y="2716301"/>
                  </a:lnTo>
                  <a:lnTo>
                    <a:pt x="1898192" y="2674879"/>
                  </a:lnTo>
                  <a:lnTo>
                    <a:pt x="1924948" y="2631347"/>
                  </a:lnTo>
                  <a:lnTo>
                    <a:pt x="1953399" y="2589718"/>
                  </a:lnTo>
                  <a:lnTo>
                    <a:pt x="1983469" y="2550002"/>
                  </a:lnTo>
                  <a:lnTo>
                    <a:pt x="2015081" y="2512209"/>
                  </a:lnTo>
                  <a:lnTo>
                    <a:pt x="2048156" y="2476352"/>
                  </a:lnTo>
                  <a:lnTo>
                    <a:pt x="2082618" y="2442440"/>
                  </a:lnTo>
                  <a:lnTo>
                    <a:pt x="2118389" y="2410484"/>
                  </a:lnTo>
                  <a:lnTo>
                    <a:pt x="2155392" y="2380495"/>
                  </a:lnTo>
                  <a:lnTo>
                    <a:pt x="2193550" y="2352484"/>
                  </a:lnTo>
                  <a:lnTo>
                    <a:pt x="2232784" y="2326462"/>
                  </a:lnTo>
                  <a:lnTo>
                    <a:pt x="2273018" y="2302438"/>
                  </a:lnTo>
                  <a:lnTo>
                    <a:pt x="2316614" y="2277889"/>
                  </a:lnTo>
                  <a:lnTo>
                    <a:pt x="2361061" y="2255768"/>
                  </a:lnTo>
                  <a:lnTo>
                    <a:pt x="2406217" y="2236108"/>
                  </a:lnTo>
                  <a:lnTo>
                    <a:pt x="2451940" y="2218941"/>
                  </a:lnTo>
                  <a:lnTo>
                    <a:pt x="2498089" y="2204303"/>
                  </a:lnTo>
                  <a:lnTo>
                    <a:pt x="2544521" y="2192225"/>
                  </a:lnTo>
                  <a:lnTo>
                    <a:pt x="2591095" y="2182742"/>
                  </a:lnTo>
                  <a:lnTo>
                    <a:pt x="2647752" y="2170157"/>
                  </a:lnTo>
                  <a:lnTo>
                    <a:pt x="2702998" y="2156376"/>
                  </a:lnTo>
                  <a:lnTo>
                    <a:pt x="2756824" y="2141409"/>
                  </a:lnTo>
                  <a:lnTo>
                    <a:pt x="2809222" y="2125269"/>
                  </a:lnTo>
                  <a:lnTo>
                    <a:pt x="2860184" y="2107969"/>
                  </a:lnTo>
                  <a:lnTo>
                    <a:pt x="2909702" y="2089521"/>
                  </a:lnTo>
                  <a:lnTo>
                    <a:pt x="2957766" y="2069938"/>
                  </a:lnTo>
                  <a:lnTo>
                    <a:pt x="3004369" y="2049231"/>
                  </a:lnTo>
                  <a:lnTo>
                    <a:pt x="3049502" y="2027414"/>
                  </a:lnTo>
                  <a:lnTo>
                    <a:pt x="3093158" y="2004498"/>
                  </a:lnTo>
                  <a:lnTo>
                    <a:pt x="3135326" y="1980497"/>
                  </a:lnTo>
                  <a:lnTo>
                    <a:pt x="3176000" y="1955422"/>
                  </a:lnTo>
                  <a:lnTo>
                    <a:pt x="3215171" y="1929286"/>
                  </a:lnTo>
                  <a:lnTo>
                    <a:pt x="3252830" y="1902102"/>
                  </a:lnTo>
                  <a:lnTo>
                    <a:pt x="3288969" y="1873881"/>
                  </a:lnTo>
                  <a:lnTo>
                    <a:pt x="3323579" y="1844636"/>
                  </a:lnTo>
                  <a:lnTo>
                    <a:pt x="3356653" y="1814379"/>
                  </a:lnTo>
                  <a:lnTo>
                    <a:pt x="3388181" y="1783124"/>
                  </a:lnTo>
                  <a:lnTo>
                    <a:pt x="3418156" y="1750882"/>
                  </a:lnTo>
                  <a:lnTo>
                    <a:pt x="3446569" y="1717665"/>
                  </a:lnTo>
                  <a:lnTo>
                    <a:pt x="3473411" y="1683487"/>
                  </a:lnTo>
                  <a:lnTo>
                    <a:pt x="3498675" y="1648359"/>
                  </a:lnTo>
                  <a:lnTo>
                    <a:pt x="3522352" y="1612294"/>
                  </a:lnTo>
                  <a:lnTo>
                    <a:pt x="3544433" y="1575304"/>
                  </a:lnTo>
                  <a:lnTo>
                    <a:pt x="3564910" y="1537402"/>
                  </a:lnTo>
                  <a:lnTo>
                    <a:pt x="3583775" y="1498600"/>
                  </a:lnTo>
                  <a:lnTo>
                    <a:pt x="3601020" y="1458911"/>
                  </a:lnTo>
                  <a:lnTo>
                    <a:pt x="3616635" y="1418346"/>
                  </a:lnTo>
                  <a:lnTo>
                    <a:pt x="3630613" y="1376919"/>
                  </a:lnTo>
                  <a:lnTo>
                    <a:pt x="3642945" y="1334642"/>
                  </a:lnTo>
                  <a:lnTo>
                    <a:pt x="3653623" y="1291526"/>
                  </a:lnTo>
                  <a:lnTo>
                    <a:pt x="3662639" y="1247585"/>
                  </a:lnTo>
                  <a:lnTo>
                    <a:pt x="3670300" y="1200303"/>
                  </a:lnTo>
                  <a:lnTo>
                    <a:pt x="3675125" y="1153174"/>
                  </a:lnTo>
                  <a:lnTo>
                    <a:pt x="3677168" y="1106292"/>
                  </a:lnTo>
                  <a:lnTo>
                    <a:pt x="3676487" y="1059757"/>
                  </a:lnTo>
                  <a:lnTo>
                    <a:pt x="3673138" y="1013663"/>
                  </a:lnTo>
                  <a:lnTo>
                    <a:pt x="3667176" y="968109"/>
                  </a:lnTo>
                  <a:lnTo>
                    <a:pt x="3658658" y="923192"/>
                  </a:lnTo>
                  <a:lnTo>
                    <a:pt x="3647641" y="879007"/>
                  </a:lnTo>
                  <a:lnTo>
                    <a:pt x="3634180" y="835652"/>
                  </a:lnTo>
                  <a:lnTo>
                    <a:pt x="3618331" y="793224"/>
                  </a:lnTo>
                  <a:lnTo>
                    <a:pt x="3600152" y="751819"/>
                  </a:lnTo>
                  <a:lnTo>
                    <a:pt x="3579697" y="711535"/>
                  </a:lnTo>
                  <a:lnTo>
                    <a:pt x="3557024" y="672469"/>
                  </a:lnTo>
                  <a:lnTo>
                    <a:pt x="3532189" y="634717"/>
                  </a:lnTo>
                  <a:lnTo>
                    <a:pt x="3505247" y="598376"/>
                  </a:lnTo>
                  <a:lnTo>
                    <a:pt x="3476255" y="563542"/>
                  </a:lnTo>
                  <a:lnTo>
                    <a:pt x="3445269" y="530314"/>
                  </a:lnTo>
                  <a:lnTo>
                    <a:pt x="3412346" y="498788"/>
                  </a:lnTo>
                  <a:lnTo>
                    <a:pt x="3377541" y="469060"/>
                  </a:lnTo>
                  <a:lnTo>
                    <a:pt x="3340911" y="441227"/>
                  </a:lnTo>
                  <a:lnTo>
                    <a:pt x="3302512" y="415387"/>
                  </a:lnTo>
                  <a:lnTo>
                    <a:pt x="3262400" y="391636"/>
                  </a:lnTo>
                  <a:lnTo>
                    <a:pt x="3220632" y="370072"/>
                  </a:lnTo>
                  <a:lnTo>
                    <a:pt x="3177264" y="350790"/>
                  </a:lnTo>
                  <a:lnTo>
                    <a:pt x="3132351" y="333888"/>
                  </a:lnTo>
                  <a:lnTo>
                    <a:pt x="3082426" y="317567"/>
                  </a:lnTo>
                  <a:lnTo>
                    <a:pt x="3032393" y="303757"/>
                  </a:lnTo>
                  <a:lnTo>
                    <a:pt x="2982260" y="292458"/>
                  </a:lnTo>
                  <a:lnTo>
                    <a:pt x="2932035" y="283670"/>
                  </a:lnTo>
                  <a:lnTo>
                    <a:pt x="2881726" y="277392"/>
                  </a:lnTo>
                  <a:lnTo>
                    <a:pt x="2831343" y="273626"/>
                  </a:lnTo>
                  <a:lnTo>
                    <a:pt x="2780893" y="272371"/>
                  </a:lnTo>
                  <a:lnTo>
                    <a:pt x="3682948" y="272371"/>
                  </a:lnTo>
                  <a:lnTo>
                    <a:pt x="3682948" y="2007177"/>
                  </a:lnTo>
                  <a:lnTo>
                    <a:pt x="3678493" y="2025502"/>
                  </a:lnTo>
                  <a:lnTo>
                    <a:pt x="3670151" y="2066221"/>
                  </a:lnTo>
                  <a:lnTo>
                    <a:pt x="3663204" y="2107624"/>
                  </a:lnTo>
                  <a:lnTo>
                    <a:pt x="3657658" y="2149699"/>
                  </a:lnTo>
                  <a:lnTo>
                    <a:pt x="3653539" y="2192225"/>
                  </a:lnTo>
                  <a:lnTo>
                    <a:pt x="3650792" y="2235824"/>
                  </a:lnTo>
                  <a:lnTo>
                    <a:pt x="3649541" y="2277889"/>
                  </a:lnTo>
                  <a:lnTo>
                    <a:pt x="3649666" y="2326462"/>
                  </a:lnTo>
                  <a:lnTo>
                    <a:pt x="3651145" y="2369786"/>
                  </a:lnTo>
                  <a:lnTo>
                    <a:pt x="3654127" y="2415670"/>
                  </a:lnTo>
                  <a:lnTo>
                    <a:pt x="3658552" y="2462151"/>
                  </a:lnTo>
                  <a:lnTo>
                    <a:pt x="3664424" y="2509218"/>
                  </a:lnTo>
                  <a:lnTo>
                    <a:pt x="3671750" y="2556860"/>
                  </a:lnTo>
                  <a:lnTo>
                    <a:pt x="3680536" y="2605066"/>
                  </a:lnTo>
                  <a:lnTo>
                    <a:pt x="3682948" y="2616539"/>
                  </a:lnTo>
                  <a:lnTo>
                    <a:pt x="3682948" y="3662830"/>
                  </a:lnTo>
                  <a:lnTo>
                    <a:pt x="3638334" y="3737978"/>
                  </a:lnTo>
                  <a:lnTo>
                    <a:pt x="3610063" y="3779622"/>
                  </a:lnTo>
                  <a:lnTo>
                    <a:pt x="3580259" y="3819379"/>
                  </a:lnTo>
                  <a:lnTo>
                    <a:pt x="3548972" y="3857251"/>
                  </a:lnTo>
                  <a:lnTo>
                    <a:pt x="3516251" y="3893240"/>
                  </a:lnTo>
                  <a:lnTo>
                    <a:pt x="3482145" y="3927347"/>
                  </a:lnTo>
                  <a:lnTo>
                    <a:pt x="3446705" y="3959576"/>
                  </a:lnTo>
                  <a:lnTo>
                    <a:pt x="3409979" y="3989928"/>
                  </a:lnTo>
                  <a:lnTo>
                    <a:pt x="3372017" y="4018406"/>
                  </a:lnTo>
                  <a:lnTo>
                    <a:pt x="3332868" y="4045011"/>
                  </a:lnTo>
                  <a:lnTo>
                    <a:pt x="3292582" y="4069746"/>
                  </a:lnTo>
                  <a:lnTo>
                    <a:pt x="3248484" y="4093119"/>
                  </a:lnTo>
                  <a:lnTo>
                    <a:pt x="3203648" y="4114327"/>
                  </a:lnTo>
                  <a:lnTo>
                    <a:pt x="3158166" y="4133357"/>
                  </a:lnTo>
                  <a:lnTo>
                    <a:pt x="3112127" y="4150197"/>
                  </a:lnTo>
                  <a:lnTo>
                    <a:pt x="3065621" y="4164833"/>
                  </a:lnTo>
                  <a:lnTo>
                    <a:pt x="3018739" y="4177253"/>
                  </a:lnTo>
                  <a:lnTo>
                    <a:pt x="2971571" y="4187444"/>
                  </a:lnTo>
                  <a:lnTo>
                    <a:pt x="2924207" y="4195392"/>
                  </a:lnTo>
                  <a:lnTo>
                    <a:pt x="2876739" y="4201086"/>
                  </a:lnTo>
                  <a:lnTo>
                    <a:pt x="2830149" y="4204447"/>
                  </a:lnTo>
                  <a:lnTo>
                    <a:pt x="2831925" y="4204447"/>
                  </a:lnTo>
                  <a:lnTo>
                    <a:pt x="2781846" y="4205656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3960858"/>
              <a:ext cx="5652135" cy="1183005"/>
            </a:xfrm>
            <a:custGeom>
              <a:avLst/>
              <a:gdLst/>
              <a:ahLst/>
              <a:cxnLst/>
              <a:rect l="l" t="t" r="r" b="b"/>
              <a:pathLst>
                <a:path w="5652135" h="1183004">
                  <a:moveTo>
                    <a:pt x="5642034" y="899948"/>
                  </a:moveTo>
                  <a:lnTo>
                    <a:pt x="2786854" y="899948"/>
                  </a:lnTo>
                  <a:lnTo>
                    <a:pt x="2831239" y="899008"/>
                  </a:lnTo>
                  <a:lnTo>
                    <a:pt x="2875614" y="896189"/>
                  </a:lnTo>
                  <a:lnTo>
                    <a:pt x="2919962" y="891492"/>
                  </a:lnTo>
                  <a:lnTo>
                    <a:pt x="2964268" y="884917"/>
                  </a:lnTo>
                  <a:lnTo>
                    <a:pt x="3008516" y="876465"/>
                  </a:lnTo>
                  <a:lnTo>
                    <a:pt x="3052691" y="866138"/>
                  </a:lnTo>
                  <a:lnTo>
                    <a:pt x="3096776" y="853936"/>
                  </a:lnTo>
                  <a:lnTo>
                    <a:pt x="3140756" y="839860"/>
                  </a:lnTo>
                  <a:lnTo>
                    <a:pt x="3184615" y="823911"/>
                  </a:lnTo>
                  <a:lnTo>
                    <a:pt x="3228337" y="806090"/>
                  </a:lnTo>
                  <a:lnTo>
                    <a:pt x="3271907" y="786396"/>
                  </a:lnTo>
                  <a:lnTo>
                    <a:pt x="3315309" y="764833"/>
                  </a:lnTo>
                  <a:lnTo>
                    <a:pt x="3358527" y="741399"/>
                  </a:lnTo>
                  <a:lnTo>
                    <a:pt x="3401545" y="716097"/>
                  </a:lnTo>
                  <a:lnTo>
                    <a:pt x="3444347" y="688926"/>
                  </a:lnTo>
                  <a:lnTo>
                    <a:pt x="3486919" y="659889"/>
                  </a:lnTo>
                  <a:lnTo>
                    <a:pt x="3529244" y="628985"/>
                  </a:lnTo>
                  <a:lnTo>
                    <a:pt x="3571306" y="596215"/>
                  </a:lnTo>
                  <a:lnTo>
                    <a:pt x="3613089" y="561581"/>
                  </a:lnTo>
                  <a:lnTo>
                    <a:pt x="3654579" y="525083"/>
                  </a:lnTo>
                  <a:lnTo>
                    <a:pt x="3695758" y="486722"/>
                  </a:lnTo>
                  <a:lnTo>
                    <a:pt x="3736612" y="446498"/>
                  </a:lnTo>
                  <a:lnTo>
                    <a:pt x="3777124" y="404414"/>
                  </a:lnTo>
                  <a:lnTo>
                    <a:pt x="3817279" y="360469"/>
                  </a:lnTo>
                  <a:lnTo>
                    <a:pt x="3850637" y="323073"/>
                  </a:lnTo>
                  <a:lnTo>
                    <a:pt x="3885839" y="287462"/>
                  </a:lnTo>
                  <a:lnTo>
                    <a:pt x="3922688" y="253738"/>
                  </a:lnTo>
                  <a:lnTo>
                    <a:pt x="3960987" y="222004"/>
                  </a:lnTo>
                  <a:lnTo>
                    <a:pt x="4000538" y="192363"/>
                  </a:lnTo>
                  <a:lnTo>
                    <a:pt x="4041145" y="164919"/>
                  </a:lnTo>
                  <a:lnTo>
                    <a:pt x="4082610" y="139773"/>
                  </a:lnTo>
                  <a:lnTo>
                    <a:pt x="4127353" y="115736"/>
                  </a:lnTo>
                  <a:lnTo>
                    <a:pt x="4172964" y="93925"/>
                  </a:lnTo>
                  <a:lnTo>
                    <a:pt x="4219341" y="74354"/>
                  </a:lnTo>
                  <a:lnTo>
                    <a:pt x="4266379" y="57035"/>
                  </a:lnTo>
                  <a:lnTo>
                    <a:pt x="4313974" y="41983"/>
                  </a:lnTo>
                  <a:lnTo>
                    <a:pt x="4362022" y="29210"/>
                  </a:lnTo>
                  <a:lnTo>
                    <a:pt x="4410419" y="18730"/>
                  </a:lnTo>
                  <a:lnTo>
                    <a:pt x="4459062" y="10555"/>
                  </a:lnTo>
                  <a:lnTo>
                    <a:pt x="4507846" y="4700"/>
                  </a:lnTo>
                  <a:lnTo>
                    <a:pt x="4556668" y="1177"/>
                  </a:lnTo>
                  <a:lnTo>
                    <a:pt x="4605424" y="0"/>
                  </a:lnTo>
                  <a:lnTo>
                    <a:pt x="4655416" y="1177"/>
                  </a:lnTo>
                  <a:lnTo>
                    <a:pt x="4656986" y="1177"/>
                  </a:lnTo>
                  <a:lnTo>
                    <a:pt x="4709347" y="4899"/>
                  </a:lnTo>
                  <a:lnTo>
                    <a:pt x="4760123" y="10953"/>
                  </a:lnTo>
                  <a:lnTo>
                    <a:pt x="4810042" y="19349"/>
                  </a:lnTo>
                  <a:lnTo>
                    <a:pt x="4859052" y="30039"/>
                  </a:lnTo>
                  <a:lnTo>
                    <a:pt x="4907102" y="42978"/>
                  </a:lnTo>
                  <a:lnTo>
                    <a:pt x="4954142" y="58119"/>
                  </a:lnTo>
                  <a:lnTo>
                    <a:pt x="5000121" y="75415"/>
                  </a:lnTo>
                  <a:lnTo>
                    <a:pt x="5044987" y="94821"/>
                  </a:lnTo>
                  <a:lnTo>
                    <a:pt x="5088691" y="116289"/>
                  </a:lnTo>
                  <a:lnTo>
                    <a:pt x="5131181" y="139773"/>
                  </a:lnTo>
                  <a:lnTo>
                    <a:pt x="5175410" y="167290"/>
                  </a:lnTo>
                  <a:lnTo>
                    <a:pt x="5217910" y="196553"/>
                  </a:lnTo>
                  <a:lnTo>
                    <a:pt x="5258630" y="227485"/>
                  </a:lnTo>
                  <a:lnTo>
                    <a:pt x="5297520" y="260009"/>
                  </a:lnTo>
                  <a:lnTo>
                    <a:pt x="5334528" y="294047"/>
                  </a:lnTo>
                  <a:lnTo>
                    <a:pt x="5369604" y="329522"/>
                  </a:lnTo>
                  <a:lnTo>
                    <a:pt x="5402697" y="366357"/>
                  </a:lnTo>
                  <a:lnTo>
                    <a:pt x="5433706" y="404414"/>
                  </a:lnTo>
                  <a:lnTo>
                    <a:pt x="5462729" y="443796"/>
                  </a:lnTo>
                  <a:lnTo>
                    <a:pt x="5489567" y="484246"/>
                  </a:lnTo>
                  <a:lnTo>
                    <a:pt x="5514219" y="525746"/>
                  </a:lnTo>
                  <a:lnTo>
                    <a:pt x="5538918" y="571752"/>
                  </a:lnTo>
                  <a:lnTo>
                    <a:pt x="5561127" y="618260"/>
                  </a:lnTo>
                  <a:lnTo>
                    <a:pt x="5580863" y="665237"/>
                  </a:lnTo>
                  <a:lnTo>
                    <a:pt x="5598140" y="712649"/>
                  </a:lnTo>
                  <a:lnTo>
                    <a:pt x="5612975" y="760464"/>
                  </a:lnTo>
                  <a:lnTo>
                    <a:pt x="5625381" y="808648"/>
                  </a:lnTo>
                  <a:lnTo>
                    <a:pt x="5635376" y="857167"/>
                  </a:lnTo>
                  <a:lnTo>
                    <a:pt x="5642034" y="899948"/>
                  </a:lnTo>
                  <a:close/>
                </a:path>
                <a:path w="5652135" h="1183004">
                  <a:moveTo>
                    <a:pt x="5643441" y="1182641"/>
                  </a:moveTo>
                  <a:lnTo>
                    <a:pt x="0" y="1182641"/>
                  </a:lnTo>
                  <a:lnTo>
                    <a:pt x="0" y="654432"/>
                  </a:lnTo>
                  <a:lnTo>
                    <a:pt x="17167" y="614609"/>
                  </a:lnTo>
                  <a:lnTo>
                    <a:pt x="38567" y="570809"/>
                  </a:lnTo>
                  <a:lnTo>
                    <a:pt x="61942" y="528198"/>
                  </a:lnTo>
                  <a:lnTo>
                    <a:pt x="89459" y="483428"/>
                  </a:lnTo>
                  <a:lnTo>
                    <a:pt x="118722" y="440615"/>
                  </a:lnTo>
                  <a:lnTo>
                    <a:pt x="149655" y="399770"/>
                  </a:lnTo>
                  <a:lnTo>
                    <a:pt x="182179" y="360903"/>
                  </a:lnTo>
                  <a:lnTo>
                    <a:pt x="216218" y="324026"/>
                  </a:lnTo>
                  <a:lnTo>
                    <a:pt x="251694" y="289150"/>
                  </a:lnTo>
                  <a:lnTo>
                    <a:pt x="288530" y="256286"/>
                  </a:lnTo>
                  <a:lnTo>
                    <a:pt x="326648" y="225445"/>
                  </a:lnTo>
                  <a:lnTo>
                    <a:pt x="366099" y="196553"/>
                  </a:lnTo>
                  <a:lnTo>
                    <a:pt x="406421" y="169875"/>
                  </a:lnTo>
                  <a:lnTo>
                    <a:pt x="447922" y="145168"/>
                  </a:lnTo>
                  <a:lnTo>
                    <a:pt x="492543" y="120468"/>
                  </a:lnTo>
                  <a:lnTo>
                    <a:pt x="538058" y="98246"/>
                  </a:lnTo>
                  <a:lnTo>
                    <a:pt x="584361" y="78475"/>
                  </a:lnTo>
                  <a:lnTo>
                    <a:pt x="631351" y="61130"/>
                  </a:lnTo>
                  <a:lnTo>
                    <a:pt x="678921" y="46184"/>
                  </a:lnTo>
                  <a:lnTo>
                    <a:pt x="726969" y="33610"/>
                  </a:lnTo>
                  <a:lnTo>
                    <a:pt x="775391" y="23381"/>
                  </a:lnTo>
                  <a:lnTo>
                    <a:pt x="824083" y="15472"/>
                  </a:lnTo>
                  <a:lnTo>
                    <a:pt x="872940" y="9855"/>
                  </a:lnTo>
                  <a:lnTo>
                    <a:pt x="921859" y="6505"/>
                  </a:lnTo>
                  <a:lnTo>
                    <a:pt x="970736" y="5394"/>
                  </a:lnTo>
                  <a:lnTo>
                    <a:pt x="1020012" y="6505"/>
                  </a:lnTo>
                  <a:lnTo>
                    <a:pt x="1021985" y="6505"/>
                  </a:lnTo>
                  <a:lnTo>
                    <a:pt x="1074440" y="10094"/>
                  </a:lnTo>
                  <a:lnTo>
                    <a:pt x="1125144" y="15950"/>
                  </a:lnTo>
                  <a:lnTo>
                    <a:pt x="1175013" y="24124"/>
                  </a:lnTo>
                  <a:lnTo>
                    <a:pt x="1223999" y="34605"/>
                  </a:lnTo>
                  <a:lnTo>
                    <a:pt x="1272049" y="47378"/>
                  </a:lnTo>
                  <a:lnTo>
                    <a:pt x="1319114" y="62430"/>
                  </a:lnTo>
                  <a:lnTo>
                    <a:pt x="1365141" y="79749"/>
                  </a:lnTo>
                  <a:lnTo>
                    <a:pt x="1410081" y="99320"/>
                  </a:lnTo>
                  <a:lnTo>
                    <a:pt x="1453882" y="121131"/>
                  </a:lnTo>
                  <a:lnTo>
                    <a:pt x="1496493" y="145168"/>
                  </a:lnTo>
                  <a:lnTo>
                    <a:pt x="1540129" y="171233"/>
                  </a:lnTo>
                  <a:lnTo>
                    <a:pt x="1582237" y="198987"/>
                  </a:lnTo>
                  <a:lnTo>
                    <a:pt x="1622672" y="228441"/>
                  </a:lnTo>
                  <a:lnTo>
                    <a:pt x="1661289" y="259601"/>
                  </a:lnTo>
                  <a:lnTo>
                    <a:pt x="1697940" y="292477"/>
                  </a:lnTo>
                  <a:lnTo>
                    <a:pt x="1732482" y="327078"/>
                  </a:lnTo>
                  <a:lnTo>
                    <a:pt x="1764767" y="363412"/>
                  </a:lnTo>
                  <a:lnTo>
                    <a:pt x="1804495" y="407229"/>
                  </a:lnTo>
                  <a:lnTo>
                    <a:pt x="1844586" y="449177"/>
                  </a:lnTo>
                  <a:lnTo>
                    <a:pt x="1885025" y="489256"/>
                  </a:lnTo>
                  <a:lnTo>
                    <a:pt x="1925794" y="527467"/>
                  </a:lnTo>
                  <a:lnTo>
                    <a:pt x="1966879" y="563809"/>
                  </a:lnTo>
                  <a:lnTo>
                    <a:pt x="2008265" y="598284"/>
                  </a:lnTo>
                  <a:lnTo>
                    <a:pt x="2049936" y="630892"/>
                  </a:lnTo>
                  <a:lnTo>
                    <a:pt x="2091875" y="661633"/>
                  </a:lnTo>
                  <a:lnTo>
                    <a:pt x="2134069" y="690507"/>
                  </a:lnTo>
                  <a:lnTo>
                    <a:pt x="2176501" y="717515"/>
                  </a:lnTo>
                  <a:lnTo>
                    <a:pt x="2219155" y="742658"/>
                  </a:lnTo>
                  <a:lnTo>
                    <a:pt x="2262017" y="765936"/>
                  </a:lnTo>
                  <a:lnTo>
                    <a:pt x="2305070" y="787349"/>
                  </a:lnTo>
                  <a:lnTo>
                    <a:pt x="2348299" y="806898"/>
                  </a:lnTo>
                  <a:lnTo>
                    <a:pt x="2391689" y="824584"/>
                  </a:lnTo>
                  <a:lnTo>
                    <a:pt x="2435223" y="840405"/>
                  </a:lnTo>
                  <a:lnTo>
                    <a:pt x="2478887" y="854364"/>
                  </a:lnTo>
                  <a:lnTo>
                    <a:pt x="2522665" y="866460"/>
                  </a:lnTo>
                  <a:lnTo>
                    <a:pt x="2566542" y="876694"/>
                  </a:lnTo>
                  <a:lnTo>
                    <a:pt x="2610501" y="885067"/>
                  </a:lnTo>
                  <a:lnTo>
                    <a:pt x="2653944" y="891492"/>
                  </a:lnTo>
                  <a:lnTo>
                    <a:pt x="2653710" y="891492"/>
                  </a:lnTo>
                  <a:lnTo>
                    <a:pt x="2698234" y="896189"/>
                  </a:lnTo>
                  <a:lnTo>
                    <a:pt x="2697986" y="896189"/>
                  </a:lnTo>
                  <a:lnTo>
                    <a:pt x="2742561" y="899008"/>
                  </a:lnTo>
                  <a:lnTo>
                    <a:pt x="2742244" y="899008"/>
                  </a:lnTo>
                  <a:lnTo>
                    <a:pt x="2786854" y="899948"/>
                  </a:lnTo>
                  <a:lnTo>
                    <a:pt x="5642034" y="899948"/>
                  </a:lnTo>
                  <a:lnTo>
                    <a:pt x="5642974" y="905990"/>
                  </a:lnTo>
                  <a:lnTo>
                    <a:pt x="5648191" y="955083"/>
                  </a:lnTo>
                  <a:lnTo>
                    <a:pt x="5651042" y="1004412"/>
                  </a:lnTo>
                  <a:lnTo>
                    <a:pt x="5651543" y="1053944"/>
                  </a:lnTo>
                  <a:lnTo>
                    <a:pt x="5650300" y="1105551"/>
                  </a:lnTo>
                  <a:lnTo>
                    <a:pt x="5646604" y="1156534"/>
                  </a:lnTo>
                  <a:lnTo>
                    <a:pt x="5643441" y="1182641"/>
                  </a:lnTo>
                  <a:close/>
                </a:path>
              </a:pathLst>
            </a:custGeom>
            <a:solidFill>
              <a:srgbClr val="8FE3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42875" y="1928474"/>
              <a:ext cx="101600" cy="917575"/>
            </a:xfrm>
            <a:custGeom>
              <a:avLst/>
              <a:gdLst/>
              <a:ahLst/>
              <a:cxnLst/>
              <a:rect l="l" t="t" r="r" b="b"/>
              <a:pathLst>
                <a:path w="101600" h="917575">
                  <a:moveTo>
                    <a:pt x="101125" y="917399"/>
                  </a:moveTo>
                  <a:lnTo>
                    <a:pt x="0" y="917399"/>
                  </a:lnTo>
                  <a:lnTo>
                    <a:pt x="0" y="0"/>
                  </a:lnTo>
                  <a:lnTo>
                    <a:pt x="101125" y="0"/>
                  </a:lnTo>
                  <a:lnTo>
                    <a:pt x="101125" y="917399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2206" y="759869"/>
              <a:ext cx="206218" cy="20372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2259" y="760491"/>
              <a:ext cx="189729" cy="19813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8643" y="759869"/>
              <a:ext cx="206835" cy="203728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76986" y="766714"/>
              <a:ext cx="74295" cy="262255"/>
            </a:xfrm>
            <a:custGeom>
              <a:avLst/>
              <a:gdLst/>
              <a:ahLst/>
              <a:cxnLst/>
              <a:rect l="l" t="t" r="r" b="b"/>
              <a:pathLst>
                <a:path w="74294" h="262255">
                  <a:moveTo>
                    <a:pt x="7775" y="262201"/>
                  </a:moveTo>
                  <a:lnTo>
                    <a:pt x="0" y="262201"/>
                  </a:lnTo>
                  <a:lnTo>
                    <a:pt x="0" y="230474"/>
                  </a:lnTo>
                  <a:lnTo>
                    <a:pt x="4041" y="230474"/>
                  </a:lnTo>
                  <a:lnTo>
                    <a:pt x="19249" y="228389"/>
                  </a:lnTo>
                  <a:lnTo>
                    <a:pt x="29352" y="221727"/>
                  </a:lnTo>
                  <a:lnTo>
                    <a:pt x="34964" y="209874"/>
                  </a:lnTo>
                  <a:lnTo>
                    <a:pt x="36699" y="192219"/>
                  </a:lnTo>
                  <a:lnTo>
                    <a:pt x="36699" y="0"/>
                  </a:lnTo>
                  <a:lnTo>
                    <a:pt x="73715" y="0"/>
                  </a:lnTo>
                  <a:lnTo>
                    <a:pt x="73715" y="190041"/>
                  </a:lnTo>
                  <a:lnTo>
                    <a:pt x="70061" y="221524"/>
                  </a:lnTo>
                  <a:lnTo>
                    <a:pt x="58474" y="244084"/>
                  </a:lnTo>
                  <a:lnTo>
                    <a:pt x="38023" y="257662"/>
                  </a:lnTo>
                  <a:lnTo>
                    <a:pt x="7775" y="2622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1665" y="687709"/>
              <a:ext cx="282723" cy="2895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2727" y="867875"/>
              <a:ext cx="146497" cy="159257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897208" y="1705860"/>
            <a:ext cx="5823585" cy="1647189"/>
          </a:xfrm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marL="12700" marR="5080">
              <a:lnSpc>
                <a:spcPts val="6050"/>
              </a:lnSpc>
              <a:spcBef>
                <a:spcPts val="860"/>
              </a:spcBef>
            </a:pPr>
            <a:r>
              <a:rPr dirty="0" sz="5600" spc="150">
                <a:solidFill>
                  <a:srgbClr val="FFFFFF"/>
                </a:solidFill>
                <a:latin typeface="Gill Sans MT"/>
                <a:cs typeface="Gill Sans MT"/>
              </a:rPr>
              <a:t>I⭲lroduclio⭲</a:t>
            </a:r>
            <a:r>
              <a:rPr dirty="0" sz="5600" spc="-21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5600" spc="710">
                <a:solidFill>
                  <a:srgbClr val="FFFFFF"/>
                </a:solidFill>
                <a:latin typeface="Gill Sans MT"/>
                <a:cs typeface="Gill Sans MT"/>
              </a:rPr>
              <a:t>lo </a:t>
            </a:r>
            <a:r>
              <a:rPr dirty="0" sz="5600" spc="490">
                <a:solidFill>
                  <a:srgbClr val="FFFFFF"/>
                </a:solidFill>
                <a:latin typeface="Gill Sans MT"/>
                <a:cs typeface="Gill Sans MT"/>
              </a:rPr>
              <a:t>Neo4j</a:t>
            </a:r>
            <a:endParaRPr sz="56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2425" y="2162175"/>
            <a:ext cx="819149" cy="8191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050" y="247401"/>
            <a:ext cx="10217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0562" y="1117351"/>
            <a:ext cx="4994275" cy="149796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401955" indent="-389255">
              <a:lnSpc>
                <a:spcPct val="100000"/>
              </a:lnSpc>
              <a:spcBef>
                <a:spcPts val="475"/>
              </a:spcBef>
              <a:buFont typeface="Arial"/>
              <a:buChar char="●"/>
              <a:tabLst>
                <a:tab pos="401955" algn="l"/>
              </a:tabLst>
            </a:pPr>
            <a:r>
              <a:rPr dirty="0" sz="2100" spc="50">
                <a:solidFill>
                  <a:srgbClr val="FFFFFF"/>
                </a:solidFill>
                <a:latin typeface="Trebuchet MS"/>
                <a:cs typeface="Trebuchet MS"/>
              </a:rPr>
              <a:t>Concepts</a:t>
            </a:r>
            <a:endParaRPr sz="210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380"/>
              </a:spcBef>
              <a:buFont typeface="Arial"/>
              <a:buChar char="●"/>
              <a:tabLst>
                <a:tab pos="401955" algn="l"/>
              </a:tabLst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Data</a:t>
            </a:r>
            <a:r>
              <a:rPr dirty="0" sz="21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modeling</a:t>
            </a:r>
            <a:endParaRPr sz="210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375"/>
              </a:spcBef>
              <a:buFont typeface="Arial"/>
              <a:buChar char="●"/>
              <a:tabLst>
                <a:tab pos="401955" algn="l"/>
              </a:tabLst>
            </a:pPr>
            <a:r>
              <a:rPr dirty="0" sz="2100" spc="65">
                <a:solidFill>
                  <a:srgbClr val="FFFFFF"/>
                </a:solidFill>
                <a:latin typeface="Trebuchet MS"/>
                <a:cs typeface="Trebuchet MS"/>
              </a:rPr>
              <a:t>Cypher</a:t>
            </a:r>
            <a:r>
              <a:rPr dirty="0" sz="2100" spc="-3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13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reading,</a:t>
            </a:r>
            <a:r>
              <a:rPr dirty="0" sz="21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writing,</a:t>
            </a:r>
            <a:r>
              <a:rPr dirty="0" sz="21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45">
                <a:solidFill>
                  <a:srgbClr val="FFFFFF"/>
                </a:solidFill>
                <a:latin typeface="Trebuchet MS"/>
                <a:cs typeface="Trebuchet MS"/>
              </a:rPr>
              <a:t>aggregation</a:t>
            </a:r>
            <a:endParaRPr sz="2100">
              <a:latin typeface="Trebuchet MS"/>
              <a:cs typeface="Trebuchet MS"/>
            </a:endParaRPr>
          </a:p>
          <a:p>
            <a:pPr marL="401955" indent="-389255">
              <a:lnSpc>
                <a:spcPct val="100000"/>
              </a:lnSpc>
              <a:spcBef>
                <a:spcPts val="380"/>
              </a:spcBef>
              <a:buFont typeface="Arial"/>
              <a:buChar char="●"/>
              <a:tabLst>
                <a:tab pos="401955" algn="l"/>
              </a:tabLst>
            </a:pP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Vector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indexes</a:t>
            </a:r>
            <a:r>
              <a:rPr dirty="0" sz="21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70">
                <a:solidFill>
                  <a:srgbClr val="FFFFFF"/>
                </a:solidFill>
                <a:latin typeface="Trebuchet MS"/>
                <a:cs typeface="Trebuchet MS"/>
              </a:rPr>
              <a:t>(if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dirty="0" sz="21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FFFFF"/>
                </a:solidFill>
                <a:latin typeface="Trebuchet MS"/>
                <a:cs typeface="Trebuchet MS"/>
              </a:rPr>
              <a:t>have</a:t>
            </a:r>
            <a:r>
              <a:rPr dirty="0" sz="21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FFFFF"/>
                </a:solidFill>
                <a:latin typeface="Trebuchet MS"/>
                <a:cs typeface="Trebuchet MS"/>
              </a:rPr>
              <a:t>time)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114089"/>
            <a:ext cx="6047105" cy="1242060"/>
          </a:xfrm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marL="12700" marR="5080">
              <a:lnSpc>
                <a:spcPts val="4540"/>
              </a:lnSpc>
              <a:spcBef>
                <a:spcPts val="665"/>
              </a:spcBef>
            </a:pPr>
            <a:r>
              <a:rPr dirty="0" sz="4200" spc="365">
                <a:latin typeface="Gill Sans MT"/>
                <a:cs typeface="Gill Sans MT"/>
              </a:rPr>
              <a:t>Nodes,</a:t>
            </a:r>
            <a:r>
              <a:rPr dirty="0" sz="4200" spc="-150">
                <a:latin typeface="Gill Sans MT"/>
                <a:cs typeface="Gill Sans MT"/>
              </a:rPr>
              <a:t> </a:t>
            </a:r>
            <a:r>
              <a:rPr dirty="0" sz="4200" spc="200">
                <a:latin typeface="Gill Sans MT"/>
                <a:cs typeface="Gill Sans MT"/>
              </a:rPr>
              <a:t>relalio⭲ships, </a:t>
            </a:r>
            <a:r>
              <a:rPr dirty="0" sz="4200" spc="340">
                <a:latin typeface="Gill Sans MT"/>
                <a:cs typeface="Gill Sans MT"/>
              </a:rPr>
              <a:t>properlies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6" name="object 6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06061" y="2214498"/>
            <a:ext cx="732155" cy="694055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6" name="object 6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06061" y="2214498"/>
            <a:ext cx="732155" cy="694055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0" name="object 10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6" name="object 6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206061" y="2214498"/>
            <a:ext cx="732155" cy="694055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67975" y="1655474"/>
            <a:ext cx="1341120" cy="354965"/>
            <a:chOff x="4867975" y="1655474"/>
            <a:chExt cx="1341120" cy="354965"/>
          </a:xfrm>
        </p:grpSpPr>
        <p:sp>
          <p:nvSpPr>
            <p:cNvPr id="10" name="object 10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36204" y="1682926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4" name="object 14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65612" y="1565362"/>
            <a:ext cx="2643505" cy="2012950"/>
            <a:chOff x="3565612" y="1565362"/>
            <a:chExt cx="2643505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806" y="1358999"/>
            <a:ext cx="240793" cy="24079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4206061" y="1682926"/>
            <a:ext cx="1635125" cy="1226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42669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700">
              <a:latin typeface="Arial"/>
              <a:cs typeface="Arial"/>
            </a:endParaRPr>
          </a:p>
          <a:p>
            <a:pPr marL="12700" marR="908050" indent="124460">
              <a:lnSpc>
                <a:spcPts val="2630"/>
              </a:lnSpc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60400" y="835731"/>
            <a:ext cx="25190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be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identified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by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one</a:t>
            </a:r>
            <a:r>
              <a:rPr dirty="0" sz="1600" spc="-8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or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more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labels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1" name="object 11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206061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806" y="1358999"/>
            <a:ext cx="240793" cy="240793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867975" y="1655474"/>
            <a:ext cx="1680845" cy="770255"/>
            <a:chOff x="4867975" y="1655474"/>
            <a:chExt cx="1680845" cy="770255"/>
          </a:xfrm>
        </p:grpSpPr>
        <p:sp>
          <p:nvSpPr>
            <p:cNvPr id="8" name="object 8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36204" y="1682926"/>
            <a:ext cx="1127125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123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Animated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60400" y="835731"/>
            <a:ext cx="25190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be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identified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by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one</a:t>
            </a:r>
            <a:r>
              <a:rPr dirty="0" sz="1600" spc="-8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or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more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labels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5" name="object 15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206061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806" y="1358999"/>
            <a:ext cx="240793" cy="240793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867975" y="1655474"/>
            <a:ext cx="1680845" cy="770255"/>
            <a:chOff x="4867975" y="1655474"/>
            <a:chExt cx="1680845" cy="770255"/>
          </a:xfrm>
        </p:grpSpPr>
        <p:sp>
          <p:nvSpPr>
            <p:cNvPr id="8" name="object 8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36204" y="1682926"/>
            <a:ext cx="1127125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123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Animated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60400" y="835731"/>
            <a:ext cx="25190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be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identified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by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one</a:t>
            </a:r>
            <a:r>
              <a:rPr dirty="0" sz="1600" spc="-8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or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more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labels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955800" y="3633227"/>
            <a:ext cx="2072639" cy="1038860"/>
            <a:chOff x="3955800" y="3633227"/>
            <a:chExt cx="2072639" cy="1038860"/>
          </a:xfrm>
        </p:grpSpPr>
        <p:sp>
          <p:nvSpPr>
            <p:cNvPr id="15" name="object 15" descr=""/>
            <p:cNvSpPr/>
            <p:nvPr/>
          </p:nvSpPr>
          <p:spPr>
            <a:xfrm>
              <a:off x="3965325" y="3642752"/>
              <a:ext cx="2053589" cy="1019810"/>
            </a:xfrm>
            <a:custGeom>
              <a:avLst/>
              <a:gdLst/>
              <a:ahLst/>
              <a:cxnLst/>
              <a:rect l="l" t="t" r="r" b="b"/>
              <a:pathLst>
                <a:path w="2053589" h="1019810">
                  <a:moveTo>
                    <a:pt x="2053199" y="1019697"/>
                  </a:moveTo>
                  <a:lnTo>
                    <a:pt x="0" y="1019697"/>
                  </a:lnTo>
                  <a:lnTo>
                    <a:pt x="0" y="157497"/>
                  </a:lnTo>
                  <a:lnTo>
                    <a:pt x="342199" y="157497"/>
                  </a:lnTo>
                  <a:lnTo>
                    <a:pt x="613721" y="0"/>
                  </a:lnTo>
                  <a:lnTo>
                    <a:pt x="855499" y="157497"/>
                  </a:lnTo>
                  <a:lnTo>
                    <a:pt x="2053199" y="157497"/>
                  </a:lnTo>
                  <a:lnTo>
                    <a:pt x="2053199" y="1019697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65325" y="3642752"/>
              <a:ext cx="2053589" cy="1019810"/>
            </a:xfrm>
            <a:custGeom>
              <a:avLst/>
              <a:gdLst/>
              <a:ahLst/>
              <a:cxnLst/>
              <a:rect l="l" t="t" r="r" b="b"/>
              <a:pathLst>
                <a:path w="2053589" h="1019810">
                  <a:moveTo>
                    <a:pt x="0" y="157497"/>
                  </a:moveTo>
                  <a:lnTo>
                    <a:pt x="342199" y="157497"/>
                  </a:lnTo>
                  <a:lnTo>
                    <a:pt x="613721" y="0"/>
                  </a:lnTo>
                  <a:lnTo>
                    <a:pt x="855499" y="157497"/>
                  </a:lnTo>
                  <a:lnTo>
                    <a:pt x="2053199" y="157497"/>
                  </a:lnTo>
                  <a:lnTo>
                    <a:pt x="2053199" y="301197"/>
                  </a:lnTo>
                  <a:lnTo>
                    <a:pt x="2053199" y="516747"/>
                  </a:lnTo>
                  <a:lnTo>
                    <a:pt x="2053199" y="1019697"/>
                  </a:lnTo>
                  <a:lnTo>
                    <a:pt x="855499" y="1019697"/>
                  </a:lnTo>
                  <a:lnTo>
                    <a:pt x="342199" y="1019697"/>
                  </a:lnTo>
                  <a:lnTo>
                    <a:pt x="0" y="1019697"/>
                  </a:lnTo>
                  <a:lnTo>
                    <a:pt x="0" y="516747"/>
                  </a:lnTo>
                  <a:lnTo>
                    <a:pt x="0" y="301197"/>
                  </a:lnTo>
                  <a:lnTo>
                    <a:pt x="0" y="157497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038350" y="3982430"/>
            <a:ext cx="169926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title:</a:t>
            </a:r>
            <a:r>
              <a:rPr dirty="0" sz="1500" spc="-6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Toy</a:t>
            </a:r>
            <a:r>
              <a:rPr dirty="0" sz="1500" spc="-6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Story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released:</a:t>
            </a:r>
            <a:r>
              <a:rPr dirty="0" sz="1500" spc="-12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20">
                <a:solidFill>
                  <a:srgbClr val="8FE3E7"/>
                </a:solidFill>
                <a:latin typeface="Consolas"/>
                <a:cs typeface="Consolas"/>
              </a:rPr>
              <a:t>1995</a:t>
            </a:r>
            <a:endParaRPr sz="1500">
              <a:latin typeface="Consolas"/>
              <a:cs typeface="Consola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9" name="object 19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565612" y="1565362"/>
            <a:ext cx="2012950" cy="2012950"/>
            <a:chOff x="3565612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57990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206061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806" y="1358999"/>
            <a:ext cx="240793" cy="240793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4867975" y="1655474"/>
            <a:ext cx="1680845" cy="770255"/>
            <a:chOff x="4867975" y="1655474"/>
            <a:chExt cx="1680845" cy="770255"/>
          </a:xfrm>
        </p:grpSpPr>
        <p:sp>
          <p:nvSpPr>
            <p:cNvPr id="8" name="object 8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77500" y="16649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216900" y="2080499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36204" y="1682926"/>
            <a:ext cx="1127125" cy="70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  <a:p>
            <a:pPr marL="168910">
              <a:lnSpc>
                <a:spcPct val="100000"/>
              </a:lnSpc>
              <a:spcBef>
                <a:spcPts val="123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Animated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160400" y="835731"/>
            <a:ext cx="25190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be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identified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by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one</a:t>
            </a:r>
            <a:r>
              <a:rPr dirty="0" sz="1600" spc="-8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or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more</a:t>
            </a:r>
            <a:r>
              <a:rPr dirty="0" sz="1600" spc="-8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labels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28716" y="1575662"/>
            <a:ext cx="516890" cy="516890"/>
            <a:chOff x="3628716" y="1575662"/>
            <a:chExt cx="516890" cy="516890"/>
          </a:xfrm>
        </p:grpSpPr>
        <p:sp>
          <p:nvSpPr>
            <p:cNvPr id="15" name="object 15" descr=""/>
            <p:cNvSpPr/>
            <p:nvPr/>
          </p:nvSpPr>
          <p:spPr>
            <a:xfrm>
              <a:off x="3638241" y="1585187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0"/>
                  </a:moveTo>
                  <a:lnTo>
                    <a:pt x="444247" y="444247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3785" y="2010731"/>
              <a:ext cx="81724" cy="81724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3955800" y="3633227"/>
            <a:ext cx="2264410" cy="1038860"/>
            <a:chOff x="3955800" y="3633227"/>
            <a:chExt cx="2264410" cy="1038860"/>
          </a:xfrm>
        </p:grpSpPr>
        <p:sp>
          <p:nvSpPr>
            <p:cNvPr id="18" name="object 18" descr=""/>
            <p:cNvSpPr/>
            <p:nvPr/>
          </p:nvSpPr>
          <p:spPr>
            <a:xfrm>
              <a:off x="3965325" y="3642752"/>
              <a:ext cx="2053589" cy="1019810"/>
            </a:xfrm>
            <a:custGeom>
              <a:avLst/>
              <a:gdLst/>
              <a:ahLst/>
              <a:cxnLst/>
              <a:rect l="l" t="t" r="r" b="b"/>
              <a:pathLst>
                <a:path w="2053589" h="1019810">
                  <a:moveTo>
                    <a:pt x="2053199" y="1019697"/>
                  </a:moveTo>
                  <a:lnTo>
                    <a:pt x="0" y="1019697"/>
                  </a:lnTo>
                  <a:lnTo>
                    <a:pt x="0" y="157497"/>
                  </a:lnTo>
                  <a:lnTo>
                    <a:pt x="342199" y="157497"/>
                  </a:lnTo>
                  <a:lnTo>
                    <a:pt x="613721" y="0"/>
                  </a:lnTo>
                  <a:lnTo>
                    <a:pt x="855499" y="157497"/>
                  </a:lnTo>
                  <a:lnTo>
                    <a:pt x="2053199" y="157497"/>
                  </a:lnTo>
                  <a:lnTo>
                    <a:pt x="2053199" y="1019697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965325" y="3642752"/>
              <a:ext cx="2053589" cy="1019810"/>
            </a:xfrm>
            <a:custGeom>
              <a:avLst/>
              <a:gdLst/>
              <a:ahLst/>
              <a:cxnLst/>
              <a:rect l="l" t="t" r="r" b="b"/>
              <a:pathLst>
                <a:path w="2053589" h="1019810">
                  <a:moveTo>
                    <a:pt x="0" y="157497"/>
                  </a:moveTo>
                  <a:lnTo>
                    <a:pt x="342199" y="157497"/>
                  </a:lnTo>
                  <a:lnTo>
                    <a:pt x="613721" y="0"/>
                  </a:lnTo>
                  <a:lnTo>
                    <a:pt x="855499" y="157497"/>
                  </a:lnTo>
                  <a:lnTo>
                    <a:pt x="2053199" y="157497"/>
                  </a:lnTo>
                  <a:lnTo>
                    <a:pt x="2053199" y="301197"/>
                  </a:lnTo>
                  <a:lnTo>
                    <a:pt x="2053199" y="516747"/>
                  </a:lnTo>
                  <a:lnTo>
                    <a:pt x="2053199" y="1019697"/>
                  </a:lnTo>
                  <a:lnTo>
                    <a:pt x="855499" y="1019697"/>
                  </a:lnTo>
                  <a:lnTo>
                    <a:pt x="342199" y="1019697"/>
                  </a:lnTo>
                  <a:lnTo>
                    <a:pt x="0" y="1019697"/>
                  </a:lnTo>
                  <a:lnTo>
                    <a:pt x="0" y="516747"/>
                  </a:lnTo>
                  <a:lnTo>
                    <a:pt x="0" y="301197"/>
                  </a:lnTo>
                  <a:lnTo>
                    <a:pt x="0" y="157497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926306" y="3657600"/>
              <a:ext cx="284480" cy="260985"/>
            </a:xfrm>
            <a:custGeom>
              <a:avLst/>
              <a:gdLst/>
              <a:ahLst/>
              <a:cxnLst/>
              <a:rect l="l" t="t" r="r" b="b"/>
              <a:pathLst>
                <a:path w="284479" h="260985">
                  <a:moveTo>
                    <a:pt x="283993" y="0"/>
                  </a:moveTo>
                  <a:lnTo>
                    <a:pt x="0" y="260495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2379" y="3898445"/>
              <a:ext cx="81666" cy="81666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346919" y="1334627"/>
            <a:ext cx="2229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7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represent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things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038350" y="3131632"/>
            <a:ext cx="4703445" cy="1333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04720">
              <a:lnSpc>
                <a:spcPct val="100000"/>
              </a:lnSpc>
              <a:spcBef>
                <a:spcPts val="100"/>
              </a:spcBef>
            </a:pP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Nodes</a:t>
            </a:r>
            <a:r>
              <a:rPr dirty="0" sz="1600" spc="-9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hold</a:t>
            </a:r>
            <a:r>
              <a:rPr dirty="0" sz="1600" spc="-9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 i="1">
                <a:solidFill>
                  <a:srgbClr val="FAFF00"/>
                </a:solidFill>
                <a:latin typeface="Arial"/>
                <a:cs typeface="Arial"/>
              </a:rPr>
              <a:t>properties</a:t>
            </a:r>
            <a:endParaRPr sz="1600">
              <a:latin typeface="Arial"/>
              <a:cs typeface="Arial"/>
            </a:endParaRPr>
          </a:p>
          <a:p>
            <a:pPr marL="2204720">
              <a:lnSpc>
                <a:spcPct val="100000"/>
              </a:lnSpc>
            </a:pPr>
            <a:r>
              <a:rPr dirty="0" sz="1600" spc="-30" b="1">
                <a:solidFill>
                  <a:srgbClr val="FCF9F6"/>
                </a:solidFill>
                <a:latin typeface="Arial"/>
                <a:cs typeface="Arial"/>
              </a:rPr>
              <a:t>as</a:t>
            </a:r>
            <a:r>
              <a:rPr dirty="0" sz="16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30" b="1">
                <a:solidFill>
                  <a:srgbClr val="FCF9F6"/>
                </a:solidFill>
                <a:latin typeface="Arial"/>
                <a:cs typeface="Arial"/>
              </a:rPr>
              <a:t>key/value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pairs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600">
              <a:latin typeface="Arial"/>
              <a:cs typeface="Arial"/>
            </a:endParaRPr>
          </a:p>
          <a:p>
            <a:pPr marL="12700" marR="300926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title:</a:t>
            </a:r>
            <a:r>
              <a:rPr dirty="0" sz="1500" spc="-6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Toy</a:t>
            </a:r>
            <a:r>
              <a:rPr dirty="0" sz="1500" spc="-6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Story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released:</a:t>
            </a:r>
            <a:r>
              <a:rPr dirty="0" sz="1500" spc="-12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20">
                <a:solidFill>
                  <a:srgbClr val="8FE3E7"/>
                </a:solidFill>
                <a:latin typeface="Consolas"/>
                <a:cs typeface="Consolas"/>
              </a:rPr>
              <a:t>1995</a:t>
            </a:r>
            <a:endParaRPr sz="15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6" name="object 6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340486" y="2214498"/>
            <a:ext cx="732155" cy="694055"/>
          </a:xfrm>
          <a:prstGeom prst="rect"/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10" name="object 10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35625" y="2510264"/>
            <a:ext cx="2951480" cy="123189"/>
            <a:chOff x="2735625" y="2510264"/>
            <a:chExt cx="2951480" cy="123189"/>
          </a:xfrm>
        </p:grpSpPr>
        <p:sp>
          <p:nvSpPr>
            <p:cNvPr id="19" name="object 19" descr=""/>
            <p:cNvSpPr/>
            <p:nvPr/>
          </p:nvSpPr>
          <p:spPr>
            <a:xfrm>
              <a:off x="2735625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35625" y="1158837"/>
            <a:ext cx="2951480" cy="1474470"/>
            <a:chOff x="2735625" y="1158837"/>
            <a:chExt cx="2951480" cy="1474470"/>
          </a:xfrm>
        </p:grpSpPr>
        <p:sp>
          <p:nvSpPr>
            <p:cNvPr id="19" name="object 19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158837"/>
            <a:ext cx="4949825" cy="2419350"/>
            <a:chOff x="737162" y="1158837"/>
            <a:chExt cx="4949825" cy="2419350"/>
          </a:xfrm>
        </p:grpSpPr>
        <p:sp>
          <p:nvSpPr>
            <p:cNvPr id="11" name="object 11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9" name="object 19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222075" y="2413449"/>
            <a:ext cx="1524000" cy="354965"/>
            <a:chOff x="3222075" y="2413449"/>
            <a:chExt cx="1524000" cy="354965"/>
          </a:xfrm>
        </p:grpSpPr>
        <p:sp>
          <p:nvSpPr>
            <p:cNvPr id="24" name="object 24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21337" y="1158837"/>
            <a:ext cx="2966085" cy="1474470"/>
            <a:chOff x="2721337" y="1158837"/>
            <a:chExt cx="2966085" cy="1474470"/>
          </a:xfrm>
        </p:grpSpPr>
        <p:sp>
          <p:nvSpPr>
            <p:cNvPr id="19" name="object 19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222075" y="2413449"/>
            <a:ext cx="1524000" cy="354965"/>
            <a:chOff x="3222075" y="2413449"/>
            <a:chExt cx="1524000" cy="354965"/>
          </a:xfrm>
        </p:grpSpPr>
        <p:sp>
          <p:nvSpPr>
            <p:cNvPr id="25" name="object 25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4564893" y="2058749"/>
            <a:ext cx="196850" cy="536575"/>
            <a:chOff x="4564893" y="2058749"/>
            <a:chExt cx="196850" cy="536575"/>
          </a:xfrm>
        </p:grpSpPr>
        <p:sp>
          <p:nvSpPr>
            <p:cNvPr id="29" name="object 29" descr=""/>
            <p:cNvSpPr/>
            <p:nvPr/>
          </p:nvSpPr>
          <p:spPr>
            <a:xfrm>
              <a:off x="4614597" y="2068274"/>
              <a:ext cx="137160" cy="456565"/>
            </a:xfrm>
            <a:custGeom>
              <a:avLst/>
              <a:gdLst/>
              <a:ahLst/>
              <a:cxnLst/>
              <a:rect l="l" t="t" r="r" b="b"/>
              <a:pathLst>
                <a:path w="137160" h="456564">
                  <a:moveTo>
                    <a:pt x="137027" y="0"/>
                  </a:moveTo>
                  <a:lnTo>
                    <a:pt x="0" y="45615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4893" y="2513752"/>
              <a:ext cx="81376" cy="81376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4099339" y="1540281"/>
            <a:ext cx="13055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00"/>
              </a:spcBef>
            </a:pPr>
            <a:r>
              <a:rPr dirty="0" sz="1600" spc="-4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AFF00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158837"/>
            <a:ext cx="4949825" cy="2419350"/>
            <a:chOff x="737162" y="1158837"/>
            <a:chExt cx="4949825" cy="2419350"/>
          </a:xfrm>
        </p:grpSpPr>
        <p:sp>
          <p:nvSpPr>
            <p:cNvPr id="11" name="object 11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9" name="object 19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3222075" y="2413449"/>
            <a:ext cx="1524000" cy="354965"/>
            <a:chOff x="3222075" y="2413449"/>
            <a:chExt cx="1524000" cy="354965"/>
          </a:xfrm>
        </p:grpSpPr>
        <p:sp>
          <p:nvSpPr>
            <p:cNvPr id="24" name="object 24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564893" y="2058749"/>
            <a:ext cx="196850" cy="536575"/>
            <a:chOff x="4564893" y="2058749"/>
            <a:chExt cx="196850" cy="536575"/>
          </a:xfrm>
        </p:grpSpPr>
        <p:sp>
          <p:nvSpPr>
            <p:cNvPr id="28" name="object 28" descr=""/>
            <p:cNvSpPr/>
            <p:nvPr/>
          </p:nvSpPr>
          <p:spPr>
            <a:xfrm>
              <a:off x="4614597" y="2068274"/>
              <a:ext cx="137160" cy="456565"/>
            </a:xfrm>
            <a:custGeom>
              <a:avLst/>
              <a:gdLst/>
              <a:ahLst/>
              <a:cxnLst/>
              <a:rect l="l" t="t" r="r" b="b"/>
              <a:pathLst>
                <a:path w="137160" h="456564">
                  <a:moveTo>
                    <a:pt x="137027" y="0"/>
                  </a:moveTo>
                  <a:lnTo>
                    <a:pt x="0" y="45615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4893" y="2513752"/>
              <a:ext cx="81376" cy="81376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4099339" y="1540281"/>
            <a:ext cx="13055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00"/>
              </a:spcBef>
            </a:pPr>
            <a:r>
              <a:rPr dirty="0" sz="1600" spc="-4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AFF00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5556458" y="2748464"/>
            <a:ext cx="102870" cy="1169035"/>
            <a:chOff x="5556458" y="2748464"/>
            <a:chExt cx="102870" cy="1169035"/>
          </a:xfrm>
        </p:grpSpPr>
        <p:sp>
          <p:nvSpPr>
            <p:cNvPr id="32" name="object 32" descr=""/>
            <p:cNvSpPr/>
            <p:nvPr/>
          </p:nvSpPr>
          <p:spPr>
            <a:xfrm>
              <a:off x="5598752" y="2820595"/>
              <a:ext cx="51435" cy="1087755"/>
            </a:xfrm>
            <a:custGeom>
              <a:avLst/>
              <a:gdLst/>
              <a:ahLst/>
              <a:cxnLst/>
              <a:rect l="l" t="t" r="r" b="b"/>
              <a:pathLst>
                <a:path w="51435" h="1087754">
                  <a:moveTo>
                    <a:pt x="50922" y="108737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56458" y="2748464"/>
              <a:ext cx="81655" cy="81655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5255013" y="3891607"/>
            <a:ext cx="1514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40" b="1" i="1">
                <a:solidFill>
                  <a:srgbClr val="FAFF00"/>
                </a:solidFill>
                <a:latin typeface="Arial"/>
                <a:cs typeface="Arial"/>
              </a:rPr>
              <a:t>direction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21337" y="1158837"/>
            <a:ext cx="2966085" cy="1474470"/>
            <a:chOff x="2721337" y="1158837"/>
            <a:chExt cx="2966085" cy="1474470"/>
          </a:xfrm>
        </p:grpSpPr>
        <p:sp>
          <p:nvSpPr>
            <p:cNvPr id="19" name="object 19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222075" y="2413449"/>
            <a:ext cx="1524000" cy="354965"/>
            <a:chOff x="3222075" y="2413449"/>
            <a:chExt cx="1524000" cy="354965"/>
          </a:xfrm>
        </p:grpSpPr>
        <p:sp>
          <p:nvSpPr>
            <p:cNvPr id="25" name="object 25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947874" y="2847367"/>
            <a:ext cx="2072639" cy="629920"/>
            <a:chOff x="2947874" y="2847367"/>
            <a:chExt cx="2072639" cy="629920"/>
          </a:xfrm>
        </p:grpSpPr>
        <p:sp>
          <p:nvSpPr>
            <p:cNvPr id="29" name="object 29" descr=""/>
            <p:cNvSpPr/>
            <p:nvPr/>
          </p:nvSpPr>
          <p:spPr>
            <a:xfrm>
              <a:off x="2957399" y="2856892"/>
              <a:ext cx="2053589" cy="610870"/>
            </a:xfrm>
            <a:custGeom>
              <a:avLst/>
              <a:gdLst/>
              <a:ahLst/>
              <a:cxnLst/>
              <a:rect l="l" t="t" r="r" b="b"/>
              <a:pathLst>
                <a:path w="2053589" h="610870">
                  <a:moveTo>
                    <a:pt x="2053199" y="610257"/>
                  </a:moveTo>
                  <a:lnTo>
                    <a:pt x="0" y="610257"/>
                  </a:lnTo>
                  <a:lnTo>
                    <a:pt x="0" y="94257"/>
                  </a:lnTo>
                  <a:lnTo>
                    <a:pt x="342199" y="94257"/>
                  </a:lnTo>
                  <a:lnTo>
                    <a:pt x="613721" y="0"/>
                  </a:lnTo>
                  <a:lnTo>
                    <a:pt x="855499" y="94257"/>
                  </a:lnTo>
                  <a:lnTo>
                    <a:pt x="2053199" y="94257"/>
                  </a:lnTo>
                  <a:lnTo>
                    <a:pt x="2053199" y="610257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57399" y="2856892"/>
              <a:ext cx="2053589" cy="610870"/>
            </a:xfrm>
            <a:custGeom>
              <a:avLst/>
              <a:gdLst/>
              <a:ahLst/>
              <a:cxnLst/>
              <a:rect l="l" t="t" r="r" b="b"/>
              <a:pathLst>
                <a:path w="2053589" h="610870">
                  <a:moveTo>
                    <a:pt x="0" y="94257"/>
                  </a:moveTo>
                  <a:lnTo>
                    <a:pt x="342199" y="94257"/>
                  </a:lnTo>
                  <a:lnTo>
                    <a:pt x="613721" y="0"/>
                  </a:lnTo>
                  <a:lnTo>
                    <a:pt x="855499" y="94257"/>
                  </a:lnTo>
                  <a:lnTo>
                    <a:pt x="2053199" y="94257"/>
                  </a:lnTo>
                  <a:lnTo>
                    <a:pt x="2053199" y="180257"/>
                  </a:lnTo>
                  <a:lnTo>
                    <a:pt x="2053199" y="309257"/>
                  </a:lnTo>
                  <a:lnTo>
                    <a:pt x="2053199" y="610257"/>
                  </a:lnTo>
                  <a:lnTo>
                    <a:pt x="855499" y="610257"/>
                  </a:lnTo>
                  <a:lnTo>
                    <a:pt x="342199" y="610257"/>
                  </a:lnTo>
                  <a:lnTo>
                    <a:pt x="0" y="610257"/>
                  </a:lnTo>
                  <a:lnTo>
                    <a:pt x="0" y="309257"/>
                  </a:lnTo>
                  <a:lnTo>
                    <a:pt x="0" y="180257"/>
                  </a:lnTo>
                  <a:lnTo>
                    <a:pt x="0" y="94257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030425" y="3074530"/>
            <a:ext cx="12807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roles:</a:t>
            </a:r>
            <a:r>
              <a:rPr dirty="0" sz="1500" spc="-8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Woody</a:t>
            </a:r>
            <a:endParaRPr sz="1500">
              <a:latin typeface="Consolas"/>
              <a:cs typeface="Consola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564893" y="2058749"/>
            <a:ext cx="196850" cy="536575"/>
            <a:chOff x="4564893" y="2058749"/>
            <a:chExt cx="196850" cy="536575"/>
          </a:xfrm>
        </p:grpSpPr>
        <p:sp>
          <p:nvSpPr>
            <p:cNvPr id="33" name="object 33" descr=""/>
            <p:cNvSpPr/>
            <p:nvPr/>
          </p:nvSpPr>
          <p:spPr>
            <a:xfrm>
              <a:off x="4614597" y="2068274"/>
              <a:ext cx="137160" cy="456565"/>
            </a:xfrm>
            <a:custGeom>
              <a:avLst/>
              <a:gdLst/>
              <a:ahLst/>
              <a:cxnLst/>
              <a:rect l="l" t="t" r="r" b="b"/>
              <a:pathLst>
                <a:path w="137160" h="456564">
                  <a:moveTo>
                    <a:pt x="137027" y="0"/>
                  </a:moveTo>
                  <a:lnTo>
                    <a:pt x="0" y="45615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4893" y="2513752"/>
              <a:ext cx="81376" cy="81376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4099339" y="1540281"/>
            <a:ext cx="13055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00"/>
              </a:spcBef>
            </a:pPr>
            <a:r>
              <a:rPr dirty="0" sz="1600" spc="-4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AFF00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5556458" y="2748464"/>
            <a:ext cx="102870" cy="1169035"/>
            <a:chOff x="5556458" y="2748464"/>
            <a:chExt cx="102870" cy="1169035"/>
          </a:xfrm>
        </p:grpSpPr>
        <p:sp>
          <p:nvSpPr>
            <p:cNvPr id="37" name="object 37" descr=""/>
            <p:cNvSpPr/>
            <p:nvPr/>
          </p:nvSpPr>
          <p:spPr>
            <a:xfrm>
              <a:off x="5598752" y="2820595"/>
              <a:ext cx="51435" cy="1087755"/>
            </a:xfrm>
            <a:custGeom>
              <a:avLst/>
              <a:gdLst/>
              <a:ahLst/>
              <a:cxnLst/>
              <a:rect l="l" t="t" r="r" b="b"/>
              <a:pathLst>
                <a:path w="51435" h="1087754">
                  <a:moveTo>
                    <a:pt x="50922" y="108737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56458" y="2748464"/>
              <a:ext cx="81655" cy="81655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5255013" y="3891607"/>
            <a:ext cx="1514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40" b="1" i="1">
                <a:solidFill>
                  <a:srgbClr val="FAFF00"/>
                </a:solidFill>
                <a:latin typeface="Arial"/>
                <a:cs typeface="Arial"/>
              </a:rPr>
              <a:t>direction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1" name="object 11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15" name="object 15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721337" y="1158837"/>
            <a:ext cx="2966085" cy="1474470"/>
            <a:chOff x="2721337" y="1158837"/>
            <a:chExt cx="2966085" cy="1474470"/>
          </a:xfrm>
        </p:grpSpPr>
        <p:sp>
          <p:nvSpPr>
            <p:cNvPr id="19" name="object 19" descr=""/>
            <p:cNvSpPr/>
            <p:nvPr/>
          </p:nvSpPr>
          <p:spPr>
            <a:xfrm>
              <a:off x="2735625" y="2571750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344091" y="1168362"/>
              <a:ext cx="316230" cy="1141095"/>
            </a:xfrm>
            <a:custGeom>
              <a:avLst/>
              <a:gdLst/>
              <a:ahLst/>
              <a:cxnLst/>
              <a:rect l="l" t="t" r="r" b="b"/>
              <a:pathLst>
                <a:path w="316229" h="1141095">
                  <a:moveTo>
                    <a:pt x="0" y="0"/>
                  </a:moveTo>
                  <a:lnTo>
                    <a:pt x="316116" y="114062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969" y="2298576"/>
              <a:ext cx="81216" cy="81216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1757610" y="904280"/>
            <a:ext cx="313817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connect</a:t>
            </a:r>
            <a:r>
              <a:rPr dirty="0" sz="1600" spc="3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 i="1">
                <a:solidFill>
                  <a:srgbClr val="FAFF00"/>
                </a:solidFill>
                <a:latin typeface="Arial"/>
                <a:cs typeface="Arial"/>
              </a:rPr>
              <a:t>two</a:t>
            </a:r>
            <a:r>
              <a:rPr dirty="0" sz="1600" spc="3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 i="1">
                <a:solidFill>
                  <a:srgbClr val="FAFF00"/>
                </a:solidFill>
                <a:latin typeface="Arial"/>
                <a:cs typeface="Arial"/>
              </a:rPr>
              <a:t>nodes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3222075" y="2413449"/>
            <a:ext cx="1524000" cy="354965"/>
            <a:chOff x="3222075" y="2413449"/>
            <a:chExt cx="1524000" cy="354965"/>
          </a:xfrm>
        </p:grpSpPr>
        <p:sp>
          <p:nvSpPr>
            <p:cNvPr id="25" name="object 25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947874" y="2847367"/>
            <a:ext cx="2072639" cy="629920"/>
            <a:chOff x="2947874" y="2847367"/>
            <a:chExt cx="2072639" cy="629920"/>
          </a:xfrm>
        </p:grpSpPr>
        <p:sp>
          <p:nvSpPr>
            <p:cNvPr id="29" name="object 29" descr=""/>
            <p:cNvSpPr/>
            <p:nvPr/>
          </p:nvSpPr>
          <p:spPr>
            <a:xfrm>
              <a:off x="2957399" y="2856892"/>
              <a:ext cx="2053589" cy="610870"/>
            </a:xfrm>
            <a:custGeom>
              <a:avLst/>
              <a:gdLst/>
              <a:ahLst/>
              <a:cxnLst/>
              <a:rect l="l" t="t" r="r" b="b"/>
              <a:pathLst>
                <a:path w="2053589" h="610870">
                  <a:moveTo>
                    <a:pt x="2053199" y="610257"/>
                  </a:moveTo>
                  <a:lnTo>
                    <a:pt x="0" y="610257"/>
                  </a:lnTo>
                  <a:lnTo>
                    <a:pt x="0" y="94257"/>
                  </a:lnTo>
                  <a:lnTo>
                    <a:pt x="342199" y="94257"/>
                  </a:lnTo>
                  <a:lnTo>
                    <a:pt x="613721" y="0"/>
                  </a:lnTo>
                  <a:lnTo>
                    <a:pt x="855499" y="94257"/>
                  </a:lnTo>
                  <a:lnTo>
                    <a:pt x="2053199" y="94257"/>
                  </a:lnTo>
                  <a:lnTo>
                    <a:pt x="2053199" y="610257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957399" y="2856892"/>
              <a:ext cx="2053589" cy="610870"/>
            </a:xfrm>
            <a:custGeom>
              <a:avLst/>
              <a:gdLst/>
              <a:ahLst/>
              <a:cxnLst/>
              <a:rect l="l" t="t" r="r" b="b"/>
              <a:pathLst>
                <a:path w="2053589" h="610870">
                  <a:moveTo>
                    <a:pt x="0" y="94257"/>
                  </a:moveTo>
                  <a:lnTo>
                    <a:pt x="342199" y="94257"/>
                  </a:lnTo>
                  <a:lnTo>
                    <a:pt x="613721" y="0"/>
                  </a:lnTo>
                  <a:lnTo>
                    <a:pt x="855499" y="94257"/>
                  </a:lnTo>
                  <a:lnTo>
                    <a:pt x="2053199" y="94257"/>
                  </a:lnTo>
                  <a:lnTo>
                    <a:pt x="2053199" y="180257"/>
                  </a:lnTo>
                  <a:lnTo>
                    <a:pt x="2053199" y="309257"/>
                  </a:lnTo>
                  <a:lnTo>
                    <a:pt x="2053199" y="610257"/>
                  </a:lnTo>
                  <a:lnTo>
                    <a:pt x="855499" y="610257"/>
                  </a:lnTo>
                  <a:lnTo>
                    <a:pt x="342199" y="610257"/>
                  </a:lnTo>
                  <a:lnTo>
                    <a:pt x="0" y="610257"/>
                  </a:lnTo>
                  <a:lnTo>
                    <a:pt x="0" y="309257"/>
                  </a:lnTo>
                  <a:lnTo>
                    <a:pt x="0" y="180257"/>
                  </a:lnTo>
                  <a:lnTo>
                    <a:pt x="0" y="94257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3030425" y="3074530"/>
            <a:ext cx="128079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roles:</a:t>
            </a:r>
            <a:r>
              <a:rPr dirty="0" sz="1500" spc="-8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Woody</a:t>
            </a:r>
            <a:endParaRPr sz="1500">
              <a:latin typeface="Consolas"/>
              <a:cs typeface="Consola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4564893" y="2058749"/>
            <a:ext cx="196850" cy="536575"/>
            <a:chOff x="4564893" y="2058749"/>
            <a:chExt cx="196850" cy="536575"/>
          </a:xfrm>
        </p:grpSpPr>
        <p:sp>
          <p:nvSpPr>
            <p:cNvPr id="33" name="object 33" descr=""/>
            <p:cNvSpPr/>
            <p:nvPr/>
          </p:nvSpPr>
          <p:spPr>
            <a:xfrm>
              <a:off x="4614597" y="2068274"/>
              <a:ext cx="137160" cy="456565"/>
            </a:xfrm>
            <a:custGeom>
              <a:avLst/>
              <a:gdLst/>
              <a:ahLst/>
              <a:cxnLst/>
              <a:rect l="l" t="t" r="r" b="b"/>
              <a:pathLst>
                <a:path w="137160" h="456564">
                  <a:moveTo>
                    <a:pt x="137027" y="0"/>
                  </a:moveTo>
                  <a:lnTo>
                    <a:pt x="0" y="456153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4893" y="2513752"/>
              <a:ext cx="81376" cy="81376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4099339" y="1540281"/>
            <a:ext cx="130556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00"/>
              </a:spcBef>
            </a:pPr>
            <a:r>
              <a:rPr dirty="0" sz="1600" spc="-4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AFF00"/>
                </a:solidFill>
                <a:latin typeface="Arial"/>
                <a:cs typeface="Arial"/>
              </a:rPr>
              <a:t>type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2067872" y="3664337"/>
            <a:ext cx="21316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Relationships</a:t>
            </a:r>
            <a:r>
              <a:rPr dirty="0" sz="1600" spc="-4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FCF9F6"/>
                </a:solidFill>
                <a:latin typeface="Arial"/>
                <a:cs typeface="Arial"/>
              </a:rPr>
              <a:t>can</a:t>
            </a:r>
            <a:r>
              <a:rPr dirty="0" sz="1600" spc="-35" b="1">
                <a:solidFill>
                  <a:srgbClr val="FCF9F6"/>
                </a:solidFill>
                <a:latin typeface="Arial"/>
                <a:cs typeface="Arial"/>
              </a:rPr>
              <a:t> also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hold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 i="1">
                <a:solidFill>
                  <a:srgbClr val="FAFF00"/>
                </a:solidFill>
                <a:latin typeface="Arial"/>
                <a:cs typeface="Arial"/>
              </a:rPr>
              <a:t>properties</a:t>
            </a:r>
            <a:r>
              <a:rPr dirty="0" sz="1600" spc="-55" b="1" i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as </a:t>
            </a:r>
            <a:r>
              <a:rPr dirty="0" sz="1600" spc="-30" b="1">
                <a:solidFill>
                  <a:srgbClr val="FCF9F6"/>
                </a:solidFill>
                <a:latin typeface="Arial"/>
                <a:cs typeface="Arial"/>
              </a:rPr>
              <a:t>key/value</a:t>
            </a: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pairs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3136435" y="2748464"/>
            <a:ext cx="2522855" cy="1169035"/>
            <a:chOff x="3136435" y="2748464"/>
            <a:chExt cx="2522855" cy="1169035"/>
          </a:xfrm>
        </p:grpSpPr>
        <p:sp>
          <p:nvSpPr>
            <p:cNvPr id="38" name="object 38" descr=""/>
            <p:cNvSpPr/>
            <p:nvPr/>
          </p:nvSpPr>
          <p:spPr>
            <a:xfrm>
              <a:off x="3145960" y="3428494"/>
              <a:ext cx="88265" cy="240029"/>
            </a:xfrm>
            <a:custGeom>
              <a:avLst/>
              <a:gdLst/>
              <a:ahLst/>
              <a:cxnLst/>
              <a:rect l="l" t="t" r="r" b="b"/>
              <a:pathLst>
                <a:path w="88264" h="240029">
                  <a:moveTo>
                    <a:pt x="0" y="239987"/>
                  </a:moveTo>
                  <a:lnTo>
                    <a:pt x="87714" y="0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3601" y="3358228"/>
              <a:ext cx="81664" cy="8166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598752" y="2820595"/>
              <a:ext cx="51435" cy="1087755"/>
            </a:xfrm>
            <a:custGeom>
              <a:avLst/>
              <a:gdLst/>
              <a:ahLst/>
              <a:cxnLst/>
              <a:rect l="l" t="t" r="r" b="b"/>
              <a:pathLst>
                <a:path w="51435" h="1087754">
                  <a:moveTo>
                    <a:pt x="50922" y="108737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6458" y="2748464"/>
              <a:ext cx="81655" cy="81655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5255013" y="3891607"/>
            <a:ext cx="1514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Relationships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have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40" b="1" i="1">
                <a:solidFill>
                  <a:srgbClr val="FAFF00"/>
                </a:solidFill>
                <a:latin typeface="Arial"/>
                <a:cs typeface="Arial"/>
              </a:rPr>
              <a:t>direction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700037" y="1565362"/>
            <a:ext cx="2012950" cy="2012950"/>
            <a:chOff x="5700037" y="1565362"/>
            <a:chExt cx="2012950" cy="2012950"/>
          </a:xfrm>
        </p:grpSpPr>
        <p:sp>
          <p:nvSpPr>
            <p:cNvPr id="3" name="object 3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714324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6340486" y="2214498"/>
            <a:ext cx="732155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4460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Toy </a:t>
            </a:r>
            <a:r>
              <a:rPr dirty="0" sz="2200" spc="-20" b="1">
                <a:solidFill>
                  <a:srgbClr val="8FE3E7"/>
                </a:solidFill>
                <a:latin typeface="Arial"/>
                <a:cs typeface="Arial"/>
              </a:rPr>
              <a:t>Story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7061200" y="1761300"/>
            <a:ext cx="1341120" cy="354965"/>
            <a:chOff x="7061200" y="1761300"/>
            <a:chExt cx="1341120" cy="354965"/>
          </a:xfrm>
        </p:grpSpPr>
        <p:sp>
          <p:nvSpPr>
            <p:cNvPr id="7" name="object 7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070725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0" y="0"/>
                  </a:lnTo>
                  <a:lnTo>
                    <a:pt x="1265848" y="0"/>
                  </a:lnTo>
                  <a:lnTo>
                    <a:pt x="1305411" y="16387"/>
                  </a:lnTo>
                  <a:lnTo>
                    <a:pt x="1321799" y="55951"/>
                  </a:lnTo>
                  <a:lnTo>
                    <a:pt x="1321799" y="279748"/>
                  </a:lnTo>
                  <a:lnTo>
                    <a:pt x="1317402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0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29429" y="1788751"/>
            <a:ext cx="6051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721337" y="2413449"/>
            <a:ext cx="2966085" cy="354965"/>
            <a:chOff x="2721337" y="2413449"/>
            <a:chExt cx="2966085" cy="354965"/>
          </a:xfrm>
        </p:grpSpPr>
        <p:sp>
          <p:nvSpPr>
            <p:cNvPr id="11" name="object 11" descr=""/>
            <p:cNvSpPr/>
            <p:nvPr/>
          </p:nvSpPr>
          <p:spPr>
            <a:xfrm>
              <a:off x="2735625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8587" y="2510264"/>
              <a:ext cx="158251" cy="12297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231600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3456942" y="2440901"/>
            <a:ext cx="10553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40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37162" y="1565362"/>
            <a:ext cx="2012950" cy="2012950"/>
            <a:chOff x="737162" y="1565362"/>
            <a:chExt cx="2012950" cy="2012950"/>
          </a:xfrm>
        </p:grpSpPr>
        <p:sp>
          <p:nvSpPr>
            <p:cNvPr id="17" name="object 17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51450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322859" y="2214498"/>
            <a:ext cx="842010" cy="69405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8905">
              <a:lnSpc>
                <a:spcPts val="2630"/>
              </a:lnSpc>
              <a:spcBef>
                <a:spcPts val="195"/>
              </a:spcBef>
            </a:pPr>
            <a:r>
              <a:rPr dirty="0" sz="2200" spc="-25" b="1">
                <a:solidFill>
                  <a:srgbClr val="8FE3E7"/>
                </a:solidFill>
                <a:latin typeface="Arial"/>
                <a:cs typeface="Arial"/>
              </a:rPr>
              <a:t>Tom </a:t>
            </a:r>
            <a:r>
              <a:rPr dirty="0" sz="2200" spc="-50" b="1">
                <a:solidFill>
                  <a:srgbClr val="8FE3E7"/>
                </a:solidFill>
                <a:latin typeface="Arial"/>
                <a:cs typeface="Arial"/>
              </a:rPr>
              <a:t>Hanks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098325" y="1761300"/>
            <a:ext cx="1341120" cy="354965"/>
            <a:chOff x="2098325" y="1761300"/>
            <a:chExt cx="1341120" cy="354965"/>
          </a:xfrm>
        </p:grpSpPr>
        <p:sp>
          <p:nvSpPr>
            <p:cNvPr id="21" name="object 21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1265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107850" y="1770825"/>
              <a:ext cx="1322070" cy="335915"/>
            </a:xfrm>
            <a:custGeom>
              <a:avLst/>
              <a:gdLst/>
              <a:ahLst/>
              <a:cxnLst/>
              <a:rect l="l" t="t" r="r" b="b"/>
              <a:pathLst>
                <a:path w="132207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265848" y="0"/>
                  </a:lnTo>
                  <a:lnTo>
                    <a:pt x="1305412" y="16387"/>
                  </a:lnTo>
                  <a:lnTo>
                    <a:pt x="1321800" y="55951"/>
                  </a:lnTo>
                  <a:lnTo>
                    <a:pt x="1321800" y="279748"/>
                  </a:lnTo>
                  <a:lnTo>
                    <a:pt x="1317403" y="301527"/>
                  </a:lnTo>
                  <a:lnTo>
                    <a:pt x="1305412" y="319312"/>
                  </a:lnTo>
                  <a:lnTo>
                    <a:pt x="1287627" y="331303"/>
                  </a:lnTo>
                  <a:lnTo>
                    <a:pt x="1265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492127" y="1788751"/>
            <a:ext cx="5543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8FE3E7"/>
                </a:solidFill>
                <a:latin typeface="Arial"/>
                <a:cs typeface="Arial"/>
              </a:rPr>
              <a:t>Actor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572000" y="74"/>
            <a:ext cx="4572000" cy="5143500"/>
            <a:chOff x="4572000" y="74"/>
            <a:chExt cx="4572000" cy="5143500"/>
          </a:xfrm>
        </p:grpSpPr>
        <p:sp>
          <p:nvSpPr>
            <p:cNvPr id="4" name="object 4" descr=""/>
            <p:cNvSpPr/>
            <p:nvPr/>
          </p:nvSpPr>
          <p:spPr>
            <a:xfrm>
              <a:off x="4572000" y="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5600" y="172475"/>
              <a:ext cx="3390224" cy="15563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240837" y="167712"/>
              <a:ext cx="3399790" cy="1566545"/>
            </a:xfrm>
            <a:custGeom>
              <a:avLst/>
              <a:gdLst/>
              <a:ahLst/>
              <a:cxnLst/>
              <a:rect l="l" t="t" r="r" b="b"/>
              <a:pathLst>
                <a:path w="3399790" h="1566545">
                  <a:moveTo>
                    <a:pt x="0" y="0"/>
                  </a:moveTo>
                  <a:lnTo>
                    <a:pt x="3399749" y="0"/>
                  </a:lnTo>
                  <a:lnTo>
                    <a:pt x="3399749" y="1565924"/>
                  </a:lnTo>
                  <a:lnTo>
                    <a:pt x="0" y="1565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1406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7400" y="2071924"/>
              <a:ext cx="4086605" cy="217492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0">
                <a:solidFill>
                  <a:srgbClr val="FFFFFF"/>
                </a:solidFill>
              </a:rPr>
              <a:t>Let’s</a:t>
            </a:r>
            <a:r>
              <a:rPr dirty="0" spc="-204">
                <a:solidFill>
                  <a:srgbClr val="FFFFFF"/>
                </a:solidFill>
              </a:rPr>
              <a:t> </a:t>
            </a:r>
            <a:r>
              <a:rPr dirty="0" spc="-40">
                <a:solidFill>
                  <a:srgbClr val="FFFFFF"/>
                </a:solidFill>
              </a:rPr>
              <a:t>explore!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605868" y="2435840"/>
            <a:ext cx="31750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800" spc="-10">
                <a:solidFill>
                  <a:srgbClr val="FCF9F6"/>
                </a:solidFill>
                <a:uFill>
                  <a:solidFill>
                    <a:srgbClr val="FCF9F6"/>
                  </a:solidFill>
                </a:uFill>
                <a:latin typeface="Trebuchet MS"/>
                <a:cs typeface="Trebuchet MS"/>
                <a:hlinkClick r:id="rId4"/>
              </a:rPr>
              <a:t>sandbox.neo4j.com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35295" y="1794280"/>
            <a:ext cx="14109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5" b="1">
                <a:solidFill>
                  <a:srgbClr val="014063"/>
                </a:solidFill>
                <a:latin typeface="Trebuchet MS"/>
                <a:cs typeface="Trebuchet MS"/>
              </a:rPr>
              <a:t>Scroll-</a:t>
            </a:r>
            <a:r>
              <a:rPr dirty="0" sz="1500" b="1">
                <a:solidFill>
                  <a:srgbClr val="014063"/>
                </a:solidFill>
                <a:latin typeface="Trebuchet MS"/>
                <a:cs typeface="Trebuchet MS"/>
              </a:rPr>
              <a:t>down</a:t>
            </a:r>
            <a:r>
              <a:rPr dirty="0" sz="1500" spc="-95" b="1">
                <a:solidFill>
                  <a:srgbClr val="014063"/>
                </a:solidFill>
                <a:latin typeface="Trebuchet MS"/>
                <a:cs typeface="Trebuchet MS"/>
              </a:rPr>
              <a:t> </a:t>
            </a:r>
            <a:r>
              <a:rPr dirty="0" sz="1500" spc="-25" b="1">
                <a:solidFill>
                  <a:srgbClr val="014063"/>
                </a:solidFill>
                <a:latin typeface="Trebuchet MS"/>
                <a:cs typeface="Trebuchet MS"/>
              </a:rPr>
              <a:t>to: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000070" y="664010"/>
            <a:ext cx="1402715" cy="894715"/>
            <a:chOff x="6000070" y="664010"/>
            <a:chExt cx="1402715" cy="894715"/>
          </a:xfrm>
        </p:grpSpPr>
        <p:sp>
          <p:nvSpPr>
            <p:cNvPr id="12" name="object 12" descr=""/>
            <p:cNvSpPr/>
            <p:nvPr/>
          </p:nvSpPr>
          <p:spPr>
            <a:xfrm>
              <a:off x="6004833" y="668772"/>
              <a:ext cx="1393190" cy="885190"/>
            </a:xfrm>
            <a:custGeom>
              <a:avLst/>
              <a:gdLst/>
              <a:ahLst/>
              <a:cxnLst/>
              <a:rect l="l" t="t" r="r" b="b"/>
              <a:pathLst>
                <a:path w="1393190" h="885190">
                  <a:moveTo>
                    <a:pt x="1293450" y="884792"/>
                  </a:moveTo>
                  <a:lnTo>
                    <a:pt x="141609" y="286874"/>
                  </a:lnTo>
                  <a:lnTo>
                    <a:pt x="91959" y="382499"/>
                  </a:lnTo>
                  <a:lnTo>
                    <a:pt x="0" y="91967"/>
                  </a:lnTo>
                  <a:lnTo>
                    <a:pt x="290559" y="0"/>
                  </a:lnTo>
                  <a:lnTo>
                    <a:pt x="240909" y="95624"/>
                  </a:lnTo>
                  <a:lnTo>
                    <a:pt x="1392750" y="693542"/>
                  </a:lnTo>
                  <a:lnTo>
                    <a:pt x="1293450" y="884792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04833" y="668772"/>
              <a:ext cx="1393190" cy="885190"/>
            </a:xfrm>
            <a:custGeom>
              <a:avLst/>
              <a:gdLst/>
              <a:ahLst/>
              <a:cxnLst/>
              <a:rect l="l" t="t" r="r" b="b"/>
              <a:pathLst>
                <a:path w="1393190" h="885190">
                  <a:moveTo>
                    <a:pt x="0" y="91967"/>
                  </a:moveTo>
                  <a:lnTo>
                    <a:pt x="290559" y="0"/>
                  </a:lnTo>
                  <a:lnTo>
                    <a:pt x="240909" y="95624"/>
                  </a:lnTo>
                  <a:lnTo>
                    <a:pt x="1392750" y="693542"/>
                  </a:lnTo>
                  <a:lnTo>
                    <a:pt x="1293450" y="884792"/>
                  </a:lnTo>
                  <a:lnTo>
                    <a:pt x="141609" y="286874"/>
                  </a:lnTo>
                  <a:lnTo>
                    <a:pt x="91959" y="382499"/>
                  </a:lnTo>
                  <a:lnTo>
                    <a:pt x="0" y="91967"/>
                  </a:lnTo>
                  <a:close/>
                </a:path>
              </a:pathLst>
            </a:custGeom>
            <a:ln w="9524">
              <a:solidFill>
                <a:srgbClr val="0140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 rot="1620000">
            <a:off x="6211902" y="1055257"/>
            <a:ext cx="1015181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baseline="1984" sz="2100" spc="82">
                <a:solidFill>
                  <a:srgbClr val="FCF9F6"/>
                </a:solidFill>
                <a:latin typeface="Trebuchet MS"/>
                <a:cs typeface="Trebuchet MS"/>
              </a:rPr>
              <a:t>New</a:t>
            </a:r>
            <a:r>
              <a:rPr dirty="0" baseline="1984" sz="2100" spc="-135">
                <a:solidFill>
                  <a:srgbClr val="FCF9F6"/>
                </a:solidFill>
                <a:latin typeface="Trebuchet MS"/>
                <a:cs typeface="Trebuchet MS"/>
              </a:rPr>
              <a:t> </a:t>
            </a:r>
            <a:r>
              <a:rPr dirty="0" baseline="1984" sz="2100" spc="-15">
                <a:solidFill>
                  <a:srgbClr val="FCF9F6"/>
                </a:solidFill>
                <a:latin typeface="Trebuchet MS"/>
                <a:cs typeface="Trebuchet MS"/>
              </a:rPr>
              <a:t>Pr</a:t>
            </a:r>
            <a:r>
              <a:rPr dirty="0" sz="1400" spc="-10">
                <a:solidFill>
                  <a:srgbClr val="FCF9F6"/>
                </a:solidFill>
                <a:latin typeface="Trebuchet MS"/>
                <a:cs typeface="Trebuchet MS"/>
              </a:rPr>
              <a:t>oject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620106" y="2377223"/>
            <a:ext cx="2041525" cy="1281430"/>
            <a:chOff x="5620106" y="2377223"/>
            <a:chExt cx="2041525" cy="1281430"/>
          </a:xfrm>
        </p:grpSpPr>
        <p:sp>
          <p:nvSpPr>
            <p:cNvPr id="16" name="object 16" descr=""/>
            <p:cNvSpPr/>
            <p:nvPr/>
          </p:nvSpPr>
          <p:spPr>
            <a:xfrm>
              <a:off x="5624869" y="2381986"/>
              <a:ext cx="2032000" cy="1271905"/>
            </a:xfrm>
            <a:custGeom>
              <a:avLst/>
              <a:gdLst/>
              <a:ahLst/>
              <a:cxnLst/>
              <a:rect l="l" t="t" r="r" b="b"/>
              <a:pathLst>
                <a:path w="2032000" h="1271904">
                  <a:moveTo>
                    <a:pt x="1604856" y="1271536"/>
                  </a:moveTo>
                  <a:lnTo>
                    <a:pt x="1676406" y="1129786"/>
                  </a:lnTo>
                  <a:lnTo>
                    <a:pt x="0" y="283499"/>
                  </a:lnTo>
                  <a:lnTo>
                    <a:pt x="143099" y="0"/>
                  </a:lnTo>
                  <a:lnTo>
                    <a:pt x="1819506" y="846286"/>
                  </a:lnTo>
                  <a:lnTo>
                    <a:pt x="1891056" y="704536"/>
                  </a:lnTo>
                  <a:lnTo>
                    <a:pt x="2031450" y="1131149"/>
                  </a:lnTo>
                  <a:lnTo>
                    <a:pt x="1604856" y="1271536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624869" y="2381986"/>
              <a:ext cx="2032000" cy="1271905"/>
            </a:xfrm>
            <a:custGeom>
              <a:avLst/>
              <a:gdLst/>
              <a:ahLst/>
              <a:cxnLst/>
              <a:rect l="l" t="t" r="r" b="b"/>
              <a:pathLst>
                <a:path w="2032000" h="1271904">
                  <a:moveTo>
                    <a:pt x="143099" y="0"/>
                  </a:moveTo>
                  <a:lnTo>
                    <a:pt x="1819506" y="846286"/>
                  </a:lnTo>
                  <a:lnTo>
                    <a:pt x="1891056" y="704536"/>
                  </a:lnTo>
                  <a:lnTo>
                    <a:pt x="2031450" y="1131149"/>
                  </a:lnTo>
                  <a:lnTo>
                    <a:pt x="1604856" y="1271536"/>
                  </a:lnTo>
                  <a:lnTo>
                    <a:pt x="1676406" y="1129786"/>
                  </a:lnTo>
                  <a:lnTo>
                    <a:pt x="0" y="283499"/>
                  </a:lnTo>
                  <a:lnTo>
                    <a:pt x="143099" y="0"/>
                  </a:lnTo>
                  <a:close/>
                </a:path>
              </a:pathLst>
            </a:custGeom>
            <a:ln w="9524">
              <a:solidFill>
                <a:srgbClr val="F1EA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 rot="1560000">
            <a:off x="5833388" y="2906738"/>
            <a:ext cx="1531813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35"/>
              </a:lnSpc>
            </a:pPr>
            <a:r>
              <a:rPr dirty="0" baseline="1984" sz="2100" spc="-15">
                <a:solidFill>
                  <a:srgbClr val="FCF9F6"/>
                </a:solidFill>
                <a:latin typeface="Trebuchet MS"/>
                <a:cs typeface="Trebuchet MS"/>
              </a:rPr>
              <a:t>R</a:t>
            </a:r>
            <a:r>
              <a:rPr dirty="0" sz="1400" spc="-10">
                <a:solidFill>
                  <a:srgbClr val="FCF9F6"/>
                </a:solidFill>
                <a:latin typeface="Trebuchet MS"/>
                <a:cs typeface="Trebuchet MS"/>
              </a:rPr>
              <a:t>ecommenda</a:t>
            </a:r>
            <a:r>
              <a:rPr dirty="0" baseline="-3968" sz="2100" spc="-15">
                <a:solidFill>
                  <a:srgbClr val="FCF9F6"/>
                </a:solidFill>
                <a:latin typeface="Trebuchet MS"/>
                <a:cs typeface="Trebuchet MS"/>
              </a:rPr>
              <a:t>tions</a:t>
            </a:r>
            <a:endParaRPr baseline="-3968" sz="21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5745087" y="4262401"/>
            <a:ext cx="2391410" cy="760095"/>
            <a:chOff x="5745087" y="4262401"/>
            <a:chExt cx="2391410" cy="760095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45087" y="4347300"/>
              <a:ext cx="2391244" cy="675174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622074" y="4267163"/>
              <a:ext cx="1485265" cy="666750"/>
            </a:xfrm>
            <a:custGeom>
              <a:avLst/>
              <a:gdLst/>
              <a:ahLst/>
              <a:cxnLst/>
              <a:rect l="l" t="t" r="r" b="b"/>
              <a:pathLst>
                <a:path w="1485265" h="666750">
                  <a:moveTo>
                    <a:pt x="266232" y="666240"/>
                  </a:moveTo>
                  <a:lnTo>
                    <a:pt x="0" y="517949"/>
                  </a:lnTo>
                  <a:lnTo>
                    <a:pt x="148332" y="251640"/>
                  </a:lnTo>
                  <a:lnTo>
                    <a:pt x="177807" y="355290"/>
                  </a:lnTo>
                  <a:lnTo>
                    <a:pt x="1425824" y="0"/>
                  </a:lnTo>
                  <a:lnTo>
                    <a:pt x="1484774" y="207299"/>
                  </a:lnTo>
                  <a:lnTo>
                    <a:pt x="236757" y="562590"/>
                  </a:lnTo>
                  <a:lnTo>
                    <a:pt x="266232" y="666240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22074" y="4267163"/>
              <a:ext cx="1485265" cy="666750"/>
            </a:xfrm>
            <a:custGeom>
              <a:avLst/>
              <a:gdLst/>
              <a:ahLst/>
              <a:cxnLst/>
              <a:rect l="l" t="t" r="r" b="b"/>
              <a:pathLst>
                <a:path w="1485265" h="666750">
                  <a:moveTo>
                    <a:pt x="0" y="517949"/>
                  </a:moveTo>
                  <a:lnTo>
                    <a:pt x="148332" y="251640"/>
                  </a:lnTo>
                  <a:lnTo>
                    <a:pt x="177807" y="355290"/>
                  </a:lnTo>
                  <a:lnTo>
                    <a:pt x="1425824" y="0"/>
                  </a:lnTo>
                  <a:lnTo>
                    <a:pt x="1484774" y="207299"/>
                  </a:lnTo>
                  <a:lnTo>
                    <a:pt x="236757" y="562590"/>
                  </a:lnTo>
                  <a:lnTo>
                    <a:pt x="266232" y="666240"/>
                  </a:lnTo>
                  <a:lnTo>
                    <a:pt x="0" y="517949"/>
                  </a:lnTo>
                  <a:close/>
                </a:path>
              </a:pathLst>
            </a:custGeom>
            <a:ln w="9524">
              <a:solidFill>
                <a:srgbClr val="0140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 rot="20700000">
            <a:off x="7115928" y="4485185"/>
            <a:ext cx="57793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10">
                <a:solidFill>
                  <a:srgbClr val="FCF9F6"/>
                </a:solidFill>
                <a:latin typeface="Trebuchet MS"/>
                <a:cs typeface="Trebuchet MS"/>
              </a:rPr>
              <a:t>Cre</a:t>
            </a:r>
            <a:r>
              <a:rPr dirty="0" baseline="1984" sz="2100" spc="-15">
                <a:solidFill>
                  <a:srgbClr val="FCF9F6"/>
                </a:solidFill>
                <a:latin typeface="Trebuchet MS"/>
                <a:cs typeface="Trebuchet MS"/>
              </a:rPr>
              <a:t>ate</a:t>
            </a:r>
            <a:endParaRPr baseline="1984"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21748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375">
                <a:latin typeface="Gill Sans MT"/>
                <a:cs typeface="Gill Sans MT"/>
              </a:rPr>
              <a:t>Cypher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1567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CF9F6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CF9F6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  <a:p>
            <a:pPr marL="12700" marR="412115">
              <a:lnSpc>
                <a:spcPct val="114999"/>
              </a:lnSpc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ASCII-</a:t>
            </a:r>
            <a:r>
              <a:rPr dirty="0" sz="2200" spc="50">
                <a:solidFill>
                  <a:srgbClr val="FCF9F6"/>
                </a:solidFill>
                <a:latin typeface="Arial"/>
                <a:cs typeface="Arial"/>
              </a:rPr>
              <a:t>art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style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syntax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brackets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 b="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4" name="object 4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2" name="object 12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18" name="object 18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10432" y="3909807"/>
            <a:ext cx="571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1567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CF9F6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CF9F6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  <a:p>
            <a:pPr marL="12700" marR="412115">
              <a:lnSpc>
                <a:spcPct val="114999"/>
              </a:lnSpc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ASCII-</a:t>
            </a:r>
            <a:r>
              <a:rPr dirty="0" sz="2200" spc="50">
                <a:solidFill>
                  <a:srgbClr val="FCF9F6"/>
                </a:solidFill>
                <a:latin typeface="Arial"/>
                <a:cs typeface="Arial"/>
              </a:rPr>
              <a:t>art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style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syntax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brackets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 b="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888936" y="490799"/>
            <a:ext cx="1440815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spc="-30" b="1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2050" y="466923"/>
            <a:ext cx="618363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6565" algn="l"/>
              </a:tabLst>
            </a:pPr>
            <a:r>
              <a:rPr dirty="0" sz="2200" spc="-65" b="1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7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	language</a:t>
            </a:r>
            <a:r>
              <a:rPr dirty="0" sz="2200" spc="-1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CF9F6"/>
                </a:solidFill>
                <a:latin typeface="Arial"/>
                <a:cs typeface="Arial"/>
              </a:rPr>
              <a:t>you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2050" y="802204"/>
            <a:ext cx="5775960" cy="118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6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identify</a:t>
            </a:r>
            <a:r>
              <a:rPr dirty="0" sz="2200" spc="-4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CF9F6"/>
                </a:solidFill>
                <a:latin typeface="Arial"/>
                <a:cs typeface="Arial"/>
              </a:rPr>
              <a:t>patterns</a:t>
            </a:r>
            <a:r>
              <a:rPr dirty="0" sz="2200" spc="-4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CF9F6"/>
                </a:solidFill>
                <a:latin typeface="Arial"/>
                <a:cs typeface="Arial"/>
              </a:rPr>
              <a:t>an </a:t>
            </a:r>
            <a:r>
              <a:rPr dirty="0" sz="2200" b="1">
                <a:solidFill>
                  <a:srgbClr val="FCF9F6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CF9F6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CF9F6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CF9F6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CF9F6"/>
                </a:solidFill>
                <a:latin typeface="Arial"/>
                <a:cs typeface="Arial"/>
              </a:rPr>
              <a:t>brackets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 b="1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66923"/>
            <a:ext cx="6183630" cy="360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728237" y="876371"/>
            <a:ext cx="2149475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135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92050" y="852496"/>
            <a:ext cx="516382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43810" algn="l"/>
              </a:tabLst>
            </a:pPr>
            <a:r>
              <a:rPr dirty="0" sz="2200" spc="35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	in your data using</a:t>
            </a:r>
            <a:r>
              <a:rPr dirty="0" sz="2200" spc="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050" y="1187775"/>
            <a:ext cx="577596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b="1">
                <a:solidFill>
                  <a:srgbClr val="FCF9F6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CF9F6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CF9F6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CF9F6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CF9F6"/>
                </a:solidFill>
                <a:latin typeface="Arial"/>
                <a:cs typeface="Arial"/>
              </a:rPr>
              <a:t>brackets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 b="1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5" name="object 15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404750" y="1261943"/>
            <a:ext cx="2877820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45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45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AFF00"/>
                </a:solidFill>
                <a:latin typeface="Arial"/>
                <a:cs typeface="Arial"/>
              </a:rPr>
              <a:t>syntax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328872" y="1238067"/>
            <a:ext cx="28390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2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3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FCF9F6"/>
                </a:solidFill>
                <a:latin typeface="Arial"/>
                <a:cs typeface="Arial"/>
              </a:rPr>
              <a:t>brackets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92050" y="1623640"/>
            <a:ext cx="25101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75" b="1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3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5" name="object 15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10432" y="3909807"/>
            <a:ext cx="571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89724" y="1261943"/>
            <a:ext cx="1102360" cy="335280"/>
          </a:xfrm>
          <a:custGeom>
            <a:avLst/>
            <a:gdLst/>
            <a:ahLst/>
            <a:cxnLst/>
            <a:rect l="l" t="t" r="r" b="b"/>
            <a:pathLst>
              <a:path w="1102359" h="335280">
                <a:moveTo>
                  <a:pt x="1101755" y="335280"/>
                </a:moveTo>
                <a:lnTo>
                  <a:pt x="0" y="335280"/>
                </a:lnTo>
                <a:lnTo>
                  <a:pt x="0" y="0"/>
                </a:lnTo>
                <a:lnTo>
                  <a:pt x="1101755" y="0"/>
                </a:lnTo>
                <a:lnTo>
                  <a:pt x="1101755" y="335280"/>
                </a:lnTo>
                <a:close/>
              </a:path>
            </a:pathLst>
          </a:custGeom>
          <a:solidFill>
            <a:srgbClr val="014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92050" y="1187775"/>
            <a:ext cx="577596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 b="1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6" name="object 6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4" name="object 14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0" name="object 20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10432" y="3909807"/>
            <a:ext cx="5723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p:Person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)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-[r:ACTED_IN]-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m:Movie</a:t>
            </a: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89724" y="1261943"/>
            <a:ext cx="1102360" cy="335280"/>
          </a:xfrm>
          <a:custGeom>
            <a:avLst/>
            <a:gdLst/>
            <a:ahLst/>
            <a:cxnLst/>
            <a:rect l="l" t="t" r="r" b="b"/>
            <a:pathLst>
              <a:path w="1102359" h="335280">
                <a:moveTo>
                  <a:pt x="1101755" y="335280"/>
                </a:moveTo>
                <a:lnTo>
                  <a:pt x="0" y="335280"/>
                </a:lnTo>
                <a:lnTo>
                  <a:pt x="0" y="0"/>
                </a:lnTo>
                <a:lnTo>
                  <a:pt x="1101755" y="0"/>
                </a:lnTo>
                <a:lnTo>
                  <a:pt x="1101755" y="335280"/>
                </a:lnTo>
                <a:close/>
              </a:path>
            </a:pathLst>
          </a:custGeom>
          <a:solidFill>
            <a:srgbClr val="014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92050" y="1187775"/>
            <a:ext cx="577596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 b="1">
                <a:solidFill>
                  <a:srgbClr val="FCF9F6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6" name="object 6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4" name="object 14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0" name="object 20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10432" y="3909807"/>
            <a:ext cx="57232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:Person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)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-[r:ACTED_IN]-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:Movie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2050" y="1238067"/>
            <a:ext cx="57759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35">
                <a:solidFill>
                  <a:srgbClr val="FCF9F6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4750" y="1647515"/>
            <a:ext cx="920750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spc="-80" b="1">
                <a:solidFill>
                  <a:srgbClr val="FAFF00"/>
                </a:solidFill>
                <a:latin typeface="Arial"/>
                <a:cs typeface="Arial"/>
              </a:rPr>
              <a:t>dashes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71744" y="1623640"/>
            <a:ext cx="15303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3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5" name="object 15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10432" y="3909807"/>
            <a:ext cx="5721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:Person)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-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[r:ACTED_IN]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2050" y="1238067"/>
            <a:ext cx="57759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35">
                <a:solidFill>
                  <a:srgbClr val="FCF9F6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4750" y="1647515"/>
            <a:ext cx="920750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spc="-80" b="1">
                <a:solidFill>
                  <a:srgbClr val="FAFF00"/>
                </a:solidFill>
                <a:latin typeface="Arial"/>
                <a:cs typeface="Arial"/>
              </a:rPr>
              <a:t>dashes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71744" y="1623640"/>
            <a:ext cx="15303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3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5" name="object 15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10432" y="3909807"/>
            <a:ext cx="5721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:Person)-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[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r:ACTED_IN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]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92050" y="1238067"/>
            <a:ext cx="577596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35">
                <a:solidFill>
                  <a:srgbClr val="FCF9F6"/>
                </a:solidFill>
                <a:latin typeface="Arial"/>
                <a:cs typeface="Arial"/>
              </a:rPr>
              <a:t>,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4750" y="1647515"/>
            <a:ext cx="920750" cy="33528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550"/>
              </a:lnSpc>
            </a:pPr>
            <a:r>
              <a:rPr dirty="0" sz="2200" spc="-80" b="1">
                <a:solidFill>
                  <a:srgbClr val="FAFF00"/>
                </a:solidFill>
                <a:latin typeface="Arial"/>
                <a:cs typeface="Arial"/>
              </a:rPr>
              <a:t>dashes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71744" y="1623640"/>
            <a:ext cx="153035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30" b="1">
                <a:solidFill>
                  <a:srgbClr val="FCF9F6"/>
                </a:solidFill>
                <a:latin typeface="Arial"/>
                <a:cs typeface="Arial"/>
              </a:rPr>
              <a:t>arrows</a:t>
            </a:r>
            <a:r>
              <a:rPr dirty="0" sz="2200" spc="-3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5" name="object 15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AFF00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10432" y="3909807"/>
            <a:ext cx="5721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:Person)-</a:t>
            </a:r>
            <a:r>
              <a:rPr dirty="0" sz="2400" spc="-20" b="1">
                <a:solidFill>
                  <a:srgbClr val="FCF9F6"/>
                </a:solidFill>
                <a:latin typeface="Consolas"/>
                <a:cs typeface="Consolas"/>
              </a:rPr>
              <a:t>[</a:t>
            </a:r>
            <a:r>
              <a:rPr dirty="0" sz="2400" spc="-20" b="1">
                <a:solidFill>
                  <a:srgbClr val="014063"/>
                </a:solidFill>
                <a:latin typeface="Consolas"/>
                <a:cs typeface="Consolas"/>
              </a:rPr>
              <a:t>r</a:t>
            </a:r>
            <a:r>
              <a:rPr dirty="0" sz="2400" spc="-20" b="1">
                <a:solidFill>
                  <a:srgbClr val="FAFF00"/>
                </a:solidFill>
                <a:latin typeface="Consolas"/>
                <a:cs typeface="Consolas"/>
              </a:rPr>
              <a:t>:ACTED_IN</a:t>
            </a:r>
            <a:r>
              <a:rPr dirty="0" sz="2400" spc="-20" b="1">
                <a:solidFill>
                  <a:srgbClr val="FCF9F6"/>
                </a:solidFill>
                <a:latin typeface="Consolas"/>
                <a:cs typeface="Consolas"/>
              </a:rPr>
              <a:t>]-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7969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925811" y="1647515"/>
            <a:ext cx="899794" cy="335280"/>
          </a:xfrm>
          <a:custGeom>
            <a:avLst/>
            <a:gdLst/>
            <a:ahLst/>
            <a:cxnLst/>
            <a:rect l="l" t="t" r="r" b="b"/>
            <a:pathLst>
              <a:path w="899795" h="335280">
                <a:moveTo>
                  <a:pt x="899506" y="335279"/>
                </a:moveTo>
                <a:lnTo>
                  <a:pt x="0" y="335279"/>
                </a:lnTo>
                <a:lnTo>
                  <a:pt x="0" y="0"/>
                </a:lnTo>
                <a:lnTo>
                  <a:pt x="899506" y="0"/>
                </a:lnTo>
                <a:lnTo>
                  <a:pt x="899506" y="335279"/>
                </a:lnTo>
                <a:close/>
              </a:path>
            </a:pathLst>
          </a:custGeom>
          <a:solidFill>
            <a:srgbClr val="014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392050" y="1187775"/>
            <a:ext cx="5775960" cy="79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 b="1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 b="1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5" b="1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45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 b="1">
                <a:solidFill>
                  <a:srgbClr val="FAFF00"/>
                </a:solidFill>
                <a:latin typeface="Arial"/>
                <a:cs typeface="Arial"/>
              </a:rPr>
              <a:t>dashes</a:t>
            </a:r>
            <a:r>
              <a:rPr dirty="0" sz="2200" spc="-55" b="1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AFF00"/>
                </a:solidFill>
                <a:latin typeface="Arial"/>
                <a:cs typeface="Arial"/>
              </a:rPr>
              <a:t>arrows</a:t>
            </a:r>
            <a:r>
              <a:rPr dirty="0" sz="2200" spc="-1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6" name="object 6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4" name="object 14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FA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20" name="object 20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710432" y="3909807"/>
            <a:ext cx="5721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014063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:Person)-</a:t>
            </a:r>
            <a:r>
              <a:rPr dirty="0" sz="2400" spc="-20" b="1">
                <a:solidFill>
                  <a:srgbClr val="FCF9F6"/>
                </a:solidFill>
                <a:latin typeface="Consolas"/>
                <a:cs typeface="Consolas"/>
              </a:rPr>
              <a:t>[</a:t>
            </a:r>
            <a:r>
              <a:rPr dirty="0" sz="2400" spc="-20" b="1">
                <a:solidFill>
                  <a:srgbClr val="014063"/>
                </a:solidFill>
                <a:latin typeface="Consolas"/>
                <a:cs typeface="Consolas"/>
              </a:rPr>
              <a:t>r</a:t>
            </a:r>
            <a:r>
              <a:rPr dirty="0" sz="2400" spc="-20" b="1">
                <a:solidFill>
                  <a:srgbClr val="FCF9F6"/>
                </a:solidFill>
                <a:latin typeface="Consolas"/>
                <a:cs typeface="Consolas"/>
              </a:rPr>
              <a:t>:ACTED_IN]-</a:t>
            </a: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&gt;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10" b="1">
                <a:solidFill>
                  <a:srgbClr val="014063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050" y="416631"/>
            <a:ext cx="6183630" cy="15678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2200" spc="-65">
                <a:solidFill>
                  <a:srgbClr val="FCF9F6"/>
                </a:solidFill>
                <a:latin typeface="Arial"/>
                <a:cs typeface="Arial"/>
              </a:rPr>
              <a:t>Cypher</a:t>
            </a:r>
            <a:r>
              <a:rPr dirty="0" sz="2200" spc="-55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FAFF00"/>
                </a:solidFill>
                <a:latin typeface="Arial"/>
                <a:cs typeface="Arial"/>
              </a:rPr>
              <a:t>declarative</a:t>
            </a:r>
            <a:r>
              <a:rPr dirty="0" sz="2200" spc="-5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language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that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65" b="0">
                <a:solidFill>
                  <a:srgbClr val="FCF9F6"/>
                </a:solidFill>
                <a:latin typeface="Arial"/>
                <a:cs typeface="Arial"/>
              </a:rPr>
              <a:t>allows</a:t>
            </a:r>
            <a:r>
              <a:rPr dirty="0" sz="2200" spc="-5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you </a:t>
            </a:r>
            <a:r>
              <a:rPr dirty="0" sz="2200" spc="60" b="0">
                <a:solidFill>
                  <a:srgbClr val="FCF9F6"/>
                </a:solidFill>
                <a:latin typeface="Arial"/>
                <a:cs typeface="Arial"/>
              </a:rPr>
              <a:t>to</a:t>
            </a:r>
            <a:r>
              <a:rPr dirty="0" sz="2200" spc="-4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identify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AFF00"/>
                </a:solidFill>
                <a:latin typeface="Arial"/>
                <a:cs typeface="Arial"/>
              </a:rPr>
              <a:t>patterns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in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your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data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using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25" b="0">
                <a:solidFill>
                  <a:srgbClr val="FCF9F6"/>
                </a:solidFill>
                <a:latin typeface="Arial"/>
                <a:cs typeface="Arial"/>
              </a:rPr>
              <a:t>an</a:t>
            </a:r>
            <a:endParaRPr sz="2200">
              <a:latin typeface="Arial"/>
              <a:cs typeface="Arial"/>
            </a:endParaRPr>
          </a:p>
          <a:p>
            <a:pPr marL="12700" marR="412115">
              <a:lnSpc>
                <a:spcPct val="114999"/>
              </a:lnSpc>
            </a:pPr>
            <a:r>
              <a:rPr dirty="0" sz="2200">
                <a:solidFill>
                  <a:srgbClr val="FAFF00"/>
                </a:solidFill>
                <a:latin typeface="Arial"/>
                <a:cs typeface="Arial"/>
              </a:rPr>
              <a:t>ASCII-</a:t>
            </a:r>
            <a:r>
              <a:rPr dirty="0" sz="2200" spc="50">
                <a:solidFill>
                  <a:srgbClr val="FAFF00"/>
                </a:solidFill>
                <a:latin typeface="Arial"/>
                <a:cs typeface="Arial"/>
              </a:rPr>
              <a:t>art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FAFF00"/>
                </a:solidFill>
                <a:latin typeface="Arial"/>
                <a:cs typeface="Arial"/>
              </a:rPr>
              <a:t>style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syntax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consisting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of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40">
                <a:solidFill>
                  <a:srgbClr val="FAFF00"/>
                </a:solidFill>
                <a:latin typeface="Arial"/>
                <a:cs typeface="Arial"/>
              </a:rPr>
              <a:t>brackets</a:t>
            </a:r>
            <a:r>
              <a:rPr dirty="0" sz="2200" spc="-40" b="0">
                <a:solidFill>
                  <a:srgbClr val="FCF9F6"/>
                </a:solidFill>
                <a:latin typeface="Arial"/>
                <a:cs typeface="Arial"/>
              </a:rPr>
              <a:t>, </a:t>
            </a:r>
            <a:r>
              <a:rPr dirty="0" sz="2200" spc="-75">
                <a:solidFill>
                  <a:srgbClr val="FAFF00"/>
                </a:solidFill>
                <a:latin typeface="Arial"/>
                <a:cs typeface="Arial"/>
              </a:rPr>
              <a:t>dashes</a:t>
            </a:r>
            <a:r>
              <a:rPr dirty="0" sz="2200" spc="-55">
                <a:solidFill>
                  <a:srgbClr val="FAFF00"/>
                </a:solidFill>
                <a:latin typeface="Arial"/>
                <a:cs typeface="Arial"/>
              </a:rPr>
              <a:t> </a:t>
            </a:r>
            <a:r>
              <a:rPr dirty="0" sz="2200" b="0">
                <a:solidFill>
                  <a:srgbClr val="FCF9F6"/>
                </a:solidFill>
                <a:latin typeface="Arial"/>
                <a:cs typeface="Arial"/>
              </a:rPr>
              <a:t>and</a:t>
            </a:r>
            <a:r>
              <a:rPr dirty="0" sz="2200" spc="-55" b="0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FAFF00"/>
                </a:solidFill>
                <a:latin typeface="Arial"/>
                <a:cs typeface="Arial"/>
              </a:rPr>
              <a:t>arrows</a:t>
            </a:r>
            <a:r>
              <a:rPr dirty="0" sz="2200" spc="-10" b="0">
                <a:solidFill>
                  <a:srgbClr val="FCF9F6"/>
                </a:solidFill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977562" y="2416381"/>
            <a:ext cx="5184140" cy="1119505"/>
            <a:chOff x="1977562" y="2416381"/>
            <a:chExt cx="5184140" cy="1119505"/>
          </a:xfrm>
        </p:grpSpPr>
        <p:sp>
          <p:nvSpPr>
            <p:cNvPr id="4" name="object 4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991849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30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2" y="315036"/>
                  </a:lnTo>
                  <a:lnTo>
                    <a:pt x="1057858" y="358724"/>
                  </a:lnTo>
                  <a:lnTo>
                    <a:pt x="1072114" y="403855"/>
                  </a:lnTo>
                  <a:lnTo>
                    <a:pt x="1082425" y="450179"/>
                  </a:lnTo>
                  <a:lnTo>
                    <a:pt x="1088689" y="497444"/>
                  </a:lnTo>
                  <a:lnTo>
                    <a:pt x="1090799" y="545399"/>
                  </a:lnTo>
                  <a:lnTo>
                    <a:pt x="1088798" y="592459"/>
                  </a:lnTo>
                  <a:lnTo>
                    <a:pt x="1082901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545399" y="1090800"/>
                  </a:move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0880" y="2001"/>
                  </a:lnTo>
                  <a:lnTo>
                    <a:pt x="592533" y="2001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813498" y="2430669"/>
              <a:ext cx="1090930" cy="1090930"/>
            </a:xfrm>
            <a:custGeom>
              <a:avLst/>
              <a:gdLst/>
              <a:ahLst/>
              <a:cxnLst/>
              <a:rect l="l" t="t" r="r" b="b"/>
              <a:pathLst>
                <a:path w="1090929" h="1090929">
                  <a:moveTo>
                    <a:pt x="0" y="545399"/>
                  </a:moveTo>
                  <a:lnTo>
                    <a:pt x="2001" y="498340"/>
                  </a:lnTo>
                  <a:lnTo>
                    <a:pt x="7898" y="452393"/>
                  </a:lnTo>
                  <a:lnTo>
                    <a:pt x="17526" y="407720"/>
                  </a:lnTo>
                  <a:lnTo>
                    <a:pt x="30721" y="364487"/>
                  </a:lnTo>
                  <a:lnTo>
                    <a:pt x="47320" y="322857"/>
                  </a:lnTo>
                  <a:lnTo>
                    <a:pt x="67158" y="282993"/>
                  </a:lnTo>
                  <a:lnTo>
                    <a:pt x="90073" y="245059"/>
                  </a:lnTo>
                  <a:lnTo>
                    <a:pt x="115900" y="209219"/>
                  </a:lnTo>
                  <a:lnTo>
                    <a:pt x="144476" y="175637"/>
                  </a:lnTo>
                  <a:lnTo>
                    <a:pt x="175637" y="144476"/>
                  </a:lnTo>
                  <a:lnTo>
                    <a:pt x="209219" y="115900"/>
                  </a:lnTo>
                  <a:lnTo>
                    <a:pt x="245059" y="90073"/>
                  </a:lnTo>
                  <a:lnTo>
                    <a:pt x="282993" y="67158"/>
                  </a:lnTo>
                  <a:lnTo>
                    <a:pt x="322857" y="47320"/>
                  </a:lnTo>
                  <a:lnTo>
                    <a:pt x="364487" y="30721"/>
                  </a:lnTo>
                  <a:lnTo>
                    <a:pt x="407720" y="17526"/>
                  </a:lnTo>
                  <a:lnTo>
                    <a:pt x="452393" y="7898"/>
                  </a:lnTo>
                  <a:lnTo>
                    <a:pt x="498340" y="2001"/>
                  </a:lnTo>
                  <a:lnTo>
                    <a:pt x="545399" y="0"/>
                  </a:lnTo>
                  <a:lnTo>
                    <a:pt x="593355" y="2110"/>
                  </a:lnTo>
                  <a:lnTo>
                    <a:pt x="640620" y="8374"/>
                  </a:lnTo>
                  <a:lnTo>
                    <a:pt x="686943" y="18685"/>
                  </a:lnTo>
                  <a:lnTo>
                    <a:pt x="732075" y="32941"/>
                  </a:lnTo>
                  <a:lnTo>
                    <a:pt x="775763" y="51037"/>
                  </a:lnTo>
                  <a:lnTo>
                    <a:pt x="817756" y="72869"/>
                  </a:lnTo>
                  <a:lnTo>
                    <a:pt x="857803" y="98334"/>
                  </a:lnTo>
                  <a:lnTo>
                    <a:pt x="895654" y="127327"/>
                  </a:lnTo>
                  <a:lnTo>
                    <a:pt x="931055" y="159743"/>
                  </a:lnTo>
                  <a:lnTo>
                    <a:pt x="963472" y="195145"/>
                  </a:lnTo>
                  <a:lnTo>
                    <a:pt x="992465" y="232996"/>
                  </a:lnTo>
                  <a:lnTo>
                    <a:pt x="1017929" y="273043"/>
                  </a:lnTo>
                  <a:lnTo>
                    <a:pt x="1039761" y="315036"/>
                  </a:lnTo>
                  <a:lnTo>
                    <a:pt x="1057858" y="358724"/>
                  </a:lnTo>
                  <a:lnTo>
                    <a:pt x="1072113" y="403855"/>
                  </a:lnTo>
                  <a:lnTo>
                    <a:pt x="1082425" y="450179"/>
                  </a:lnTo>
                  <a:lnTo>
                    <a:pt x="1088688" y="497444"/>
                  </a:lnTo>
                  <a:lnTo>
                    <a:pt x="1090799" y="545399"/>
                  </a:lnTo>
                  <a:lnTo>
                    <a:pt x="1088797" y="592459"/>
                  </a:lnTo>
                  <a:lnTo>
                    <a:pt x="1082900" y="638406"/>
                  </a:lnTo>
                  <a:lnTo>
                    <a:pt x="1073273" y="683078"/>
                  </a:lnTo>
                  <a:lnTo>
                    <a:pt x="1060078" y="726312"/>
                  </a:lnTo>
                  <a:lnTo>
                    <a:pt x="1043479" y="767942"/>
                  </a:lnTo>
                  <a:lnTo>
                    <a:pt x="1023641" y="807806"/>
                  </a:lnTo>
                  <a:lnTo>
                    <a:pt x="1000726" y="845740"/>
                  </a:lnTo>
                  <a:lnTo>
                    <a:pt x="974899" y="881580"/>
                  </a:lnTo>
                  <a:lnTo>
                    <a:pt x="946323" y="915162"/>
                  </a:lnTo>
                  <a:lnTo>
                    <a:pt x="915162" y="946323"/>
                  </a:lnTo>
                  <a:lnTo>
                    <a:pt x="881580" y="974899"/>
                  </a:lnTo>
                  <a:lnTo>
                    <a:pt x="845740" y="1000726"/>
                  </a:lnTo>
                  <a:lnTo>
                    <a:pt x="807806" y="1023641"/>
                  </a:lnTo>
                  <a:lnTo>
                    <a:pt x="767942" y="1043480"/>
                  </a:lnTo>
                  <a:lnTo>
                    <a:pt x="726312" y="1060078"/>
                  </a:lnTo>
                  <a:lnTo>
                    <a:pt x="683078" y="1073273"/>
                  </a:lnTo>
                  <a:lnTo>
                    <a:pt x="638406" y="1082901"/>
                  </a:lnTo>
                  <a:lnTo>
                    <a:pt x="592459" y="1088798"/>
                  </a:lnTo>
                  <a:lnTo>
                    <a:pt x="545399" y="1090800"/>
                  </a:lnTo>
                  <a:lnTo>
                    <a:pt x="498340" y="1088798"/>
                  </a:lnTo>
                  <a:lnTo>
                    <a:pt x="452393" y="1082901"/>
                  </a:lnTo>
                  <a:lnTo>
                    <a:pt x="407720" y="1073273"/>
                  </a:lnTo>
                  <a:lnTo>
                    <a:pt x="364487" y="1060078"/>
                  </a:lnTo>
                  <a:lnTo>
                    <a:pt x="322857" y="1043480"/>
                  </a:lnTo>
                  <a:lnTo>
                    <a:pt x="282993" y="1023641"/>
                  </a:lnTo>
                  <a:lnTo>
                    <a:pt x="245059" y="1000726"/>
                  </a:lnTo>
                  <a:lnTo>
                    <a:pt x="209219" y="974899"/>
                  </a:lnTo>
                  <a:lnTo>
                    <a:pt x="175637" y="946323"/>
                  </a:lnTo>
                  <a:lnTo>
                    <a:pt x="144476" y="915162"/>
                  </a:lnTo>
                  <a:lnTo>
                    <a:pt x="115900" y="881580"/>
                  </a:lnTo>
                  <a:lnTo>
                    <a:pt x="90073" y="845740"/>
                  </a:lnTo>
                  <a:lnTo>
                    <a:pt x="67158" y="807806"/>
                  </a:lnTo>
                  <a:lnTo>
                    <a:pt x="47320" y="767942"/>
                  </a:lnTo>
                  <a:lnTo>
                    <a:pt x="30721" y="726312"/>
                  </a:lnTo>
                  <a:lnTo>
                    <a:pt x="17526" y="683078"/>
                  </a:lnTo>
                  <a:lnTo>
                    <a:pt x="7898" y="638406"/>
                  </a:lnTo>
                  <a:lnTo>
                    <a:pt x="2001" y="592459"/>
                  </a:lnTo>
                  <a:lnTo>
                    <a:pt x="0" y="5453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6326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83141" y="2547297"/>
              <a:ext cx="669290" cy="218440"/>
            </a:xfrm>
            <a:custGeom>
              <a:avLst/>
              <a:gdLst/>
              <a:ahLst/>
              <a:cxnLst/>
              <a:rect l="l" t="t" r="r" b="b"/>
              <a:pathLst>
                <a:path w="66929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632648" y="0"/>
                  </a:lnTo>
                  <a:lnTo>
                    <a:pt x="666232" y="22439"/>
                  </a:lnTo>
                  <a:lnTo>
                    <a:pt x="668999" y="36350"/>
                  </a:lnTo>
                  <a:lnTo>
                    <a:pt x="668999" y="181749"/>
                  </a:lnTo>
                  <a:lnTo>
                    <a:pt x="666143" y="195898"/>
                  </a:lnTo>
                  <a:lnTo>
                    <a:pt x="658353" y="207453"/>
                  </a:lnTo>
                  <a:lnTo>
                    <a:pt x="646798" y="215243"/>
                  </a:lnTo>
                  <a:lnTo>
                    <a:pt x="6326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47321" y="2572400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Movie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68284" y="2851540"/>
            <a:ext cx="2718435" cy="237490"/>
            <a:chOff x="3068284" y="2851540"/>
            <a:chExt cx="2718435" cy="237490"/>
          </a:xfrm>
        </p:grpSpPr>
        <p:sp>
          <p:nvSpPr>
            <p:cNvPr id="12" name="object 12" descr=""/>
            <p:cNvSpPr/>
            <p:nvPr/>
          </p:nvSpPr>
          <p:spPr>
            <a:xfrm>
              <a:off x="3082571" y="2976029"/>
              <a:ext cx="2560320" cy="0"/>
            </a:xfrm>
            <a:custGeom>
              <a:avLst/>
              <a:gdLst/>
              <a:ahLst/>
              <a:cxnLst/>
              <a:rect l="l" t="t" r="r" b="b"/>
              <a:pathLst>
                <a:path w="2560320" h="0">
                  <a:moveTo>
                    <a:pt x="0" y="0"/>
                  </a:moveTo>
                  <a:lnTo>
                    <a:pt x="2559750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8034" y="2914543"/>
              <a:ext cx="158250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8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045122" y="2861065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8" y="0"/>
                  </a:lnTo>
                  <a:lnTo>
                    <a:pt x="803332" y="22440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2" y="207453"/>
                  </a:lnTo>
                  <a:lnTo>
                    <a:pt x="783898" y="215243"/>
                  </a:lnTo>
                  <a:lnTo>
                    <a:pt x="769748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157206" y="2886168"/>
            <a:ext cx="582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FE3E7"/>
                </a:solidFill>
                <a:latin typeface="Arial"/>
                <a:cs typeface="Arial"/>
              </a:rPr>
              <a:t>ACTED_IN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2651968" y="2537772"/>
            <a:ext cx="825500" cy="237490"/>
            <a:chOff x="2651968" y="2537772"/>
            <a:chExt cx="825500" cy="237490"/>
          </a:xfrm>
        </p:grpSpPr>
        <p:sp>
          <p:nvSpPr>
            <p:cNvPr id="18" name="object 18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769749" y="218099"/>
                  </a:move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661493" y="2547297"/>
              <a:ext cx="806450" cy="218440"/>
            </a:xfrm>
            <a:custGeom>
              <a:avLst/>
              <a:gdLst/>
              <a:ahLst/>
              <a:cxnLst/>
              <a:rect l="l" t="t" r="r" b="b"/>
              <a:pathLst>
                <a:path w="806450" h="218439">
                  <a:moveTo>
                    <a:pt x="0" y="36350"/>
                  </a:moveTo>
                  <a:lnTo>
                    <a:pt x="2856" y="22201"/>
                  </a:lnTo>
                  <a:lnTo>
                    <a:pt x="10646" y="10646"/>
                  </a:lnTo>
                  <a:lnTo>
                    <a:pt x="22201" y="2856"/>
                  </a:lnTo>
                  <a:lnTo>
                    <a:pt x="36350" y="0"/>
                  </a:lnTo>
                  <a:lnTo>
                    <a:pt x="769749" y="0"/>
                  </a:lnTo>
                  <a:lnTo>
                    <a:pt x="803332" y="22439"/>
                  </a:lnTo>
                  <a:lnTo>
                    <a:pt x="806099" y="36350"/>
                  </a:lnTo>
                  <a:lnTo>
                    <a:pt x="806099" y="181749"/>
                  </a:lnTo>
                  <a:lnTo>
                    <a:pt x="803243" y="195898"/>
                  </a:lnTo>
                  <a:lnTo>
                    <a:pt x="795453" y="207453"/>
                  </a:lnTo>
                  <a:lnTo>
                    <a:pt x="783898" y="215243"/>
                  </a:lnTo>
                  <a:lnTo>
                    <a:pt x="769749" y="218099"/>
                  </a:lnTo>
                  <a:lnTo>
                    <a:pt x="36350" y="218099"/>
                  </a:lnTo>
                  <a:lnTo>
                    <a:pt x="22201" y="215243"/>
                  </a:lnTo>
                  <a:lnTo>
                    <a:pt x="10646" y="207453"/>
                  </a:lnTo>
                  <a:lnTo>
                    <a:pt x="2856" y="195898"/>
                  </a:lnTo>
                  <a:lnTo>
                    <a:pt x="0" y="181749"/>
                  </a:lnTo>
                  <a:lnTo>
                    <a:pt x="0" y="36350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868676" y="2572400"/>
            <a:ext cx="392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10432" y="3909807"/>
            <a:ext cx="57219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p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:Person)-[</a:t>
            </a:r>
            <a:r>
              <a:rPr dirty="0" sz="2400" spc="-25" b="1">
                <a:solidFill>
                  <a:srgbClr val="FAFF00"/>
                </a:solidFill>
                <a:latin typeface="Consolas"/>
                <a:cs typeface="Consolas"/>
              </a:rPr>
              <a:t>r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</a:t>
            </a: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m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248031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240">
                <a:latin typeface="Gill Sans MT"/>
                <a:cs typeface="Gill Sans MT"/>
              </a:rPr>
              <a:t>Readi⭲ą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FFFFFF"/>
                </a:solidFill>
              </a:rPr>
              <a:t>Reading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from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0" y="1167388"/>
            <a:ext cx="393700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pattern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in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the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database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750" y="1486666"/>
            <a:ext cx="83820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15" b="1">
                <a:solidFill>
                  <a:srgbClr val="FAFF00"/>
                </a:solidFill>
                <a:latin typeface="Consolas"/>
                <a:cs typeface="Consolas"/>
              </a:rPr>
              <a:t>MATCH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8287" y="1461775"/>
            <a:ext cx="571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FFFFFF"/>
                </a:solidFill>
              </a:rPr>
              <a:t>Reading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from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0" y="1142380"/>
            <a:ext cx="6718934" cy="130873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pattern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in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the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database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MATCH</a:t>
            </a:r>
            <a:r>
              <a:rPr dirty="0" sz="2400" spc="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6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Filter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on</a:t>
            </a:r>
            <a:r>
              <a:rPr dirty="0" sz="1700" spc="-4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node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property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750" y="2485648"/>
            <a:ext cx="83820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15" b="1">
                <a:solidFill>
                  <a:srgbClr val="FAFF00"/>
                </a:solidFill>
                <a:latin typeface="Consolas"/>
                <a:cs typeface="Consolas"/>
              </a:rPr>
              <a:t>WHERE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8287" y="2460756"/>
            <a:ext cx="3539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m.title</a:t>
            </a:r>
            <a:r>
              <a:rPr dirty="0" sz="2400" spc="-7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=</a:t>
            </a:r>
            <a:r>
              <a:rPr dirty="0" sz="2400" spc="-7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"Toy</a:t>
            </a:r>
            <a:r>
              <a:rPr dirty="0" sz="2400" spc="-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Story"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3050" y="1142380"/>
            <a:ext cx="6718934" cy="230759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pattern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in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the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database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MATCH</a:t>
            </a:r>
            <a:r>
              <a:rPr dirty="0" sz="2400" spc="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6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Filter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on</a:t>
            </a:r>
            <a:r>
              <a:rPr dirty="0" sz="1700" spc="-4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node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property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WHERE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m.title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=</a:t>
            </a:r>
            <a:r>
              <a:rPr dirty="0" sz="2400" spc="-7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"Toy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Story"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6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Choose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what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to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return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65750" y="3484630"/>
            <a:ext cx="100584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20" b="1">
                <a:solidFill>
                  <a:srgbClr val="FAFF00"/>
                </a:solidFill>
                <a:latin typeface="Consolas"/>
                <a:cs typeface="Consolas"/>
              </a:rPr>
              <a:t>RETURN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25868" y="3459738"/>
            <a:ext cx="55479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p.name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AS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actor,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r.roles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AS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roles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FFFFFF"/>
                </a:solidFill>
              </a:rPr>
              <a:t>Reading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from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79694" y="1188725"/>
            <a:ext cx="1487805" cy="259079"/>
          </a:xfrm>
          <a:prstGeom prst="rect">
            <a:avLst/>
          </a:prstGeom>
          <a:solidFill>
            <a:srgbClr val="014063"/>
          </a:solidFill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500" b="1">
                <a:solidFill>
                  <a:srgbClr val="FAFF00"/>
                </a:solidFill>
                <a:latin typeface="Consolas"/>
                <a:cs typeface="Consolas"/>
              </a:rPr>
              <a:t>SQL</a:t>
            </a:r>
            <a:r>
              <a:rPr dirty="0" sz="1500" spc="-40" b="1">
                <a:solidFill>
                  <a:srgbClr val="FAFF00"/>
                </a:solidFill>
                <a:latin typeface="Consolas"/>
                <a:cs typeface="Consolas"/>
              </a:rPr>
              <a:t> </a:t>
            </a:r>
            <a:r>
              <a:rPr dirty="0" sz="1500" spc="-10" b="1">
                <a:solidFill>
                  <a:srgbClr val="FAFF00"/>
                </a:solidFill>
                <a:latin typeface="Consolas"/>
                <a:cs typeface="Consolas"/>
              </a:rPr>
              <a:t>Equivalent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7558910" y="1486666"/>
            <a:ext cx="1508760" cy="365760"/>
          </a:xfrm>
          <a:custGeom>
            <a:avLst/>
            <a:gdLst/>
            <a:ahLst/>
            <a:cxnLst/>
            <a:rect l="l" t="t" r="r" b="b"/>
            <a:pathLst>
              <a:path w="1508759" h="365760">
                <a:moveTo>
                  <a:pt x="1508224" y="365759"/>
                </a:moveTo>
                <a:lnTo>
                  <a:pt x="0" y="365759"/>
                </a:lnTo>
                <a:lnTo>
                  <a:pt x="0" y="0"/>
                </a:lnTo>
                <a:lnTo>
                  <a:pt x="1508224" y="0"/>
                </a:lnTo>
                <a:lnTo>
                  <a:pt x="1508224" y="365759"/>
                </a:lnTo>
                <a:close/>
              </a:path>
            </a:pathLst>
          </a:custGeom>
          <a:solidFill>
            <a:srgbClr val="01406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53050" y="1142380"/>
            <a:ext cx="6718934" cy="7105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pattern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in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the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database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MATCH</a:t>
            </a:r>
            <a:r>
              <a:rPr dirty="0" sz="2400" spc="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25" b="1">
                <a:solidFill>
                  <a:srgbClr val="FCF9F6"/>
                </a:solidFill>
                <a:latin typeface="Consolas"/>
                <a:cs typeface="Consolas"/>
              </a:rPr>
              <a:t>(p:Person)-[r:ACTED_IN]-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&gt;(m:Movie)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46211" y="1461775"/>
            <a:ext cx="15316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AFF00"/>
                </a:solidFill>
                <a:latin typeface="Consolas"/>
                <a:cs typeface="Consolas"/>
              </a:rPr>
              <a:t>FROM/JOIN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3050" y="2141362"/>
            <a:ext cx="4544060" cy="7105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Filter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on</a:t>
            </a:r>
            <a:r>
              <a:rPr dirty="0" sz="1700" spc="-4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a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node</a:t>
            </a:r>
            <a:r>
              <a:rPr dirty="0" sz="1700" spc="-4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property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WHERE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m.title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=</a:t>
            </a:r>
            <a:r>
              <a:rPr dirty="0" sz="2400" spc="-7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"Toy</a:t>
            </a:r>
            <a:r>
              <a:rPr dirty="0" sz="2400" spc="-8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10" b="1">
                <a:solidFill>
                  <a:srgbClr val="FCF9F6"/>
                </a:solidFill>
                <a:latin typeface="Consolas"/>
                <a:cs typeface="Consolas"/>
              </a:rPr>
              <a:t>Story"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138149" y="2485648"/>
            <a:ext cx="83820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15" b="1">
                <a:solidFill>
                  <a:srgbClr val="FAFF00"/>
                </a:solidFill>
                <a:latin typeface="Consolas"/>
                <a:cs typeface="Consolas"/>
              </a:rPr>
              <a:t>WHERE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3050" y="3140344"/>
            <a:ext cx="6718934" cy="71056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Choose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what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to</a:t>
            </a:r>
            <a:r>
              <a:rPr dirty="0" sz="1700" spc="-50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return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RETURN</a:t>
            </a:r>
            <a:r>
              <a:rPr dirty="0" sz="2400" spc="-9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p.name</a:t>
            </a:r>
            <a:r>
              <a:rPr dirty="0" sz="2400" spc="-9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AS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actor,</a:t>
            </a:r>
            <a:r>
              <a:rPr dirty="0" sz="2400" spc="-9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r.roles</a:t>
            </a:r>
            <a:r>
              <a:rPr dirty="0" sz="2400" spc="-9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b="1">
                <a:solidFill>
                  <a:srgbClr val="FCF9F6"/>
                </a:solidFill>
                <a:latin typeface="Consolas"/>
                <a:cs typeface="Consolas"/>
              </a:rPr>
              <a:t>AS</a:t>
            </a:r>
            <a:r>
              <a:rPr dirty="0" sz="2400" spc="-85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400" spc="-20" b="1">
                <a:solidFill>
                  <a:srgbClr val="FCF9F6"/>
                </a:solidFill>
                <a:latin typeface="Consolas"/>
                <a:cs typeface="Consolas"/>
              </a:rPr>
              <a:t>roles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16110" y="3484630"/>
            <a:ext cx="100584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20" b="1">
                <a:solidFill>
                  <a:srgbClr val="FAFF00"/>
                </a:solidFill>
                <a:latin typeface="Consolas"/>
                <a:cs typeface="Consolas"/>
              </a:rPr>
              <a:t>SELECT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FFFFFF"/>
                </a:solidFill>
              </a:rPr>
              <a:t>Reading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from</a:t>
            </a:r>
            <a:r>
              <a:rPr dirty="0" spc="-18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2750" y="152400"/>
            <a:ext cx="4818496" cy="48386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Have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70">
                <a:solidFill>
                  <a:srgbClr val="FFFFFF"/>
                </a:solidFill>
              </a:rPr>
              <a:t>a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go!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56916" y="1131320"/>
            <a:ext cx="193675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marR="5080" indent="-353695">
              <a:lnSpc>
                <a:spcPct val="114999"/>
              </a:lnSpc>
              <a:spcBef>
                <a:spcPts val="100"/>
              </a:spcBef>
              <a:tabLst>
                <a:tab pos="365760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Find</a:t>
            </a:r>
            <a:r>
              <a:rPr dirty="0" sz="16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r>
              <a:rPr dirty="0" sz="1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you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like.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9435" y="1972568"/>
            <a:ext cx="2173605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marR="5080" indent="-391160">
              <a:lnSpc>
                <a:spcPct val="114999"/>
              </a:lnSpc>
              <a:spcBef>
                <a:spcPts val="100"/>
              </a:spcBef>
              <a:tabLst>
                <a:tab pos="403225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75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16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ACTED_IN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find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who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acted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6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movie.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2223" y="3374648"/>
            <a:ext cx="218059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0209" marR="5080" indent="-398145">
              <a:lnSpc>
                <a:spcPct val="114999"/>
              </a:lnSpc>
              <a:spcBef>
                <a:spcPts val="100"/>
              </a:spcBef>
              <a:tabLst>
                <a:tab pos="410209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dirty="0" sz="1600" spc="75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16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70">
                <a:solidFill>
                  <a:srgbClr val="FFFFFF"/>
                </a:solidFill>
                <a:latin typeface="Trebuchet MS"/>
                <a:cs typeface="Trebuchet MS"/>
              </a:rPr>
              <a:t>DIRECTED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find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who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directed</a:t>
            </a:r>
            <a:r>
              <a:rPr dirty="0" sz="16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39800" y="1167896"/>
            <a:ext cx="33724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(m:Movie)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m.title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9800" y="1972568"/>
            <a:ext cx="582676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(m:Movie</a:t>
            </a:r>
            <a:r>
              <a:rPr dirty="0" sz="1600" spc="-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{title: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“???”})-[:??????]-&gt;(p:Person)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p.name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39800" y="3374648"/>
            <a:ext cx="582676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(m:Movie</a:t>
            </a:r>
            <a:r>
              <a:rPr dirty="0" sz="1600" spc="-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{title: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“???”})-[:??????]-&gt;(p:Person)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p.name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21748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0">
                <a:latin typeface="Gill Sans MT"/>
                <a:cs typeface="Gill Sans MT"/>
              </a:rPr>
              <a:t>Wrili⭲ą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Writing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0" y="1167388"/>
            <a:ext cx="34632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or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create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using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MERGE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5750" y="1486666"/>
            <a:ext cx="838200" cy="365760"/>
          </a:xfrm>
          <a:prstGeom prst="rect">
            <a:avLst/>
          </a:prstGeom>
          <a:solidFill>
            <a:srgbClr val="014063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85"/>
              </a:lnSpc>
            </a:pPr>
            <a:r>
              <a:rPr dirty="0" sz="2400" spc="-15" b="1">
                <a:solidFill>
                  <a:srgbClr val="FAFF00"/>
                </a:solidFill>
                <a:latin typeface="Consolas"/>
                <a:cs typeface="Consolas"/>
              </a:rPr>
              <a:t>MERGE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8532" y="1487175"/>
            <a:ext cx="462724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(p:Person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{name: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"Tom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Consolas"/>
                <a:cs typeface="Consolas"/>
              </a:rPr>
              <a:t>Hanks"})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Writing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5750" y="1235645"/>
          <a:ext cx="5715635" cy="145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2698750"/>
                <a:gridCol w="767079"/>
                <a:gridCol w="1335404"/>
              </a:tblGrid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dirty="0" sz="1700" spc="-3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Find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ts val="1605"/>
                        </a:lnSpc>
                      </a:pP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r>
                        <a:rPr dirty="0" sz="1700" spc="-65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create</a:t>
                      </a:r>
                      <a:r>
                        <a:rPr dirty="0" sz="1700" spc="-6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using</a:t>
                      </a:r>
                      <a:r>
                        <a:rPr dirty="0" sz="1700" spc="-65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ts val="2780"/>
                        </a:lnSpc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(p:Person</a:t>
                      </a:r>
                      <a:r>
                        <a:rPr dirty="0" sz="2200" spc="-155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{name: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2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"Tom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Hanks"})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</a:tr>
              <a:tr h="54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ts val="2780"/>
                        </a:lnSpc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(m:Movie</a:t>
                      </a:r>
                      <a:r>
                        <a:rPr dirty="0" sz="2200" spc="-14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{title: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2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"Toy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Story"})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Writing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5750" y="1235645"/>
          <a:ext cx="5715635" cy="145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/>
                <a:gridCol w="2698750"/>
                <a:gridCol w="767079"/>
                <a:gridCol w="1335404"/>
              </a:tblGrid>
              <a:tr h="250825"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</a:pP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//</a:t>
                      </a:r>
                      <a:r>
                        <a:rPr dirty="0" sz="1700" spc="-3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2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Find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91440">
                        <a:lnSpc>
                          <a:spcPts val="1605"/>
                        </a:lnSpc>
                      </a:pP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or</a:t>
                      </a:r>
                      <a:r>
                        <a:rPr dirty="0" sz="1700" spc="-65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create</a:t>
                      </a:r>
                      <a:r>
                        <a:rPr dirty="0" sz="1700" spc="-6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using</a:t>
                      </a:r>
                      <a:r>
                        <a:rPr dirty="0" sz="1700" spc="-65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8FE3E7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17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ts val="2785"/>
                        </a:lnSpc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57150">
                      <a:solidFill>
                        <a:srgbClr val="0A6190"/>
                      </a:solidFill>
                      <a:prstDash val="solid"/>
                    </a:lnB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(p:Person</a:t>
                      </a:r>
                      <a:r>
                        <a:rPr dirty="0" sz="2200" spc="-155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{name: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2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"Tom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Hanks"})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13335"/>
                </a:tc>
              </a:tr>
              <a:tr h="420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15240">
                    <a:lnT w="57150">
                      <a:solidFill>
                        <a:srgbClr val="0A6190"/>
                      </a:solidFill>
                      <a:prstDash val="solid"/>
                    </a:lnT>
                    <a:lnB w="57150">
                      <a:solidFill>
                        <a:srgbClr val="0A6190"/>
                      </a:solidFill>
                      <a:prstDash val="solid"/>
                    </a:lnB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 algn="r" marR="6858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20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(m:Movie</a:t>
                      </a:r>
                      <a:r>
                        <a:rPr dirty="0" sz="2200" spc="-14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{title: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200" spc="-2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"Toy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 algn="ctr" marL="444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200" spc="-1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Story"})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40640"/>
                </a:tc>
              </a:tr>
              <a:tr h="393065">
                <a:tc>
                  <a:txBody>
                    <a:bodyPr/>
                    <a:lstStyle/>
                    <a:p>
                      <a:pPr algn="ctr">
                        <a:lnSpc>
                          <a:spcPts val="2875"/>
                        </a:lnSpc>
                        <a:spcBef>
                          <a:spcPts val="120"/>
                        </a:spcBef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15240">
                    <a:lnT w="57150">
                      <a:solidFill>
                        <a:srgbClr val="0A6190"/>
                      </a:solidFill>
                      <a:prstDash val="solid"/>
                    </a:lnT>
                    <a:solidFill>
                      <a:srgbClr val="01406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200" spc="-25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(p)-[r:ACTED_IN]-</a:t>
                      </a:r>
                      <a:r>
                        <a:rPr dirty="0" sz="2200" spc="-20" b="1">
                          <a:solidFill>
                            <a:srgbClr val="FCF9F6"/>
                          </a:solidFill>
                          <a:latin typeface="Consolas"/>
                          <a:cs typeface="Consolas"/>
                        </a:rPr>
                        <a:t>&gt;(m)</a:t>
                      </a:r>
                      <a:endParaRPr sz="2200">
                        <a:latin typeface="Consolas"/>
                        <a:cs typeface="Consolas"/>
                      </a:endParaRPr>
                    </a:p>
                  </a:txBody>
                  <a:tcPr marL="0" marR="0" marB="0" marT="4064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Writing</a:t>
            </a:r>
            <a:r>
              <a:rPr dirty="0" spc="-9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0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Neo4j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365750" y="1486666"/>
          <a:ext cx="914400" cy="1626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2920"/>
                <a:gridCol w="335280"/>
              </a:tblGrid>
              <a:tr h="393065">
                <a:tc gridSpan="2">
                  <a:txBody>
                    <a:bodyPr/>
                    <a:lstStyle/>
                    <a:p>
                      <a:pPr>
                        <a:lnSpc>
                          <a:spcPts val="2785"/>
                        </a:lnSpc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B w="57150">
                      <a:solidFill>
                        <a:srgbClr val="0A6190"/>
                      </a:solidFill>
                      <a:prstDash val="solid"/>
                    </a:lnB>
                    <a:solidFill>
                      <a:srgbClr val="01406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03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15240">
                    <a:lnT w="57150">
                      <a:solidFill>
                        <a:srgbClr val="0A6190"/>
                      </a:solidFill>
                      <a:prstDash val="solid"/>
                    </a:lnT>
                    <a:lnB w="57150">
                      <a:solidFill>
                        <a:srgbClr val="0A6190"/>
                      </a:solidFill>
                      <a:prstDash val="solid"/>
                    </a:lnB>
                    <a:solidFill>
                      <a:srgbClr val="01406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203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2400" spc="-15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MERGE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15240">
                    <a:lnT w="57150">
                      <a:solidFill>
                        <a:srgbClr val="0A6190"/>
                      </a:solidFill>
                      <a:prstDash val="solid"/>
                    </a:lnT>
                    <a:lnB w="57150">
                      <a:solidFill>
                        <a:srgbClr val="0A6190"/>
                      </a:solidFill>
                      <a:prstDash val="solid"/>
                    </a:lnB>
                    <a:solidFill>
                      <a:srgbClr val="01406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ts val="2875"/>
                        </a:lnSpc>
                        <a:spcBef>
                          <a:spcPts val="120"/>
                        </a:spcBef>
                      </a:pPr>
                      <a:r>
                        <a:rPr dirty="0" sz="2400" spc="-30" b="1">
                          <a:solidFill>
                            <a:srgbClr val="FAFF00"/>
                          </a:solidFill>
                          <a:latin typeface="Consolas"/>
                          <a:cs typeface="Consolas"/>
                        </a:rPr>
                        <a:t>SET</a:t>
                      </a:r>
                      <a:endParaRPr sz="2400">
                        <a:latin typeface="Consolas"/>
                        <a:cs typeface="Consolas"/>
                      </a:endParaRPr>
                    </a:p>
                  </a:txBody>
                  <a:tcPr marL="0" marR="0" marB="0" marT="15240">
                    <a:lnT w="57150">
                      <a:solidFill>
                        <a:srgbClr val="0A6190"/>
                      </a:solidFill>
                      <a:prstDash val="solid"/>
                    </a:lnT>
                    <a:solidFill>
                      <a:srgbClr val="01406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57150">
                      <a:solidFill>
                        <a:srgbClr val="0A619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353050" y="1120479"/>
            <a:ext cx="5633085" cy="198945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//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Find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or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create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b="1">
                <a:solidFill>
                  <a:srgbClr val="8FE3E7"/>
                </a:solidFill>
                <a:latin typeface="Consolas"/>
                <a:cs typeface="Consolas"/>
              </a:rPr>
              <a:t>using</a:t>
            </a:r>
            <a:r>
              <a:rPr dirty="0" sz="1700" spc="-55" b="1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700" spc="-10" b="1">
                <a:solidFill>
                  <a:srgbClr val="8FE3E7"/>
                </a:solidFill>
                <a:latin typeface="Consolas"/>
                <a:cs typeface="Consolas"/>
              </a:rPr>
              <a:t>MERGE</a:t>
            </a:r>
            <a:endParaRPr sz="1700">
              <a:latin typeface="Consolas"/>
              <a:cs typeface="Consolas"/>
            </a:endParaRPr>
          </a:p>
          <a:p>
            <a:pPr algn="just" marL="1017905" marR="5080">
              <a:lnSpc>
                <a:spcPts val="3310"/>
              </a:lnSpc>
              <a:spcBef>
                <a:spcPts val="30"/>
              </a:spcBef>
            </a:pP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(p:Person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{name: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"Tom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Consolas"/>
                <a:cs typeface="Consolas"/>
              </a:rPr>
              <a:t>Hanks"})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(m:Movie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{title: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"Toy</a:t>
            </a:r>
            <a:r>
              <a:rPr dirty="0" sz="2200" spc="-11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Consolas"/>
                <a:cs typeface="Consolas"/>
              </a:rPr>
              <a:t>Story"}) </a:t>
            </a:r>
            <a:r>
              <a:rPr dirty="0" sz="2200" spc="-25" b="1">
                <a:solidFill>
                  <a:srgbClr val="FCF9F6"/>
                </a:solidFill>
                <a:latin typeface="Consolas"/>
                <a:cs typeface="Consolas"/>
              </a:rPr>
              <a:t>(p)-[r:ACTED_IN]-</a:t>
            </a:r>
            <a:r>
              <a:rPr dirty="0" sz="2200" spc="-20" b="1">
                <a:solidFill>
                  <a:srgbClr val="FCF9F6"/>
                </a:solidFill>
                <a:latin typeface="Consolas"/>
                <a:cs typeface="Consolas"/>
              </a:rPr>
              <a:t>&gt;(m)</a:t>
            </a:r>
            <a:endParaRPr sz="2200">
              <a:latin typeface="Consolas"/>
              <a:cs typeface="Consolas"/>
            </a:endParaRPr>
          </a:p>
          <a:p>
            <a:pPr algn="just" marL="1128395">
              <a:lnSpc>
                <a:spcPct val="100000"/>
              </a:lnSpc>
              <a:spcBef>
                <a:spcPts val="450"/>
              </a:spcBef>
            </a:pP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r.roles</a:t>
            </a:r>
            <a:r>
              <a:rPr dirty="0" sz="2200" spc="-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b="1">
                <a:solidFill>
                  <a:srgbClr val="FCF9F6"/>
                </a:solidFill>
                <a:latin typeface="Consolas"/>
                <a:cs typeface="Consolas"/>
              </a:rPr>
              <a:t>=</a:t>
            </a:r>
            <a:r>
              <a:rPr dirty="0" sz="2200" spc="-70" b="1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200" spc="-10" b="1">
                <a:solidFill>
                  <a:srgbClr val="FCF9F6"/>
                </a:solidFill>
                <a:latin typeface="Consolas"/>
                <a:cs typeface="Consolas"/>
              </a:rPr>
              <a:t>"Woody"</a:t>
            </a:r>
            <a:endParaRPr sz="2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212" y="2157412"/>
            <a:ext cx="3457574" cy="82867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6916" y="1131320"/>
            <a:ext cx="1981835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marR="5080" indent="-353695">
              <a:lnSpc>
                <a:spcPct val="114999"/>
              </a:lnSpc>
              <a:spcBef>
                <a:spcPts val="100"/>
              </a:spcBef>
              <a:tabLst>
                <a:tab pos="365760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Create</a:t>
            </a:r>
            <a:r>
              <a:rPr dirty="0" sz="1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40">
                <a:solidFill>
                  <a:srgbClr val="FFFFFF"/>
                </a:solidFill>
                <a:latin typeface="Trebuchet MS"/>
                <a:cs typeface="Trebuchet MS"/>
              </a:rPr>
              <a:t>Person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node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yourself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9435" y="1972568"/>
            <a:ext cx="2216150" cy="142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marR="5080" indent="-391160">
              <a:lnSpc>
                <a:spcPct val="114999"/>
              </a:lnSpc>
              <a:spcBef>
                <a:spcPts val="100"/>
              </a:spcBef>
              <a:tabLst>
                <a:tab pos="403225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Give</a:t>
            </a:r>
            <a:r>
              <a:rPr dirty="0" sz="16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yourself</a:t>
            </a:r>
            <a:r>
              <a:rPr dirty="0" sz="1600" spc="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role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r>
              <a:rPr dirty="0" sz="16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by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creating</a:t>
            </a:r>
            <a:r>
              <a:rPr dirty="0" sz="160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an </a:t>
            </a: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ACTED_IN</a:t>
            </a:r>
            <a:endParaRPr sz="1600">
              <a:latin typeface="Trebuchet MS"/>
              <a:cs typeface="Trebuchet MS"/>
            </a:endParaRPr>
          </a:p>
          <a:p>
            <a:pPr marL="403225">
              <a:lnSpc>
                <a:spcPct val="100000"/>
              </a:lnSpc>
              <a:spcBef>
                <a:spcPts val="285"/>
              </a:spcBef>
            </a:pP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223" y="3655064"/>
            <a:ext cx="228092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0209" marR="5080" indent="-398145">
              <a:lnSpc>
                <a:spcPct val="114999"/>
              </a:lnSpc>
              <a:spcBef>
                <a:spcPts val="100"/>
              </a:spcBef>
              <a:tabLst>
                <a:tab pos="410209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3.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Find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role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16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Have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70">
                <a:solidFill>
                  <a:srgbClr val="FFFFFF"/>
                </a:solidFill>
              </a:rPr>
              <a:t>a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go!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839800" y="1167896"/>
            <a:ext cx="3707129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MERGE</a:t>
            </a:r>
            <a:r>
              <a:rPr dirty="0" sz="1600" spc="-5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(me:Person{name:</a:t>
            </a: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“??????”})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9800" y="1972568"/>
            <a:ext cx="3707129" cy="11474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5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(me:Person{name:</a:t>
            </a: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“??????”})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(m:Movie{title:</a:t>
            </a:r>
            <a:r>
              <a:rPr dirty="0" sz="1600" spc="-5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“??????”})</a:t>
            </a:r>
            <a:endParaRPr sz="1600">
              <a:latin typeface="Consolas"/>
              <a:cs typeface="Consolas"/>
            </a:endParaRPr>
          </a:p>
          <a:p>
            <a:pPr marL="12700" marR="785495">
              <a:lnSpc>
                <a:spcPct val="114999"/>
              </a:lnSpc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MERGE</a:t>
            </a:r>
            <a:r>
              <a:rPr dirty="0" sz="1600" spc="4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(me)-[r:??????]-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&gt;(m)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SET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r.role</a:t>
            </a:r>
            <a:r>
              <a:rPr dirty="0" sz="16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dirty="0" sz="1600" spc="-1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“???????”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839800" y="3655064"/>
            <a:ext cx="5826760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16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(p:Person{name:”??????”})-[r:ACTED_IN]-&gt;(????)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?.?????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3502660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645">
                <a:latin typeface="Gill Sans MT"/>
                <a:cs typeface="Gill Sans MT"/>
              </a:rPr>
              <a:t>Dala</a:t>
            </a:r>
            <a:r>
              <a:rPr dirty="0" sz="4200" spc="-150">
                <a:latin typeface="Gill Sans MT"/>
                <a:cs typeface="Gill Sans MT"/>
              </a:rPr>
              <a:t> </a:t>
            </a:r>
            <a:r>
              <a:rPr dirty="0" sz="4200" spc="459">
                <a:latin typeface="Gill Sans MT"/>
                <a:cs typeface="Gill Sans MT"/>
              </a:rPr>
              <a:t>model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5">
                <a:solidFill>
                  <a:srgbClr val="FFFFFF"/>
                </a:solidFill>
              </a:rPr>
              <a:t>Take</a:t>
            </a:r>
            <a:r>
              <a:rPr dirty="0" spc="-190">
                <a:solidFill>
                  <a:srgbClr val="FFFFFF"/>
                </a:solidFill>
              </a:rPr>
              <a:t> </a:t>
            </a:r>
            <a:r>
              <a:rPr dirty="0" spc="70">
                <a:solidFill>
                  <a:srgbClr val="FFFFFF"/>
                </a:solidFill>
              </a:rPr>
              <a:t>a</a:t>
            </a:r>
            <a:r>
              <a:rPr dirty="0" spc="-175">
                <a:solidFill>
                  <a:srgbClr val="FFFFFF"/>
                </a:solidFill>
              </a:rPr>
              <a:t> </a:t>
            </a:r>
            <a:r>
              <a:rPr dirty="0" spc="-30">
                <a:solidFill>
                  <a:srgbClr val="FFFFFF"/>
                </a:solidFill>
              </a:rPr>
              <a:t>look!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98490" y="2493692"/>
            <a:ext cx="39998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FFFFFF"/>
                </a:solidFill>
                <a:latin typeface="Consolas"/>
                <a:cs typeface="Consolas"/>
              </a:rPr>
              <a:t>CALL</a:t>
            </a:r>
            <a:r>
              <a:rPr dirty="0" sz="1900" spc="-6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Consolas"/>
                <a:cs typeface="Consolas"/>
              </a:rPr>
              <a:t>db.schema.visualization()</a:t>
            </a:r>
            <a:endParaRPr sz="1900">
              <a:latin typeface="Consolas"/>
              <a:cs typeface="Consola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8100" y="869650"/>
            <a:ext cx="4403349" cy="340419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>
                <a:solidFill>
                  <a:srgbClr val="FFFFFF"/>
                </a:solidFill>
              </a:rPr>
              <a:t>The</a:t>
            </a:r>
            <a:r>
              <a:rPr dirty="0" spc="-114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Golden</a:t>
            </a:r>
            <a:r>
              <a:rPr dirty="0" spc="-100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Rule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47049" y="1565362"/>
            <a:ext cx="2012950" cy="2012950"/>
            <a:chOff x="6047049" y="1565362"/>
            <a:chExt cx="2012950" cy="2012950"/>
          </a:xfrm>
        </p:grpSpPr>
        <p:sp>
          <p:nvSpPr>
            <p:cNvPr id="4" name="object 4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693226" y="2381186"/>
            <a:ext cx="7207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5" b="1">
                <a:solidFill>
                  <a:srgbClr val="8FE3E7"/>
                </a:solidFill>
                <a:latin typeface="Arial"/>
                <a:cs typeface="Arial"/>
              </a:rPr>
              <a:t>Noun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84175" y="1565362"/>
            <a:ext cx="2012950" cy="2012950"/>
            <a:chOff x="1084175" y="1565362"/>
            <a:chExt cx="2012950" cy="2012950"/>
          </a:xfrm>
        </p:grpSpPr>
        <p:sp>
          <p:nvSpPr>
            <p:cNvPr id="8" name="object 8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730350" y="2381186"/>
            <a:ext cx="72072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35" b="1">
                <a:solidFill>
                  <a:srgbClr val="8FE3E7"/>
                </a:solidFill>
                <a:latin typeface="Arial"/>
                <a:cs typeface="Arial"/>
              </a:rPr>
              <a:t>Noun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82637" y="2413449"/>
            <a:ext cx="2951480" cy="354965"/>
            <a:chOff x="3082637" y="2413449"/>
            <a:chExt cx="2951480" cy="354965"/>
          </a:xfrm>
        </p:grpSpPr>
        <p:sp>
          <p:nvSpPr>
            <p:cNvPr id="12" name="object 12" descr=""/>
            <p:cNvSpPr/>
            <p:nvPr/>
          </p:nvSpPr>
          <p:spPr>
            <a:xfrm>
              <a:off x="3082637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5599" y="2510264"/>
              <a:ext cx="158251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819587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14488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19587" y="2422974"/>
              <a:ext cx="1504950" cy="335915"/>
            </a:xfrm>
            <a:custGeom>
              <a:avLst/>
              <a:gdLst/>
              <a:ahLst/>
              <a:cxnLst/>
              <a:rect l="l" t="t" r="r" b="b"/>
              <a:pathLst>
                <a:path w="150495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448848" y="0"/>
                  </a:lnTo>
                  <a:lnTo>
                    <a:pt x="1488411" y="16387"/>
                  </a:lnTo>
                  <a:lnTo>
                    <a:pt x="1504799" y="55951"/>
                  </a:lnTo>
                  <a:lnTo>
                    <a:pt x="1504799" y="279748"/>
                  </a:lnTo>
                  <a:lnTo>
                    <a:pt x="1500403" y="301527"/>
                  </a:lnTo>
                  <a:lnTo>
                    <a:pt x="1488412" y="319312"/>
                  </a:lnTo>
                  <a:lnTo>
                    <a:pt x="1470627" y="331303"/>
                  </a:lnTo>
                  <a:lnTo>
                    <a:pt x="14488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332376" y="2440901"/>
            <a:ext cx="480059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>
                <a:solidFill>
                  <a:srgbClr val="8FE3E7"/>
                </a:solidFill>
                <a:latin typeface="Arial"/>
                <a:cs typeface="Arial"/>
              </a:rPr>
              <a:t>Verb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>
                <a:solidFill>
                  <a:srgbClr val="FFFFFF"/>
                </a:solidFill>
              </a:rPr>
              <a:t>(Noun)-</a:t>
            </a:r>
            <a:r>
              <a:rPr dirty="0" spc="-30">
                <a:solidFill>
                  <a:srgbClr val="FFFFFF"/>
                </a:solidFill>
              </a:rPr>
              <a:t>[Verb]-</a:t>
            </a:r>
            <a:r>
              <a:rPr dirty="0" spc="-10">
                <a:solidFill>
                  <a:srgbClr val="FFFFFF"/>
                </a:solidFill>
              </a:rPr>
              <a:t>&gt;(Noun)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47049" y="1565362"/>
            <a:ext cx="2012950" cy="2012950"/>
            <a:chOff x="6047049" y="1565362"/>
            <a:chExt cx="2012950" cy="2012950"/>
          </a:xfrm>
        </p:grpSpPr>
        <p:sp>
          <p:nvSpPr>
            <p:cNvPr id="4" name="object 4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468628" y="2381186"/>
            <a:ext cx="1170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8FE3E7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84175" y="1565362"/>
            <a:ext cx="2012950" cy="2012950"/>
            <a:chOff x="1084175" y="1565362"/>
            <a:chExt cx="2012950" cy="2012950"/>
          </a:xfrm>
        </p:grpSpPr>
        <p:sp>
          <p:nvSpPr>
            <p:cNvPr id="8" name="object 8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3020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82637" y="2413449"/>
            <a:ext cx="2951480" cy="354965"/>
            <a:chOff x="3082637" y="2413449"/>
            <a:chExt cx="2951480" cy="354965"/>
          </a:xfrm>
        </p:grpSpPr>
        <p:sp>
          <p:nvSpPr>
            <p:cNvPr id="12" name="object 12" descr=""/>
            <p:cNvSpPr/>
            <p:nvPr/>
          </p:nvSpPr>
          <p:spPr>
            <a:xfrm>
              <a:off x="3082637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5599" y="2510264"/>
              <a:ext cx="158251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16429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22" y="34539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891790" y="2440901"/>
            <a:ext cx="14300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8FE3E7"/>
                </a:solidFill>
                <a:latin typeface="Arial"/>
                <a:cs typeface="Arial"/>
              </a:rPr>
              <a:t>Advertised</a:t>
            </a:r>
            <a:r>
              <a:rPr dirty="0" sz="1700" spc="190">
                <a:solidFill>
                  <a:srgbClr val="8FE3E7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8FE3E7"/>
                </a:solidFill>
                <a:latin typeface="Arial"/>
                <a:cs typeface="Arial"/>
              </a:rPr>
              <a:t>On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>
                <a:solidFill>
                  <a:srgbClr val="FFFFFF"/>
                </a:solidFill>
              </a:rPr>
              <a:t>…and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knowing</a:t>
            </a:r>
            <a:r>
              <a:rPr dirty="0" spc="-14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when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break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it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47049" y="1565362"/>
            <a:ext cx="2012950" cy="2012950"/>
            <a:chOff x="6047049" y="1565362"/>
            <a:chExt cx="2012950" cy="2012950"/>
          </a:xfrm>
        </p:grpSpPr>
        <p:sp>
          <p:nvSpPr>
            <p:cNvPr id="4" name="object 4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468628" y="2381186"/>
            <a:ext cx="1170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8FE3E7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84175" y="1565362"/>
            <a:ext cx="2012950" cy="2012950"/>
            <a:chOff x="1084175" y="1565362"/>
            <a:chExt cx="2012950" cy="2012950"/>
          </a:xfrm>
        </p:grpSpPr>
        <p:sp>
          <p:nvSpPr>
            <p:cNvPr id="8" name="object 8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3020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82637" y="2413449"/>
            <a:ext cx="2951480" cy="354965"/>
            <a:chOff x="3082637" y="2413449"/>
            <a:chExt cx="2951480" cy="354965"/>
          </a:xfrm>
        </p:grpSpPr>
        <p:sp>
          <p:nvSpPr>
            <p:cNvPr id="12" name="object 12" descr=""/>
            <p:cNvSpPr/>
            <p:nvPr/>
          </p:nvSpPr>
          <p:spPr>
            <a:xfrm>
              <a:off x="3082637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5599" y="2510264"/>
              <a:ext cx="158251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16429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22" y="34539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891790" y="2440901"/>
            <a:ext cx="14300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8FE3E7"/>
                </a:solidFill>
                <a:latin typeface="Arial"/>
                <a:cs typeface="Arial"/>
              </a:rPr>
              <a:t>Advertised</a:t>
            </a:r>
            <a:r>
              <a:rPr dirty="0" sz="1700" spc="190">
                <a:solidFill>
                  <a:srgbClr val="8FE3E7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8FE3E7"/>
                </a:solidFill>
                <a:latin typeface="Arial"/>
                <a:cs typeface="Arial"/>
              </a:rPr>
              <a:t>On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>
                <a:solidFill>
                  <a:srgbClr val="FFFFFF"/>
                </a:solidFill>
              </a:rPr>
              <a:t>…and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knowing</a:t>
            </a:r>
            <a:r>
              <a:rPr dirty="0" spc="-14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when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break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it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6047049" y="1565362"/>
            <a:ext cx="2012950" cy="2012950"/>
            <a:chOff x="6047049" y="1565362"/>
            <a:chExt cx="2012950" cy="2012950"/>
          </a:xfrm>
        </p:grpSpPr>
        <p:sp>
          <p:nvSpPr>
            <p:cNvPr id="4" name="object 4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468628" y="2381186"/>
            <a:ext cx="1170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8FE3E7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084175" y="1565362"/>
            <a:ext cx="2012950" cy="2012950"/>
            <a:chOff x="1084175" y="1565362"/>
            <a:chExt cx="2012950" cy="2012950"/>
          </a:xfrm>
        </p:grpSpPr>
        <p:sp>
          <p:nvSpPr>
            <p:cNvPr id="8" name="object 8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63020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68349" y="2413449"/>
            <a:ext cx="2966085" cy="354965"/>
            <a:chOff x="3068349" y="2413449"/>
            <a:chExt cx="2966085" cy="354965"/>
          </a:xfrm>
        </p:grpSpPr>
        <p:sp>
          <p:nvSpPr>
            <p:cNvPr id="12" name="object 12" descr=""/>
            <p:cNvSpPr/>
            <p:nvPr/>
          </p:nvSpPr>
          <p:spPr>
            <a:xfrm>
              <a:off x="3082637" y="2571749"/>
              <a:ext cx="2807335" cy="0"/>
            </a:xfrm>
            <a:custGeom>
              <a:avLst/>
              <a:gdLst/>
              <a:ahLst/>
              <a:cxnLst/>
              <a:rect l="l" t="t" r="r" b="b"/>
              <a:pathLst>
                <a:path w="2807335" h="0">
                  <a:moveTo>
                    <a:pt x="0" y="0"/>
                  </a:moveTo>
                  <a:lnTo>
                    <a:pt x="2807249" y="0"/>
                  </a:lnTo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5599" y="2510264"/>
              <a:ext cx="158251" cy="122971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1642948" y="335699"/>
                  </a:move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lnTo>
                    <a:pt x="4322" y="34539"/>
                  </a:ln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56499" y="2422974"/>
              <a:ext cx="1699260" cy="335915"/>
            </a:xfrm>
            <a:custGeom>
              <a:avLst/>
              <a:gdLst/>
              <a:ahLst/>
              <a:cxnLst/>
              <a:rect l="l" t="t" r="r" b="b"/>
              <a:pathLst>
                <a:path w="1699260" h="335914">
                  <a:moveTo>
                    <a:pt x="0" y="55951"/>
                  </a:moveTo>
                  <a:lnTo>
                    <a:pt x="4396" y="34172"/>
                  </a:lnTo>
                  <a:lnTo>
                    <a:pt x="16387" y="16387"/>
                  </a:lnTo>
                  <a:lnTo>
                    <a:pt x="34172" y="4396"/>
                  </a:lnTo>
                  <a:lnTo>
                    <a:pt x="55951" y="0"/>
                  </a:lnTo>
                  <a:lnTo>
                    <a:pt x="1642948" y="0"/>
                  </a:lnTo>
                  <a:lnTo>
                    <a:pt x="1682512" y="16387"/>
                  </a:lnTo>
                  <a:lnTo>
                    <a:pt x="1698899" y="55951"/>
                  </a:lnTo>
                  <a:lnTo>
                    <a:pt x="1698899" y="279748"/>
                  </a:lnTo>
                  <a:lnTo>
                    <a:pt x="1694503" y="301527"/>
                  </a:lnTo>
                  <a:lnTo>
                    <a:pt x="1682512" y="319312"/>
                  </a:lnTo>
                  <a:lnTo>
                    <a:pt x="1664727" y="331303"/>
                  </a:lnTo>
                  <a:lnTo>
                    <a:pt x="1642948" y="335699"/>
                  </a:lnTo>
                  <a:lnTo>
                    <a:pt x="55951" y="335699"/>
                  </a:lnTo>
                  <a:lnTo>
                    <a:pt x="34172" y="331303"/>
                  </a:lnTo>
                  <a:lnTo>
                    <a:pt x="16387" y="319312"/>
                  </a:lnTo>
                  <a:lnTo>
                    <a:pt x="4396" y="301527"/>
                  </a:lnTo>
                  <a:lnTo>
                    <a:pt x="0" y="279748"/>
                  </a:lnTo>
                  <a:lnTo>
                    <a:pt x="0" y="55951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891790" y="2440901"/>
            <a:ext cx="143002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8FE3E7"/>
                </a:solidFill>
                <a:latin typeface="Arial"/>
                <a:cs typeface="Arial"/>
              </a:rPr>
              <a:t>Advertised</a:t>
            </a:r>
            <a:r>
              <a:rPr dirty="0" sz="1700" spc="190">
                <a:solidFill>
                  <a:srgbClr val="8FE3E7"/>
                </a:solidFill>
                <a:latin typeface="Arial"/>
                <a:cs typeface="Arial"/>
              </a:rPr>
              <a:t> </a:t>
            </a:r>
            <a:r>
              <a:rPr dirty="0" sz="1700" spc="-25">
                <a:solidFill>
                  <a:srgbClr val="8FE3E7"/>
                </a:solidFill>
                <a:latin typeface="Arial"/>
                <a:cs typeface="Arial"/>
              </a:rPr>
              <a:t>On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525095" y="2896049"/>
            <a:ext cx="81915" cy="1002665"/>
            <a:chOff x="4525095" y="2896049"/>
            <a:chExt cx="81915" cy="1002665"/>
          </a:xfrm>
        </p:grpSpPr>
        <p:sp>
          <p:nvSpPr>
            <p:cNvPr id="18" name="object 18" descr=""/>
            <p:cNvSpPr/>
            <p:nvPr/>
          </p:nvSpPr>
          <p:spPr>
            <a:xfrm>
              <a:off x="4566372" y="2968243"/>
              <a:ext cx="12700" cy="921385"/>
            </a:xfrm>
            <a:custGeom>
              <a:avLst/>
              <a:gdLst/>
              <a:ahLst/>
              <a:cxnLst/>
              <a:rect l="l" t="t" r="r" b="b"/>
              <a:pathLst>
                <a:path w="12700" h="921385">
                  <a:moveTo>
                    <a:pt x="12240" y="92080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CF9F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5095" y="2896049"/>
              <a:ext cx="81719" cy="81718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3702710" y="3922086"/>
            <a:ext cx="187706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00000"/>
              </a:lnSpc>
              <a:spcBef>
                <a:spcPts val="100"/>
              </a:spcBef>
            </a:pPr>
            <a:r>
              <a:rPr dirty="0" sz="1600" spc="-114" b="1">
                <a:solidFill>
                  <a:srgbClr val="FCF9F6"/>
                </a:solidFill>
                <a:latin typeface="Arial"/>
                <a:cs typeface="Arial"/>
              </a:rPr>
              <a:t>You</a:t>
            </a:r>
            <a:r>
              <a:rPr dirty="0" sz="1600" spc="-1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may</a:t>
            </a:r>
            <a:r>
              <a:rPr dirty="0" sz="1600" spc="-10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need</a:t>
            </a:r>
            <a:r>
              <a:rPr dirty="0" sz="1600" spc="-5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CF9F6"/>
                </a:solidFill>
                <a:latin typeface="Arial"/>
                <a:cs typeface="Arial"/>
              </a:rPr>
              <a:t>to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build</a:t>
            </a:r>
            <a:r>
              <a:rPr dirty="0" sz="1600" spc="-7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out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CF9F6"/>
                </a:solidFill>
                <a:latin typeface="Arial"/>
                <a:cs typeface="Arial"/>
              </a:rPr>
              <a:t>a</a:t>
            </a:r>
            <a:r>
              <a:rPr dirty="0" sz="1600" spc="-6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network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around</a:t>
            </a:r>
            <a:r>
              <a:rPr dirty="0" sz="1600" spc="-90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CF9F6"/>
                </a:solidFill>
                <a:latin typeface="Arial"/>
                <a:cs typeface="Arial"/>
              </a:rPr>
              <a:t>this</a:t>
            </a:r>
            <a:r>
              <a:rPr dirty="0" sz="1600" spc="-85" b="1">
                <a:solidFill>
                  <a:srgbClr val="FCF9F6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CF9F6"/>
                </a:solidFill>
                <a:latin typeface="Arial"/>
                <a:cs typeface="Arial"/>
              </a:rPr>
              <a:t>fact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825" y="0"/>
            <a:ext cx="8793174" cy="357813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8FE3E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>
                <a:solidFill>
                  <a:srgbClr val="FFFFFF"/>
                </a:solidFill>
              </a:rPr>
              <a:t>…and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knowing</a:t>
            </a:r>
            <a:r>
              <a:rPr dirty="0" spc="-14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when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to</a:t>
            </a:r>
            <a:r>
              <a:rPr dirty="0" spc="-14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break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it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7201953" y="2381186"/>
            <a:ext cx="1170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8FE3E7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9685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585433" y="2477770"/>
            <a:ext cx="6223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FE3E7"/>
                </a:solidFill>
                <a:latin typeface="Arial"/>
                <a:cs typeface="Arial"/>
              </a:rPr>
              <a:t>Purchased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10842" y="2427097"/>
            <a:ext cx="14230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8FE3E7"/>
                </a:solidFill>
                <a:latin typeface="Arial"/>
                <a:cs typeface="Arial"/>
              </a:rPr>
              <a:t>Advertisement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33123" y="2477770"/>
            <a:ext cx="1949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8FE3E7"/>
                </a:solidFill>
                <a:latin typeface="Arial"/>
                <a:cs typeface="Arial"/>
              </a:rPr>
              <a:t>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825" y="0"/>
              <a:ext cx="8793174" cy="4914462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4453972"/>
              <a:ext cx="2928620" cy="689610"/>
            </a:xfrm>
            <a:custGeom>
              <a:avLst/>
              <a:gdLst/>
              <a:ahLst/>
              <a:cxnLst/>
              <a:rect l="l" t="t" r="r" b="b"/>
              <a:pathLst>
                <a:path w="2928620" h="689610">
                  <a:moveTo>
                    <a:pt x="2459952" y="207082"/>
                  </a:moveTo>
                  <a:lnTo>
                    <a:pt x="542609" y="207082"/>
                  </a:lnTo>
                  <a:lnTo>
                    <a:pt x="592107" y="205739"/>
                  </a:lnTo>
                  <a:lnTo>
                    <a:pt x="642152" y="203096"/>
                  </a:lnTo>
                  <a:lnTo>
                    <a:pt x="692736" y="199148"/>
                  </a:lnTo>
                  <a:lnTo>
                    <a:pt x="743851" y="193890"/>
                  </a:lnTo>
                  <a:lnTo>
                    <a:pt x="795489" y="187319"/>
                  </a:lnTo>
                  <a:lnTo>
                    <a:pt x="847642" y="179428"/>
                  </a:lnTo>
                  <a:lnTo>
                    <a:pt x="900302" y="170214"/>
                  </a:lnTo>
                  <a:lnTo>
                    <a:pt x="953462" y="159670"/>
                  </a:lnTo>
                  <a:lnTo>
                    <a:pt x="1007114" y="147793"/>
                  </a:lnTo>
                  <a:lnTo>
                    <a:pt x="1061250" y="134578"/>
                  </a:lnTo>
                  <a:lnTo>
                    <a:pt x="1115862" y="120020"/>
                  </a:lnTo>
                  <a:lnTo>
                    <a:pt x="1170943" y="104114"/>
                  </a:lnTo>
                  <a:lnTo>
                    <a:pt x="1226484" y="86855"/>
                  </a:lnTo>
                  <a:lnTo>
                    <a:pt x="1282479" y="68238"/>
                  </a:lnTo>
                  <a:lnTo>
                    <a:pt x="1333795" y="53291"/>
                  </a:lnTo>
                  <a:lnTo>
                    <a:pt x="1384743" y="40346"/>
                  </a:lnTo>
                  <a:lnTo>
                    <a:pt x="1435354" y="29335"/>
                  </a:lnTo>
                  <a:lnTo>
                    <a:pt x="1485661" y="20188"/>
                  </a:lnTo>
                  <a:lnTo>
                    <a:pt x="1535696" y="12836"/>
                  </a:lnTo>
                  <a:lnTo>
                    <a:pt x="1585491" y="7211"/>
                  </a:lnTo>
                  <a:lnTo>
                    <a:pt x="1635079" y="3242"/>
                  </a:lnTo>
                  <a:lnTo>
                    <a:pt x="1685772" y="800"/>
                  </a:lnTo>
                  <a:lnTo>
                    <a:pt x="1688017" y="800"/>
                  </a:lnTo>
                  <a:lnTo>
                    <a:pt x="1733763" y="0"/>
                  </a:lnTo>
                  <a:lnTo>
                    <a:pt x="1787891" y="800"/>
                  </a:lnTo>
                  <a:lnTo>
                    <a:pt x="1841176" y="3628"/>
                  </a:lnTo>
                  <a:lnTo>
                    <a:pt x="1893636" y="8453"/>
                  </a:lnTo>
                  <a:lnTo>
                    <a:pt x="1945289" y="15240"/>
                  </a:lnTo>
                  <a:lnTo>
                    <a:pt x="1996150" y="23957"/>
                  </a:lnTo>
                  <a:lnTo>
                    <a:pt x="2046238" y="34570"/>
                  </a:lnTo>
                  <a:lnTo>
                    <a:pt x="2095568" y="47048"/>
                  </a:lnTo>
                  <a:lnTo>
                    <a:pt x="2144158" y="61356"/>
                  </a:lnTo>
                  <a:lnTo>
                    <a:pt x="2192026" y="77463"/>
                  </a:lnTo>
                  <a:lnTo>
                    <a:pt x="2239187" y="95334"/>
                  </a:lnTo>
                  <a:lnTo>
                    <a:pt x="2285660" y="114938"/>
                  </a:lnTo>
                  <a:lnTo>
                    <a:pt x="2331460" y="136241"/>
                  </a:lnTo>
                  <a:lnTo>
                    <a:pt x="2376605" y="159209"/>
                  </a:lnTo>
                  <a:lnTo>
                    <a:pt x="2421113" y="183811"/>
                  </a:lnTo>
                  <a:lnTo>
                    <a:pt x="2459952" y="207082"/>
                  </a:lnTo>
                  <a:close/>
                </a:path>
                <a:path w="2928620" h="689610">
                  <a:moveTo>
                    <a:pt x="2928281" y="689527"/>
                  </a:moveTo>
                  <a:lnTo>
                    <a:pt x="0" y="689527"/>
                  </a:lnTo>
                  <a:lnTo>
                    <a:pt x="0" y="125504"/>
                  </a:lnTo>
                  <a:lnTo>
                    <a:pt x="36424" y="137446"/>
                  </a:lnTo>
                  <a:lnTo>
                    <a:pt x="79396" y="150083"/>
                  </a:lnTo>
                  <a:lnTo>
                    <a:pt x="123001" y="161474"/>
                  </a:lnTo>
                  <a:lnTo>
                    <a:pt x="167230" y="171612"/>
                  </a:lnTo>
                  <a:lnTo>
                    <a:pt x="212076" y="180495"/>
                  </a:lnTo>
                  <a:lnTo>
                    <a:pt x="257530" y="188115"/>
                  </a:lnTo>
                  <a:lnTo>
                    <a:pt x="303586" y="194470"/>
                  </a:lnTo>
                  <a:lnTo>
                    <a:pt x="350235" y="199554"/>
                  </a:lnTo>
                  <a:lnTo>
                    <a:pt x="397470" y="203361"/>
                  </a:lnTo>
                  <a:lnTo>
                    <a:pt x="445282" y="205889"/>
                  </a:lnTo>
                  <a:lnTo>
                    <a:pt x="491781" y="207082"/>
                  </a:lnTo>
                  <a:lnTo>
                    <a:pt x="2459952" y="207082"/>
                  </a:lnTo>
                  <a:lnTo>
                    <a:pt x="2468013" y="211913"/>
                  </a:lnTo>
                  <a:lnTo>
                    <a:pt x="2513186" y="241277"/>
                  </a:lnTo>
                  <a:lnTo>
                    <a:pt x="2556645" y="271885"/>
                  </a:lnTo>
                  <a:lnTo>
                    <a:pt x="2598406" y="303718"/>
                  </a:lnTo>
                  <a:lnTo>
                    <a:pt x="2638483" y="336758"/>
                  </a:lnTo>
                  <a:lnTo>
                    <a:pt x="2676890" y="370986"/>
                  </a:lnTo>
                  <a:lnTo>
                    <a:pt x="2713643" y="406383"/>
                  </a:lnTo>
                  <a:lnTo>
                    <a:pt x="2748755" y="442931"/>
                  </a:lnTo>
                  <a:lnTo>
                    <a:pt x="2782242" y="480610"/>
                  </a:lnTo>
                  <a:lnTo>
                    <a:pt x="2814119" y="519402"/>
                  </a:lnTo>
                  <a:lnTo>
                    <a:pt x="2844399" y="559288"/>
                  </a:lnTo>
                  <a:lnTo>
                    <a:pt x="2873098" y="600250"/>
                  </a:lnTo>
                  <a:lnTo>
                    <a:pt x="2900231" y="642268"/>
                  </a:lnTo>
                  <a:lnTo>
                    <a:pt x="2925811" y="685323"/>
                  </a:lnTo>
                  <a:lnTo>
                    <a:pt x="2928281" y="689527"/>
                  </a:lnTo>
                  <a:close/>
                </a:path>
              </a:pathLst>
            </a:custGeom>
            <a:solidFill>
              <a:srgbClr val="8FE3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FFFF"/>
                </a:solidFill>
              </a:rPr>
              <a:t>(Noun)-</a:t>
            </a:r>
            <a:r>
              <a:rPr dirty="0" spc="-45">
                <a:solidFill>
                  <a:srgbClr val="FFFFFF"/>
                </a:solidFill>
              </a:rPr>
              <a:t>-</a:t>
            </a:r>
            <a:r>
              <a:rPr dirty="0" spc="-10">
                <a:solidFill>
                  <a:srgbClr val="FFFFFF"/>
                </a:solidFill>
              </a:rPr>
              <a:t>(Verb)-</a:t>
            </a:r>
            <a:r>
              <a:rPr dirty="0">
                <a:solidFill>
                  <a:srgbClr val="FFFFFF"/>
                </a:solidFill>
              </a:rPr>
              <a:t>-</a:t>
            </a:r>
            <a:r>
              <a:rPr dirty="0" spc="-10">
                <a:solidFill>
                  <a:srgbClr val="FFFFFF"/>
                </a:solidFill>
              </a:rPr>
              <a:t>(Noun)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201953" y="2381186"/>
            <a:ext cx="11703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 b="1">
                <a:solidFill>
                  <a:srgbClr val="8FE3E7"/>
                </a:solidFill>
                <a:latin typeface="Arial"/>
                <a:cs typeface="Arial"/>
              </a:rPr>
              <a:t>Platform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9685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910842" y="2427097"/>
            <a:ext cx="14230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8FE3E7"/>
                </a:solidFill>
                <a:latin typeface="Arial"/>
                <a:cs typeface="Arial"/>
              </a:rPr>
              <a:t>Advertisement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33123" y="2477770"/>
            <a:ext cx="1949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8FE3E7"/>
                </a:solidFill>
                <a:latin typeface="Arial"/>
                <a:cs typeface="Arial"/>
              </a:rPr>
              <a:t>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585433" y="2477770"/>
            <a:ext cx="6223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8FE3E7"/>
                </a:solidFill>
                <a:latin typeface="Arial"/>
                <a:cs typeface="Arial"/>
              </a:rPr>
              <a:t>Purchased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1565362"/>
            <a:ext cx="3097530" cy="3578225"/>
            <a:chOff x="0" y="1565362"/>
            <a:chExt cx="3097530" cy="3578225"/>
          </a:xfrm>
        </p:grpSpPr>
        <p:sp>
          <p:nvSpPr>
            <p:cNvPr id="3" name="object 3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098462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2" y="202164"/>
                  </a:lnTo>
                  <a:lnTo>
                    <a:pt x="428131" y="175778"/>
                  </a:lnTo>
                  <a:lnTo>
                    <a:pt x="465683" y="151023"/>
                  </a:lnTo>
                  <a:lnTo>
                    <a:pt x="504399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7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60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9" y="194673"/>
                  </a:lnTo>
                  <a:lnTo>
                    <a:pt x="1620851" y="224675"/>
                  </a:lnTo>
                  <a:lnTo>
                    <a:pt x="1657972" y="256655"/>
                  </a:lnTo>
                  <a:lnTo>
                    <a:pt x="1693620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6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7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0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7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9" y="1856250"/>
                  </a:lnTo>
                  <a:lnTo>
                    <a:pt x="465683" y="1833176"/>
                  </a:lnTo>
                  <a:lnTo>
                    <a:pt x="428131" y="1808421"/>
                  </a:lnTo>
                  <a:lnTo>
                    <a:pt x="391792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FFFFFF"/>
                </a:solidFill>
              </a:rPr>
              <a:t>Properties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47049" y="1565362"/>
            <a:ext cx="2012950" cy="2012950"/>
            <a:chOff x="6047049" y="1565362"/>
            <a:chExt cx="2012950" cy="2012950"/>
          </a:xfrm>
        </p:grpSpPr>
        <p:sp>
          <p:nvSpPr>
            <p:cNvPr id="7" name="object 7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992099" y="1984199"/>
                  </a:move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38259" y="1144"/>
                  </a:lnTo>
                  <a:lnTo>
                    <a:pt x="1040284" y="1144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61337" y="1579649"/>
              <a:ext cx="1984375" cy="1984375"/>
            </a:xfrm>
            <a:custGeom>
              <a:avLst/>
              <a:gdLst/>
              <a:ahLst/>
              <a:cxnLst/>
              <a:rect l="l" t="t" r="r" b="b"/>
              <a:pathLst>
                <a:path w="1984375" h="1984375">
                  <a:moveTo>
                    <a:pt x="0" y="992099"/>
                  </a:moveTo>
                  <a:lnTo>
                    <a:pt x="1144" y="944031"/>
                  </a:lnTo>
                  <a:lnTo>
                    <a:pt x="4541" y="896554"/>
                  </a:lnTo>
                  <a:lnTo>
                    <a:pt x="10140" y="849718"/>
                  </a:lnTo>
                  <a:lnTo>
                    <a:pt x="17889" y="803577"/>
                  </a:lnTo>
                  <a:lnTo>
                    <a:pt x="27735" y="758183"/>
                  </a:lnTo>
                  <a:lnTo>
                    <a:pt x="39626" y="713586"/>
                  </a:lnTo>
                  <a:lnTo>
                    <a:pt x="53511" y="669840"/>
                  </a:lnTo>
                  <a:lnTo>
                    <a:pt x="69338" y="626997"/>
                  </a:lnTo>
                  <a:lnTo>
                    <a:pt x="87055" y="585107"/>
                  </a:lnTo>
                  <a:lnTo>
                    <a:pt x="106609" y="544224"/>
                  </a:lnTo>
                  <a:lnTo>
                    <a:pt x="127949" y="504399"/>
                  </a:lnTo>
                  <a:lnTo>
                    <a:pt x="151023" y="465683"/>
                  </a:lnTo>
                  <a:lnTo>
                    <a:pt x="175778" y="428130"/>
                  </a:lnTo>
                  <a:lnTo>
                    <a:pt x="202164" y="391792"/>
                  </a:lnTo>
                  <a:lnTo>
                    <a:pt x="230127" y="356719"/>
                  </a:lnTo>
                  <a:lnTo>
                    <a:pt x="259616" y="322964"/>
                  </a:lnTo>
                  <a:lnTo>
                    <a:pt x="290579" y="290579"/>
                  </a:lnTo>
                  <a:lnTo>
                    <a:pt x="322964" y="259616"/>
                  </a:lnTo>
                  <a:lnTo>
                    <a:pt x="356719" y="230127"/>
                  </a:lnTo>
                  <a:lnTo>
                    <a:pt x="391791" y="202164"/>
                  </a:lnTo>
                  <a:lnTo>
                    <a:pt x="428130" y="175778"/>
                  </a:lnTo>
                  <a:lnTo>
                    <a:pt x="465683" y="151023"/>
                  </a:lnTo>
                  <a:lnTo>
                    <a:pt x="504398" y="127949"/>
                  </a:lnTo>
                  <a:lnTo>
                    <a:pt x="544224" y="106609"/>
                  </a:lnTo>
                  <a:lnTo>
                    <a:pt x="585107" y="87055"/>
                  </a:lnTo>
                  <a:lnTo>
                    <a:pt x="626997" y="69338"/>
                  </a:lnTo>
                  <a:lnTo>
                    <a:pt x="669840" y="53511"/>
                  </a:lnTo>
                  <a:lnTo>
                    <a:pt x="713586" y="39626"/>
                  </a:lnTo>
                  <a:lnTo>
                    <a:pt x="758183" y="27735"/>
                  </a:lnTo>
                  <a:lnTo>
                    <a:pt x="803577" y="17889"/>
                  </a:lnTo>
                  <a:lnTo>
                    <a:pt x="849718" y="10140"/>
                  </a:lnTo>
                  <a:lnTo>
                    <a:pt x="896554" y="4541"/>
                  </a:lnTo>
                  <a:lnTo>
                    <a:pt x="944031" y="1144"/>
                  </a:lnTo>
                  <a:lnTo>
                    <a:pt x="992099" y="0"/>
                  </a:lnTo>
                  <a:lnTo>
                    <a:pt x="1041295" y="1219"/>
                  </a:lnTo>
                  <a:lnTo>
                    <a:pt x="1090156" y="4854"/>
                  </a:lnTo>
                  <a:lnTo>
                    <a:pt x="1138603" y="10872"/>
                  </a:lnTo>
                  <a:lnTo>
                    <a:pt x="1186552" y="19239"/>
                  </a:lnTo>
                  <a:lnTo>
                    <a:pt x="1233924" y="29920"/>
                  </a:lnTo>
                  <a:lnTo>
                    <a:pt x="1280637" y="42883"/>
                  </a:lnTo>
                  <a:lnTo>
                    <a:pt x="1326609" y="58094"/>
                  </a:lnTo>
                  <a:lnTo>
                    <a:pt x="1371759" y="75519"/>
                  </a:lnTo>
                  <a:lnTo>
                    <a:pt x="1416007" y="95124"/>
                  </a:lnTo>
                  <a:lnTo>
                    <a:pt x="1459270" y="116875"/>
                  </a:lnTo>
                  <a:lnTo>
                    <a:pt x="1501467" y="140740"/>
                  </a:lnTo>
                  <a:lnTo>
                    <a:pt x="1542517" y="166684"/>
                  </a:lnTo>
                  <a:lnTo>
                    <a:pt x="1582338" y="194673"/>
                  </a:lnTo>
                  <a:lnTo>
                    <a:pt x="1620850" y="224675"/>
                  </a:lnTo>
                  <a:lnTo>
                    <a:pt x="1657971" y="256655"/>
                  </a:lnTo>
                  <a:lnTo>
                    <a:pt x="1693619" y="290579"/>
                  </a:lnTo>
                  <a:lnTo>
                    <a:pt x="1727544" y="326227"/>
                  </a:lnTo>
                  <a:lnTo>
                    <a:pt x="1759524" y="363348"/>
                  </a:lnTo>
                  <a:lnTo>
                    <a:pt x="1789525" y="401860"/>
                  </a:lnTo>
                  <a:lnTo>
                    <a:pt x="1817515" y="441682"/>
                  </a:lnTo>
                  <a:lnTo>
                    <a:pt x="1843459" y="482732"/>
                  </a:lnTo>
                  <a:lnTo>
                    <a:pt x="1867324" y="524929"/>
                  </a:lnTo>
                  <a:lnTo>
                    <a:pt x="1889075" y="568192"/>
                  </a:lnTo>
                  <a:lnTo>
                    <a:pt x="1908680" y="612439"/>
                  </a:lnTo>
                  <a:lnTo>
                    <a:pt x="1926105" y="657590"/>
                  </a:lnTo>
                  <a:lnTo>
                    <a:pt x="1941316" y="703562"/>
                  </a:lnTo>
                  <a:lnTo>
                    <a:pt x="1954279" y="750275"/>
                  </a:lnTo>
                  <a:lnTo>
                    <a:pt x="1964960" y="797647"/>
                  </a:lnTo>
                  <a:lnTo>
                    <a:pt x="1973327" y="845596"/>
                  </a:lnTo>
                  <a:lnTo>
                    <a:pt x="1979345" y="894043"/>
                  </a:lnTo>
                  <a:lnTo>
                    <a:pt x="1982980" y="942904"/>
                  </a:lnTo>
                  <a:lnTo>
                    <a:pt x="1984199" y="992099"/>
                  </a:lnTo>
                  <a:lnTo>
                    <a:pt x="1983055" y="1040168"/>
                  </a:lnTo>
                  <a:lnTo>
                    <a:pt x="1979658" y="1087645"/>
                  </a:lnTo>
                  <a:lnTo>
                    <a:pt x="1974059" y="1134481"/>
                  </a:lnTo>
                  <a:lnTo>
                    <a:pt x="1966310" y="1180622"/>
                  </a:lnTo>
                  <a:lnTo>
                    <a:pt x="1956464" y="1226016"/>
                  </a:lnTo>
                  <a:lnTo>
                    <a:pt x="1944573" y="1270613"/>
                  </a:lnTo>
                  <a:lnTo>
                    <a:pt x="1930688" y="1314359"/>
                  </a:lnTo>
                  <a:lnTo>
                    <a:pt x="1914861" y="1357202"/>
                  </a:lnTo>
                  <a:lnTo>
                    <a:pt x="1897144" y="1399092"/>
                  </a:lnTo>
                  <a:lnTo>
                    <a:pt x="1877590" y="1439975"/>
                  </a:lnTo>
                  <a:lnTo>
                    <a:pt x="1856250" y="1479800"/>
                  </a:lnTo>
                  <a:lnTo>
                    <a:pt x="1833176" y="1518516"/>
                  </a:lnTo>
                  <a:lnTo>
                    <a:pt x="1808421" y="1556069"/>
                  </a:lnTo>
                  <a:lnTo>
                    <a:pt x="1782035" y="1592407"/>
                  </a:lnTo>
                  <a:lnTo>
                    <a:pt x="1754072" y="1627480"/>
                  </a:lnTo>
                  <a:lnTo>
                    <a:pt x="1724583" y="1661235"/>
                  </a:lnTo>
                  <a:lnTo>
                    <a:pt x="1693620" y="1693620"/>
                  </a:lnTo>
                  <a:lnTo>
                    <a:pt x="1661235" y="1724583"/>
                  </a:lnTo>
                  <a:lnTo>
                    <a:pt x="1627480" y="1754072"/>
                  </a:lnTo>
                  <a:lnTo>
                    <a:pt x="1592408" y="1782035"/>
                  </a:lnTo>
                  <a:lnTo>
                    <a:pt x="1556069" y="1808421"/>
                  </a:lnTo>
                  <a:lnTo>
                    <a:pt x="1518516" y="1833176"/>
                  </a:lnTo>
                  <a:lnTo>
                    <a:pt x="1479801" y="1856250"/>
                  </a:lnTo>
                  <a:lnTo>
                    <a:pt x="1439975" y="1877590"/>
                  </a:lnTo>
                  <a:lnTo>
                    <a:pt x="1399092" y="1897144"/>
                  </a:lnTo>
                  <a:lnTo>
                    <a:pt x="1357202" y="1914861"/>
                  </a:lnTo>
                  <a:lnTo>
                    <a:pt x="1314359" y="1930688"/>
                  </a:lnTo>
                  <a:lnTo>
                    <a:pt x="1270613" y="1944573"/>
                  </a:lnTo>
                  <a:lnTo>
                    <a:pt x="1226016" y="1956464"/>
                  </a:lnTo>
                  <a:lnTo>
                    <a:pt x="1180622" y="1966310"/>
                  </a:lnTo>
                  <a:lnTo>
                    <a:pt x="1134481" y="1974059"/>
                  </a:lnTo>
                  <a:lnTo>
                    <a:pt x="1087645" y="1979658"/>
                  </a:lnTo>
                  <a:lnTo>
                    <a:pt x="1040168" y="1983055"/>
                  </a:lnTo>
                  <a:lnTo>
                    <a:pt x="992099" y="1984199"/>
                  </a:lnTo>
                  <a:lnTo>
                    <a:pt x="944031" y="1983055"/>
                  </a:lnTo>
                  <a:lnTo>
                    <a:pt x="896554" y="1979658"/>
                  </a:lnTo>
                  <a:lnTo>
                    <a:pt x="849718" y="1974059"/>
                  </a:lnTo>
                  <a:lnTo>
                    <a:pt x="803577" y="1966310"/>
                  </a:lnTo>
                  <a:lnTo>
                    <a:pt x="758183" y="1956464"/>
                  </a:lnTo>
                  <a:lnTo>
                    <a:pt x="713586" y="1944573"/>
                  </a:lnTo>
                  <a:lnTo>
                    <a:pt x="669840" y="1930688"/>
                  </a:lnTo>
                  <a:lnTo>
                    <a:pt x="626997" y="1914861"/>
                  </a:lnTo>
                  <a:lnTo>
                    <a:pt x="585107" y="1897144"/>
                  </a:lnTo>
                  <a:lnTo>
                    <a:pt x="544224" y="1877590"/>
                  </a:lnTo>
                  <a:lnTo>
                    <a:pt x="504398" y="1856250"/>
                  </a:lnTo>
                  <a:lnTo>
                    <a:pt x="465683" y="1833176"/>
                  </a:lnTo>
                  <a:lnTo>
                    <a:pt x="428130" y="1808421"/>
                  </a:lnTo>
                  <a:lnTo>
                    <a:pt x="391791" y="1782035"/>
                  </a:lnTo>
                  <a:lnTo>
                    <a:pt x="356719" y="1754072"/>
                  </a:lnTo>
                  <a:lnTo>
                    <a:pt x="322964" y="1724583"/>
                  </a:lnTo>
                  <a:lnTo>
                    <a:pt x="290579" y="1693620"/>
                  </a:lnTo>
                  <a:lnTo>
                    <a:pt x="259616" y="1661235"/>
                  </a:lnTo>
                  <a:lnTo>
                    <a:pt x="230127" y="1627480"/>
                  </a:lnTo>
                  <a:lnTo>
                    <a:pt x="202164" y="1592407"/>
                  </a:lnTo>
                  <a:lnTo>
                    <a:pt x="175778" y="1556069"/>
                  </a:lnTo>
                  <a:lnTo>
                    <a:pt x="151023" y="1518516"/>
                  </a:lnTo>
                  <a:lnTo>
                    <a:pt x="127949" y="1479800"/>
                  </a:lnTo>
                  <a:lnTo>
                    <a:pt x="106609" y="1439975"/>
                  </a:lnTo>
                  <a:lnTo>
                    <a:pt x="87055" y="1399092"/>
                  </a:lnTo>
                  <a:lnTo>
                    <a:pt x="69338" y="1357202"/>
                  </a:lnTo>
                  <a:lnTo>
                    <a:pt x="53511" y="1314359"/>
                  </a:lnTo>
                  <a:lnTo>
                    <a:pt x="39626" y="1270613"/>
                  </a:lnTo>
                  <a:lnTo>
                    <a:pt x="27735" y="1226016"/>
                  </a:lnTo>
                  <a:lnTo>
                    <a:pt x="17889" y="1180622"/>
                  </a:lnTo>
                  <a:lnTo>
                    <a:pt x="10140" y="1134481"/>
                  </a:lnTo>
                  <a:lnTo>
                    <a:pt x="4541" y="1087645"/>
                  </a:lnTo>
                  <a:lnTo>
                    <a:pt x="1144" y="1040168"/>
                  </a:lnTo>
                  <a:lnTo>
                    <a:pt x="0" y="992099"/>
                  </a:lnTo>
                  <a:close/>
                </a:path>
              </a:pathLst>
            </a:custGeom>
            <a:ln w="28574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6593079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30204" y="2381186"/>
            <a:ext cx="9213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65" b="1">
                <a:solidFill>
                  <a:srgbClr val="8FE3E7"/>
                </a:solidFill>
                <a:latin typeface="Arial"/>
                <a:cs typeface="Arial"/>
              </a:rPr>
              <a:t>Person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113200" y="3351449"/>
            <a:ext cx="2468245" cy="1084580"/>
            <a:chOff x="2113200" y="3351449"/>
            <a:chExt cx="2468245" cy="1084580"/>
          </a:xfrm>
        </p:grpSpPr>
        <p:sp>
          <p:nvSpPr>
            <p:cNvPr id="12" name="object 12" descr=""/>
            <p:cNvSpPr/>
            <p:nvPr/>
          </p:nvSpPr>
          <p:spPr>
            <a:xfrm>
              <a:off x="2122725" y="3360974"/>
              <a:ext cx="2449195" cy="1065530"/>
            </a:xfrm>
            <a:custGeom>
              <a:avLst/>
              <a:gdLst/>
              <a:ahLst/>
              <a:cxnLst/>
              <a:rect l="l" t="t" r="r" b="b"/>
              <a:pathLst>
                <a:path w="2449195" h="1065529">
                  <a:moveTo>
                    <a:pt x="2449199" y="1065075"/>
                  </a:moveTo>
                  <a:lnTo>
                    <a:pt x="0" y="1065075"/>
                  </a:lnTo>
                  <a:lnTo>
                    <a:pt x="0" y="202875"/>
                  </a:lnTo>
                  <a:lnTo>
                    <a:pt x="408199" y="202875"/>
                  </a:lnTo>
                  <a:lnTo>
                    <a:pt x="74406" y="0"/>
                  </a:lnTo>
                  <a:lnTo>
                    <a:pt x="1020499" y="202875"/>
                  </a:lnTo>
                  <a:lnTo>
                    <a:pt x="2449199" y="202875"/>
                  </a:lnTo>
                  <a:lnTo>
                    <a:pt x="2449199" y="1065075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122725" y="3360974"/>
              <a:ext cx="2449195" cy="1065530"/>
            </a:xfrm>
            <a:custGeom>
              <a:avLst/>
              <a:gdLst/>
              <a:ahLst/>
              <a:cxnLst/>
              <a:rect l="l" t="t" r="r" b="b"/>
              <a:pathLst>
                <a:path w="2449195" h="1065529">
                  <a:moveTo>
                    <a:pt x="0" y="202875"/>
                  </a:moveTo>
                  <a:lnTo>
                    <a:pt x="408199" y="202875"/>
                  </a:lnTo>
                  <a:lnTo>
                    <a:pt x="74406" y="0"/>
                  </a:lnTo>
                  <a:lnTo>
                    <a:pt x="1020499" y="202875"/>
                  </a:lnTo>
                  <a:lnTo>
                    <a:pt x="2449199" y="202875"/>
                  </a:lnTo>
                  <a:lnTo>
                    <a:pt x="2449199" y="346575"/>
                  </a:lnTo>
                  <a:lnTo>
                    <a:pt x="2449199" y="562125"/>
                  </a:lnTo>
                  <a:lnTo>
                    <a:pt x="2449199" y="1065075"/>
                  </a:lnTo>
                  <a:lnTo>
                    <a:pt x="1020499" y="1065075"/>
                  </a:lnTo>
                  <a:lnTo>
                    <a:pt x="408199" y="1065075"/>
                  </a:lnTo>
                  <a:lnTo>
                    <a:pt x="0" y="1065075"/>
                  </a:lnTo>
                  <a:lnTo>
                    <a:pt x="0" y="562125"/>
                  </a:lnTo>
                  <a:lnTo>
                    <a:pt x="0" y="346575"/>
                  </a:lnTo>
                  <a:lnTo>
                    <a:pt x="0" y="202875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2195750" y="3631729"/>
            <a:ext cx="222186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4615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name:</a:t>
            </a:r>
            <a:r>
              <a:rPr dirty="0" sz="1500" spc="-7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Martin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lives:</a:t>
            </a:r>
            <a:r>
              <a:rPr dirty="0" sz="1500" spc="-8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25">
                <a:solidFill>
                  <a:srgbClr val="8FE3E7"/>
                </a:solidFill>
                <a:latin typeface="Consolas"/>
                <a:cs typeface="Consolas"/>
              </a:rPr>
              <a:t>UK</a:t>
            </a:r>
            <a:endParaRPr sz="1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Last_seen:</a:t>
            </a:r>
            <a:r>
              <a:rPr dirty="0" sz="1500" spc="-8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20">
                <a:solidFill>
                  <a:srgbClr val="8FE3E7"/>
                </a:solidFill>
                <a:latin typeface="Consolas"/>
                <a:cs typeface="Consolas"/>
              </a:rPr>
              <a:t>2024-06-</a:t>
            </a:r>
            <a:r>
              <a:rPr dirty="0" sz="1500" spc="-25">
                <a:solidFill>
                  <a:srgbClr val="8FE3E7"/>
                </a:solidFill>
                <a:latin typeface="Consolas"/>
                <a:cs typeface="Consolas"/>
              </a:rPr>
              <a:t>01</a:t>
            </a:r>
            <a:endParaRPr sz="1500">
              <a:latin typeface="Consolas"/>
              <a:cs typeface="Consolas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074325" y="3215376"/>
            <a:ext cx="2072639" cy="1220470"/>
            <a:chOff x="5074325" y="3215376"/>
            <a:chExt cx="2072639" cy="1220470"/>
          </a:xfrm>
        </p:grpSpPr>
        <p:sp>
          <p:nvSpPr>
            <p:cNvPr id="16" name="object 16" descr=""/>
            <p:cNvSpPr/>
            <p:nvPr/>
          </p:nvSpPr>
          <p:spPr>
            <a:xfrm>
              <a:off x="5083850" y="3224901"/>
              <a:ext cx="2053589" cy="1201420"/>
            </a:xfrm>
            <a:custGeom>
              <a:avLst/>
              <a:gdLst/>
              <a:ahLst/>
              <a:cxnLst/>
              <a:rect l="l" t="t" r="r" b="b"/>
              <a:pathLst>
                <a:path w="2053590" h="1201420">
                  <a:moveTo>
                    <a:pt x="2053199" y="1201147"/>
                  </a:moveTo>
                  <a:lnTo>
                    <a:pt x="0" y="1201147"/>
                  </a:lnTo>
                  <a:lnTo>
                    <a:pt x="0" y="338947"/>
                  </a:lnTo>
                  <a:lnTo>
                    <a:pt x="1197699" y="338947"/>
                  </a:lnTo>
                  <a:lnTo>
                    <a:pt x="1746924" y="0"/>
                  </a:lnTo>
                  <a:lnTo>
                    <a:pt x="1710999" y="338947"/>
                  </a:lnTo>
                  <a:lnTo>
                    <a:pt x="2053199" y="338947"/>
                  </a:lnTo>
                  <a:lnTo>
                    <a:pt x="2053199" y="1201147"/>
                  </a:lnTo>
                  <a:close/>
                </a:path>
              </a:pathLst>
            </a:custGeom>
            <a:solidFill>
              <a:srgbClr val="0140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083850" y="3224901"/>
              <a:ext cx="2053589" cy="1201420"/>
            </a:xfrm>
            <a:custGeom>
              <a:avLst/>
              <a:gdLst/>
              <a:ahLst/>
              <a:cxnLst/>
              <a:rect l="l" t="t" r="r" b="b"/>
              <a:pathLst>
                <a:path w="2053590" h="1201420">
                  <a:moveTo>
                    <a:pt x="0" y="338947"/>
                  </a:moveTo>
                  <a:lnTo>
                    <a:pt x="1197699" y="338947"/>
                  </a:lnTo>
                  <a:lnTo>
                    <a:pt x="1746924" y="0"/>
                  </a:lnTo>
                  <a:lnTo>
                    <a:pt x="1710999" y="338947"/>
                  </a:lnTo>
                  <a:lnTo>
                    <a:pt x="2053199" y="338947"/>
                  </a:lnTo>
                  <a:lnTo>
                    <a:pt x="2053199" y="482647"/>
                  </a:lnTo>
                  <a:lnTo>
                    <a:pt x="2053199" y="698197"/>
                  </a:lnTo>
                  <a:lnTo>
                    <a:pt x="2053199" y="1201147"/>
                  </a:lnTo>
                  <a:lnTo>
                    <a:pt x="1710999" y="1201147"/>
                  </a:lnTo>
                  <a:lnTo>
                    <a:pt x="1197699" y="1201147"/>
                  </a:lnTo>
                  <a:lnTo>
                    <a:pt x="0" y="1201147"/>
                  </a:lnTo>
                  <a:lnTo>
                    <a:pt x="0" y="698197"/>
                  </a:lnTo>
                  <a:lnTo>
                    <a:pt x="0" y="482647"/>
                  </a:lnTo>
                  <a:lnTo>
                    <a:pt x="0" y="338947"/>
                  </a:lnTo>
                  <a:close/>
                </a:path>
              </a:pathLst>
            </a:custGeom>
            <a:ln w="19049">
              <a:solidFill>
                <a:srgbClr val="8FE3E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5156875" y="3631729"/>
            <a:ext cx="148971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name:</a:t>
            </a:r>
            <a:r>
              <a:rPr dirty="0" sz="1500" spc="-7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20">
                <a:solidFill>
                  <a:srgbClr val="8FE3E7"/>
                </a:solidFill>
                <a:latin typeface="Consolas"/>
                <a:cs typeface="Consolas"/>
              </a:rPr>
              <a:t>Alex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lives:</a:t>
            </a:r>
            <a:r>
              <a:rPr dirty="0" sz="1500" spc="-80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10">
                <a:solidFill>
                  <a:srgbClr val="8FE3E7"/>
                </a:solidFill>
                <a:latin typeface="Consolas"/>
                <a:cs typeface="Consolas"/>
              </a:rPr>
              <a:t>Germany </a:t>
            </a:r>
            <a:r>
              <a:rPr dirty="0" sz="1500">
                <a:solidFill>
                  <a:srgbClr val="8FE3E7"/>
                </a:solidFill>
                <a:latin typeface="Consolas"/>
                <a:cs typeface="Consolas"/>
              </a:rPr>
              <a:t>purchases:</a:t>
            </a:r>
            <a:r>
              <a:rPr dirty="0" sz="1500" spc="-135">
                <a:solidFill>
                  <a:srgbClr val="8FE3E7"/>
                </a:solidFill>
                <a:latin typeface="Consolas"/>
                <a:cs typeface="Consolas"/>
              </a:rPr>
              <a:t> </a:t>
            </a:r>
            <a:r>
              <a:rPr dirty="0" sz="1500" spc="-50">
                <a:solidFill>
                  <a:srgbClr val="8FE3E7"/>
                </a:solidFill>
                <a:latin typeface="Consolas"/>
                <a:cs typeface="Consolas"/>
              </a:rPr>
              <a:t>5</a:t>
            </a:r>
            <a:endParaRPr sz="15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604710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50">
                <a:latin typeface="Gill Sans MT"/>
                <a:cs typeface="Gill Sans MT"/>
              </a:rPr>
              <a:t>6⭲sweri⭲ą</a:t>
            </a:r>
            <a:r>
              <a:rPr dirty="0" sz="4200" spc="-155">
                <a:latin typeface="Gill Sans MT"/>
                <a:cs typeface="Gill Sans MT"/>
              </a:rPr>
              <a:t> </a:t>
            </a:r>
            <a:r>
              <a:rPr dirty="0" sz="4200" spc="275">
                <a:latin typeface="Gill Sans MT"/>
                <a:cs typeface="Gill Sans MT"/>
              </a:rPr>
              <a:t>queslio⭲s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823025"/>
            <a:ext cx="7689850" cy="4320540"/>
            <a:chOff x="0" y="823025"/>
            <a:chExt cx="7689850" cy="4320540"/>
          </a:xfrm>
        </p:grpSpPr>
        <p:sp>
          <p:nvSpPr>
            <p:cNvPr id="4" name="object 4" descr=""/>
            <p:cNvSpPr/>
            <p:nvPr/>
          </p:nvSpPr>
          <p:spPr>
            <a:xfrm>
              <a:off x="0" y="4453972"/>
              <a:ext cx="2928620" cy="689610"/>
            </a:xfrm>
            <a:custGeom>
              <a:avLst/>
              <a:gdLst/>
              <a:ahLst/>
              <a:cxnLst/>
              <a:rect l="l" t="t" r="r" b="b"/>
              <a:pathLst>
                <a:path w="2928620" h="689610">
                  <a:moveTo>
                    <a:pt x="2459952" y="207082"/>
                  </a:moveTo>
                  <a:lnTo>
                    <a:pt x="542609" y="207082"/>
                  </a:lnTo>
                  <a:lnTo>
                    <a:pt x="592107" y="205739"/>
                  </a:lnTo>
                  <a:lnTo>
                    <a:pt x="642152" y="203096"/>
                  </a:lnTo>
                  <a:lnTo>
                    <a:pt x="692736" y="199148"/>
                  </a:lnTo>
                  <a:lnTo>
                    <a:pt x="743851" y="193890"/>
                  </a:lnTo>
                  <a:lnTo>
                    <a:pt x="795489" y="187319"/>
                  </a:lnTo>
                  <a:lnTo>
                    <a:pt x="847642" y="179428"/>
                  </a:lnTo>
                  <a:lnTo>
                    <a:pt x="900302" y="170214"/>
                  </a:lnTo>
                  <a:lnTo>
                    <a:pt x="953462" y="159670"/>
                  </a:lnTo>
                  <a:lnTo>
                    <a:pt x="1007114" y="147793"/>
                  </a:lnTo>
                  <a:lnTo>
                    <a:pt x="1061250" y="134578"/>
                  </a:lnTo>
                  <a:lnTo>
                    <a:pt x="1115862" y="120020"/>
                  </a:lnTo>
                  <a:lnTo>
                    <a:pt x="1170943" y="104114"/>
                  </a:lnTo>
                  <a:lnTo>
                    <a:pt x="1226484" y="86855"/>
                  </a:lnTo>
                  <a:lnTo>
                    <a:pt x="1282479" y="68238"/>
                  </a:lnTo>
                  <a:lnTo>
                    <a:pt x="1333795" y="53291"/>
                  </a:lnTo>
                  <a:lnTo>
                    <a:pt x="1384743" y="40346"/>
                  </a:lnTo>
                  <a:lnTo>
                    <a:pt x="1435354" y="29335"/>
                  </a:lnTo>
                  <a:lnTo>
                    <a:pt x="1485661" y="20188"/>
                  </a:lnTo>
                  <a:lnTo>
                    <a:pt x="1535696" y="12836"/>
                  </a:lnTo>
                  <a:lnTo>
                    <a:pt x="1585491" y="7211"/>
                  </a:lnTo>
                  <a:lnTo>
                    <a:pt x="1635079" y="3242"/>
                  </a:lnTo>
                  <a:lnTo>
                    <a:pt x="1685772" y="800"/>
                  </a:lnTo>
                  <a:lnTo>
                    <a:pt x="1688017" y="800"/>
                  </a:lnTo>
                  <a:lnTo>
                    <a:pt x="1733763" y="0"/>
                  </a:lnTo>
                  <a:lnTo>
                    <a:pt x="1787891" y="800"/>
                  </a:lnTo>
                  <a:lnTo>
                    <a:pt x="1841176" y="3628"/>
                  </a:lnTo>
                  <a:lnTo>
                    <a:pt x="1893636" y="8453"/>
                  </a:lnTo>
                  <a:lnTo>
                    <a:pt x="1945289" y="15240"/>
                  </a:lnTo>
                  <a:lnTo>
                    <a:pt x="1996150" y="23957"/>
                  </a:lnTo>
                  <a:lnTo>
                    <a:pt x="2046238" y="34570"/>
                  </a:lnTo>
                  <a:lnTo>
                    <a:pt x="2095568" y="47048"/>
                  </a:lnTo>
                  <a:lnTo>
                    <a:pt x="2144158" y="61356"/>
                  </a:lnTo>
                  <a:lnTo>
                    <a:pt x="2192026" y="77463"/>
                  </a:lnTo>
                  <a:lnTo>
                    <a:pt x="2239187" y="95334"/>
                  </a:lnTo>
                  <a:lnTo>
                    <a:pt x="2285660" y="114938"/>
                  </a:lnTo>
                  <a:lnTo>
                    <a:pt x="2331460" y="136241"/>
                  </a:lnTo>
                  <a:lnTo>
                    <a:pt x="2376605" y="159209"/>
                  </a:lnTo>
                  <a:lnTo>
                    <a:pt x="2421113" y="183811"/>
                  </a:lnTo>
                  <a:lnTo>
                    <a:pt x="2459952" y="207082"/>
                  </a:lnTo>
                  <a:close/>
                </a:path>
                <a:path w="2928620" h="689610">
                  <a:moveTo>
                    <a:pt x="2928281" y="689527"/>
                  </a:moveTo>
                  <a:lnTo>
                    <a:pt x="0" y="689527"/>
                  </a:lnTo>
                  <a:lnTo>
                    <a:pt x="0" y="125504"/>
                  </a:lnTo>
                  <a:lnTo>
                    <a:pt x="36424" y="137446"/>
                  </a:lnTo>
                  <a:lnTo>
                    <a:pt x="79396" y="150083"/>
                  </a:lnTo>
                  <a:lnTo>
                    <a:pt x="123001" y="161474"/>
                  </a:lnTo>
                  <a:lnTo>
                    <a:pt x="167230" y="171612"/>
                  </a:lnTo>
                  <a:lnTo>
                    <a:pt x="212076" y="180495"/>
                  </a:lnTo>
                  <a:lnTo>
                    <a:pt x="257530" y="188115"/>
                  </a:lnTo>
                  <a:lnTo>
                    <a:pt x="303586" y="194470"/>
                  </a:lnTo>
                  <a:lnTo>
                    <a:pt x="350235" y="199554"/>
                  </a:lnTo>
                  <a:lnTo>
                    <a:pt x="397470" y="203361"/>
                  </a:lnTo>
                  <a:lnTo>
                    <a:pt x="445282" y="205889"/>
                  </a:lnTo>
                  <a:lnTo>
                    <a:pt x="491781" y="207082"/>
                  </a:lnTo>
                  <a:lnTo>
                    <a:pt x="2459952" y="207082"/>
                  </a:lnTo>
                  <a:lnTo>
                    <a:pt x="2468013" y="211913"/>
                  </a:lnTo>
                  <a:lnTo>
                    <a:pt x="2513186" y="241277"/>
                  </a:lnTo>
                  <a:lnTo>
                    <a:pt x="2556645" y="271885"/>
                  </a:lnTo>
                  <a:lnTo>
                    <a:pt x="2598406" y="303718"/>
                  </a:lnTo>
                  <a:lnTo>
                    <a:pt x="2638483" y="336758"/>
                  </a:lnTo>
                  <a:lnTo>
                    <a:pt x="2676890" y="370986"/>
                  </a:lnTo>
                  <a:lnTo>
                    <a:pt x="2713643" y="406383"/>
                  </a:lnTo>
                  <a:lnTo>
                    <a:pt x="2748755" y="442931"/>
                  </a:lnTo>
                  <a:lnTo>
                    <a:pt x="2782242" y="480610"/>
                  </a:lnTo>
                  <a:lnTo>
                    <a:pt x="2814119" y="519402"/>
                  </a:lnTo>
                  <a:lnTo>
                    <a:pt x="2844399" y="559288"/>
                  </a:lnTo>
                  <a:lnTo>
                    <a:pt x="2873098" y="600250"/>
                  </a:lnTo>
                  <a:lnTo>
                    <a:pt x="2900231" y="642268"/>
                  </a:lnTo>
                  <a:lnTo>
                    <a:pt x="2925811" y="685323"/>
                  </a:lnTo>
                  <a:lnTo>
                    <a:pt x="2928281" y="689527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237" y="823025"/>
              <a:ext cx="6235522" cy="40156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Which</a:t>
            </a:r>
            <a:r>
              <a:rPr dirty="0" spc="-175"/>
              <a:t> </a:t>
            </a:r>
            <a:r>
              <a:rPr dirty="0" spc="55"/>
              <a:t>is</a:t>
            </a:r>
            <a:r>
              <a:rPr dirty="0" spc="-190"/>
              <a:t> </a:t>
            </a:r>
            <a:r>
              <a:rPr dirty="0" spc="-20"/>
              <a:t>the</a:t>
            </a:r>
            <a:r>
              <a:rPr dirty="0" spc="-185"/>
              <a:t> </a:t>
            </a:r>
            <a:r>
              <a:rPr dirty="0" spc="60"/>
              <a:t>best</a:t>
            </a:r>
            <a:r>
              <a:rPr dirty="0" spc="-170"/>
              <a:t> </a:t>
            </a:r>
            <a:r>
              <a:rPr dirty="0" spc="50"/>
              <a:t>Matrix</a:t>
            </a:r>
            <a:r>
              <a:rPr dirty="0" spc="-175"/>
              <a:t> </a:t>
            </a:r>
            <a:r>
              <a:rPr dirty="0" spc="40"/>
              <a:t>film?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Have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70">
                <a:solidFill>
                  <a:srgbClr val="FFFFFF"/>
                </a:solidFill>
              </a:rPr>
              <a:t>a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go!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0" y="1131320"/>
            <a:ext cx="2310130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75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16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rating</a:t>
            </a:r>
            <a:r>
              <a:rPr dirty="0" sz="1600" spc="-49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property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RATED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6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find: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6916" y="2252984"/>
            <a:ext cx="2136775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5760" marR="5080" indent="-353695">
              <a:lnSpc>
                <a:spcPct val="114999"/>
              </a:lnSpc>
              <a:spcBef>
                <a:spcPts val="100"/>
              </a:spcBef>
              <a:tabLst>
                <a:tab pos="365760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The</a:t>
            </a:r>
            <a:r>
              <a:rPr dirty="0" sz="16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r>
              <a:rPr dirty="0" sz="1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dirty="0" sz="16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most</a:t>
            </a:r>
            <a:r>
              <a:rPr dirty="0" sz="16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ratings.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435" y="3374648"/>
            <a:ext cx="2080895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03225" marR="5080" indent="-39116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dirty="0" sz="1600" spc="40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top</a:t>
            </a:r>
            <a:r>
              <a:rPr dirty="0" sz="16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55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dirty="0" sz="1600" spc="-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movie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5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16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average rating.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39800" y="2252984"/>
            <a:ext cx="4599305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7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(m:Movie)&lt;-[?:?????]-(u:User)</a:t>
            </a:r>
            <a:endParaRPr sz="1600">
              <a:latin typeface="Consolas"/>
              <a:cs typeface="Consolas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m.title,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count(?.?????)</a:t>
            </a:r>
            <a:r>
              <a:rPr dirty="0" sz="1600" spc="-4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AS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ratings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ORDER</a:t>
            </a: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BY</a:t>
            </a: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ratings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 DESC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9800" y="3374648"/>
            <a:ext cx="4599305" cy="11474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7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(m:Movie)&lt;-[?:?????]-(u:User)</a:t>
            </a:r>
            <a:endParaRPr sz="1600">
              <a:latin typeface="Consolas"/>
              <a:cs typeface="Consolas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m.title,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???(?.?????)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AS</a:t>
            </a:r>
            <a:r>
              <a:rPr dirty="0" sz="1600" spc="-35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avgRating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LIMIT</a:t>
            </a:r>
            <a:r>
              <a:rPr dirty="0" sz="1600" spc="-25" b="1">
                <a:solidFill>
                  <a:srgbClr val="FFFFFF"/>
                </a:solidFill>
                <a:latin typeface="Consolas"/>
                <a:cs typeface="Consolas"/>
              </a:rPr>
              <a:t> 10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ORDER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BY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onsolas"/>
                <a:cs typeface="Consolas"/>
              </a:rPr>
              <a:t>?????</a:t>
            </a:r>
            <a:r>
              <a:rPr dirty="0" sz="1600" spc="-20" b="1">
                <a:solidFill>
                  <a:srgbClr val="FFFFFF"/>
                </a:solidFill>
                <a:latin typeface="Consolas"/>
                <a:cs typeface="Consolas"/>
              </a:rPr>
              <a:t> DESC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Kevin</a:t>
            </a:r>
            <a:r>
              <a:rPr dirty="0" spc="-180"/>
              <a:t> </a:t>
            </a:r>
            <a:r>
              <a:rPr dirty="0" spc="65"/>
              <a:t>Bacon</a:t>
            </a:r>
            <a:r>
              <a:rPr dirty="0" spc="-180"/>
              <a:t> </a:t>
            </a:r>
            <a:r>
              <a:rPr dirty="0" spc="-35"/>
              <a:t>&lt;-</a:t>
            </a:r>
            <a:r>
              <a:rPr dirty="0" spc="-40"/>
              <a:t>&gt;</a:t>
            </a:r>
            <a:r>
              <a:rPr dirty="0" spc="-180"/>
              <a:t> </a:t>
            </a:r>
            <a:r>
              <a:rPr dirty="0" spc="140"/>
              <a:t>Al</a:t>
            </a:r>
            <a:r>
              <a:rPr dirty="0" spc="-180"/>
              <a:t> </a:t>
            </a:r>
            <a:r>
              <a:rPr dirty="0" spc="-10"/>
              <a:t>Pacino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8549" y="1036400"/>
            <a:ext cx="2226225" cy="334824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7975" y="1036400"/>
            <a:ext cx="2226232" cy="334824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Have</a:t>
            </a:r>
            <a:r>
              <a:rPr dirty="0" spc="-135">
                <a:solidFill>
                  <a:srgbClr val="FFFFFF"/>
                </a:solidFill>
              </a:rPr>
              <a:t> </a:t>
            </a:r>
            <a:r>
              <a:rPr dirty="0" spc="70">
                <a:solidFill>
                  <a:srgbClr val="FFFFFF"/>
                </a:solidFill>
              </a:rPr>
              <a:t>a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 spc="-25">
                <a:solidFill>
                  <a:srgbClr val="FFFFFF"/>
                </a:solidFill>
              </a:rPr>
              <a:t>go!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3050" y="1131320"/>
            <a:ext cx="2127885" cy="58674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75">
                <a:solidFill>
                  <a:srgbClr val="FFFFFF"/>
                </a:solidFill>
                <a:latin typeface="Trebuchet MS"/>
                <a:cs typeface="Trebuchet MS"/>
              </a:rPr>
              <a:t>Use</a:t>
            </a:r>
            <a:r>
              <a:rPr dirty="0" sz="1600" spc="-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600" spc="-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Consolas"/>
                <a:cs typeface="Consolas"/>
              </a:rPr>
              <a:t>shortestPath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function</a:t>
            </a:r>
            <a:r>
              <a:rPr dirty="0" sz="16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16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find: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6916" y="1972568"/>
            <a:ext cx="196215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65760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1.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The</a:t>
            </a:r>
            <a:r>
              <a:rPr dirty="0" sz="16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connection</a:t>
            </a:r>
            <a:endParaRPr sz="1600">
              <a:latin typeface="Trebuchet MS"/>
              <a:cs typeface="Trebuchet MS"/>
            </a:endParaRPr>
          </a:p>
          <a:p>
            <a:pPr marL="365760" marR="5080">
              <a:lnSpc>
                <a:spcPct val="114999"/>
              </a:lnSpc>
            </a:pP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16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9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6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Movie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nodes.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9435" y="3374648"/>
            <a:ext cx="2148205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marR="5080" indent="-391160">
              <a:lnSpc>
                <a:spcPct val="114999"/>
              </a:lnSpc>
              <a:spcBef>
                <a:spcPts val="100"/>
              </a:spcBef>
              <a:tabLst>
                <a:tab pos="403225" algn="l"/>
              </a:tabLst>
            </a:pPr>
            <a:r>
              <a:rPr dirty="0" sz="1600" spc="-25">
                <a:solidFill>
                  <a:srgbClr val="FFFFFF"/>
                </a:solidFill>
                <a:latin typeface="Trebuchet MS"/>
                <a:cs typeface="Trebuchet MS"/>
              </a:rPr>
              <a:t>2.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	The</a:t>
            </a:r>
            <a:r>
              <a:rPr dirty="0" sz="1600" spc="-4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connection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00" spc="-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Trebuchet MS"/>
                <a:cs typeface="Trebuchet MS"/>
              </a:rPr>
              <a:t>random </a:t>
            </a:r>
            <a:r>
              <a:rPr dirty="0" sz="1600" spc="55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dirty="0" sz="16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600" spc="-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Trebuchet MS"/>
                <a:cs typeface="Trebuchet MS"/>
              </a:rPr>
              <a:t>Kevin </a:t>
            </a:r>
            <a:r>
              <a:rPr dirty="0" sz="1600" spc="50">
                <a:solidFill>
                  <a:srgbClr val="FFFFFF"/>
                </a:solidFill>
                <a:latin typeface="Trebuchet MS"/>
                <a:cs typeface="Trebuchet MS"/>
              </a:rPr>
              <a:t>Bacon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839800" y="1972568"/>
            <a:ext cx="5157470" cy="114744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(m1:Movie</a:t>
            </a:r>
            <a:r>
              <a:rPr dirty="0" sz="16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{title:"??????"})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(m2:Movie</a:t>
            </a:r>
            <a:r>
              <a:rPr dirty="0" sz="1600" spc="-3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{title:"??????"})</a:t>
            </a:r>
            <a:endParaRPr sz="1600">
              <a:latin typeface="Consolas"/>
              <a:cs typeface="Consolas"/>
            </a:endParaRPr>
          </a:p>
          <a:p>
            <a:pPr marL="12700" marR="5080">
              <a:lnSpc>
                <a:spcPct val="114999"/>
              </a:lnSpc>
            </a:pP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r>
              <a:rPr dirty="0" sz="1600" spc="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dirty="0" sz="1600" spc="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shortestPath((m1)-[:ACTED_IN*]-(m2))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39800" y="3374648"/>
            <a:ext cx="4376420" cy="1147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(p:Person</a:t>
            </a:r>
            <a:r>
              <a:rPr dirty="0" sz="16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{title:"Kevin</a:t>
            </a:r>
            <a:r>
              <a:rPr dirty="0" sz="16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Bacon"})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</a:t>
            </a:r>
            <a:r>
              <a:rPr dirty="0" sz="1600" spc="-4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(?:User</a:t>
            </a:r>
            <a:r>
              <a:rPr dirty="0" sz="16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{name:"Angela</a:t>
            </a:r>
            <a:r>
              <a:rPr dirty="0" sz="1600" spc="-4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Thompson"})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MATCH p</a:t>
            </a:r>
            <a:r>
              <a:rPr dirty="0" sz="1600" spc="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=</a:t>
            </a:r>
            <a:r>
              <a:rPr dirty="0" sz="1600" spc="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onsolas"/>
                <a:cs typeface="Consolas"/>
              </a:rPr>
              <a:t>?????((?)-[*]-</a:t>
            </a:r>
            <a:r>
              <a:rPr dirty="0" sz="1600" spc="-20">
                <a:solidFill>
                  <a:srgbClr val="FFFFFF"/>
                </a:solidFill>
                <a:latin typeface="Consolas"/>
                <a:cs typeface="Consolas"/>
              </a:rPr>
              <a:t>(?))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>
                <a:solidFill>
                  <a:srgbClr val="FFFFFF"/>
                </a:solidFill>
                <a:latin typeface="Consolas"/>
                <a:cs typeface="Consolas"/>
              </a:rPr>
              <a:t>RETURN</a:t>
            </a:r>
            <a:r>
              <a:rPr dirty="0" sz="1600" spc="-3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Consolas"/>
                <a:cs typeface="Consolas"/>
              </a:rPr>
              <a:t>p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1EA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96501" y="0"/>
            <a:ext cx="2784475" cy="2097405"/>
          </a:xfrm>
          <a:custGeom>
            <a:avLst/>
            <a:gdLst/>
            <a:ahLst/>
            <a:cxnLst/>
            <a:rect l="l" t="t" r="r" b="b"/>
            <a:pathLst>
              <a:path w="2784475" h="2097405">
                <a:moveTo>
                  <a:pt x="509784" y="2097053"/>
                </a:moveTo>
                <a:lnTo>
                  <a:pt x="454291" y="2094152"/>
                </a:lnTo>
                <a:lnTo>
                  <a:pt x="400720" y="2085631"/>
                </a:lnTo>
                <a:lnTo>
                  <a:pt x="349335" y="2071766"/>
                </a:lnTo>
                <a:lnTo>
                  <a:pt x="300400" y="2052830"/>
                </a:lnTo>
                <a:lnTo>
                  <a:pt x="254177" y="2029099"/>
                </a:lnTo>
                <a:lnTo>
                  <a:pt x="207524" y="1998459"/>
                </a:lnTo>
                <a:lnTo>
                  <a:pt x="165485" y="1964007"/>
                </a:lnTo>
                <a:lnTo>
                  <a:pt x="128149" y="1926111"/>
                </a:lnTo>
                <a:lnTo>
                  <a:pt x="95608" y="1885136"/>
                </a:lnTo>
                <a:lnTo>
                  <a:pt x="67955" y="1841448"/>
                </a:lnTo>
                <a:lnTo>
                  <a:pt x="43125" y="1792468"/>
                </a:lnTo>
                <a:lnTo>
                  <a:pt x="24051" y="1742022"/>
                </a:lnTo>
                <a:lnTo>
                  <a:pt x="10598" y="1690649"/>
                </a:lnTo>
                <a:lnTo>
                  <a:pt x="2626" y="1638887"/>
                </a:lnTo>
                <a:lnTo>
                  <a:pt x="0" y="1587274"/>
                </a:lnTo>
                <a:lnTo>
                  <a:pt x="2764" y="1531804"/>
                </a:lnTo>
                <a:lnTo>
                  <a:pt x="11010" y="1478280"/>
                </a:lnTo>
                <a:lnTo>
                  <a:pt x="24669" y="1426930"/>
                </a:lnTo>
                <a:lnTo>
                  <a:pt x="43674" y="1377983"/>
                </a:lnTo>
                <a:lnTo>
                  <a:pt x="67955" y="1331669"/>
                </a:lnTo>
                <a:lnTo>
                  <a:pt x="98355" y="1285040"/>
                </a:lnTo>
                <a:lnTo>
                  <a:pt x="132441" y="1243047"/>
                </a:lnTo>
                <a:lnTo>
                  <a:pt x="169948" y="1205746"/>
                </a:lnTo>
                <a:lnTo>
                  <a:pt x="210615" y="1173194"/>
                </a:lnTo>
                <a:lnTo>
                  <a:pt x="254177" y="1145449"/>
                </a:lnTo>
                <a:lnTo>
                  <a:pt x="291537" y="1126363"/>
                </a:lnTo>
                <a:lnTo>
                  <a:pt x="330060" y="1110071"/>
                </a:lnTo>
                <a:lnTo>
                  <a:pt x="369388" y="1096864"/>
                </a:lnTo>
                <a:lnTo>
                  <a:pt x="409163" y="1087032"/>
                </a:lnTo>
                <a:lnTo>
                  <a:pt x="460821" y="1075467"/>
                </a:lnTo>
                <a:lnTo>
                  <a:pt x="510080" y="1061821"/>
                </a:lnTo>
                <a:lnTo>
                  <a:pt x="556915" y="1046137"/>
                </a:lnTo>
                <a:lnTo>
                  <a:pt x="601302" y="1028458"/>
                </a:lnTo>
                <a:lnTo>
                  <a:pt x="643219" y="1008827"/>
                </a:lnTo>
                <a:lnTo>
                  <a:pt x="682640" y="987288"/>
                </a:lnTo>
                <a:lnTo>
                  <a:pt x="719543" y="963884"/>
                </a:lnTo>
                <a:lnTo>
                  <a:pt x="753905" y="938658"/>
                </a:lnTo>
                <a:lnTo>
                  <a:pt x="785701" y="911654"/>
                </a:lnTo>
                <a:lnTo>
                  <a:pt x="814908" y="882915"/>
                </a:lnTo>
                <a:lnTo>
                  <a:pt x="841502" y="852484"/>
                </a:lnTo>
                <a:lnTo>
                  <a:pt x="865460" y="820405"/>
                </a:lnTo>
                <a:lnTo>
                  <a:pt x="886758" y="786720"/>
                </a:lnTo>
                <a:lnTo>
                  <a:pt x="905372" y="751474"/>
                </a:lnTo>
                <a:lnTo>
                  <a:pt x="921280" y="714709"/>
                </a:lnTo>
                <a:lnTo>
                  <a:pt x="934456" y="676469"/>
                </a:lnTo>
                <a:lnTo>
                  <a:pt x="944879" y="636797"/>
                </a:lnTo>
                <a:lnTo>
                  <a:pt x="952523" y="595737"/>
                </a:lnTo>
                <a:lnTo>
                  <a:pt x="957366" y="553331"/>
                </a:lnTo>
                <a:lnTo>
                  <a:pt x="959384" y="509623"/>
                </a:lnTo>
                <a:lnTo>
                  <a:pt x="958553" y="464656"/>
                </a:lnTo>
                <a:lnTo>
                  <a:pt x="954849" y="418474"/>
                </a:lnTo>
                <a:lnTo>
                  <a:pt x="948250" y="371120"/>
                </a:lnTo>
                <a:lnTo>
                  <a:pt x="938731" y="322637"/>
                </a:lnTo>
                <a:lnTo>
                  <a:pt x="926269" y="273069"/>
                </a:lnTo>
                <a:lnTo>
                  <a:pt x="910840" y="222458"/>
                </a:lnTo>
                <a:lnTo>
                  <a:pt x="898509" y="181640"/>
                </a:lnTo>
                <a:lnTo>
                  <a:pt x="889977" y="140555"/>
                </a:lnTo>
                <a:lnTo>
                  <a:pt x="885022" y="98932"/>
                </a:lnTo>
                <a:lnTo>
                  <a:pt x="883420" y="56505"/>
                </a:lnTo>
                <a:lnTo>
                  <a:pt x="886186" y="1825"/>
                </a:lnTo>
                <a:lnTo>
                  <a:pt x="886470" y="0"/>
                </a:lnTo>
                <a:lnTo>
                  <a:pt x="1899446" y="0"/>
                </a:lnTo>
                <a:lnTo>
                  <a:pt x="1900225" y="4892"/>
                </a:lnTo>
                <a:lnTo>
                  <a:pt x="1902989" y="56505"/>
                </a:lnTo>
                <a:lnTo>
                  <a:pt x="1900111" y="111975"/>
                </a:lnTo>
                <a:lnTo>
                  <a:pt x="1891636" y="165500"/>
                </a:lnTo>
                <a:lnTo>
                  <a:pt x="1877804" y="216850"/>
                </a:lnTo>
                <a:lnTo>
                  <a:pt x="1858857" y="265796"/>
                </a:lnTo>
                <a:lnTo>
                  <a:pt x="1835034" y="312110"/>
                </a:lnTo>
                <a:lnTo>
                  <a:pt x="1804487" y="358739"/>
                </a:lnTo>
                <a:lnTo>
                  <a:pt x="1770060" y="400733"/>
                </a:lnTo>
                <a:lnTo>
                  <a:pt x="1732165" y="438034"/>
                </a:lnTo>
                <a:lnTo>
                  <a:pt x="1691214" y="470585"/>
                </a:lnTo>
                <a:lnTo>
                  <a:pt x="1647620" y="498330"/>
                </a:lnTo>
                <a:lnTo>
                  <a:pt x="1609190" y="519015"/>
                </a:lnTo>
                <a:lnTo>
                  <a:pt x="1569620" y="535944"/>
                </a:lnTo>
                <a:lnTo>
                  <a:pt x="1529290" y="549028"/>
                </a:lnTo>
                <a:lnTo>
                  <a:pt x="1488580" y="558178"/>
                </a:lnTo>
                <a:lnTo>
                  <a:pt x="1432629" y="571361"/>
                </a:lnTo>
                <a:lnTo>
                  <a:pt x="1379517" y="586914"/>
                </a:lnTo>
                <a:lnTo>
                  <a:pt x="1329276" y="604788"/>
                </a:lnTo>
                <a:lnTo>
                  <a:pt x="1281942" y="624933"/>
                </a:lnTo>
                <a:lnTo>
                  <a:pt x="1237548" y="647299"/>
                </a:lnTo>
                <a:lnTo>
                  <a:pt x="1196126" y="671837"/>
                </a:lnTo>
                <a:lnTo>
                  <a:pt x="1157711" y="698497"/>
                </a:lnTo>
                <a:lnTo>
                  <a:pt x="1122337" y="727230"/>
                </a:lnTo>
                <a:lnTo>
                  <a:pt x="1090035" y="757986"/>
                </a:lnTo>
                <a:lnTo>
                  <a:pt x="1060841" y="790715"/>
                </a:lnTo>
                <a:lnTo>
                  <a:pt x="1034788" y="825368"/>
                </a:lnTo>
                <a:lnTo>
                  <a:pt x="1011909" y="861895"/>
                </a:lnTo>
                <a:lnTo>
                  <a:pt x="992238" y="900247"/>
                </a:lnTo>
                <a:lnTo>
                  <a:pt x="975808" y="940374"/>
                </a:lnTo>
                <a:lnTo>
                  <a:pt x="962653" y="982226"/>
                </a:lnTo>
                <a:lnTo>
                  <a:pt x="952806" y="1025754"/>
                </a:lnTo>
                <a:lnTo>
                  <a:pt x="946425" y="1074918"/>
                </a:lnTo>
                <a:lnTo>
                  <a:pt x="946069" y="1123525"/>
                </a:lnTo>
                <a:lnTo>
                  <a:pt x="951483" y="1171137"/>
                </a:lnTo>
                <a:lnTo>
                  <a:pt x="962414" y="1217316"/>
                </a:lnTo>
                <a:lnTo>
                  <a:pt x="978607" y="1261624"/>
                </a:lnTo>
                <a:lnTo>
                  <a:pt x="999808" y="1303623"/>
                </a:lnTo>
                <a:lnTo>
                  <a:pt x="1025763" y="1342875"/>
                </a:lnTo>
                <a:lnTo>
                  <a:pt x="1056218" y="1378942"/>
                </a:lnTo>
                <a:lnTo>
                  <a:pt x="1090918" y="1411385"/>
                </a:lnTo>
                <a:lnTo>
                  <a:pt x="1129610" y="1439769"/>
                </a:lnTo>
                <a:lnTo>
                  <a:pt x="1172039" y="1463653"/>
                </a:lnTo>
                <a:lnTo>
                  <a:pt x="1217951" y="1482600"/>
                </a:lnTo>
                <a:lnTo>
                  <a:pt x="1261671" y="1496057"/>
                </a:lnTo>
                <a:lnTo>
                  <a:pt x="1305548" y="1505669"/>
                </a:lnTo>
                <a:lnTo>
                  <a:pt x="1349559" y="1511436"/>
                </a:lnTo>
                <a:lnTo>
                  <a:pt x="1393681" y="1513358"/>
                </a:lnTo>
                <a:lnTo>
                  <a:pt x="1436472" y="1511550"/>
                </a:lnTo>
                <a:lnTo>
                  <a:pt x="1479205" y="1506119"/>
                </a:lnTo>
                <a:lnTo>
                  <a:pt x="1521824" y="1497063"/>
                </a:lnTo>
                <a:lnTo>
                  <a:pt x="1564272" y="1484375"/>
                </a:lnTo>
                <a:lnTo>
                  <a:pt x="1606491" y="1468051"/>
                </a:lnTo>
                <a:lnTo>
                  <a:pt x="1648425" y="1448086"/>
                </a:lnTo>
                <a:lnTo>
                  <a:pt x="1690015" y="1424475"/>
                </a:lnTo>
                <a:lnTo>
                  <a:pt x="1731206" y="1397213"/>
                </a:lnTo>
                <a:lnTo>
                  <a:pt x="1771940" y="1366295"/>
                </a:lnTo>
                <a:lnTo>
                  <a:pt x="1812160" y="1331715"/>
                </a:lnTo>
                <a:lnTo>
                  <a:pt x="1851809" y="1293470"/>
                </a:lnTo>
                <a:lnTo>
                  <a:pt x="1890829" y="1251554"/>
                </a:lnTo>
                <a:lnTo>
                  <a:pt x="1919807" y="1221217"/>
                </a:lnTo>
                <a:lnTo>
                  <a:pt x="1951333" y="1193584"/>
                </a:lnTo>
                <a:lnTo>
                  <a:pt x="1984916" y="1168768"/>
                </a:lnTo>
                <a:lnTo>
                  <a:pt x="2020063" y="1146880"/>
                </a:lnTo>
                <a:lnTo>
                  <a:pt x="2069045" y="1122050"/>
                </a:lnTo>
                <a:lnTo>
                  <a:pt x="2119491" y="1102977"/>
                </a:lnTo>
                <a:lnTo>
                  <a:pt x="2170864" y="1089523"/>
                </a:lnTo>
                <a:lnTo>
                  <a:pt x="2222627" y="1081552"/>
                </a:lnTo>
                <a:lnTo>
                  <a:pt x="2274240" y="1078925"/>
                </a:lnTo>
                <a:lnTo>
                  <a:pt x="2329619" y="1081689"/>
                </a:lnTo>
                <a:lnTo>
                  <a:pt x="2383133" y="1089935"/>
                </a:lnTo>
                <a:lnTo>
                  <a:pt x="2434518" y="1103595"/>
                </a:lnTo>
                <a:lnTo>
                  <a:pt x="2483510" y="1122599"/>
                </a:lnTo>
                <a:lnTo>
                  <a:pt x="2529848" y="1146880"/>
                </a:lnTo>
                <a:lnTo>
                  <a:pt x="2576477" y="1177280"/>
                </a:lnTo>
                <a:lnTo>
                  <a:pt x="2618471" y="1211365"/>
                </a:lnTo>
                <a:lnTo>
                  <a:pt x="2655773" y="1248872"/>
                </a:lnTo>
                <a:lnTo>
                  <a:pt x="2688325" y="1289538"/>
                </a:lnTo>
                <a:lnTo>
                  <a:pt x="2716069" y="1333100"/>
                </a:lnTo>
                <a:lnTo>
                  <a:pt x="2742159" y="1382069"/>
                </a:lnTo>
                <a:lnTo>
                  <a:pt x="2761861" y="1432435"/>
                </a:lnTo>
                <a:lnTo>
                  <a:pt x="2775315" y="1483590"/>
                </a:lnTo>
                <a:lnTo>
                  <a:pt x="2782657" y="1534929"/>
                </a:lnTo>
                <a:lnTo>
                  <a:pt x="2784025" y="1585843"/>
                </a:lnTo>
                <a:lnTo>
                  <a:pt x="2781261" y="1641314"/>
                </a:lnTo>
                <a:lnTo>
                  <a:pt x="2773015" y="1694838"/>
                </a:lnTo>
                <a:lnTo>
                  <a:pt x="2759355" y="1746188"/>
                </a:lnTo>
                <a:lnTo>
                  <a:pt x="2740350" y="1795134"/>
                </a:lnTo>
                <a:lnTo>
                  <a:pt x="2716069" y="1841448"/>
                </a:lnTo>
                <a:lnTo>
                  <a:pt x="2685555" y="1888077"/>
                </a:lnTo>
                <a:lnTo>
                  <a:pt x="2651412" y="1930071"/>
                </a:lnTo>
                <a:lnTo>
                  <a:pt x="2613905" y="1967372"/>
                </a:lnTo>
                <a:lnTo>
                  <a:pt x="2573295" y="1999924"/>
                </a:lnTo>
                <a:lnTo>
                  <a:pt x="2529848" y="2027668"/>
                </a:lnTo>
                <a:lnTo>
                  <a:pt x="2480764" y="2052498"/>
                </a:lnTo>
                <a:lnTo>
                  <a:pt x="2430226" y="2071571"/>
                </a:lnTo>
                <a:lnTo>
                  <a:pt x="2378669" y="2085025"/>
                </a:lnTo>
                <a:lnTo>
                  <a:pt x="2326529" y="2092996"/>
                </a:lnTo>
                <a:lnTo>
                  <a:pt x="2274240" y="2095623"/>
                </a:lnTo>
                <a:lnTo>
                  <a:pt x="2219445" y="2092859"/>
                </a:lnTo>
                <a:lnTo>
                  <a:pt x="2166298" y="2084613"/>
                </a:lnTo>
                <a:lnTo>
                  <a:pt x="2115130" y="2070953"/>
                </a:lnTo>
                <a:lnTo>
                  <a:pt x="2066275" y="2051949"/>
                </a:lnTo>
                <a:lnTo>
                  <a:pt x="2020063" y="2027668"/>
                </a:lnTo>
                <a:lnTo>
                  <a:pt x="1982814" y="2004953"/>
                </a:lnTo>
                <a:lnTo>
                  <a:pt x="1948650" y="1979712"/>
                </a:lnTo>
                <a:lnTo>
                  <a:pt x="1917526" y="1951923"/>
                </a:lnTo>
                <a:lnTo>
                  <a:pt x="1889398" y="1921563"/>
                </a:lnTo>
                <a:lnTo>
                  <a:pt x="1850359" y="1879748"/>
                </a:lnTo>
                <a:lnTo>
                  <a:pt x="1810655" y="1841568"/>
                </a:lnTo>
                <a:lnTo>
                  <a:pt x="1770349" y="1807024"/>
                </a:lnTo>
                <a:lnTo>
                  <a:pt x="1729502" y="1776117"/>
                </a:lnTo>
                <a:lnTo>
                  <a:pt x="1688174" y="1748845"/>
                </a:lnTo>
                <a:lnTo>
                  <a:pt x="1646428" y="1725210"/>
                </a:lnTo>
                <a:lnTo>
                  <a:pt x="1604323" y="1705211"/>
                </a:lnTo>
                <a:lnTo>
                  <a:pt x="1561923" y="1688848"/>
                </a:lnTo>
                <a:lnTo>
                  <a:pt x="1519287" y="1676122"/>
                </a:lnTo>
                <a:lnTo>
                  <a:pt x="1476477" y="1667031"/>
                </a:lnTo>
                <a:lnTo>
                  <a:pt x="1433555" y="1661577"/>
                </a:lnTo>
                <a:lnTo>
                  <a:pt x="1390582" y="1659759"/>
                </a:lnTo>
                <a:lnTo>
                  <a:pt x="1347499" y="1661587"/>
                </a:lnTo>
                <a:lnTo>
                  <a:pt x="1304487" y="1667071"/>
                </a:lnTo>
                <a:lnTo>
                  <a:pt x="1261608" y="1676211"/>
                </a:lnTo>
                <a:lnTo>
                  <a:pt x="1218922" y="1689007"/>
                </a:lnTo>
                <a:lnTo>
                  <a:pt x="1176492" y="1705460"/>
                </a:lnTo>
                <a:lnTo>
                  <a:pt x="1134378" y="1725568"/>
                </a:lnTo>
                <a:lnTo>
                  <a:pt x="1092641" y="1749332"/>
                </a:lnTo>
                <a:lnTo>
                  <a:pt x="1051343" y="1776752"/>
                </a:lnTo>
                <a:lnTo>
                  <a:pt x="1010546" y="1807829"/>
                </a:lnTo>
                <a:lnTo>
                  <a:pt x="970309" y="1842561"/>
                </a:lnTo>
                <a:lnTo>
                  <a:pt x="930695" y="1880950"/>
                </a:lnTo>
                <a:lnTo>
                  <a:pt x="891765" y="1922994"/>
                </a:lnTo>
                <a:lnTo>
                  <a:pt x="862374" y="1953555"/>
                </a:lnTo>
                <a:lnTo>
                  <a:pt x="831350" y="1981679"/>
                </a:lnTo>
                <a:lnTo>
                  <a:pt x="798584" y="2006987"/>
                </a:lnTo>
                <a:lnTo>
                  <a:pt x="763961" y="2029099"/>
                </a:lnTo>
                <a:lnTo>
                  <a:pt x="714888" y="2053379"/>
                </a:lnTo>
                <a:lnTo>
                  <a:pt x="664431" y="2072384"/>
                </a:lnTo>
                <a:lnTo>
                  <a:pt x="613092" y="2086043"/>
                </a:lnTo>
                <a:lnTo>
                  <a:pt x="561375" y="2094290"/>
                </a:lnTo>
                <a:lnTo>
                  <a:pt x="509784" y="2097053"/>
                </a:lnTo>
                <a:close/>
              </a:path>
            </a:pathLst>
          </a:custGeom>
          <a:solidFill>
            <a:srgbClr val="4C99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880352" y="1079337"/>
            <a:ext cx="2263775" cy="4064635"/>
          </a:xfrm>
          <a:custGeom>
            <a:avLst/>
            <a:gdLst/>
            <a:ahLst/>
            <a:cxnLst/>
            <a:rect l="l" t="t" r="r" b="b"/>
            <a:pathLst>
              <a:path w="2263775" h="4064635">
                <a:moveTo>
                  <a:pt x="2263647" y="4064162"/>
                </a:moveTo>
                <a:lnTo>
                  <a:pt x="2043180" y="4064162"/>
                </a:lnTo>
                <a:lnTo>
                  <a:pt x="2007955" y="4039948"/>
                </a:lnTo>
                <a:lnTo>
                  <a:pt x="1966450" y="4006245"/>
                </a:lnTo>
                <a:lnTo>
                  <a:pt x="1928123" y="3968819"/>
                </a:lnTo>
                <a:lnTo>
                  <a:pt x="1893571" y="3927342"/>
                </a:lnTo>
                <a:lnTo>
                  <a:pt x="1863386" y="3881486"/>
                </a:lnTo>
                <a:lnTo>
                  <a:pt x="1838135" y="3832654"/>
                </a:lnTo>
                <a:lnTo>
                  <a:pt x="1818333" y="3782645"/>
                </a:lnTo>
                <a:lnTo>
                  <a:pt x="1804241" y="3731275"/>
                </a:lnTo>
                <a:lnTo>
                  <a:pt x="1796123" y="3678361"/>
                </a:lnTo>
                <a:lnTo>
                  <a:pt x="1794239" y="3623719"/>
                </a:lnTo>
                <a:lnTo>
                  <a:pt x="1796914" y="3580609"/>
                </a:lnTo>
                <a:lnTo>
                  <a:pt x="1801483" y="3537531"/>
                </a:lnTo>
                <a:lnTo>
                  <a:pt x="1808713" y="3495166"/>
                </a:lnTo>
                <a:lnTo>
                  <a:pt x="1819374" y="3454195"/>
                </a:lnTo>
                <a:lnTo>
                  <a:pt x="1836732" y="3398635"/>
                </a:lnTo>
                <a:lnTo>
                  <a:pt x="1850492" y="3344301"/>
                </a:lnTo>
                <a:lnTo>
                  <a:pt x="1860689" y="3291249"/>
                </a:lnTo>
                <a:lnTo>
                  <a:pt x="1867359" y="3239540"/>
                </a:lnTo>
                <a:lnTo>
                  <a:pt x="1870536" y="3189232"/>
                </a:lnTo>
                <a:lnTo>
                  <a:pt x="1870255" y="3140382"/>
                </a:lnTo>
                <a:lnTo>
                  <a:pt x="1866552" y="3093050"/>
                </a:lnTo>
                <a:lnTo>
                  <a:pt x="1859461" y="3047295"/>
                </a:lnTo>
                <a:lnTo>
                  <a:pt x="1849017" y="3003174"/>
                </a:lnTo>
                <a:lnTo>
                  <a:pt x="1835256" y="2960747"/>
                </a:lnTo>
                <a:lnTo>
                  <a:pt x="1818211" y="2920071"/>
                </a:lnTo>
                <a:lnTo>
                  <a:pt x="1797869" y="2881127"/>
                </a:lnTo>
                <a:lnTo>
                  <a:pt x="1774410" y="2844204"/>
                </a:lnTo>
                <a:lnTo>
                  <a:pt x="1747637" y="2809032"/>
                </a:lnTo>
                <a:lnTo>
                  <a:pt x="1717862" y="2776004"/>
                </a:lnTo>
                <a:lnTo>
                  <a:pt x="1684887" y="2744919"/>
                </a:lnTo>
                <a:lnTo>
                  <a:pt x="1648819" y="2715920"/>
                </a:lnTo>
                <a:lnTo>
                  <a:pt x="1609690" y="2689065"/>
                </a:lnTo>
                <a:lnTo>
                  <a:pt x="1567533" y="2664409"/>
                </a:lnTo>
                <a:lnTo>
                  <a:pt x="1522379" y="2642011"/>
                </a:lnTo>
                <a:lnTo>
                  <a:pt x="1474260" y="2621926"/>
                </a:lnTo>
                <a:lnTo>
                  <a:pt x="1423207" y="2604213"/>
                </a:lnTo>
                <a:lnTo>
                  <a:pt x="1369252" y="2588927"/>
                </a:lnTo>
                <a:lnTo>
                  <a:pt x="1312426" y="2576126"/>
                </a:lnTo>
                <a:lnTo>
                  <a:pt x="1271392" y="2565569"/>
                </a:lnTo>
                <a:lnTo>
                  <a:pt x="1230478" y="2551974"/>
                </a:lnTo>
                <a:lnTo>
                  <a:pt x="1189980" y="2535202"/>
                </a:lnTo>
                <a:lnTo>
                  <a:pt x="1150191" y="2515113"/>
                </a:lnTo>
                <a:lnTo>
                  <a:pt x="1105808" y="2486896"/>
                </a:lnTo>
                <a:lnTo>
                  <a:pt x="1064636" y="2453960"/>
                </a:lnTo>
                <a:lnTo>
                  <a:pt x="1026816" y="2416242"/>
                </a:lnTo>
                <a:lnTo>
                  <a:pt x="992486" y="2373676"/>
                </a:lnTo>
                <a:lnTo>
                  <a:pt x="961785" y="2326199"/>
                </a:lnTo>
                <a:lnTo>
                  <a:pt x="937325" y="2278799"/>
                </a:lnTo>
                <a:lnTo>
                  <a:pt x="917849" y="2229498"/>
                </a:lnTo>
                <a:lnTo>
                  <a:pt x="903662" y="2178134"/>
                </a:lnTo>
                <a:lnTo>
                  <a:pt x="895073" y="2124548"/>
                </a:lnTo>
                <a:lnTo>
                  <a:pt x="892387" y="2068577"/>
                </a:lnTo>
                <a:lnTo>
                  <a:pt x="893559" y="2028709"/>
                </a:lnTo>
                <a:lnTo>
                  <a:pt x="899113" y="1986688"/>
                </a:lnTo>
                <a:lnTo>
                  <a:pt x="908454" y="1944730"/>
                </a:lnTo>
                <a:lnTo>
                  <a:pt x="920987" y="1905054"/>
                </a:lnTo>
                <a:lnTo>
                  <a:pt x="938337" y="1849338"/>
                </a:lnTo>
                <a:lnTo>
                  <a:pt x="952095" y="1794857"/>
                </a:lnTo>
                <a:lnTo>
                  <a:pt x="962293" y="1741669"/>
                </a:lnTo>
                <a:lnTo>
                  <a:pt x="968966" y="1689833"/>
                </a:lnTo>
                <a:lnTo>
                  <a:pt x="972147" y="1639407"/>
                </a:lnTo>
                <a:lnTo>
                  <a:pt x="971982" y="1610325"/>
                </a:lnTo>
                <a:lnTo>
                  <a:pt x="971869" y="1590448"/>
                </a:lnTo>
                <a:lnTo>
                  <a:pt x="968166" y="1543015"/>
                </a:lnTo>
                <a:lnTo>
                  <a:pt x="961072" y="1497166"/>
                </a:lnTo>
                <a:lnTo>
                  <a:pt x="950673" y="1453185"/>
                </a:lnTo>
                <a:lnTo>
                  <a:pt x="936844" y="1410454"/>
                </a:lnTo>
                <a:lnTo>
                  <a:pt x="919778" y="1369706"/>
                </a:lnTo>
                <a:lnTo>
                  <a:pt x="899454" y="1330775"/>
                </a:lnTo>
                <a:lnTo>
                  <a:pt x="875992" y="1293830"/>
                </a:lnTo>
                <a:lnTo>
                  <a:pt x="849368" y="1258787"/>
                </a:lnTo>
                <a:lnTo>
                  <a:pt x="819617" y="1225701"/>
                </a:lnTo>
                <a:lnTo>
                  <a:pt x="786775" y="1194630"/>
                </a:lnTo>
                <a:lnTo>
                  <a:pt x="750877" y="1165628"/>
                </a:lnTo>
                <a:lnTo>
                  <a:pt x="711960" y="1138752"/>
                </a:lnTo>
                <a:lnTo>
                  <a:pt x="670058" y="1114057"/>
                </a:lnTo>
                <a:lnTo>
                  <a:pt x="625208" y="1091598"/>
                </a:lnTo>
                <a:lnTo>
                  <a:pt x="577446" y="1071433"/>
                </a:lnTo>
                <a:lnTo>
                  <a:pt x="526806" y="1053616"/>
                </a:lnTo>
                <a:lnTo>
                  <a:pt x="473326" y="1038204"/>
                </a:lnTo>
                <a:lnTo>
                  <a:pt x="417039" y="1025251"/>
                </a:lnTo>
                <a:lnTo>
                  <a:pt x="376049" y="1014664"/>
                </a:lnTo>
                <a:lnTo>
                  <a:pt x="335447" y="1000852"/>
                </a:lnTo>
                <a:lnTo>
                  <a:pt x="295797" y="983491"/>
                </a:lnTo>
                <a:lnTo>
                  <a:pt x="257660" y="962256"/>
                </a:lnTo>
                <a:lnTo>
                  <a:pt x="214473" y="933511"/>
                </a:lnTo>
                <a:lnTo>
                  <a:pt x="173426" y="900602"/>
                </a:lnTo>
                <a:lnTo>
                  <a:pt x="135122" y="863214"/>
                </a:lnTo>
                <a:lnTo>
                  <a:pt x="100162" y="821031"/>
                </a:lnTo>
                <a:lnTo>
                  <a:pt x="69147" y="773737"/>
                </a:lnTo>
                <a:lnTo>
                  <a:pt x="44714" y="726322"/>
                </a:lnTo>
                <a:lnTo>
                  <a:pt x="25299" y="676985"/>
                </a:lnTo>
                <a:lnTo>
                  <a:pt x="11187" y="625579"/>
                </a:lnTo>
                <a:lnTo>
                  <a:pt x="2659" y="571957"/>
                </a:lnTo>
                <a:lnTo>
                  <a:pt x="0" y="515971"/>
                </a:lnTo>
                <a:lnTo>
                  <a:pt x="2913" y="463244"/>
                </a:lnTo>
                <a:lnTo>
                  <a:pt x="10950" y="410996"/>
                </a:lnTo>
                <a:lnTo>
                  <a:pt x="24455" y="359113"/>
                </a:lnTo>
                <a:lnTo>
                  <a:pt x="43697" y="307966"/>
                </a:lnTo>
                <a:lnTo>
                  <a:pt x="69009" y="257738"/>
                </a:lnTo>
                <a:lnTo>
                  <a:pt x="97847" y="214573"/>
                </a:lnTo>
                <a:lnTo>
                  <a:pt x="130866" y="173545"/>
                </a:lnTo>
                <a:lnTo>
                  <a:pt x="168335" y="135293"/>
                </a:lnTo>
                <a:lnTo>
                  <a:pt x="210568" y="100387"/>
                </a:lnTo>
                <a:lnTo>
                  <a:pt x="258231" y="69215"/>
                </a:lnTo>
                <a:lnTo>
                  <a:pt x="305279" y="44938"/>
                </a:lnTo>
                <a:lnTo>
                  <a:pt x="354580" y="25461"/>
                </a:lnTo>
                <a:lnTo>
                  <a:pt x="405944" y="11275"/>
                </a:lnTo>
                <a:lnTo>
                  <a:pt x="459530" y="2685"/>
                </a:lnTo>
                <a:lnTo>
                  <a:pt x="515501" y="0"/>
                </a:lnTo>
                <a:lnTo>
                  <a:pt x="568084" y="2910"/>
                </a:lnTo>
                <a:lnTo>
                  <a:pt x="620413" y="11008"/>
                </a:lnTo>
                <a:lnTo>
                  <a:pt x="672282" y="24572"/>
                </a:lnTo>
                <a:lnTo>
                  <a:pt x="723484" y="43881"/>
                </a:lnTo>
                <a:lnTo>
                  <a:pt x="773811" y="69215"/>
                </a:lnTo>
                <a:lnTo>
                  <a:pt x="817805" y="99417"/>
                </a:lnTo>
                <a:lnTo>
                  <a:pt x="859214" y="133096"/>
                </a:lnTo>
                <a:lnTo>
                  <a:pt x="897466" y="170565"/>
                </a:lnTo>
                <a:lnTo>
                  <a:pt x="931991" y="212138"/>
                </a:lnTo>
                <a:lnTo>
                  <a:pt x="962218" y="258128"/>
                </a:lnTo>
                <a:lnTo>
                  <a:pt x="986608" y="305407"/>
                </a:lnTo>
                <a:lnTo>
                  <a:pt x="1006041" y="354634"/>
                </a:lnTo>
                <a:lnTo>
                  <a:pt x="1020206" y="405959"/>
                </a:lnTo>
                <a:lnTo>
                  <a:pt x="1028787" y="459532"/>
                </a:lnTo>
                <a:lnTo>
                  <a:pt x="1031471" y="515501"/>
                </a:lnTo>
                <a:lnTo>
                  <a:pt x="1028796" y="558611"/>
                </a:lnTo>
                <a:lnTo>
                  <a:pt x="1024228" y="601689"/>
                </a:lnTo>
                <a:lnTo>
                  <a:pt x="1016997" y="644054"/>
                </a:lnTo>
                <a:lnTo>
                  <a:pt x="1006336" y="685024"/>
                </a:lnTo>
                <a:lnTo>
                  <a:pt x="989309" y="740561"/>
                </a:lnTo>
                <a:lnTo>
                  <a:pt x="975781" y="794933"/>
                </a:lnTo>
                <a:lnTo>
                  <a:pt x="965733" y="848075"/>
                </a:lnTo>
                <a:lnTo>
                  <a:pt x="959148" y="899924"/>
                </a:lnTo>
                <a:lnTo>
                  <a:pt x="956005" y="950415"/>
                </a:lnTo>
                <a:lnTo>
                  <a:pt x="956073" y="962256"/>
                </a:lnTo>
                <a:lnTo>
                  <a:pt x="956195" y="983491"/>
                </a:lnTo>
                <a:lnTo>
                  <a:pt x="956286" y="999483"/>
                </a:lnTo>
                <a:lnTo>
                  <a:pt x="959974" y="1047064"/>
                </a:lnTo>
                <a:lnTo>
                  <a:pt x="967048" y="1093094"/>
                </a:lnTo>
                <a:lnTo>
                  <a:pt x="977491" y="1137507"/>
                </a:lnTo>
                <a:lnTo>
                  <a:pt x="991283" y="1180241"/>
                </a:lnTo>
                <a:lnTo>
                  <a:pt x="1008406" y="1221229"/>
                </a:lnTo>
                <a:lnTo>
                  <a:pt x="1028841" y="1260408"/>
                </a:lnTo>
                <a:lnTo>
                  <a:pt x="1052826" y="1298054"/>
                </a:lnTo>
                <a:lnTo>
                  <a:pt x="1080159" y="1333705"/>
                </a:lnTo>
                <a:lnTo>
                  <a:pt x="1110813" y="1367313"/>
                </a:lnTo>
                <a:lnTo>
                  <a:pt x="1144761" y="1398831"/>
                </a:lnTo>
                <a:lnTo>
                  <a:pt x="1181879" y="1427121"/>
                </a:lnTo>
                <a:lnTo>
                  <a:pt x="1221086" y="1450855"/>
                </a:lnTo>
                <a:lnTo>
                  <a:pt x="1262016" y="1469993"/>
                </a:lnTo>
                <a:lnTo>
                  <a:pt x="1304301" y="1484500"/>
                </a:lnTo>
                <a:lnTo>
                  <a:pt x="1347577" y="1494337"/>
                </a:lnTo>
                <a:lnTo>
                  <a:pt x="1391474" y="1499467"/>
                </a:lnTo>
                <a:lnTo>
                  <a:pt x="1861161" y="1499852"/>
                </a:lnTo>
                <a:lnTo>
                  <a:pt x="1856968" y="1522647"/>
                </a:lnTo>
                <a:lnTo>
                  <a:pt x="1852142" y="1565814"/>
                </a:lnTo>
                <a:lnTo>
                  <a:pt x="1850200" y="1610325"/>
                </a:lnTo>
                <a:lnTo>
                  <a:pt x="1851165" y="1656137"/>
                </a:lnTo>
                <a:lnTo>
                  <a:pt x="1855059" y="1703210"/>
                </a:lnTo>
                <a:lnTo>
                  <a:pt x="1861905" y="1751505"/>
                </a:lnTo>
                <a:lnTo>
                  <a:pt x="1871727" y="1800980"/>
                </a:lnTo>
                <a:lnTo>
                  <a:pt x="1884546" y="1851596"/>
                </a:lnTo>
                <a:lnTo>
                  <a:pt x="1900387" y="1903311"/>
                </a:lnTo>
                <a:lnTo>
                  <a:pt x="1913696" y="1944730"/>
                </a:lnTo>
                <a:lnTo>
                  <a:pt x="1923311" y="1986250"/>
                </a:lnTo>
                <a:lnTo>
                  <a:pt x="1928927" y="2028501"/>
                </a:lnTo>
                <a:lnTo>
                  <a:pt x="1930203" y="2068577"/>
                </a:lnTo>
                <a:lnTo>
                  <a:pt x="1930324" y="2072375"/>
                </a:lnTo>
                <a:lnTo>
                  <a:pt x="1927886" y="2112973"/>
                </a:lnTo>
                <a:lnTo>
                  <a:pt x="1922473" y="2154914"/>
                </a:lnTo>
                <a:lnTo>
                  <a:pt x="1913835" y="2196466"/>
                </a:lnTo>
                <a:lnTo>
                  <a:pt x="1901724" y="2235898"/>
                </a:lnTo>
                <a:lnTo>
                  <a:pt x="1884392" y="2291514"/>
                </a:lnTo>
                <a:lnTo>
                  <a:pt x="1870638" y="2345891"/>
                </a:lnTo>
                <a:lnTo>
                  <a:pt x="1860431" y="2398973"/>
                </a:lnTo>
                <a:lnTo>
                  <a:pt x="1853739" y="2450702"/>
                </a:lnTo>
                <a:lnTo>
                  <a:pt x="1850530" y="2501023"/>
                </a:lnTo>
                <a:lnTo>
                  <a:pt x="1850600" y="2515113"/>
                </a:lnTo>
                <a:lnTo>
                  <a:pt x="1850699" y="2535202"/>
                </a:lnTo>
                <a:lnTo>
                  <a:pt x="1850772" y="2549878"/>
                </a:lnTo>
                <a:lnTo>
                  <a:pt x="1854434" y="2597210"/>
                </a:lnTo>
                <a:lnTo>
                  <a:pt x="1861484" y="2642961"/>
                </a:lnTo>
                <a:lnTo>
                  <a:pt x="1871890" y="2687077"/>
                </a:lnTo>
                <a:lnTo>
                  <a:pt x="1885621" y="2729498"/>
                </a:lnTo>
                <a:lnTo>
                  <a:pt x="1902644" y="2770169"/>
                </a:lnTo>
                <a:lnTo>
                  <a:pt x="1922929" y="2809032"/>
                </a:lnTo>
                <a:lnTo>
                  <a:pt x="1946446" y="2846036"/>
                </a:lnTo>
                <a:lnTo>
                  <a:pt x="1973163" y="2881127"/>
                </a:lnTo>
                <a:lnTo>
                  <a:pt x="2003045" y="2914247"/>
                </a:lnTo>
                <a:lnTo>
                  <a:pt x="2036059" y="2945337"/>
                </a:lnTo>
                <a:lnTo>
                  <a:pt x="2072168" y="2974340"/>
                </a:lnTo>
                <a:lnTo>
                  <a:pt x="2111337" y="3001195"/>
                </a:lnTo>
                <a:lnTo>
                  <a:pt x="2153533" y="3025845"/>
                </a:lnTo>
                <a:lnTo>
                  <a:pt x="2198719" y="3048232"/>
                </a:lnTo>
                <a:lnTo>
                  <a:pt x="2246861" y="3068296"/>
                </a:lnTo>
                <a:lnTo>
                  <a:pt x="2263647" y="3074109"/>
                </a:lnTo>
                <a:lnTo>
                  <a:pt x="2263647" y="4064162"/>
                </a:lnTo>
                <a:close/>
              </a:path>
              <a:path w="2263775" h="4064635">
                <a:moveTo>
                  <a:pt x="1861161" y="1499852"/>
                </a:moveTo>
                <a:lnTo>
                  <a:pt x="1435627" y="1499852"/>
                </a:lnTo>
                <a:lnTo>
                  <a:pt x="1479669" y="1495453"/>
                </a:lnTo>
                <a:lnTo>
                  <a:pt x="1523233" y="1486235"/>
                </a:lnTo>
                <a:lnTo>
                  <a:pt x="1565953" y="1472158"/>
                </a:lnTo>
                <a:lnTo>
                  <a:pt x="1607461" y="1453185"/>
                </a:lnTo>
                <a:lnTo>
                  <a:pt x="1647390" y="1429279"/>
                </a:lnTo>
                <a:lnTo>
                  <a:pt x="1685374" y="1400401"/>
                </a:lnTo>
                <a:lnTo>
                  <a:pt x="1718379" y="1369008"/>
                </a:lnTo>
                <a:lnTo>
                  <a:pt x="1748310" y="1335610"/>
                </a:lnTo>
                <a:lnTo>
                  <a:pt x="1775135" y="1300264"/>
                </a:lnTo>
                <a:lnTo>
                  <a:pt x="1798820" y="1263024"/>
                </a:lnTo>
                <a:lnTo>
                  <a:pt x="1819330" y="1223944"/>
                </a:lnTo>
                <a:lnTo>
                  <a:pt x="1836634" y="1183079"/>
                </a:lnTo>
                <a:lnTo>
                  <a:pt x="1850697" y="1140482"/>
                </a:lnTo>
                <a:lnTo>
                  <a:pt x="1861486" y="1096210"/>
                </a:lnTo>
                <a:lnTo>
                  <a:pt x="1868967" y="1050315"/>
                </a:lnTo>
                <a:lnTo>
                  <a:pt x="1873107" y="1002853"/>
                </a:lnTo>
                <a:lnTo>
                  <a:pt x="1873872" y="953878"/>
                </a:lnTo>
                <a:lnTo>
                  <a:pt x="1871229" y="903445"/>
                </a:lnTo>
                <a:lnTo>
                  <a:pt x="1865145" y="851608"/>
                </a:lnTo>
                <a:lnTo>
                  <a:pt x="1855586" y="798422"/>
                </a:lnTo>
                <a:lnTo>
                  <a:pt x="1842518" y="743940"/>
                </a:lnTo>
                <a:lnTo>
                  <a:pt x="1825907" y="688218"/>
                </a:lnTo>
                <a:lnTo>
                  <a:pt x="1813252" y="647261"/>
                </a:lnTo>
                <a:lnTo>
                  <a:pt x="1803601" y="604256"/>
                </a:lnTo>
                <a:lnTo>
                  <a:pt x="1797088" y="560190"/>
                </a:lnTo>
                <a:lnTo>
                  <a:pt x="1793850" y="515971"/>
                </a:lnTo>
                <a:lnTo>
                  <a:pt x="1797140" y="463244"/>
                </a:lnTo>
                <a:lnTo>
                  <a:pt x="1805756" y="410996"/>
                </a:lnTo>
                <a:lnTo>
                  <a:pt x="1819785" y="358478"/>
                </a:lnTo>
                <a:lnTo>
                  <a:pt x="1838903" y="307387"/>
                </a:lnTo>
                <a:lnTo>
                  <a:pt x="1863060" y="257738"/>
                </a:lnTo>
                <a:lnTo>
                  <a:pt x="1893358" y="213689"/>
                </a:lnTo>
                <a:lnTo>
                  <a:pt x="1927049" y="172274"/>
                </a:lnTo>
                <a:lnTo>
                  <a:pt x="1964482" y="134042"/>
                </a:lnTo>
                <a:lnTo>
                  <a:pt x="2006007" y="99544"/>
                </a:lnTo>
                <a:lnTo>
                  <a:pt x="2052201" y="69215"/>
                </a:lnTo>
                <a:lnTo>
                  <a:pt x="2100861" y="44397"/>
                </a:lnTo>
                <a:lnTo>
                  <a:pt x="2151154" y="25116"/>
                </a:lnTo>
                <a:lnTo>
                  <a:pt x="2203093" y="11275"/>
                </a:lnTo>
                <a:lnTo>
                  <a:pt x="2203316" y="11275"/>
                </a:lnTo>
                <a:lnTo>
                  <a:pt x="2256236" y="2910"/>
                </a:lnTo>
                <a:lnTo>
                  <a:pt x="2257345" y="2910"/>
                </a:lnTo>
                <a:lnTo>
                  <a:pt x="2263647" y="2551"/>
                </a:lnTo>
                <a:lnTo>
                  <a:pt x="2263647" y="1062389"/>
                </a:lnTo>
                <a:lnTo>
                  <a:pt x="2214501" y="1081863"/>
                </a:lnTo>
                <a:lnTo>
                  <a:pt x="2171706" y="1101996"/>
                </a:lnTo>
                <a:lnTo>
                  <a:pt x="2131474" y="1124037"/>
                </a:lnTo>
                <a:lnTo>
                  <a:pt x="2093829" y="1147946"/>
                </a:lnTo>
                <a:lnTo>
                  <a:pt x="2058793" y="1173682"/>
                </a:lnTo>
                <a:lnTo>
                  <a:pt x="2026389" y="1201205"/>
                </a:lnTo>
                <a:lnTo>
                  <a:pt x="1996639" y="1230474"/>
                </a:lnTo>
                <a:lnTo>
                  <a:pt x="1969568" y="1261449"/>
                </a:lnTo>
                <a:lnTo>
                  <a:pt x="1945197" y="1294090"/>
                </a:lnTo>
                <a:lnTo>
                  <a:pt x="1923550" y="1328355"/>
                </a:lnTo>
                <a:lnTo>
                  <a:pt x="1904649" y="1364206"/>
                </a:lnTo>
                <a:lnTo>
                  <a:pt x="1888518" y="1401601"/>
                </a:lnTo>
                <a:lnTo>
                  <a:pt x="1875178" y="1440499"/>
                </a:lnTo>
                <a:lnTo>
                  <a:pt x="1864654" y="1480861"/>
                </a:lnTo>
                <a:lnTo>
                  <a:pt x="1861231" y="1499467"/>
                </a:lnTo>
                <a:lnTo>
                  <a:pt x="1861161" y="1499852"/>
                </a:lnTo>
                <a:close/>
              </a:path>
            </a:pathLst>
          </a:custGeom>
          <a:solidFill>
            <a:srgbClr val="FCF9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208" y="2690161"/>
            <a:ext cx="433895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350">
                <a:latin typeface="Gill Sans MT"/>
                <a:cs typeface="Gill Sans MT"/>
              </a:rPr>
              <a:t>Veclor</a:t>
            </a:r>
            <a:r>
              <a:rPr dirty="0" sz="4200" spc="-145">
                <a:latin typeface="Gill Sans MT"/>
                <a:cs typeface="Gill Sans MT"/>
              </a:rPr>
              <a:t> </a:t>
            </a:r>
            <a:r>
              <a:rPr dirty="0" sz="4200" spc="165">
                <a:latin typeface="Gill Sans MT"/>
                <a:cs typeface="Gill Sans MT"/>
              </a:rPr>
              <a:t>i⭲dexes</a:t>
            </a:r>
            <a:endParaRPr sz="4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733425" y="1309687"/>
            <a:ext cx="7677150" cy="2562225"/>
            <a:chOff x="733425" y="1309687"/>
            <a:chExt cx="7677150" cy="25622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5" y="1309687"/>
              <a:ext cx="7677150" cy="25622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575" y="1347787"/>
              <a:ext cx="7562849" cy="24479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/>
              <a:t>Apple</a:t>
            </a:r>
            <a:r>
              <a:rPr dirty="0" spc="-400"/>
              <a:t> </a:t>
            </a:r>
            <a:r>
              <a:rPr dirty="0" spc="50"/>
              <a:t>-</a:t>
            </a:r>
            <a:r>
              <a:rPr dirty="0" spc="-495"/>
              <a:t> </a:t>
            </a:r>
            <a:r>
              <a:rPr dirty="0"/>
              <a:t>Technology</a:t>
            </a:r>
            <a:r>
              <a:rPr dirty="0" spc="-195"/>
              <a:t> </a:t>
            </a:r>
            <a:r>
              <a:rPr dirty="0" spc="-45"/>
              <a:t>or</a:t>
            </a:r>
            <a:r>
              <a:rPr dirty="0" spc="-150"/>
              <a:t> </a:t>
            </a:r>
            <a:r>
              <a:rPr dirty="0" spc="-10"/>
              <a:t>Fruit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Vectors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8497" y="1149134"/>
            <a:ext cx="2867099" cy="284522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0">
                <a:solidFill>
                  <a:srgbClr val="FCF9F6"/>
                </a:solidFill>
              </a:rPr>
              <a:t>Embeddings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99875" y="1618665"/>
            <a:ext cx="769493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FCF9F6"/>
                </a:solidFill>
                <a:latin typeface="Consolas"/>
                <a:cs typeface="Consolas"/>
              </a:rPr>
              <a:t>“apple”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[0.0077788467,</a:t>
            </a:r>
            <a:r>
              <a:rPr dirty="0" sz="2000" spc="-200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0.02306925,</a:t>
            </a:r>
            <a:r>
              <a:rPr dirty="0" sz="2000" spc="-190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0.007360777,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 spc="-10">
                <a:solidFill>
                  <a:srgbClr val="FCF9F6"/>
                </a:solidFill>
                <a:latin typeface="Consolas"/>
                <a:cs typeface="Consolas"/>
              </a:rPr>
              <a:t>0.027743412,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0.0045747845,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0.01289164,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0.021863015,</a:t>
            </a:r>
            <a:r>
              <a:rPr dirty="0" sz="2000" spc="-180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 spc="-10">
                <a:solidFill>
                  <a:srgbClr val="FCF9F6"/>
                </a:solidFill>
                <a:latin typeface="Consolas"/>
                <a:cs typeface="Consolas"/>
              </a:rPr>
              <a:t>0.008587573,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0.01892967,</a:t>
            </a:r>
            <a:r>
              <a:rPr dirty="0" sz="2000" spc="-190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0.029854324,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0.0027962727,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10">
                <a:solidFill>
                  <a:srgbClr val="FCF9F6"/>
                </a:solidFill>
                <a:latin typeface="Consolas"/>
                <a:cs typeface="Consolas"/>
              </a:rPr>
              <a:t>0.020108491,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-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0.004530236,</a:t>
            </a:r>
            <a:r>
              <a:rPr dirty="0" sz="2000" spc="-185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>
                <a:solidFill>
                  <a:srgbClr val="FCF9F6"/>
                </a:solidFill>
                <a:latin typeface="Consolas"/>
                <a:cs typeface="Consolas"/>
              </a:rPr>
              <a:t>0.009129008,</a:t>
            </a:r>
            <a:r>
              <a:rPr dirty="0" sz="2000" spc="-160">
                <a:solidFill>
                  <a:srgbClr val="FCF9F6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solidFill>
                  <a:srgbClr val="FCF9F6"/>
                </a:solidFill>
                <a:latin typeface="Arial"/>
                <a:cs typeface="Arial"/>
              </a:rPr>
              <a:t>…</a:t>
            </a:r>
            <a:r>
              <a:rPr dirty="0" sz="2000" spc="-25">
                <a:solidFill>
                  <a:srgbClr val="FCF9F6"/>
                </a:solidFill>
                <a:latin typeface="Consolas"/>
                <a:cs typeface="Consolas"/>
              </a:rPr>
              <a:t>]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823025"/>
            <a:ext cx="6417945" cy="4320540"/>
            <a:chOff x="0" y="823025"/>
            <a:chExt cx="6417945" cy="4320540"/>
          </a:xfrm>
        </p:grpSpPr>
        <p:sp>
          <p:nvSpPr>
            <p:cNvPr id="4" name="object 4" descr=""/>
            <p:cNvSpPr/>
            <p:nvPr/>
          </p:nvSpPr>
          <p:spPr>
            <a:xfrm>
              <a:off x="0" y="4453972"/>
              <a:ext cx="2928620" cy="689610"/>
            </a:xfrm>
            <a:custGeom>
              <a:avLst/>
              <a:gdLst/>
              <a:ahLst/>
              <a:cxnLst/>
              <a:rect l="l" t="t" r="r" b="b"/>
              <a:pathLst>
                <a:path w="2928620" h="689610">
                  <a:moveTo>
                    <a:pt x="2459952" y="207082"/>
                  </a:moveTo>
                  <a:lnTo>
                    <a:pt x="542609" y="207082"/>
                  </a:lnTo>
                  <a:lnTo>
                    <a:pt x="592107" y="205739"/>
                  </a:lnTo>
                  <a:lnTo>
                    <a:pt x="642152" y="203096"/>
                  </a:lnTo>
                  <a:lnTo>
                    <a:pt x="692736" y="199148"/>
                  </a:lnTo>
                  <a:lnTo>
                    <a:pt x="743851" y="193890"/>
                  </a:lnTo>
                  <a:lnTo>
                    <a:pt x="795489" y="187319"/>
                  </a:lnTo>
                  <a:lnTo>
                    <a:pt x="847642" y="179428"/>
                  </a:lnTo>
                  <a:lnTo>
                    <a:pt x="900302" y="170214"/>
                  </a:lnTo>
                  <a:lnTo>
                    <a:pt x="953462" y="159670"/>
                  </a:lnTo>
                  <a:lnTo>
                    <a:pt x="1007114" y="147793"/>
                  </a:lnTo>
                  <a:lnTo>
                    <a:pt x="1061250" y="134578"/>
                  </a:lnTo>
                  <a:lnTo>
                    <a:pt x="1115862" y="120020"/>
                  </a:lnTo>
                  <a:lnTo>
                    <a:pt x="1170943" y="104114"/>
                  </a:lnTo>
                  <a:lnTo>
                    <a:pt x="1226484" y="86855"/>
                  </a:lnTo>
                  <a:lnTo>
                    <a:pt x="1282479" y="68238"/>
                  </a:lnTo>
                  <a:lnTo>
                    <a:pt x="1333795" y="53291"/>
                  </a:lnTo>
                  <a:lnTo>
                    <a:pt x="1384743" y="40346"/>
                  </a:lnTo>
                  <a:lnTo>
                    <a:pt x="1435354" y="29335"/>
                  </a:lnTo>
                  <a:lnTo>
                    <a:pt x="1485661" y="20188"/>
                  </a:lnTo>
                  <a:lnTo>
                    <a:pt x="1535696" y="12836"/>
                  </a:lnTo>
                  <a:lnTo>
                    <a:pt x="1585491" y="7211"/>
                  </a:lnTo>
                  <a:lnTo>
                    <a:pt x="1635079" y="3242"/>
                  </a:lnTo>
                  <a:lnTo>
                    <a:pt x="1685772" y="800"/>
                  </a:lnTo>
                  <a:lnTo>
                    <a:pt x="1688017" y="800"/>
                  </a:lnTo>
                  <a:lnTo>
                    <a:pt x="1733763" y="0"/>
                  </a:lnTo>
                  <a:lnTo>
                    <a:pt x="1787891" y="800"/>
                  </a:lnTo>
                  <a:lnTo>
                    <a:pt x="1841176" y="3628"/>
                  </a:lnTo>
                  <a:lnTo>
                    <a:pt x="1893636" y="8453"/>
                  </a:lnTo>
                  <a:lnTo>
                    <a:pt x="1945289" y="15240"/>
                  </a:lnTo>
                  <a:lnTo>
                    <a:pt x="1996150" y="23957"/>
                  </a:lnTo>
                  <a:lnTo>
                    <a:pt x="2046238" y="34570"/>
                  </a:lnTo>
                  <a:lnTo>
                    <a:pt x="2095568" y="47048"/>
                  </a:lnTo>
                  <a:lnTo>
                    <a:pt x="2144158" y="61356"/>
                  </a:lnTo>
                  <a:lnTo>
                    <a:pt x="2192026" y="77463"/>
                  </a:lnTo>
                  <a:lnTo>
                    <a:pt x="2239187" y="95334"/>
                  </a:lnTo>
                  <a:lnTo>
                    <a:pt x="2285660" y="114938"/>
                  </a:lnTo>
                  <a:lnTo>
                    <a:pt x="2331460" y="136241"/>
                  </a:lnTo>
                  <a:lnTo>
                    <a:pt x="2376605" y="159209"/>
                  </a:lnTo>
                  <a:lnTo>
                    <a:pt x="2421113" y="183811"/>
                  </a:lnTo>
                  <a:lnTo>
                    <a:pt x="2459952" y="207082"/>
                  </a:lnTo>
                  <a:close/>
                </a:path>
                <a:path w="2928620" h="689610">
                  <a:moveTo>
                    <a:pt x="2928281" y="689527"/>
                  </a:moveTo>
                  <a:lnTo>
                    <a:pt x="0" y="689527"/>
                  </a:lnTo>
                  <a:lnTo>
                    <a:pt x="0" y="125504"/>
                  </a:lnTo>
                  <a:lnTo>
                    <a:pt x="36424" y="137446"/>
                  </a:lnTo>
                  <a:lnTo>
                    <a:pt x="79396" y="150083"/>
                  </a:lnTo>
                  <a:lnTo>
                    <a:pt x="123001" y="161474"/>
                  </a:lnTo>
                  <a:lnTo>
                    <a:pt x="167230" y="171612"/>
                  </a:lnTo>
                  <a:lnTo>
                    <a:pt x="212076" y="180495"/>
                  </a:lnTo>
                  <a:lnTo>
                    <a:pt x="257530" y="188115"/>
                  </a:lnTo>
                  <a:lnTo>
                    <a:pt x="303586" y="194470"/>
                  </a:lnTo>
                  <a:lnTo>
                    <a:pt x="350235" y="199554"/>
                  </a:lnTo>
                  <a:lnTo>
                    <a:pt x="397470" y="203361"/>
                  </a:lnTo>
                  <a:lnTo>
                    <a:pt x="445282" y="205889"/>
                  </a:lnTo>
                  <a:lnTo>
                    <a:pt x="491781" y="207082"/>
                  </a:lnTo>
                  <a:lnTo>
                    <a:pt x="2459952" y="207082"/>
                  </a:lnTo>
                  <a:lnTo>
                    <a:pt x="2468013" y="211913"/>
                  </a:lnTo>
                  <a:lnTo>
                    <a:pt x="2513186" y="241277"/>
                  </a:lnTo>
                  <a:lnTo>
                    <a:pt x="2556645" y="271885"/>
                  </a:lnTo>
                  <a:lnTo>
                    <a:pt x="2598406" y="303718"/>
                  </a:lnTo>
                  <a:lnTo>
                    <a:pt x="2638483" y="336758"/>
                  </a:lnTo>
                  <a:lnTo>
                    <a:pt x="2676890" y="370986"/>
                  </a:lnTo>
                  <a:lnTo>
                    <a:pt x="2713643" y="406383"/>
                  </a:lnTo>
                  <a:lnTo>
                    <a:pt x="2748755" y="442931"/>
                  </a:lnTo>
                  <a:lnTo>
                    <a:pt x="2782242" y="480610"/>
                  </a:lnTo>
                  <a:lnTo>
                    <a:pt x="2814119" y="519402"/>
                  </a:lnTo>
                  <a:lnTo>
                    <a:pt x="2844399" y="559288"/>
                  </a:lnTo>
                  <a:lnTo>
                    <a:pt x="2873098" y="600250"/>
                  </a:lnTo>
                  <a:lnTo>
                    <a:pt x="2900231" y="642268"/>
                  </a:lnTo>
                  <a:lnTo>
                    <a:pt x="2925811" y="685323"/>
                  </a:lnTo>
                  <a:lnTo>
                    <a:pt x="2928281" y="689527"/>
                  </a:lnTo>
                  <a:close/>
                </a:path>
              </a:pathLst>
            </a:custGeom>
            <a:solidFill>
              <a:srgbClr val="0A61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6362" y="823025"/>
              <a:ext cx="3691264" cy="401567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Vector</a:t>
            </a:r>
            <a:r>
              <a:rPr dirty="0" spc="-145"/>
              <a:t> </a:t>
            </a:r>
            <a:r>
              <a:rPr dirty="0" spc="-10"/>
              <a:t>search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Movie</a:t>
            </a:r>
            <a:r>
              <a:rPr dirty="0" spc="-35"/>
              <a:t> </a:t>
            </a:r>
            <a:r>
              <a:rPr dirty="0" spc="-20"/>
              <a:t>plots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3050" y="1235347"/>
            <a:ext cx="8085455" cy="2583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3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https://data.neo4j.com/rec-embed/plot_load.cypher</a:t>
            </a:r>
            <a:endParaRPr sz="23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3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LOAD</a:t>
            </a:r>
            <a:r>
              <a:rPr dirty="0" sz="1700" spc="-5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CSV</a:t>
            </a:r>
            <a:r>
              <a:rPr dirty="0" sz="1700" spc="-5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WITH</a:t>
            </a:r>
            <a:r>
              <a:rPr dirty="0" sz="1700" spc="-5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181414"/>
                </a:solidFill>
                <a:latin typeface="Consolas"/>
                <a:cs typeface="Consolas"/>
              </a:rPr>
              <a:t>HEADERS</a:t>
            </a:r>
            <a:endParaRPr sz="1700">
              <a:latin typeface="Consolas"/>
              <a:cs typeface="Consolas"/>
            </a:endParaRPr>
          </a:p>
          <a:p>
            <a:pPr marL="12700" marR="5080">
              <a:lnSpc>
                <a:spcPct val="114999"/>
              </a:lnSpc>
            </a:pP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FROM</a:t>
            </a:r>
            <a:r>
              <a:rPr dirty="0" sz="1700" spc="254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181414"/>
                </a:solidFill>
                <a:latin typeface="Consolas"/>
                <a:cs typeface="Consolas"/>
              </a:rPr>
              <a:t>'https://data.neo4j.com/rec-embed/movie-plot-embeddings-</a:t>
            </a:r>
            <a:r>
              <a:rPr dirty="0" sz="1700" spc="-10">
                <a:solidFill>
                  <a:srgbClr val="181414"/>
                </a:solidFill>
                <a:latin typeface="Consolas"/>
                <a:cs typeface="Consolas"/>
              </a:rPr>
              <a:t>1k.csv' </a:t>
            </a: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AS</a:t>
            </a:r>
            <a:r>
              <a:rPr dirty="0" sz="17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25">
                <a:solidFill>
                  <a:srgbClr val="181414"/>
                </a:solidFill>
                <a:latin typeface="Consolas"/>
                <a:cs typeface="Consolas"/>
              </a:rPr>
              <a:t>row</a:t>
            </a: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MATCH</a:t>
            </a:r>
            <a:r>
              <a:rPr dirty="0" sz="1700" spc="-11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(m:Movie</a:t>
            </a:r>
            <a:r>
              <a:rPr dirty="0" sz="1700" spc="-10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{movieId:</a:t>
            </a:r>
            <a:r>
              <a:rPr dirty="0" sz="1700" spc="-10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181414"/>
                </a:solidFill>
                <a:latin typeface="Consolas"/>
                <a:cs typeface="Consolas"/>
              </a:rPr>
              <a:t>row.movieId})</a:t>
            </a:r>
            <a:endParaRPr sz="1700">
              <a:latin typeface="Consolas"/>
              <a:cs typeface="Consolas"/>
            </a:endParaRPr>
          </a:p>
          <a:p>
            <a:pPr marL="12700" marR="1426845">
              <a:lnSpc>
                <a:spcPct val="114999"/>
              </a:lnSpc>
            </a:pPr>
            <a:r>
              <a:rPr dirty="0" sz="1700">
                <a:solidFill>
                  <a:srgbClr val="181414"/>
                </a:solidFill>
                <a:latin typeface="Consolas"/>
                <a:cs typeface="Consolas"/>
              </a:rPr>
              <a:t>CALL</a:t>
            </a:r>
            <a:r>
              <a:rPr dirty="0" sz="1700" spc="-10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181414"/>
                </a:solidFill>
                <a:latin typeface="Consolas"/>
                <a:cs typeface="Consolas"/>
              </a:rPr>
              <a:t>db.create.setNodeVectorProperty(m,</a:t>
            </a:r>
            <a:r>
              <a:rPr dirty="0" sz="1700" spc="-10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700" spc="-10">
                <a:solidFill>
                  <a:srgbClr val="181414"/>
                </a:solidFill>
                <a:latin typeface="Consolas"/>
                <a:cs typeface="Consolas"/>
              </a:rPr>
              <a:t>'plotEmbedding', apoc.convert.fromJsonList(row.embedding))</a:t>
            </a:r>
            <a:endParaRPr sz="17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Vector</a:t>
            </a:r>
            <a:r>
              <a:rPr dirty="0" spc="-145"/>
              <a:t> </a:t>
            </a:r>
            <a:r>
              <a:rPr dirty="0" spc="-20"/>
              <a:t>index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3050" y="1153331"/>
            <a:ext cx="7974330" cy="2894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25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https://data.neo4j.com/rec-</a:t>
            </a:r>
            <a:r>
              <a:rPr dirty="0" u="heavy" sz="20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embed/plot_create_index.cypher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CREATE</a:t>
            </a:r>
            <a:r>
              <a:rPr dirty="0" sz="1800" spc="-4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VECTOR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INDEX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moviePlots</a:t>
            </a:r>
            <a:r>
              <a:rPr dirty="0" sz="18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IF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NOT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EXISTS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FOR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(m:Movie)</a:t>
            </a:r>
            <a:endParaRPr sz="1800">
              <a:latin typeface="Consolas"/>
              <a:cs typeface="Consolas"/>
            </a:endParaRPr>
          </a:p>
          <a:p>
            <a:pPr marL="12700" marR="5066665">
              <a:lnSpc>
                <a:spcPct val="114999"/>
              </a:lnSpc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ON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 m.plotEmbedding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OPTIONS</a:t>
            </a:r>
            <a:r>
              <a:rPr dirty="0" sz="1800" spc="-5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{indexConfig:</a:t>
            </a:r>
            <a:r>
              <a:rPr dirty="0" sz="1800" spc="-50">
                <a:solidFill>
                  <a:srgbClr val="181414"/>
                </a:solidFill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`vector.dimensions`:</a:t>
            </a:r>
            <a:r>
              <a:rPr dirty="0" sz="1800" spc="-11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181414"/>
                </a:solidFill>
                <a:latin typeface="Consolas"/>
                <a:cs typeface="Consolas"/>
              </a:rPr>
              <a:t>1536,</a:t>
            </a:r>
            <a:endParaRPr sz="1800">
              <a:latin typeface="Consolas"/>
              <a:cs typeface="Consolas"/>
            </a:endParaRPr>
          </a:p>
          <a:p>
            <a:pPr marL="137795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`vector.similarity_function`:</a:t>
            </a:r>
            <a:r>
              <a:rPr dirty="0" sz="1800" spc="-15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'cosine'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}}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Query</a:t>
            </a:r>
            <a:r>
              <a:rPr dirty="0" spc="-175"/>
              <a:t> </a:t>
            </a:r>
            <a:r>
              <a:rPr dirty="0" spc="-10"/>
              <a:t>vector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3050" y="1249457"/>
            <a:ext cx="6997700" cy="286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25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https://data.neo4j.com/rec-</a:t>
            </a:r>
            <a:r>
              <a:rPr dirty="0" u="heavy" sz="20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embed/plot_query.cypher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MATCH</a:t>
            </a:r>
            <a:r>
              <a:rPr dirty="0" sz="18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(m:Movie</a:t>
            </a:r>
            <a:r>
              <a:rPr dirty="0" sz="18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{title:</a:t>
            </a:r>
            <a:r>
              <a:rPr dirty="0" sz="18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'Toy</a:t>
            </a:r>
            <a:r>
              <a:rPr dirty="0" sz="1800" spc="-3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Story'})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800">
              <a:latin typeface="Consolas"/>
              <a:cs typeface="Consolas"/>
            </a:endParaRPr>
          </a:p>
          <a:p>
            <a:pPr marL="12700" marR="953135">
              <a:lnSpc>
                <a:spcPct val="114999"/>
              </a:lnSpc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CALL</a:t>
            </a:r>
            <a:r>
              <a:rPr dirty="0" sz="1800" spc="-12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db.index.vector.queryNodes('moviePlots',</a:t>
            </a:r>
            <a:r>
              <a:rPr dirty="0" sz="1800" spc="-110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6,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m.plotEmbedding)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YIELD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node,</a:t>
            </a:r>
            <a:r>
              <a:rPr dirty="0" sz="1800" spc="-2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score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RETURN</a:t>
            </a:r>
            <a:r>
              <a:rPr dirty="0" sz="1800" spc="-4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node.title,</a:t>
            </a:r>
            <a:r>
              <a:rPr dirty="0" sz="1800" spc="-4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81414"/>
                </a:solidFill>
                <a:latin typeface="Consolas"/>
                <a:cs typeface="Consolas"/>
              </a:rPr>
              <a:t>node.plot,</a:t>
            </a:r>
            <a:r>
              <a:rPr dirty="0" sz="1800" spc="-45">
                <a:solidFill>
                  <a:srgbClr val="181414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181414"/>
                </a:solidFill>
                <a:latin typeface="Consolas"/>
                <a:cs typeface="Consolas"/>
              </a:rPr>
              <a:t>score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Movie</a:t>
            </a:r>
            <a:r>
              <a:rPr dirty="0" spc="-35"/>
              <a:t> </a:t>
            </a:r>
            <a:r>
              <a:rPr dirty="0" spc="-20"/>
              <a:t>plots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3050" y="1165864"/>
            <a:ext cx="7974330" cy="159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2000" spc="-25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https://data.neo4j.com/rec-</a:t>
            </a:r>
            <a:r>
              <a:rPr dirty="0" u="heavy" sz="20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2"/>
              </a:rPr>
              <a:t>embed/plot_load.cypher</a:t>
            </a:r>
            <a:endParaRPr sz="2000">
              <a:latin typeface="Consolas"/>
              <a:cs typeface="Consolas"/>
            </a:endParaRPr>
          </a:p>
          <a:p>
            <a:pPr marL="12700" marR="5080">
              <a:lnSpc>
                <a:spcPct val="206999"/>
              </a:lnSpc>
            </a:pPr>
            <a:r>
              <a:rPr dirty="0" u="heavy" sz="2000" spc="-25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3"/>
              </a:rPr>
              <a:t>https://data.neo4j.com/rec-</a:t>
            </a:r>
            <a:r>
              <a:rPr dirty="0" u="heavy" sz="20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3"/>
              </a:rPr>
              <a:t>embed/plot_create_index.cypher</a:t>
            </a:r>
            <a:r>
              <a:rPr dirty="0" sz="2000" spc="-10">
                <a:solidFill>
                  <a:srgbClr val="0A6190"/>
                </a:solidFill>
                <a:latin typeface="Consolas"/>
                <a:cs typeface="Consolas"/>
              </a:rPr>
              <a:t> </a:t>
            </a:r>
            <a:r>
              <a:rPr dirty="0" u="heavy" sz="2000" spc="-25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4"/>
              </a:rPr>
              <a:t>https://data.neo4j.com/rec-</a:t>
            </a:r>
            <a:r>
              <a:rPr dirty="0" u="heavy" sz="2000" spc="-10">
                <a:solidFill>
                  <a:srgbClr val="0A6190"/>
                </a:solidFill>
                <a:uFill>
                  <a:solidFill>
                    <a:srgbClr val="0A6190"/>
                  </a:solidFill>
                </a:uFill>
                <a:latin typeface="Consolas"/>
                <a:cs typeface="Consolas"/>
                <a:hlinkClick r:id="rId4"/>
              </a:rPr>
              <a:t>embed/plot_query.cypher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306441" y="0"/>
            <a:ext cx="3837940" cy="2070100"/>
          </a:xfrm>
          <a:custGeom>
            <a:avLst/>
            <a:gdLst/>
            <a:ahLst/>
            <a:cxnLst/>
            <a:rect l="l" t="t" r="r" b="b"/>
            <a:pathLst>
              <a:path w="3837940" h="2070100">
                <a:moveTo>
                  <a:pt x="3837559" y="0"/>
                </a:moveTo>
                <a:lnTo>
                  <a:pt x="3105886" y="0"/>
                </a:lnTo>
                <a:lnTo>
                  <a:pt x="3060649" y="0"/>
                </a:lnTo>
                <a:lnTo>
                  <a:pt x="0" y="0"/>
                </a:lnTo>
                <a:lnTo>
                  <a:pt x="40309" y="28486"/>
                </a:lnTo>
                <a:lnTo>
                  <a:pt x="84061" y="56997"/>
                </a:lnTo>
                <a:lnTo>
                  <a:pt x="129260" y="84099"/>
                </a:lnTo>
                <a:lnTo>
                  <a:pt x="175285" y="109588"/>
                </a:lnTo>
                <a:lnTo>
                  <a:pt x="222072" y="133540"/>
                </a:lnTo>
                <a:lnTo>
                  <a:pt x="269049" y="155562"/>
                </a:lnTo>
                <a:lnTo>
                  <a:pt x="316433" y="175742"/>
                </a:lnTo>
                <a:lnTo>
                  <a:pt x="364223" y="194043"/>
                </a:lnTo>
                <a:lnTo>
                  <a:pt x="412470" y="210413"/>
                </a:lnTo>
                <a:lnTo>
                  <a:pt x="461175" y="224840"/>
                </a:lnTo>
                <a:lnTo>
                  <a:pt x="510349" y="237274"/>
                </a:lnTo>
                <a:lnTo>
                  <a:pt x="560031" y="247662"/>
                </a:lnTo>
                <a:lnTo>
                  <a:pt x="610235" y="255993"/>
                </a:lnTo>
                <a:lnTo>
                  <a:pt x="660971" y="262216"/>
                </a:lnTo>
                <a:lnTo>
                  <a:pt x="712266" y="266293"/>
                </a:lnTo>
                <a:lnTo>
                  <a:pt x="764146" y="268198"/>
                </a:lnTo>
                <a:lnTo>
                  <a:pt x="816610" y="267881"/>
                </a:lnTo>
                <a:lnTo>
                  <a:pt x="865162" y="269316"/>
                </a:lnTo>
                <a:lnTo>
                  <a:pt x="918248" y="267881"/>
                </a:lnTo>
                <a:lnTo>
                  <a:pt x="916101" y="267881"/>
                </a:lnTo>
                <a:lnTo>
                  <a:pt x="965555" y="264007"/>
                </a:lnTo>
                <a:lnTo>
                  <a:pt x="1016508" y="257619"/>
                </a:lnTo>
                <a:lnTo>
                  <a:pt x="1067346" y="248970"/>
                </a:lnTo>
                <a:lnTo>
                  <a:pt x="1117612" y="238239"/>
                </a:lnTo>
                <a:lnTo>
                  <a:pt x="1166876" y="225628"/>
                </a:lnTo>
                <a:lnTo>
                  <a:pt x="1214678" y="211277"/>
                </a:lnTo>
                <a:lnTo>
                  <a:pt x="1260551" y="195402"/>
                </a:lnTo>
                <a:lnTo>
                  <a:pt x="1316507" y="176834"/>
                </a:lnTo>
                <a:lnTo>
                  <a:pt x="1372019" y="159626"/>
                </a:lnTo>
                <a:lnTo>
                  <a:pt x="1427073" y="143764"/>
                </a:lnTo>
                <a:lnTo>
                  <a:pt x="1481670" y="129235"/>
                </a:lnTo>
                <a:lnTo>
                  <a:pt x="1536255" y="115951"/>
                </a:lnTo>
                <a:lnTo>
                  <a:pt x="1589417" y="104190"/>
                </a:lnTo>
                <a:lnTo>
                  <a:pt x="1642567" y="93675"/>
                </a:lnTo>
                <a:lnTo>
                  <a:pt x="1695221" y="84467"/>
                </a:lnTo>
                <a:lnTo>
                  <a:pt x="1747367" y="76581"/>
                </a:lnTo>
                <a:lnTo>
                  <a:pt x="1799005" y="70015"/>
                </a:lnTo>
                <a:lnTo>
                  <a:pt x="1850110" y="64757"/>
                </a:lnTo>
                <a:lnTo>
                  <a:pt x="1900707" y="60794"/>
                </a:lnTo>
                <a:lnTo>
                  <a:pt x="1950745" y="58153"/>
                </a:lnTo>
                <a:lnTo>
                  <a:pt x="2002561" y="56730"/>
                </a:lnTo>
                <a:lnTo>
                  <a:pt x="2049208" y="56730"/>
                </a:lnTo>
                <a:lnTo>
                  <a:pt x="2097595" y="57950"/>
                </a:lnTo>
                <a:lnTo>
                  <a:pt x="2145423" y="60464"/>
                </a:lnTo>
                <a:lnTo>
                  <a:pt x="2192667" y="64249"/>
                </a:lnTo>
                <a:lnTo>
                  <a:pt x="2239327" y="69316"/>
                </a:lnTo>
                <a:lnTo>
                  <a:pt x="2285390" y="75641"/>
                </a:lnTo>
                <a:lnTo>
                  <a:pt x="2330856" y="83248"/>
                </a:lnTo>
                <a:lnTo>
                  <a:pt x="2375712" y="92100"/>
                </a:lnTo>
                <a:lnTo>
                  <a:pt x="2419959" y="102222"/>
                </a:lnTo>
                <a:lnTo>
                  <a:pt x="2463571" y="113588"/>
                </a:lnTo>
                <a:lnTo>
                  <a:pt x="2506408" y="126161"/>
                </a:lnTo>
                <a:lnTo>
                  <a:pt x="2548902" y="140055"/>
                </a:lnTo>
                <a:lnTo>
                  <a:pt x="2590596" y="155155"/>
                </a:lnTo>
                <a:lnTo>
                  <a:pt x="2631630" y="171488"/>
                </a:lnTo>
                <a:lnTo>
                  <a:pt x="2672003" y="189052"/>
                </a:lnTo>
                <a:lnTo>
                  <a:pt x="2711704" y="207848"/>
                </a:lnTo>
                <a:lnTo>
                  <a:pt x="2750718" y="227850"/>
                </a:lnTo>
                <a:lnTo>
                  <a:pt x="2788843" y="248970"/>
                </a:lnTo>
                <a:lnTo>
                  <a:pt x="2826689" y="271526"/>
                </a:lnTo>
                <a:lnTo>
                  <a:pt x="2863608" y="295173"/>
                </a:lnTo>
                <a:lnTo>
                  <a:pt x="2899829" y="320027"/>
                </a:lnTo>
                <a:lnTo>
                  <a:pt x="2935325" y="346075"/>
                </a:lnTo>
                <a:lnTo>
                  <a:pt x="2970085" y="373316"/>
                </a:lnTo>
                <a:lnTo>
                  <a:pt x="3004121" y="401739"/>
                </a:lnTo>
                <a:lnTo>
                  <a:pt x="3037408" y="431355"/>
                </a:lnTo>
                <a:lnTo>
                  <a:pt x="3069933" y="462153"/>
                </a:lnTo>
                <a:lnTo>
                  <a:pt x="3101708" y="494118"/>
                </a:lnTo>
                <a:lnTo>
                  <a:pt x="3132721" y="527265"/>
                </a:lnTo>
                <a:lnTo>
                  <a:pt x="3162947" y="561568"/>
                </a:lnTo>
                <a:lnTo>
                  <a:pt x="3192399" y="597039"/>
                </a:lnTo>
                <a:lnTo>
                  <a:pt x="3221050" y="633653"/>
                </a:lnTo>
                <a:lnTo>
                  <a:pt x="3248914" y="671436"/>
                </a:lnTo>
                <a:lnTo>
                  <a:pt x="3275952" y="710349"/>
                </a:lnTo>
                <a:lnTo>
                  <a:pt x="3302190" y="750417"/>
                </a:lnTo>
                <a:lnTo>
                  <a:pt x="3327603" y="791616"/>
                </a:lnTo>
                <a:lnTo>
                  <a:pt x="3352177" y="833945"/>
                </a:lnTo>
                <a:lnTo>
                  <a:pt x="3375926" y="877404"/>
                </a:lnTo>
                <a:lnTo>
                  <a:pt x="3398812" y="921994"/>
                </a:lnTo>
                <a:lnTo>
                  <a:pt x="3420859" y="967689"/>
                </a:lnTo>
                <a:lnTo>
                  <a:pt x="3442043" y="1014514"/>
                </a:lnTo>
                <a:lnTo>
                  <a:pt x="3462350" y="1062431"/>
                </a:lnTo>
                <a:lnTo>
                  <a:pt x="3481781" y="1111465"/>
                </a:lnTo>
                <a:lnTo>
                  <a:pt x="3500323" y="1161592"/>
                </a:lnTo>
                <a:lnTo>
                  <a:pt x="3517976" y="1212824"/>
                </a:lnTo>
                <a:lnTo>
                  <a:pt x="3534714" y="1265135"/>
                </a:lnTo>
                <a:lnTo>
                  <a:pt x="3550564" y="1318539"/>
                </a:lnTo>
                <a:lnTo>
                  <a:pt x="3565474" y="1373022"/>
                </a:lnTo>
                <a:lnTo>
                  <a:pt x="3579482" y="1428584"/>
                </a:lnTo>
                <a:lnTo>
                  <a:pt x="3592538" y="1485214"/>
                </a:lnTo>
                <a:lnTo>
                  <a:pt x="3604666" y="1542910"/>
                </a:lnTo>
                <a:lnTo>
                  <a:pt x="3616147" y="1591767"/>
                </a:lnTo>
                <a:lnTo>
                  <a:pt x="3628999" y="1640967"/>
                </a:lnTo>
                <a:lnTo>
                  <a:pt x="3643426" y="1690204"/>
                </a:lnTo>
                <a:lnTo>
                  <a:pt x="3659606" y="1739125"/>
                </a:lnTo>
                <a:lnTo>
                  <a:pt x="3677729" y="1787410"/>
                </a:lnTo>
                <a:lnTo>
                  <a:pt x="3697986" y="1834743"/>
                </a:lnTo>
                <a:lnTo>
                  <a:pt x="3720566" y="1880768"/>
                </a:lnTo>
                <a:lnTo>
                  <a:pt x="3745649" y="1925167"/>
                </a:lnTo>
                <a:lnTo>
                  <a:pt x="3773449" y="1967611"/>
                </a:lnTo>
                <a:lnTo>
                  <a:pt x="3798836" y="2010714"/>
                </a:lnTo>
                <a:lnTo>
                  <a:pt x="3825837" y="2052777"/>
                </a:lnTo>
                <a:lnTo>
                  <a:pt x="3837559" y="2069553"/>
                </a:lnTo>
                <a:lnTo>
                  <a:pt x="3837559" y="222008"/>
                </a:lnTo>
                <a:lnTo>
                  <a:pt x="3837559" y="128549"/>
                </a:lnTo>
                <a:lnTo>
                  <a:pt x="3837559" y="126161"/>
                </a:lnTo>
                <a:lnTo>
                  <a:pt x="3837559" y="0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4453972"/>
            <a:ext cx="2928620" cy="689610"/>
          </a:xfrm>
          <a:custGeom>
            <a:avLst/>
            <a:gdLst/>
            <a:ahLst/>
            <a:cxnLst/>
            <a:rect l="l" t="t" r="r" b="b"/>
            <a:pathLst>
              <a:path w="2928620" h="689610">
                <a:moveTo>
                  <a:pt x="2459952" y="207082"/>
                </a:moveTo>
                <a:lnTo>
                  <a:pt x="542609" y="207082"/>
                </a:lnTo>
                <a:lnTo>
                  <a:pt x="592107" y="205739"/>
                </a:lnTo>
                <a:lnTo>
                  <a:pt x="642152" y="203096"/>
                </a:lnTo>
                <a:lnTo>
                  <a:pt x="692736" y="199148"/>
                </a:lnTo>
                <a:lnTo>
                  <a:pt x="743851" y="193890"/>
                </a:lnTo>
                <a:lnTo>
                  <a:pt x="795489" y="187319"/>
                </a:lnTo>
                <a:lnTo>
                  <a:pt x="847642" y="179428"/>
                </a:lnTo>
                <a:lnTo>
                  <a:pt x="900302" y="170214"/>
                </a:lnTo>
                <a:lnTo>
                  <a:pt x="953462" y="159670"/>
                </a:lnTo>
                <a:lnTo>
                  <a:pt x="1007114" y="147793"/>
                </a:lnTo>
                <a:lnTo>
                  <a:pt x="1061250" y="134578"/>
                </a:lnTo>
                <a:lnTo>
                  <a:pt x="1115862" y="120020"/>
                </a:lnTo>
                <a:lnTo>
                  <a:pt x="1170943" y="104114"/>
                </a:lnTo>
                <a:lnTo>
                  <a:pt x="1226484" y="86855"/>
                </a:lnTo>
                <a:lnTo>
                  <a:pt x="1282479" y="68238"/>
                </a:lnTo>
                <a:lnTo>
                  <a:pt x="1333795" y="53291"/>
                </a:lnTo>
                <a:lnTo>
                  <a:pt x="1384743" y="40346"/>
                </a:lnTo>
                <a:lnTo>
                  <a:pt x="1435354" y="29335"/>
                </a:lnTo>
                <a:lnTo>
                  <a:pt x="1485661" y="20188"/>
                </a:lnTo>
                <a:lnTo>
                  <a:pt x="1535696" y="12836"/>
                </a:lnTo>
                <a:lnTo>
                  <a:pt x="1585491" y="7211"/>
                </a:lnTo>
                <a:lnTo>
                  <a:pt x="1635079" y="3242"/>
                </a:lnTo>
                <a:lnTo>
                  <a:pt x="1685772" y="800"/>
                </a:lnTo>
                <a:lnTo>
                  <a:pt x="1688017" y="800"/>
                </a:lnTo>
                <a:lnTo>
                  <a:pt x="1733763" y="0"/>
                </a:lnTo>
                <a:lnTo>
                  <a:pt x="1787891" y="800"/>
                </a:lnTo>
                <a:lnTo>
                  <a:pt x="1841176" y="3628"/>
                </a:lnTo>
                <a:lnTo>
                  <a:pt x="1893636" y="8453"/>
                </a:lnTo>
                <a:lnTo>
                  <a:pt x="1945289" y="15240"/>
                </a:lnTo>
                <a:lnTo>
                  <a:pt x="1996150" y="23957"/>
                </a:lnTo>
                <a:lnTo>
                  <a:pt x="2046238" y="34570"/>
                </a:lnTo>
                <a:lnTo>
                  <a:pt x="2095568" y="47048"/>
                </a:lnTo>
                <a:lnTo>
                  <a:pt x="2144158" y="61356"/>
                </a:lnTo>
                <a:lnTo>
                  <a:pt x="2192026" y="77463"/>
                </a:lnTo>
                <a:lnTo>
                  <a:pt x="2239187" y="95334"/>
                </a:lnTo>
                <a:lnTo>
                  <a:pt x="2285660" y="114938"/>
                </a:lnTo>
                <a:lnTo>
                  <a:pt x="2331460" y="136241"/>
                </a:lnTo>
                <a:lnTo>
                  <a:pt x="2376605" y="159209"/>
                </a:lnTo>
                <a:lnTo>
                  <a:pt x="2421113" y="183811"/>
                </a:lnTo>
                <a:lnTo>
                  <a:pt x="2459952" y="207082"/>
                </a:lnTo>
                <a:close/>
              </a:path>
              <a:path w="2928620" h="689610">
                <a:moveTo>
                  <a:pt x="2928281" y="689527"/>
                </a:moveTo>
                <a:lnTo>
                  <a:pt x="0" y="689527"/>
                </a:lnTo>
                <a:lnTo>
                  <a:pt x="0" y="125504"/>
                </a:lnTo>
                <a:lnTo>
                  <a:pt x="36424" y="137446"/>
                </a:lnTo>
                <a:lnTo>
                  <a:pt x="79396" y="150083"/>
                </a:lnTo>
                <a:lnTo>
                  <a:pt x="123001" y="161474"/>
                </a:lnTo>
                <a:lnTo>
                  <a:pt x="167230" y="171612"/>
                </a:lnTo>
                <a:lnTo>
                  <a:pt x="212076" y="180495"/>
                </a:lnTo>
                <a:lnTo>
                  <a:pt x="257530" y="188115"/>
                </a:lnTo>
                <a:lnTo>
                  <a:pt x="303586" y="194470"/>
                </a:lnTo>
                <a:lnTo>
                  <a:pt x="350235" y="199554"/>
                </a:lnTo>
                <a:lnTo>
                  <a:pt x="397470" y="203361"/>
                </a:lnTo>
                <a:lnTo>
                  <a:pt x="445282" y="205889"/>
                </a:lnTo>
                <a:lnTo>
                  <a:pt x="491781" y="207082"/>
                </a:lnTo>
                <a:lnTo>
                  <a:pt x="2459952" y="207082"/>
                </a:lnTo>
                <a:lnTo>
                  <a:pt x="2468013" y="211913"/>
                </a:lnTo>
                <a:lnTo>
                  <a:pt x="2513186" y="241277"/>
                </a:lnTo>
                <a:lnTo>
                  <a:pt x="2556645" y="271885"/>
                </a:lnTo>
                <a:lnTo>
                  <a:pt x="2598406" y="303718"/>
                </a:lnTo>
                <a:lnTo>
                  <a:pt x="2638483" y="336758"/>
                </a:lnTo>
                <a:lnTo>
                  <a:pt x="2676890" y="370986"/>
                </a:lnTo>
                <a:lnTo>
                  <a:pt x="2713643" y="406383"/>
                </a:lnTo>
                <a:lnTo>
                  <a:pt x="2748755" y="442931"/>
                </a:lnTo>
                <a:lnTo>
                  <a:pt x="2782242" y="480610"/>
                </a:lnTo>
                <a:lnTo>
                  <a:pt x="2814119" y="519402"/>
                </a:lnTo>
                <a:lnTo>
                  <a:pt x="2844399" y="559288"/>
                </a:lnTo>
                <a:lnTo>
                  <a:pt x="2873098" y="600250"/>
                </a:lnTo>
                <a:lnTo>
                  <a:pt x="2900231" y="642268"/>
                </a:lnTo>
                <a:lnTo>
                  <a:pt x="2925811" y="685323"/>
                </a:lnTo>
                <a:lnTo>
                  <a:pt x="2928281" y="689527"/>
                </a:lnTo>
                <a:close/>
              </a:path>
            </a:pathLst>
          </a:custGeom>
          <a:solidFill>
            <a:srgbClr val="0A61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1522" y="276125"/>
            <a:ext cx="5342476" cy="48673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172" y="847057"/>
            <a:ext cx="2528478" cy="404166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52425" y="1619970"/>
            <a:ext cx="3395979" cy="246189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469265" indent="-351155">
              <a:lnSpc>
                <a:spcPct val="100000"/>
              </a:lnSpc>
              <a:spcBef>
                <a:spcPts val="385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600" b="1">
                <a:solidFill>
                  <a:srgbClr val="181414"/>
                </a:solidFill>
                <a:latin typeface="Trebuchet MS"/>
                <a:cs typeface="Trebuchet MS"/>
              </a:rPr>
              <a:t>Completely</a:t>
            </a:r>
            <a:r>
              <a:rPr dirty="0" sz="1600" spc="125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181414"/>
                </a:solidFill>
                <a:latin typeface="Trebuchet MS"/>
                <a:cs typeface="Trebuchet MS"/>
              </a:rPr>
              <a:t>Free</a:t>
            </a:r>
            <a:endParaRPr sz="1600">
              <a:latin typeface="Trebuchet MS"/>
              <a:cs typeface="Trebuchet MS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"/>
              <a:buChar char="●"/>
              <a:tabLst>
                <a:tab pos="469265" algn="l"/>
              </a:tabLst>
            </a:pPr>
            <a:r>
              <a:rPr dirty="0" sz="1600" spc="80" b="1">
                <a:solidFill>
                  <a:srgbClr val="181414"/>
                </a:solidFill>
                <a:latin typeface="Trebuchet MS"/>
                <a:cs typeface="Trebuchet MS"/>
              </a:rPr>
              <a:t>Hands-</a:t>
            </a:r>
            <a:r>
              <a:rPr dirty="0" sz="1600" b="1">
                <a:solidFill>
                  <a:srgbClr val="181414"/>
                </a:solidFill>
                <a:latin typeface="Trebuchet MS"/>
                <a:cs typeface="Trebuchet MS"/>
              </a:rPr>
              <a:t>on</a:t>
            </a:r>
            <a:r>
              <a:rPr dirty="0" sz="1600" spc="-85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600" spc="50" b="1">
                <a:solidFill>
                  <a:srgbClr val="181414"/>
                </a:solidFill>
                <a:latin typeface="Trebuchet MS"/>
                <a:cs typeface="Trebuchet MS"/>
              </a:rPr>
              <a:t>Courses</a:t>
            </a:r>
            <a:endParaRPr sz="1600">
              <a:latin typeface="Trebuchet MS"/>
              <a:cs typeface="Trebuchet MS"/>
            </a:endParaRPr>
          </a:p>
          <a:p>
            <a:pPr marL="469900" marR="210185">
              <a:lnSpc>
                <a:spcPct val="114999"/>
              </a:lnSpc>
              <a:spcBef>
                <a:spcPts val="90"/>
              </a:spcBef>
            </a:pP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teaching</a:t>
            </a:r>
            <a:r>
              <a:rPr dirty="0" sz="1200" spc="11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Neo4j</a:t>
            </a:r>
            <a:r>
              <a:rPr dirty="0" sz="1200" spc="11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Fundamentals,</a:t>
            </a:r>
            <a:r>
              <a:rPr dirty="0" sz="1200" spc="10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81414"/>
                </a:solidFill>
                <a:latin typeface="Trebuchet MS"/>
                <a:cs typeface="Trebuchet MS"/>
              </a:rPr>
              <a:t>Cypher,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Drivers</a:t>
            </a:r>
            <a:r>
              <a:rPr dirty="0" sz="1200" spc="5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and</a:t>
            </a:r>
            <a:r>
              <a:rPr dirty="0" sz="1200" spc="5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Graph</a:t>
            </a:r>
            <a:r>
              <a:rPr dirty="0" sz="1200" spc="5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Data</a:t>
            </a:r>
            <a:r>
              <a:rPr dirty="0" sz="1200" spc="5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 spc="35">
                <a:solidFill>
                  <a:srgbClr val="181414"/>
                </a:solidFill>
                <a:latin typeface="Trebuchet MS"/>
                <a:cs typeface="Trebuchet MS"/>
              </a:rPr>
              <a:t>Science</a:t>
            </a:r>
            <a:endParaRPr sz="1200">
              <a:latin typeface="Trebuchet MS"/>
              <a:cs typeface="Trebuchet MS"/>
            </a:endParaRPr>
          </a:p>
          <a:p>
            <a:pPr marL="469900" marR="5080" indent="-351790">
              <a:lnSpc>
                <a:spcPts val="1820"/>
              </a:lnSpc>
              <a:spcBef>
                <a:spcPts val="340"/>
              </a:spcBef>
              <a:buFont typeface="Arial"/>
              <a:buChar char="●"/>
              <a:tabLst>
                <a:tab pos="469900" algn="l"/>
              </a:tabLst>
            </a:pPr>
            <a:r>
              <a:rPr dirty="0" sz="1600" b="1">
                <a:solidFill>
                  <a:srgbClr val="181414"/>
                </a:solidFill>
                <a:latin typeface="Trebuchet MS"/>
                <a:cs typeface="Trebuchet MS"/>
              </a:rPr>
              <a:t>Curated</a:t>
            </a:r>
            <a:r>
              <a:rPr dirty="0" sz="1600" spc="-20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181414"/>
                </a:solidFill>
                <a:latin typeface="Trebuchet MS"/>
                <a:cs typeface="Trebuchet MS"/>
              </a:rPr>
              <a:t>Learning</a:t>
            </a:r>
            <a:r>
              <a:rPr dirty="0" sz="1600" spc="-20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600" spc="50" b="1">
                <a:solidFill>
                  <a:srgbClr val="181414"/>
                </a:solidFill>
                <a:latin typeface="Trebuchet MS"/>
                <a:cs typeface="Trebuchet MS"/>
              </a:rPr>
              <a:t>Paths</a:t>
            </a:r>
            <a:r>
              <a:rPr dirty="0" sz="1600" spc="30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81414"/>
                </a:solidFill>
                <a:latin typeface="Trebuchet MS"/>
                <a:cs typeface="Trebuchet MS"/>
              </a:rPr>
              <a:t>catering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for</a:t>
            </a:r>
            <a:r>
              <a:rPr dirty="0" sz="1200" spc="4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everyone</a:t>
            </a:r>
            <a:r>
              <a:rPr dirty="0" sz="1200" spc="55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from</a:t>
            </a:r>
            <a:r>
              <a:rPr dirty="0" sz="1200" spc="6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>
                <a:solidFill>
                  <a:srgbClr val="181414"/>
                </a:solidFill>
                <a:latin typeface="Trebuchet MS"/>
                <a:cs typeface="Trebuchet MS"/>
              </a:rPr>
              <a:t>beginners</a:t>
            </a:r>
            <a:r>
              <a:rPr dirty="0" sz="1200" spc="6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81414"/>
                </a:solidFill>
                <a:latin typeface="Trebuchet MS"/>
                <a:cs typeface="Trebuchet MS"/>
              </a:rPr>
              <a:t>to</a:t>
            </a:r>
            <a:r>
              <a:rPr dirty="0" sz="1200" spc="30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200" spc="-10">
                <a:solidFill>
                  <a:srgbClr val="181414"/>
                </a:solidFill>
                <a:latin typeface="Trebuchet MS"/>
                <a:cs typeface="Trebuchet MS"/>
              </a:rPr>
              <a:t>experts</a:t>
            </a:r>
            <a:endParaRPr sz="1200">
              <a:latin typeface="Trebuchet MS"/>
              <a:cs typeface="Trebuchet MS"/>
            </a:endParaRPr>
          </a:p>
          <a:p>
            <a:pPr marL="469265" indent="-327660">
              <a:lnSpc>
                <a:spcPct val="100000"/>
              </a:lnSpc>
              <a:spcBef>
                <a:spcPts val="80"/>
              </a:spcBef>
              <a:buSzPct val="81250"/>
              <a:buFont typeface="Arial"/>
              <a:buChar char="●"/>
              <a:tabLst>
                <a:tab pos="469265" algn="l"/>
              </a:tabLst>
            </a:pPr>
            <a:r>
              <a:rPr dirty="0" sz="1600" spc="-10" b="1">
                <a:solidFill>
                  <a:srgbClr val="181414"/>
                </a:solidFill>
                <a:latin typeface="Trebuchet MS"/>
                <a:cs typeface="Trebuchet MS"/>
              </a:rPr>
              <a:t>Free</a:t>
            </a:r>
            <a:r>
              <a:rPr dirty="0" sz="1600" spc="-114" b="1">
                <a:solidFill>
                  <a:srgbClr val="181414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181414"/>
                </a:solidFill>
                <a:latin typeface="Trebuchet MS"/>
                <a:cs typeface="Trebuchet MS"/>
              </a:rPr>
              <a:t>Certifications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 spc="-10" b="1">
                <a:solidFill>
                  <a:srgbClr val="0A6190"/>
                </a:solidFill>
                <a:latin typeface="Trebuchet MS"/>
                <a:cs typeface="Trebuchet MS"/>
              </a:rPr>
              <a:t>graphacademy.neo4j.com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Learn</a:t>
            </a:r>
            <a:r>
              <a:rPr dirty="0" spc="-165"/>
              <a:t> </a:t>
            </a:r>
            <a:r>
              <a:rPr dirty="0" spc="-30"/>
              <a:t>more</a:t>
            </a:r>
            <a:r>
              <a:rPr dirty="0" spc="-185"/>
              <a:t> </a:t>
            </a:r>
            <a:r>
              <a:rPr dirty="0" spc="-20"/>
              <a:t>with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Neo4j - Training stream</dc:title>
  <dcterms:created xsi:type="dcterms:W3CDTF">2026-05-22T05:17:12Z</dcterms:created>
  <dcterms:modified xsi:type="dcterms:W3CDTF">2026-05-22T05:17:12Z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2026-05-22T00:00:00Z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2026-05-22T00:00:00Z</vt:filetime>
  </property>
</Properties>
</file>